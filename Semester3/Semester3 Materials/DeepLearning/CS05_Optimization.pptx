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7.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 id="2147483720" r:id="rId2"/>
  </p:sldMasterIdLst>
  <p:notesMasterIdLst>
    <p:notesMasterId r:id="rId54"/>
  </p:notesMasterIdLst>
  <p:sldIdLst>
    <p:sldId id="408" r:id="rId3"/>
    <p:sldId id="409" r:id="rId4"/>
    <p:sldId id="410" r:id="rId5"/>
    <p:sldId id="498" r:id="rId6"/>
    <p:sldId id="503" r:id="rId7"/>
    <p:sldId id="499" r:id="rId8"/>
    <p:sldId id="501" r:id="rId9"/>
    <p:sldId id="502" r:id="rId10"/>
    <p:sldId id="556" r:id="rId11"/>
    <p:sldId id="512" r:id="rId12"/>
    <p:sldId id="555" r:id="rId13"/>
    <p:sldId id="566" r:id="rId14"/>
    <p:sldId id="561" r:id="rId15"/>
    <p:sldId id="560" r:id="rId16"/>
    <p:sldId id="562" r:id="rId17"/>
    <p:sldId id="567" r:id="rId18"/>
    <p:sldId id="518" r:id="rId19"/>
    <p:sldId id="520" r:id="rId20"/>
    <p:sldId id="563" r:id="rId21"/>
    <p:sldId id="564" r:id="rId22"/>
    <p:sldId id="522" r:id="rId23"/>
    <p:sldId id="523" r:id="rId24"/>
    <p:sldId id="496" r:id="rId25"/>
    <p:sldId id="535" r:id="rId26"/>
    <p:sldId id="568" r:id="rId27"/>
    <p:sldId id="552" r:id="rId28"/>
    <p:sldId id="491" r:id="rId29"/>
    <p:sldId id="528" r:id="rId30"/>
    <p:sldId id="527" r:id="rId31"/>
    <p:sldId id="478" r:id="rId32"/>
    <p:sldId id="546" r:id="rId33"/>
    <p:sldId id="569" r:id="rId34"/>
    <p:sldId id="488" r:id="rId35"/>
    <p:sldId id="529" r:id="rId36"/>
    <p:sldId id="530" r:id="rId37"/>
    <p:sldId id="565" r:id="rId38"/>
    <p:sldId id="545" r:id="rId39"/>
    <p:sldId id="571" r:id="rId40"/>
    <p:sldId id="531" r:id="rId41"/>
    <p:sldId id="532" r:id="rId42"/>
    <p:sldId id="536" r:id="rId43"/>
    <p:sldId id="537" r:id="rId44"/>
    <p:sldId id="538" r:id="rId45"/>
    <p:sldId id="539" r:id="rId46"/>
    <p:sldId id="540" r:id="rId47"/>
    <p:sldId id="541" r:id="rId48"/>
    <p:sldId id="542" r:id="rId49"/>
    <p:sldId id="570" r:id="rId50"/>
    <p:sldId id="544" r:id="rId51"/>
    <p:sldId id="438" r:id="rId52"/>
    <p:sldId id="283" r:id="rId53"/>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434" autoAdjust="0"/>
  </p:normalViewPr>
  <p:slideViewPr>
    <p:cSldViewPr>
      <p:cViewPr varScale="1">
        <p:scale>
          <a:sx n="110" d="100"/>
          <a:sy n="110" d="100"/>
        </p:scale>
        <p:origin x="1100" y="7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tableStyles" Target="tableStyles.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heme" Target="theme/theme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79D94E87-174E-4645-A1B4-6FD7F8DDC90E}" type="datetimeFigureOut">
              <a:rPr lang="en-IN" smtClean="0"/>
              <a:t>26-12-2024</a:t>
            </a:fld>
            <a:endParaRPr lang="en-IN"/>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9A72551D-67D7-44EA-BF0C-246838C0E902}" type="slidenum">
              <a:rPr lang="en-IN" smtClean="0"/>
              <a:t>‹#›</a:t>
            </a:fld>
            <a:endParaRPr lang="en-IN"/>
          </a:p>
        </p:txBody>
      </p:sp>
    </p:spTree>
    <p:extLst>
      <p:ext uri="{BB962C8B-B14F-4D97-AF65-F5344CB8AC3E}">
        <p14:creationId xmlns:p14="http://schemas.microsoft.com/office/powerpoint/2010/main" val="13312269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A72551D-67D7-44EA-BF0C-246838C0E902}" type="slidenum">
              <a:rPr lang="en-IN" smtClean="0"/>
              <a:t>11</a:t>
            </a:fld>
            <a:endParaRPr lang="en-IN"/>
          </a:p>
        </p:txBody>
      </p:sp>
    </p:spTree>
    <p:extLst>
      <p:ext uri="{BB962C8B-B14F-4D97-AF65-F5344CB8AC3E}">
        <p14:creationId xmlns:p14="http://schemas.microsoft.com/office/powerpoint/2010/main" val="40432409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A72551D-67D7-44EA-BF0C-246838C0E902}" type="slidenum">
              <a:rPr lang="en-IN" smtClean="0"/>
              <a:t>12</a:t>
            </a:fld>
            <a:endParaRPr lang="en-IN"/>
          </a:p>
        </p:txBody>
      </p:sp>
    </p:spTree>
    <p:extLst>
      <p:ext uri="{BB962C8B-B14F-4D97-AF65-F5344CB8AC3E}">
        <p14:creationId xmlns:p14="http://schemas.microsoft.com/office/powerpoint/2010/main" val="28367175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A72551D-67D7-44EA-BF0C-246838C0E902}" type="slidenum">
              <a:rPr lang="en-IN" smtClean="0"/>
              <a:t>15</a:t>
            </a:fld>
            <a:endParaRPr lang="en-IN"/>
          </a:p>
        </p:txBody>
      </p:sp>
    </p:spTree>
    <p:extLst>
      <p:ext uri="{BB962C8B-B14F-4D97-AF65-F5344CB8AC3E}">
        <p14:creationId xmlns:p14="http://schemas.microsoft.com/office/powerpoint/2010/main" val="36775069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A72551D-67D7-44EA-BF0C-246838C0E902}" type="slidenum">
              <a:rPr lang="en-IN" smtClean="0"/>
              <a:t>16</a:t>
            </a:fld>
            <a:endParaRPr lang="en-IN"/>
          </a:p>
        </p:txBody>
      </p:sp>
    </p:spTree>
    <p:extLst>
      <p:ext uri="{BB962C8B-B14F-4D97-AF65-F5344CB8AC3E}">
        <p14:creationId xmlns:p14="http://schemas.microsoft.com/office/powerpoint/2010/main" val="9289795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A72551D-67D7-44EA-BF0C-246838C0E902}" type="slidenum">
              <a:rPr lang="en-IN" smtClean="0"/>
              <a:t>24</a:t>
            </a:fld>
            <a:endParaRPr lang="en-IN"/>
          </a:p>
        </p:txBody>
      </p:sp>
    </p:spTree>
    <p:extLst>
      <p:ext uri="{BB962C8B-B14F-4D97-AF65-F5344CB8AC3E}">
        <p14:creationId xmlns:p14="http://schemas.microsoft.com/office/powerpoint/2010/main" val="14993144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A72551D-67D7-44EA-BF0C-246838C0E902}" type="slidenum">
              <a:rPr lang="en-IN" smtClean="0"/>
              <a:t>27</a:t>
            </a:fld>
            <a:endParaRPr lang="en-IN"/>
          </a:p>
        </p:txBody>
      </p:sp>
    </p:spTree>
    <p:extLst>
      <p:ext uri="{BB962C8B-B14F-4D97-AF65-F5344CB8AC3E}">
        <p14:creationId xmlns:p14="http://schemas.microsoft.com/office/powerpoint/2010/main" val="40762358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0B02277-9392-41C3-AA11-A5F619BDEEAB}" type="slidenum">
              <a:rPr lang="en-US" smtClean="0"/>
              <a:t>30</a:t>
            </a:fld>
            <a:endParaRPr lang="en-US"/>
          </a:p>
        </p:txBody>
      </p:sp>
    </p:spTree>
    <p:extLst>
      <p:ext uri="{BB962C8B-B14F-4D97-AF65-F5344CB8AC3E}">
        <p14:creationId xmlns:p14="http://schemas.microsoft.com/office/powerpoint/2010/main" val="19903848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A72551D-67D7-44EA-BF0C-246838C0E902}" type="slidenum">
              <a:rPr lang="en-IN" smtClean="0"/>
              <a:t>31</a:t>
            </a:fld>
            <a:endParaRPr lang="en-IN"/>
          </a:p>
        </p:txBody>
      </p:sp>
    </p:spTree>
    <p:extLst>
      <p:ext uri="{BB962C8B-B14F-4D97-AF65-F5344CB8AC3E}">
        <p14:creationId xmlns:p14="http://schemas.microsoft.com/office/powerpoint/2010/main" val="4930706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A72551D-67D7-44EA-BF0C-246838C0E902}" type="slidenum">
              <a:rPr lang="en-IN" smtClean="0"/>
              <a:t>32</a:t>
            </a:fld>
            <a:endParaRPr lang="en-IN"/>
          </a:p>
        </p:txBody>
      </p:sp>
    </p:spTree>
    <p:extLst>
      <p:ext uri="{BB962C8B-B14F-4D97-AF65-F5344CB8AC3E}">
        <p14:creationId xmlns:p14="http://schemas.microsoft.com/office/powerpoint/2010/main" val="40405403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A72551D-67D7-44EA-BF0C-246838C0E902}" type="slidenum">
              <a:rPr lang="en-IN" smtClean="0"/>
              <a:t>39</a:t>
            </a:fld>
            <a:endParaRPr lang="en-IN"/>
          </a:p>
        </p:txBody>
      </p:sp>
    </p:spTree>
    <p:extLst>
      <p:ext uri="{BB962C8B-B14F-4D97-AF65-F5344CB8AC3E}">
        <p14:creationId xmlns:p14="http://schemas.microsoft.com/office/powerpoint/2010/main" val="13085295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A72551D-67D7-44EA-BF0C-246838C0E902}" type="slidenum">
              <a:rPr lang="en-IN" smtClean="0"/>
              <a:t>43</a:t>
            </a:fld>
            <a:endParaRPr lang="en-IN"/>
          </a:p>
        </p:txBody>
      </p:sp>
    </p:spTree>
    <p:extLst>
      <p:ext uri="{BB962C8B-B14F-4D97-AF65-F5344CB8AC3E}">
        <p14:creationId xmlns:p14="http://schemas.microsoft.com/office/powerpoint/2010/main" val="29510677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A72551D-67D7-44EA-BF0C-246838C0E902}" type="slidenum">
              <a:rPr lang="en-IN" smtClean="0"/>
              <a:t>46</a:t>
            </a:fld>
            <a:endParaRPr lang="en-IN"/>
          </a:p>
        </p:txBody>
      </p:sp>
    </p:spTree>
    <p:extLst>
      <p:ext uri="{BB962C8B-B14F-4D97-AF65-F5344CB8AC3E}">
        <p14:creationId xmlns:p14="http://schemas.microsoft.com/office/powerpoint/2010/main" val="1623196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A72551D-67D7-44EA-BF0C-246838C0E902}" type="slidenum">
              <a:rPr lang="en-IN" smtClean="0"/>
              <a:t>49</a:t>
            </a:fld>
            <a:endParaRPr lang="en-IN"/>
          </a:p>
        </p:txBody>
      </p:sp>
    </p:spTree>
    <p:extLst>
      <p:ext uri="{BB962C8B-B14F-4D97-AF65-F5344CB8AC3E}">
        <p14:creationId xmlns:p14="http://schemas.microsoft.com/office/powerpoint/2010/main" val="6311012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231140" y="400303"/>
            <a:ext cx="2700020" cy="574040"/>
          </a:xfrm>
          <a:prstGeom prst="rect">
            <a:avLst/>
          </a:prstGeom>
        </p:spPr>
        <p:txBody>
          <a:bodyPr wrap="square" lIns="0" tIns="0" rIns="0" bIns="0">
            <a:spAutoFit/>
          </a:bodyPr>
          <a:lstStyle>
            <a:lvl1pPr>
              <a:defRPr sz="3600" b="1" i="0">
                <a:solidFill>
                  <a:schemeClr val="tx1"/>
                </a:solidFill>
                <a:latin typeface="Cambria"/>
                <a:cs typeface="Cambria"/>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1600" b="0" i="0">
                <a:solidFill>
                  <a:schemeClr val="tx1"/>
                </a:solidFill>
                <a:latin typeface="Arial MT"/>
                <a:cs typeface="Arial MT"/>
              </a:defRPr>
            </a:lvl1pPr>
          </a:lstStyle>
          <a:p>
            <a:endParaRPr/>
          </a:p>
        </p:txBody>
      </p:sp>
      <p:sp>
        <p:nvSpPr>
          <p:cNvPr id="4" name="Holder 4"/>
          <p:cNvSpPr>
            <a:spLocks noGrp="1"/>
          </p:cNvSpPr>
          <p:nvPr>
            <p:ph type="ftr" sz="quarter" idx="5"/>
          </p:nvPr>
        </p:nvSpPr>
        <p:spPr>
          <a:xfrm>
            <a:off x="7358633" y="6639735"/>
            <a:ext cx="1706245" cy="182245"/>
          </a:xfrm>
          <a:prstGeom prst="rect">
            <a:avLst/>
          </a:prstGeom>
        </p:spPr>
        <p:txBody>
          <a:bodyPr lIns="0" tIns="0" rIns="0" bIns="0"/>
          <a:lstStyle>
            <a:lvl1pPr>
              <a:defRPr sz="1100" b="0" i="0">
                <a:solidFill>
                  <a:srgbClr val="0F1141"/>
                </a:solidFill>
                <a:latin typeface="Arial MT"/>
                <a:cs typeface="Arial MT"/>
              </a:defRPr>
            </a:lvl1pPr>
          </a:lstStyle>
          <a:p>
            <a:pPr marL="12700">
              <a:lnSpc>
                <a:spcPct val="100000"/>
              </a:lnSpc>
            </a:pPr>
            <a:r>
              <a:rPr b="1" dirty="0">
                <a:latin typeface="Arial"/>
                <a:cs typeface="Arial"/>
              </a:rPr>
              <a:t>BITS</a:t>
            </a:r>
            <a:r>
              <a:rPr b="1" spc="-55" dirty="0">
                <a:latin typeface="Arial"/>
                <a:cs typeface="Arial"/>
              </a:rPr>
              <a:t> </a:t>
            </a:r>
            <a:r>
              <a:rPr dirty="0"/>
              <a:t>Pilani,</a:t>
            </a:r>
            <a:r>
              <a:rPr spc="-35" dirty="0"/>
              <a:t> </a:t>
            </a:r>
            <a:r>
              <a:rPr dirty="0"/>
              <a:t>Pilani</a:t>
            </a:r>
            <a:r>
              <a:rPr spc="-30" dirty="0"/>
              <a:t> </a:t>
            </a:r>
            <a:r>
              <a:rPr spc="-10" dirty="0"/>
              <a:t>Campus</a:t>
            </a:r>
          </a:p>
        </p:txBody>
      </p:sp>
      <p:sp>
        <p:nvSpPr>
          <p:cNvPr id="5" name="Holder 5"/>
          <p:cNvSpPr>
            <a:spLocks noGrp="1"/>
          </p:cNvSpPr>
          <p:nvPr>
            <p:ph type="dt" sz="half" idx="6"/>
          </p:nvPr>
        </p:nvSpPr>
        <p:spPr>
          <a:xfrm>
            <a:off x="457200" y="6377940"/>
            <a:ext cx="210312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12/26/2024</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7358633" y="6639735"/>
            <a:ext cx="1706245" cy="182245"/>
          </a:xfrm>
          <a:prstGeom prst="rect">
            <a:avLst/>
          </a:prstGeom>
        </p:spPr>
        <p:txBody>
          <a:bodyPr lIns="0" tIns="0" rIns="0" bIns="0"/>
          <a:lstStyle>
            <a:lvl1pPr>
              <a:defRPr sz="1100" b="0" i="0">
                <a:solidFill>
                  <a:srgbClr val="0F1141"/>
                </a:solidFill>
                <a:latin typeface="Arial MT"/>
                <a:cs typeface="Arial MT"/>
              </a:defRPr>
            </a:lvl1pPr>
          </a:lstStyle>
          <a:p>
            <a:pPr marL="12700">
              <a:lnSpc>
                <a:spcPct val="100000"/>
              </a:lnSpc>
            </a:pPr>
            <a:r>
              <a:rPr b="1" dirty="0">
                <a:latin typeface="Arial"/>
                <a:cs typeface="Arial"/>
              </a:rPr>
              <a:t>BITS</a:t>
            </a:r>
            <a:r>
              <a:rPr b="1" spc="-55" dirty="0">
                <a:latin typeface="Arial"/>
                <a:cs typeface="Arial"/>
              </a:rPr>
              <a:t> </a:t>
            </a:r>
            <a:r>
              <a:rPr dirty="0"/>
              <a:t>Pilani,</a:t>
            </a:r>
            <a:r>
              <a:rPr spc="-35" dirty="0"/>
              <a:t> </a:t>
            </a:r>
            <a:r>
              <a:rPr dirty="0"/>
              <a:t>Pilani</a:t>
            </a:r>
            <a:r>
              <a:rPr spc="-30" dirty="0"/>
              <a:t> </a:t>
            </a:r>
            <a:r>
              <a:rPr spc="-10" dirty="0"/>
              <a:t>Campus</a:t>
            </a:r>
          </a:p>
        </p:txBody>
      </p:sp>
      <p:sp>
        <p:nvSpPr>
          <p:cNvPr id="8" name="Content Placeholder 2"/>
          <p:cNvSpPr>
            <a:spLocks noGrp="1"/>
          </p:cNvSpPr>
          <p:nvPr>
            <p:ph idx="10"/>
          </p:nvPr>
        </p:nvSpPr>
        <p:spPr>
          <a:xfrm>
            <a:off x="228600" y="1545224"/>
            <a:ext cx="8610600" cy="4525963"/>
          </a:xfrm>
          <a:prstGeom prst="rect">
            <a:avLst/>
          </a:prstGeom>
        </p:spPr>
        <p:txBody>
          <a:bodyPr>
            <a:normAutofit/>
          </a:bodyPr>
          <a:lstStyle>
            <a:lvl1pPr>
              <a:defRPr sz="2400">
                <a:latin typeface="Cambria" panose="02040503050406030204" pitchFamily="18" charset="0"/>
                <a:ea typeface="Cambria" panose="02040503050406030204" pitchFamily="18" charset="0"/>
              </a:defRPr>
            </a:lvl1pPr>
            <a:lvl2pPr>
              <a:defRPr sz="2400">
                <a:latin typeface="Cambria" panose="02040503050406030204" pitchFamily="18" charset="0"/>
                <a:ea typeface="Cambria" panose="02040503050406030204" pitchFamily="18" charset="0"/>
              </a:defRPr>
            </a:lvl2pPr>
            <a:lvl3pPr>
              <a:defRPr sz="2400">
                <a:latin typeface="Cambria" panose="02040503050406030204" pitchFamily="18" charset="0"/>
                <a:ea typeface="Cambria" panose="02040503050406030204" pitchFamily="18" charset="0"/>
              </a:defRPr>
            </a:lvl3pPr>
            <a:lvl4pPr>
              <a:defRPr sz="2400">
                <a:latin typeface="Cambria" panose="02040503050406030204" pitchFamily="18" charset="0"/>
                <a:ea typeface="Cambria" panose="02040503050406030204" pitchFamily="18" charset="0"/>
              </a:defRPr>
            </a:lvl4pPr>
            <a:lvl5pPr>
              <a:defRPr sz="2400">
                <a:latin typeface="Cambria" panose="02040503050406030204" pitchFamily="18" charset="0"/>
                <a:ea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itle 1"/>
          <p:cNvSpPr>
            <a:spLocks noGrp="1"/>
          </p:cNvSpPr>
          <p:nvPr>
            <p:ph type="title"/>
          </p:nvPr>
        </p:nvSpPr>
        <p:spPr>
          <a:xfrm>
            <a:off x="228600" y="0"/>
            <a:ext cx="8160907" cy="1219200"/>
          </a:xfrm>
          <a:prstGeom prst="rect">
            <a:avLst/>
          </a:prstGeom>
        </p:spPr>
        <p:txBody>
          <a:bodyPr anchor="ctr"/>
          <a:lstStyle>
            <a:lvl1pPr algn="l">
              <a:defRPr sz="3600" b="0">
                <a:latin typeface="Cambria" panose="02040503050406030204" pitchFamily="18" charset="0"/>
                <a:ea typeface="Cambria" panose="02040503050406030204" pitchFamily="18" charset="0"/>
              </a:defRPr>
            </a:lvl1pPr>
          </a:lstStyle>
          <a:p>
            <a:r>
              <a:rPr lang="en-US" dirty="0"/>
              <a:t>Click to edit Master title style</a:t>
            </a:r>
            <a:endParaRPr lang="en-I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231140" y="361315"/>
            <a:ext cx="4921250" cy="613028"/>
          </a:xfrm>
          <a:prstGeom prst="rect">
            <a:avLst/>
          </a:prstGeom>
        </p:spPr>
        <p:txBody>
          <a:bodyPr lIns="0" tIns="0" rIns="0" bIns="0"/>
          <a:lstStyle>
            <a:lvl1pPr>
              <a:defRPr sz="3600" b="1" i="0">
                <a:solidFill>
                  <a:schemeClr val="tx1"/>
                </a:solidFill>
                <a:latin typeface="Cambria"/>
                <a:cs typeface="Cambria"/>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a:xfrm>
            <a:off x="7358633" y="6639735"/>
            <a:ext cx="1706245" cy="182245"/>
          </a:xfrm>
          <a:prstGeom prst="rect">
            <a:avLst/>
          </a:prstGeom>
        </p:spPr>
        <p:txBody>
          <a:bodyPr lIns="0" tIns="0" rIns="0" bIns="0"/>
          <a:lstStyle>
            <a:lvl1pPr>
              <a:defRPr sz="1100" b="0" i="0">
                <a:solidFill>
                  <a:srgbClr val="0F1141"/>
                </a:solidFill>
                <a:latin typeface="Arial MT"/>
                <a:cs typeface="Arial MT"/>
              </a:defRPr>
            </a:lvl1pPr>
          </a:lstStyle>
          <a:p>
            <a:pPr marL="12700">
              <a:lnSpc>
                <a:spcPct val="100000"/>
              </a:lnSpc>
            </a:pPr>
            <a:r>
              <a:rPr b="1" dirty="0">
                <a:latin typeface="Arial"/>
                <a:cs typeface="Arial"/>
              </a:rPr>
              <a:t>BITS</a:t>
            </a:r>
            <a:r>
              <a:rPr b="1" spc="-55" dirty="0">
                <a:latin typeface="Arial"/>
                <a:cs typeface="Arial"/>
              </a:rPr>
              <a:t> </a:t>
            </a:r>
            <a:r>
              <a:rPr dirty="0"/>
              <a:t>Pilani,</a:t>
            </a:r>
            <a:r>
              <a:rPr spc="-35" dirty="0"/>
              <a:t> </a:t>
            </a:r>
            <a:r>
              <a:rPr dirty="0"/>
              <a:t>Pilani</a:t>
            </a:r>
            <a:r>
              <a:rPr spc="-30" dirty="0"/>
              <a:t> </a:t>
            </a:r>
            <a:r>
              <a:rPr spc="-10" dirty="0"/>
              <a:t>Campus</a:t>
            </a:r>
          </a:p>
        </p:txBody>
      </p:sp>
      <p:sp>
        <p:nvSpPr>
          <p:cNvPr id="6" name="Holder 6"/>
          <p:cNvSpPr>
            <a:spLocks noGrp="1"/>
          </p:cNvSpPr>
          <p:nvPr>
            <p:ph type="dt" sz="half" idx="6"/>
          </p:nvPr>
        </p:nvSpPr>
        <p:spPr>
          <a:xfrm>
            <a:off x="457200" y="6377940"/>
            <a:ext cx="210312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12/26/2024</a:t>
            </a:fld>
            <a:endParaRPr lang="en-US"/>
          </a:p>
        </p:txBody>
      </p:sp>
      <p:sp>
        <p:nvSpPr>
          <p:cNvPr id="7" name="Holder 7"/>
          <p:cNvSpPr>
            <a:spLocks noGrp="1"/>
          </p:cNvSpPr>
          <p:nvPr>
            <p:ph type="sldNum" sz="quarter" idx="7"/>
          </p:nvPr>
        </p:nvSpPr>
        <p:spPr>
          <a:xfrm>
            <a:off x="6583680" y="6377940"/>
            <a:ext cx="210312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6629400" y="0"/>
            <a:ext cx="2193036" cy="693420"/>
          </a:xfrm>
          <a:prstGeom prst="rect">
            <a:avLst/>
          </a:prstGeom>
        </p:spPr>
      </p:pic>
      <p:sp>
        <p:nvSpPr>
          <p:cNvPr id="17" name="bg object 17"/>
          <p:cNvSpPr/>
          <p:nvPr/>
        </p:nvSpPr>
        <p:spPr>
          <a:xfrm>
            <a:off x="4495800"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a:p>
        </p:txBody>
      </p:sp>
      <p:sp>
        <p:nvSpPr>
          <p:cNvPr id="18" name="bg object 18"/>
          <p:cNvSpPr/>
          <p:nvPr/>
        </p:nvSpPr>
        <p:spPr>
          <a:xfrm>
            <a:off x="2133600" y="6553200"/>
            <a:ext cx="2362200" cy="45720"/>
          </a:xfrm>
          <a:custGeom>
            <a:avLst/>
            <a:gdLst/>
            <a:ahLst/>
            <a:cxnLst/>
            <a:rect l="l" t="t" r="r" b="b"/>
            <a:pathLst>
              <a:path w="2362200" h="45720">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a:p>
        </p:txBody>
      </p:sp>
      <p:sp>
        <p:nvSpPr>
          <p:cNvPr id="19" name="bg object 19"/>
          <p:cNvSpPr/>
          <p:nvPr/>
        </p:nvSpPr>
        <p:spPr>
          <a:xfrm>
            <a:off x="6815328"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a:p>
        </p:txBody>
      </p:sp>
      <p:sp>
        <p:nvSpPr>
          <p:cNvPr id="20" name="bg object 20"/>
          <p:cNvSpPr/>
          <p:nvPr/>
        </p:nvSpPr>
        <p:spPr>
          <a:xfrm>
            <a:off x="2362200"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a:p>
        </p:txBody>
      </p:sp>
      <p:sp>
        <p:nvSpPr>
          <p:cNvPr id="21" name="bg object 21"/>
          <p:cNvSpPr/>
          <p:nvPr/>
        </p:nvSpPr>
        <p:spPr>
          <a:xfrm>
            <a:off x="0" y="1295400"/>
            <a:ext cx="2362200" cy="45720"/>
          </a:xfrm>
          <a:custGeom>
            <a:avLst/>
            <a:gdLst/>
            <a:ahLst/>
            <a:cxnLst/>
            <a:rect l="l" t="t" r="r" b="b"/>
            <a:pathLst>
              <a:path w="2362200" h="45719">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a:p>
        </p:txBody>
      </p:sp>
      <p:sp>
        <p:nvSpPr>
          <p:cNvPr id="22" name="bg object 22"/>
          <p:cNvSpPr/>
          <p:nvPr/>
        </p:nvSpPr>
        <p:spPr>
          <a:xfrm>
            <a:off x="4681728"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a:p>
        </p:txBody>
      </p:sp>
      <p:sp>
        <p:nvSpPr>
          <p:cNvPr id="2" name="Holder 2"/>
          <p:cNvSpPr>
            <a:spLocks noGrp="1"/>
          </p:cNvSpPr>
          <p:nvPr>
            <p:ph type="title"/>
          </p:nvPr>
        </p:nvSpPr>
        <p:spPr>
          <a:xfrm>
            <a:off x="231140" y="361315"/>
            <a:ext cx="4921250" cy="613028"/>
          </a:xfrm>
          <a:prstGeom prst="rect">
            <a:avLst/>
          </a:prstGeom>
        </p:spPr>
        <p:txBody>
          <a:bodyPr lIns="0" tIns="0" rIns="0" bIns="0"/>
          <a:lstStyle>
            <a:lvl1pPr>
              <a:defRPr sz="3600" b="1" i="0">
                <a:solidFill>
                  <a:schemeClr val="tx1"/>
                </a:solidFill>
                <a:latin typeface="Cambria"/>
                <a:cs typeface="Cambria"/>
              </a:defRPr>
            </a:lvl1pPr>
          </a:lstStyle>
          <a:p>
            <a:endParaRPr/>
          </a:p>
        </p:txBody>
      </p:sp>
      <p:sp>
        <p:nvSpPr>
          <p:cNvPr id="3" name="Holder 3"/>
          <p:cNvSpPr>
            <a:spLocks noGrp="1"/>
          </p:cNvSpPr>
          <p:nvPr>
            <p:ph type="ftr" sz="quarter" idx="5"/>
          </p:nvPr>
        </p:nvSpPr>
        <p:spPr>
          <a:xfrm>
            <a:off x="7358633" y="6639735"/>
            <a:ext cx="1706245" cy="182245"/>
          </a:xfrm>
          <a:prstGeom prst="rect">
            <a:avLst/>
          </a:prstGeom>
        </p:spPr>
        <p:txBody>
          <a:bodyPr lIns="0" tIns="0" rIns="0" bIns="0"/>
          <a:lstStyle>
            <a:lvl1pPr>
              <a:defRPr sz="1100" b="0" i="0">
                <a:solidFill>
                  <a:srgbClr val="0F1141"/>
                </a:solidFill>
                <a:latin typeface="Arial MT"/>
                <a:cs typeface="Arial MT"/>
              </a:defRPr>
            </a:lvl1pPr>
          </a:lstStyle>
          <a:p>
            <a:pPr marL="12700">
              <a:lnSpc>
                <a:spcPct val="100000"/>
              </a:lnSpc>
            </a:pPr>
            <a:r>
              <a:rPr b="1" dirty="0">
                <a:latin typeface="Arial"/>
                <a:cs typeface="Arial"/>
              </a:rPr>
              <a:t>BITS</a:t>
            </a:r>
            <a:r>
              <a:rPr b="1" spc="-55" dirty="0">
                <a:latin typeface="Arial"/>
                <a:cs typeface="Arial"/>
              </a:rPr>
              <a:t> </a:t>
            </a:r>
            <a:r>
              <a:rPr dirty="0"/>
              <a:t>Pilani,</a:t>
            </a:r>
            <a:r>
              <a:rPr spc="-35" dirty="0"/>
              <a:t> </a:t>
            </a:r>
            <a:r>
              <a:rPr dirty="0"/>
              <a:t>Pilani</a:t>
            </a:r>
            <a:r>
              <a:rPr spc="-30" dirty="0"/>
              <a:t> </a:t>
            </a:r>
            <a:r>
              <a:rPr spc="-10" dirty="0"/>
              <a:t>Campus</a:t>
            </a:r>
          </a:p>
        </p:txBody>
      </p:sp>
      <p:sp>
        <p:nvSpPr>
          <p:cNvPr id="4" name="Holder 4"/>
          <p:cNvSpPr>
            <a:spLocks noGrp="1"/>
          </p:cNvSpPr>
          <p:nvPr>
            <p:ph type="dt" sz="half" idx="6"/>
          </p:nvPr>
        </p:nvSpPr>
        <p:spPr>
          <a:xfrm>
            <a:off x="457200" y="6377940"/>
            <a:ext cx="210312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12/26/2024</a:t>
            </a:fld>
            <a:endParaRPr lang="en-US"/>
          </a:p>
        </p:txBody>
      </p:sp>
      <p:sp>
        <p:nvSpPr>
          <p:cNvPr id="5" name="Holder 5"/>
          <p:cNvSpPr>
            <a:spLocks noGrp="1"/>
          </p:cNvSpPr>
          <p:nvPr>
            <p:ph type="sldNum" sz="quarter" idx="7"/>
          </p:nvPr>
        </p:nvSpPr>
        <p:spPr>
          <a:xfrm>
            <a:off x="6583680" y="6377940"/>
            <a:ext cx="210312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9143999" cy="6857999"/>
          </a:xfrm>
          <a:prstGeom prst="rect">
            <a:avLst/>
          </a:prstGeom>
        </p:spPr>
      </p:pic>
      <p:sp>
        <p:nvSpPr>
          <p:cNvPr id="17" name="bg object 17"/>
          <p:cNvSpPr/>
          <p:nvPr/>
        </p:nvSpPr>
        <p:spPr>
          <a:xfrm>
            <a:off x="2895600" y="6096000"/>
            <a:ext cx="2895600" cy="76200"/>
          </a:xfrm>
          <a:custGeom>
            <a:avLst/>
            <a:gdLst/>
            <a:ahLst/>
            <a:cxnLst/>
            <a:rect l="l" t="t" r="r" b="b"/>
            <a:pathLst>
              <a:path w="2895600" h="76200">
                <a:moveTo>
                  <a:pt x="2895600" y="0"/>
                </a:moveTo>
                <a:lnTo>
                  <a:pt x="0" y="0"/>
                </a:lnTo>
                <a:lnTo>
                  <a:pt x="0" y="76200"/>
                </a:lnTo>
                <a:lnTo>
                  <a:pt x="2895600" y="76200"/>
                </a:lnTo>
                <a:lnTo>
                  <a:pt x="2895600" y="0"/>
                </a:lnTo>
                <a:close/>
              </a:path>
            </a:pathLst>
          </a:custGeom>
          <a:solidFill>
            <a:srgbClr val="76C2E4"/>
          </a:solidFill>
        </p:spPr>
        <p:txBody>
          <a:bodyPr wrap="square" lIns="0" tIns="0" rIns="0" bIns="0" rtlCol="0"/>
          <a:lstStyle/>
          <a:p>
            <a:endParaRPr/>
          </a:p>
        </p:txBody>
      </p:sp>
      <p:sp>
        <p:nvSpPr>
          <p:cNvPr id="18" name="bg object 18"/>
          <p:cNvSpPr/>
          <p:nvPr/>
        </p:nvSpPr>
        <p:spPr>
          <a:xfrm>
            <a:off x="0" y="6096000"/>
            <a:ext cx="2895600" cy="76200"/>
          </a:xfrm>
          <a:custGeom>
            <a:avLst/>
            <a:gdLst/>
            <a:ahLst/>
            <a:cxnLst/>
            <a:rect l="l" t="t" r="r" b="b"/>
            <a:pathLst>
              <a:path w="2895600" h="76200">
                <a:moveTo>
                  <a:pt x="2895600" y="0"/>
                </a:moveTo>
                <a:lnTo>
                  <a:pt x="0" y="0"/>
                </a:lnTo>
                <a:lnTo>
                  <a:pt x="0" y="76200"/>
                </a:lnTo>
                <a:lnTo>
                  <a:pt x="2895600" y="76200"/>
                </a:lnTo>
                <a:lnTo>
                  <a:pt x="2895600" y="0"/>
                </a:lnTo>
                <a:close/>
              </a:path>
            </a:pathLst>
          </a:custGeom>
          <a:solidFill>
            <a:srgbClr val="FBAF17"/>
          </a:solidFill>
        </p:spPr>
        <p:txBody>
          <a:bodyPr wrap="square" lIns="0" tIns="0" rIns="0" bIns="0" rtlCol="0"/>
          <a:lstStyle/>
          <a:p>
            <a:endParaRPr/>
          </a:p>
        </p:txBody>
      </p:sp>
      <p:sp>
        <p:nvSpPr>
          <p:cNvPr id="19" name="bg object 19"/>
          <p:cNvSpPr/>
          <p:nvPr/>
        </p:nvSpPr>
        <p:spPr>
          <a:xfrm>
            <a:off x="5791200" y="6096000"/>
            <a:ext cx="2895600" cy="76200"/>
          </a:xfrm>
          <a:custGeom>
            <a:avLst/>
            <a:gdLst/>
            <a:ahLst/>
            <a:cxnLst/>
            <a:rect l="l" t="t" r="r" b="b"/>
            <a:pathLst>
              <a:path w="2895600" h="76200">
                <a:moveTo>
                  <a:pt x="2895600" y="0"/>
                </a:moveTo>
                <a:lnTo>
                  <a:pt x="0" y="0"/>
                </a:lnTo>
                <a:lnTo>
                  <a:pt x="0" y="76200"/>
                </a:lnTo>
                <a:lnTo>
                  <a:pt x="2895600" y="76200"/>
                </a:lnTo>
                <a:lnTo>
                  <a:pt x="2895600" y="0"/>
                </a:lnTo>
                <a:close/>
              </a:path>
            </a:pathLst>
          </a:custGeom>
          <a:solidFill>
            <a:srgbClr val="FF0000"/>
          </a:solidFill>
        </p:spPr>
        <p:txBody>
          <a:bodyPr wrap="square" lIns="0" tIns="0" rIns="0" bIns="0" rtlCol="0"/>
          <a:lstStyle/>
          <a:p>
            <a:endParaRPr/>
          </a:p>
        </p:txBody>
      </p:sp>
      <p:pic>
        <p:nvPicPr>
          <p:cNvPr id="20" name="bg object 20"/>
          <p:cNvPicPr/>
          <p:nvPr/>
        </p:nvPicPr>
        <p:blipFill>
          <a:blip r:embed="rId3" cstate="print"/>
          <a:stretch>
            <a:fillRect/>
          </a:stretch>
        </p:blipFill>
        <p:spPr>
          <a:xfrm>
            <a:off x="76200" y="3352800"/>
            <a:ext cx="2057400" cy="1979676"/>
          </a:xfrm>
          <a:prstGeom prst="rect">
            <a:avLst/>
          </a:prstGeom>
        </p:spPr>
      </p:pic>
      <p:sp>
        <p:nvSpPr>
          <p:cNvPr id="2" name="Holder 2"/>
          <p:cNvSpPr>
            <a:spLocks noGrp="1"/>
          </p:cNvSpPr>
          <p:nvPr>
            <p:ph type="ftr" sz="quarter" idx="5"/>
          </p:nvPr>
        </p:nvSpPr>
        <p:spPr>
          <a:xfrm>
            <a:off x="7358633" y="6639735"/>
            <a:ext cx="1706245" cy="182245"/>
          </a:xfrm>
          <a:prstGeom prst="rect">
            <a:avLst/>
          </a:prstGeom>
        </p:spPr>
        <p:txBody>
          <a:bodyPr lIns="0" tIns="0" rIns="0" bIns="0"/>
          <a:lstStyle>
            <a:lvl1pPr>
              <a:defRPr sz="1100" b="0" i="0">
                <a:solidFill>
                  <a:srgbClr val="0F1141"/>
                </a:solidFill>
                <a:latin typeface="Arial MT"/>
                <a:cs typeface="Arial MT"/>
              </a:defRPr>
            </a:lvl1pPr>
          </a:lstStyle>
          <a:p>
            <a:pPr marL="12700">
              <a:lnSpc>
                <a:spcPct val="100000"/>
              </a:lnSpc>
            </a:pPr>
            <a:r>
              <a:rPr b="1" dirty="0">
                <a:latin typeface="Arial"/>
                <a:cs typeface="Arial"/>
              </a:rPr>
              <a:t>BITS</a:t>
            </a:r>
            <a:r>
              <a:rPr b="1" spc="-55" dirty="0">
                <a:latin typeface="Arial"/>
                <a:cs typeface="Arial"/>
              </a:rPr>
              <a:t> </a:t>
            </a:r>
            <a:r>
              <a:rPr dirty="0"/>
              <a:t>Pilani,</a:t>
            </a:r>
            <a:r>
              <a:rPr spc="-35" dirty="0"/>
              <a:t> </a:t>
            </a:r>
            <a:r>
              <a:rPr dirty="0"/>
              <a:t>Pilani</a:t>
            </a:r>
            <a:r>
              <a:rPr spc="-30" dirty="0"/>
              <a:t> </a:t>
            </a:r>
            <a:r>
              <a:rPr spc="-10" dirty="0"/>
              <a:t>Campus</a:t>
            </a:r>
          </a:p>
        </p:txBody>
      </p:sp>
      <p:sp>
        <p:nvSpPr>
          <p:cNvPr id="3" name="Holder 3"/>
          <p:cNvSpPr>
            <a:spLocks noGrp="1"/>
          </p:cNvSpPr>
          <p:nvPr>
            <p:ph type="dt" sz="half" idx="6"/>
          </p:nvPr>
        </p:nvSpPr>
        <p:spPr>
          <a:xfrm>
            <a:off x="457200" y="6377940"/>
            <a:ext cx="210312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12/26/2024</a:t>
            </a:fld>
            <a:endParaRPr lang="en-US"/>
          </a:p>
        </p:txBody>
      </p:sp>
      <p:sp>
        <p:nvSpPr>
          <p:cNvPr id="4" name="Holder 4"/>
          <p:cNvSpPr>
            <a:spLocks noGrp="1"/>
          </p:cNvSpPr>
          <p:nvPr>
            <p:ph type="sldNum" sz="quarter" idx="7"/>
          </p:nvPr>
        </p:nvSpPr>
        <p:spPr>
          <a:xfrm>
            <a:off x="6583680" y="6377940"/>
            <a:ext cx="210312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39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4203978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4300446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1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8198220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5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951663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6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6526048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37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7640289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7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0297515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9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4690668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1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0018986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4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3013731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25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5526045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26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1910096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27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1382894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28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9713883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29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44524450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30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83435941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31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59708605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8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3" name="Content Placeholder 2"/>
          <p:cNvSpPr>
            <a:spLocks noGrp="1"/>
          </p:cNvSpPr>
          <p:nvPr>
            <p:ph idx="1" hasCustomPrompt="1"/>
          </p:nvPr>
        </p:nvSpPr>
        <p:spPr>
          <a:xfrm>
            <a:off x="304800" y="1493841"/>
            <a:ext cx="82296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3276600" y="6596393"/>
            <a:ext cx="5867400" cy="187615"/>
          </a:xfrm>
          <a:prstGeom prst="rect">
            <a:avLst/>
          </a:prstGeom>
          <a:noFill/>
        </p:spPr>
        <p:txBody>
          <a:bodyPr wrap="square" rtlCol="0">
            <a:spAutoFit/>
          </a:bodyPr>
          <a:lstStyle/>
          <a:p>
            <a:pPr algn="r" defTabSz="685800" rtl="0">
              <a:defRPr/>
            </a:pPr>
            <a:r>
              <a:rPr lang="en-US" sz="619" b="1" kern="1200" dirty="0">
                <a:solidFill>
                  <a:srgbClr val="101141"/>
                </a:solidFill>
                <a:latin typeface="Arial"/>
                <a:ea typeface="+mn-ea"/>
                <a:cs typeface="Arial"/>
              </a:rPr>
              <a:t>BITS </a:t>
            </a:r>
            <a:r>
              <a:rPr lang="en-US" sz="619" kern="1200" dirty="0">
                <a:solidFill>
                  <a:srgbClr val="101141"/>
                </a:solidFill>
                <a:latin typeface="Arial"/>
                <a:ea typeface="+mn-ea"/>
                <a:cs typeface="Arial"/>
              </a:rPr>
              <a:t>Pilani, Deemed to be University under Section 3 of UGC Act, 1956</a:t>
            </a:r>
          </a:p>
        </p:txBody>
      </p:sp>
      <p:grpSp>
        <p:nvGrpSpPr>
          <p:cNvPr id="12" name="Group 11"/>
          <p:cNvGrpSpPr/>
          <p:nvPr userDrawn="1"/>
        </p:nvGrpSpPr>
        <p:grpSpPr>
          <a:xfrm>
            <a:off x="2083888" y="6550675"/>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6629402" y="-1"/>
            <a:ext cx="2193193" cy="692697"/>
          </a:xfrm>
          <a:prstGeom prst="rect">
            <a:avLst/>
          </a:prstGeom>
        </p:spPr>
      </p:pic>
      <p:grpSp>
        <p:nvGrpSpPr>
          <p:cNvPr id="19" name="Group 18"/>
          <p:cNvGrpSpPr/>
          <p:nvPr userDrawn="1"/>
        </p:nvGrpSpPr>
        <p:grpSpPr>
          <a:xfrm>
            <a:off x="2133600" y="6558116"/>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grpSp>
        <p:nvGrpSpPr>
          <p:cNvPr id="23" name="Group 22"/>
          <p:cNvGrpSpPr/>
          <p:nvPr userDrawn="1"/>
        </p:nvGrpSpPr>
        <p:grpSpPr>
          <a:xfrm>
            <a:off x="0" y="1295404"/>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sp>
        <p:nvSpPr>
          <p:cNvPr id="27" name="Content Placeholder 18"/>
          <p:cNvSpPr>
            <a:spLocks noGrp="1"/>
          </p:cNvSpPr>
          <p:nvPr>
            <p:ph sz="quarter" idx="10"/>
          </p:nvPr>
        </p:nvSpPr>
        <p:spPr>
          <a:xfrm>
            <a:off x="304800" y="152400"/>
            <a:ext cx="63246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4495800" y="6363741"/>
            <a:ext cx="9144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457200" y="6377940"/>
            <a:ext cx="2103120" cy="342900"/>
          </a:xfrm>
          <a:prstGeom prst="rect">
            <a:avLst/>
          </a:prstGeom>
        </p:spPr>
        <p:txBody>
          <a:bodyPr/>
          <a:lstStyle/>
          <a:p>
            <a:pPr algn="l" rtl="0" fontAlgn="base">
              <a:spcBef>
                <a:spcPct val="0"/>
              </a:spcBef>
              <a:spcAft>
                <a:spcPct val="0"/>
              </a:spcAft>
            </a:pPr>
            <a:endParaRPr lang="en-US" sz="1200" kern="1200">
              <a:solidFill>
                <a:prstClr val="black">
                  <a:tint val="75000"/>
                </a:prstClr>
              </a:solidFill>
              <a:latin typeface="Tahoma" charset="0"/>
              <a:ea typeface="+mn-ea"/>
              <a:cs typeface="+mn-cs"/>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7358633" y="6639735"/>
            <a:ext cx="1706245" cy="182245"/>
          </a:xfrm>
          <a:prstGeom prst="rect">
            <a:avLst/>
          </a:prstGeom>
        </p:spPr>
        <p:txBody>
          <a:bodyPr/>
          <a:lstStyle/>
          <a:p>
            <a:pPr algn="l" rtl="0" fontAlgn="base">
              <a:spcBef>
                <a:spcPct val="0"/>
              </a:spcBef>
              <a:spcAft>
                <a:spcPct val="0"/>
              </a:spcAft>
            </a:pPr>
            <a:endParaRPr lang="en-US" sz="1200" kern="1200">
              <a:solidFill>
                <a:prstClr val="black">
                  <a:tint val="75000"/>
                </a:prstClr>
              </a:solidFill>
              <a:latin typeface="Tahoma" charset="0"/>
              <a:ea typeface="+mn-ea"/>
              <a:cs typeface="+mn-cs"/>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7010400" y="6101555"/>
            <a:ext cx="2133600" cy="365125"/>
          </a:xfrm>
          <a:prstGeom prst="rect">
            <a:avLst/>
          </a:prstGeom>
        </p:spPr>
        <p:txBody>
          <a:bodyPr/>
          <a:lstStyle/>
          <a:p>
            <a:pPr algn="l" rtl="0" fontAlgn="base">
              <a:spcBef>
                <a:spcPct val="0"/>
              </a:spcBef>
              <a:spcAft>
                <a:spcPct val="0"/>
              </a:spcAft>
            </a:pPr>
            <a:fld id="{BC8D7E44-7D4F-4942-A8C9-2DF6BF8399E8}" type="slidenum">
              <a:rPr lang="en-US" sz="1200" kern="1200">
                <a:solidFill>
                  <a:prstClr val="black">
                    <a:tint val="75000"/>
                  </a:prstClr>
                </a:solidFill>
                <a:latin typeface="Tahoma" charset="0"/>
                <a:ea typeface="+mn-ea"/>
                <a:cs typeface="+mn-cs"/>
              </a:rPr>
              <a:pPr algn="l" rtl="0" fontAlgn="base">
                <a:spcBef>
                  <a:spcPct val="0"/>
                </a:spcBef>
                <a:spcAft>
                  <a:spcPct val="0"/>
                </a:spcAft>
              </a:pPr>
              <a:t>‹#›</a:t>
            </a:fld>
            <a:endParaRPr lang="en-US" sz="1200" kern="1200" dirty="0">
              <a:solidFill>
                <a:prstClr val="black">
                  <a:tint val="75000"/>
                </a:prstClr>
              </a:solidFill>
              <a:latin typeface="Tahoma" charset="0"/>
              <a:ea typeface="+mn-ea"/>
              <a:cs typeface="+mn-cs"/>
            </a:endParaRPr>
          </a:p>
        </p:txBody>
      </p:sp>
    </p:spTree>
    <p:extLst>
      <p:ext uri="{BB962C8B-B14F-4D97-AF65-F5344CB8AC3E}">
        <p14:creationId xmlns:p14="http://schemas.microsoft.com/office/powerpoint/2010/main" val="125922763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32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3" name="Content Placeholder 2"/>
          <p:cNvSpPr>
            <a:spLocks noGrp="1"/>
          </p:cNvSpPr>
          <p:nvPr>
            <p:ph idx="1" hasCustomPrompt="1"/>
          </p:nvPr>
        </p:nvSpPr>
        <p:spPr>
          <a:xfrm>
            <a:off x="304800" y="1493841"/>
            <a:ext cx="82296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3276600" y="6596393"/>
            <a:ext cx="5867400" cy="187615"/>
          </a:xfrm>
          <a:prstGeom prst="rect">
            <a:avLst/>
          </a:prstGeom>
          <a:noFill/>
        </p:spPr>
        <p:txBody>
          <a:bodyPr wrap="square" rtlCol="0">
            <a:spAutoFit/>
          </a:bodyPr>
          <a:lstStyle/>
          <a:p>
            <a:pPr algn="r" defTabSz="685800" rtl="0">
              <a:defRPr/>
            </a:pPr>
            <a:r>
              <a:rPr lang="en-US" sz="619" b="1" kern="1200" dirty="0">
                <a:solidFill>
                  <a:srgbClr val="101141"/>
                </a:solidFill>
                <a:latin typeface="Arial"/>
                <a:ea typeface="+mn-ea"/>
                <a:cs typeface="Arial"/>
              </a:rPr>
              <a:t>BITS </a:t>
            </a:r>
            <a:r>
              <a:rPr lang="en-US" sz="619" kern="1200" dirty="0">
                <a:solidFill>
                  <a:srgbClr val="101141"/>
                </a:solidFill>
                <a:latin typeface="Arial"/>
                <a:ea typeface="+mn-ea"/>
                <a:cs typeface="Arial"/>
              </a:rPr>
              <a:t>Pilani, Deemed to be University under Section 3 of UGC Act, 1956</a:t>
            </a:r>
          </a:p>
        </p:txBody>
      </p:sp>
      <p:grpSp>
        <p:nvGrpSpPr>
          <p:cNvPr id="12" name="Group 11"/>
          <p:cNvGrpSpPr/>
          <p:nvPr userDrawn="1"/>
        </p:nvGrpSpPr>
        <p:grpSpPr>
          <a:xfrm>
            <a:off x="2083888" y="6550675"/>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6629402" y="-1"/>
            <a:ext cx="2193193" cy="692697"/>
          </a:xfrm>
          <a:prstGeom prst="rect">
            <a:avLst/>
          </a:prstGeom>
        </p:spPr>
      </p:pic>
      <p:grpSp>
        <p:nvGrpSpPr>
          <p:cNvPr id="19" name="Group 18"/>
          <p:cNvGrpSpPr/>
          <p:nvPr userDrawn="1"/>
        </p:nvGrpSpPr>
        <p:grpSpPr>
          <a:xfrm>
            <a:off x="2133600" y="6558116"/>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grpSp>
        <p:nvGrpSpPr>
          <p:cNvPr id="23" name="Group 22"/>
          <p:cNvGrpSpPr/>
          <p:nvPr userDrawn="1"/>
        </p:nvGrpSpPr>
        <p:grpSpPr>
          <a:xfrm>
            <a:off x="0" y="1295404"/>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sp>
        <p:nvSpPr>
          <p:cNvPr id="27" name="Content Placeholder 18"/>
          <p:cNvSpPr>
            <a:spLocks noGrp="1"/>
          </p:cNvSpPr>
          <p:nvPr>
            <p:ph sz="quarter" idx="10"/>
          </p:nvPr>
        </p:nvSpPr>
        <p:spPr>
          <a:xfrm>
            <a:off x="304800" y="152400"/>
            <a:ext cx="63246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4495800" y="6363741"/>
            <a:ext cx="9144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457200" y="6377940"/>
            <a:ext cx="2103120" cy="342900"/>
          </a:xfrm>
          <a:prstGeom prst="rect">
            <a:avLst/>
          </a:prstGeom>
        </p:spPr>
        <p:txBody>
          <a:bodyPr/>
          <a:lstStyle/>
          <a:p>
            <a:pPr algn="l" rtl="0" fontAlgn="base">
              <a:spcBef>
                <a:spcPct val="0"/>
              </a:spcBef>
              <a:spcAft>
                <a:spcPct val="0"/>
              </a:spcAft>
            </a:pPr>
            <a:endParaRPr lang="en-US" sz="1200" kern="1200">
              <a:solidFill>
                <a:prstClr val="black">
                  <a:tint val="75000"/>
                </a:prstClr>
              </a:solidFill>
              <a:latin typeface="Tahoma" charset="0"/>
              <a:ea typeface="+mn-ea"/>
              <a:cs typeface="+mn-cs"/>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7358633" y="6639735"/>
            <a:ext cx="1706245" cy="182245"/>
          </a:xfrm>
          <a:prstGeom prst="rect">
            <a:avLst/>
          </a:prstGeom>
        </p:spPr>
        <p:txBody>
          <a:bodyPr/>
          <a:lstStyle/>
          <a:p>
            <a:pPr algn="l" rtl="0" fontAlgn="base">
              <a:spcBef>
                <a:spcPct val="0"/>
              </a:spcBef>
              <a:spcAft>
                <a:spcPct val="0"/>
              </a:spcAft>
            </a:pPr>
            <a:endParaRPr lang="en-US" sz="1200" kern="1200">
              <a:solidFill>
                <a:prstClr val="black">
                  <a:tint val="75000"/>
                </a:prstClr>
              </a:solidFill>
              <a:latin typeface="Tahoma" charset="0"/>
              <a:ea typeface="+mn-ea"/>
              <a:cs typeface="+mn-cs"/>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7010400" y="6101555"/>
            <a:ext cx="2133600" cy="365125"/>
          </a:xfrm>
          <a:prstGeom prst="rect">
            <a:avLst/>
          </a:prstGeom>
        </p:spPr>
        <p:txBody>
          <a:bodyPr/>
          <a:lstStyle/>
          <a:p>
            <a:pPr algn="l" rtl="0" fontAlgn="base">
              <a:spcBef>
                <a:spcPct val="0"/>
              </a:spcBef>
              <a:spcAft>
                <a:spcPct val="0"/>
              </a:spcAft>
            </a:pPr>
            <a:fld id="{BC8D7E44-7D4F-4942-A8C9-2DF6BF8399E8}" type="slidenum">
              <a:rPr lang="en-US" sz="1200" kern="1200">
                <a:solidFill>
                  <a:prstClr val="black">
                    <a:tint val="75000"/>
                  </a:prstClr>
                </a:solidFill>
                <a:latin typeface="Tahoma" charset="0"/>
                <a:ea typeface="+mn-ea"/>
                <a:cs typeface="+mn-cs"/>
              </a:rPr>
              <a:pPr algn="l" rtl="0" fontAlgn="base">
                <a:spcBef>
                  <a:spcPct val="0"/>
                </a:spcBef>
                <a:spcAft>
                  <a:spcPct val="0"/>
                </a:spcAft>
              </a:pPr>
              <a:t>‹#›</a:t>
            </a:fld>
            <a:endParaRPr lang="en-US" sz="1200" kern="1200" dirty="0">
              <a:solidFill>
                <a:prstClr val="black">
                  <a:tint val="75000"/>
                </a:prstClr>
              </a:solidFill>
              <a:latin typeface="Tahoma" charset="0"/>
              <a:ea typeface="+mn-ea"/>
              <a:cs typeface="+mn-cs"/>
            </a:endParaRPr>
          </a:p>
        </p:txBody>
      </p:sp>
    </p:spTree>
    <p:extLst>
      <p:ext uri="{BB962C8B-B14F-4D97-AF65-F5344CB8AC3E}">
        <p14:creationId xmlns:p14="http://schemas.microsoft.com/office/powerpoint/2010/main" val="334053127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33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3" name="Content Placeholder 2"/>
          <p:cNvSpPr>
            <a:spLocks noGrp="1"/>
          </p:cNvSpPr>
          <p:nvPr>
            <p:ph idx="1" hasCustomPrompt="1"/>
          </p:nvPr>
        </p:nvSpPr>
        <p:spPr>
          <a:xfrm>
            <a:off x="304800" y="1493841"/>
            <a:ext cx="82296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3276600" y="6596393"/>
            <a:ext cx="5867400" cy="187615"/>
          </a:xfrm>
          <a:prstGeom prst="rect">
            <a:avLst/>
          </a:prstGeom>
          <a:noFill/>
        </p:spPr>
        <p:txBody>
          <a:bodyPr wrap="square" rtlCol="0">
            <a:spAutoFit/>
          </a:bodyPr>
          <a:lstStyle/>
          <a:p>
            <a:pPr algn="r" defTabSz="685800" rtl="0">
              <a:defRPr/>
            </a:pPr>
            <a:r>
              <a:rPr lang="en-US" sz="619" b="1" kern="1200" dirty="0">
                <a:solidFill>
                  <a:srgbClr val="101141"/>
                </a:solidFill>
                <a:latin typeface="Arial"/>
                <a:ea typeface="+mn-ea"/>
                <a:cs typeface="Arial"/>
              </a:rPr>
              <a:t>BITS </a:t>
            </a:r>
            <a:r>
              <a:rPr lang="en-US" sz="619" kern="1200" dirty="0">
                <a:solidFill>
                  <a:srgbClr val="101141"/>
                </a:solidFill>
                <a:latin typeface="Arial"/>
                <a:ea typeface="+mn-ea"/>
                <a:cs typeface="Arial"/>
              </a:rPr>
              <a:t>Pilani, Deemed to be University under Section 3 of UGC Act, 1956</a:t>
            </a:r>
          </a:p>
        </p:txBody>
      </p:sp>
      <p:grpSp>
        <p:nvGrpSpPr>
          <p:cNvPr id="12" name="Group 11"/>
          <p:cNvGrpSpPr/>
          <p:nvPr userDrawn="1"/>
        </p:nvGrpSpPr>
        <p:grpSpPr>
          <a:xfrm>
            <a:off x="2083888" y="6550675"/>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6629402" y="-1"/>
            <a:ext cx="2193193" cy="692697"/>
          </a:xfrm>
          <a:prstGeom prst="rect">
            <a:avLst/>
          </a:prstGeom>
        </p:spPr>
      </p:pic>
      <p:grpSp>
        <p:nvGrpSpPr>
          <p:cNvPr id="19" name="Group 18"/>
          <p:cNvGrpSpPr/>
          <p:nvPr userDrawn="1"/>
        </p:nvGrpSpPr>
        <p:grpSpPr>
          <a:xfrm>
            <a:off x="2133600" y="6558116"/>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grpSp>
        <p:nvGrpSpPr>
          <p:cNvPr id="23" name="Group 22"/>
          <p:cNvGrpSpPr/>
          <p:nvPr userDrawn="1"/>
        </p:nvGrpSpPr>
        <p:grpSpPr>
          <a:xfrm>
            <a:off x="0" y="1295404"/>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sp>
        <p:nvSpPr>
          <p:cNvPr id="27" name="Content Placeholder 18"/>
          <p:cNvSpPr>
            <a:spLocks noGrp="1"/>
          </p:cNvSpPr>
          <p:nvPr>
            <p:ph sz="quarter" idx="10"/>
          </p:nvPr>
        </p:nvSpPr>
        <p:spPr>
          <a:xfrm>
            <a:off x="304800" y="152400"/>
            <a:ext cx="63246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4495800" y="6363741"/>
            <a:ext cx="9144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457200" y="6377940"/>
            <a:ext cx="2103120" cy="342900"/>
          </a:xfrm>
          <a:prstGeom prst="rect">
            <a:avLst/>
          </a:prstGeom>
        </p:spPr>
        <p:txBody>
          <a:bodyPr/>
          <a:lstStyle/>
          <a:p>
            <a:pPr algn="l" rtl="0" fontAlgn="base">
              <a:spcBef>
                <a:spcPct val="0"/>
              </a:spcBef>
              <a:spcAft>
                <a:spcPct val="0"/>
              </a:spcAft>
            </a:pPr>
            <a:endParaRPr lang="en-US" sz="1200" kern="1200">
              <a:solidFill>
                <a:prstClr val="black">
                  <a:tint val="75000"/>
                </a:prstClr>
              </a:solidFill>
              <a:latin typeface="Tahoma" charset="0"/>
              <a:ea typeface="+mn-ea"/>
              <a:cs typeface="+mn-cs"/>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7358633" y="6639735"/>
            <a:ext cx="1706245" cy="182245"/>
          </a:xfrm>
          <a:prstGeom prst="rect">
            <a:avLst/>
          </a:prstGeom>
        </p:spPr>
        <p:txBody>
          <a:bodyPr/>
          <a:lstStyle/>
          <a:p>
            <a:pPr algn="l" rtl="0" fontAlgn="base">
              <a:spcBef>
                <a:spcPct val="0"/>
              </a:spcBef>
              <a:spcAft>
                <a:spcPct val="0"/>
              </a:spcAft>
            </a:pPr>
            <a:endParaRPr lang="en-US" sz="1200" kern="1200">
              <a:solidFill>
                <a:prstClr val="black">
                  <a:tint val="75000"/>
                </a:prstClr>
              </a:solidFill>
              <a:latin typeface="Tahoma" charset="0"/>
              <a:ea typeface="+mn-ea"/>
              <a:cs typeface="+mn-cs"/>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7010400" y="6101555"/>
            <a:ext cx="2133600" cy="365125"/>
          </a:xfrm>
          <a:prstGeom prst="rect">
            <a:avLst/>
          </a:prstGeom>
        </p:spPr>
        <p:txBody>
          <a:bodyPr/>
          <a:lstStyle/>
          <a:p>
            <a:pPr algn="l" rtl="0" fontAlgn="base">
              <a:spcBef>
                <a:spcPct val="0"/>
              </a:spcBef>
              <a:spcAft>
                <a:spcPct val="0"/>
              </a:spcAft>
            </a:pPr>
            <a:fld id="{BC8D7E44-7D4F-4942-A8C9-2DF6BF8399E8}" type="slidenum">
              <a:rPr lang="en-US" sz="1200" kern="1200">
                <a:solidFill>
                  <a:prstClr val="black">
                    <a:tint val="75000"/>
                  </a:prstClr>
                </a:solidFill>
                <a:latin typeface="Tahoma" charset="0"/>
                <a:ea typeface="+mn-ea"/>
                <a:cs typeface="+mn-cs"/>
              </a:rPr>
              <a:pPr algn="l" rtl="0" fontAlgn="base">
                <a:spcBef>
                  <a:spcPct val="0"/>
                </a:spcBef>
                <a:spcAft>
                  <a:spcPct val="0"/>
                </a:spcAft>
              </a:pPr>
              <a:t>‹#›</a:t>
            </a:fld>
            <a:endParaRPr lang="en-US" sz="1200" kern="1200" dirty="0">
              <a:solidFill>
                <a:prstClr val="black">
                  <a:tint val="75000"/>
                </a:prstClr>
              </a:solidFill>
              <a:latin typeface="Tahoma" charset="0"/>
              <a:ea typeface="+mn-ea"/>
              <a:cs typeface="+mn-cs"/>
            </a:endParaRPr>
          </a:p>
        </p:txBody>
      </p:sp>
    </p:spTree>
    <p:extLst>
      <p:ext uri="{BB962C8B-B14F-4D97-AF65-F5344CB8AC3E}">
        <p14:creationId xmlns:p14="http://schemas.microsoft.com/office/powerpoint/2010/main" val="176023829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34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3" name="Content Placeholder 2"/>
          <p:cNvSpPr>
            <a:spLocks noGrp="1"/>
          </p:cNvSpPr>
          <p:nvPr>
            <p:ph idx="1" hasCustomPrompt="1"/>
          </p:nvPr>
        </p:nvSpPr>
        <p:spPr>
          <a:xfrm>
            <a:off x="304800" y="1493841"/>
            <a:ext cx="82296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3276600" y="6596393"/>
            <a:ext cx="5867400" cy="187615"/>
          </a:xfrm>
          <a:prstGeom prst="rect">
            <a:avLst/>
          </a:prstGeom>
          <a:noFill/>
        </p:spPr>
        <p:txBody>
          <a:bodyPr wrap="square" rtlCol="0">
            <a:spAutoFit/>
          </a:bodyPr>
          <a:lstStyle/>
          <a:p>
            <a:pPr algn="r" defTabSz="685800" rtl="0">
              <a:defRPr/>
            </a:pPr>
            <a:r>
              <a:rPr lang="en-US" sz="619" b="1" kern="1200" dirty="0">
                <a:solidFill>
                  <a:srgbClr val="101141"/>
                </a:solidFill>
                <a:latin typeface="Arial"/>
                <a:ea typeface="+mn-ea"/>
                <a:cs typeface="Arial"/>
              </a:rPr>
              <a:t>BITS </a:t>
            </a:r>
            <a:r>
              <a:rPr lang="en-US" sz="619" kern="1200" dirty="0">
                <a:solidFill>
                  <a:srgbClr val="101141"/>
                </a:solidFill>
                <a:latin typeface="Arial"/>
                <a:ea typeface="+mn-ea"/>
                <a:cs typeface="Arial"/>
              </a:rPr>
              <a:t>Pilani, Deemed to be University under Section 3 of UGC Act, 1956</a:t>
            </a:r>
          </a:p>
        </p:txBody>
      </p:sp>
      <p:grpSp>
        <p:nvGrpSpPr>
          <p:cNvPr id="12" name="Group 11"/>
          <p:cNvGrpSpPr/>
          <p:nvPr userDrawn="1"/>
        </p:nvGrpSpPr>
        <p:grpSpPr>
          <a:xfrm>
            <a:off x="2083888" y="6550675"/>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6629402" y="-1"/>
            <a:ext cx="2193193" cy="692697"/>
          </a:xfrm>
          <a:prstGeom prst="rect">
            <a:avLst/>
          </a:prstGeom>
        </p:spPr>
      </p:pic>
      <p:grpSp>
        <p:nvGrpSpPr>
          <p:cNvPr id="19" name="Group 18"/>
          <p:cNvGrpSpPr/>
          <p:nvPr userDrawn="1"/>
        </p:nvGrpSpPr>
        <p:grpSpPr>
          <a:xfrm>
            <a:off x="2133600" y="6558116"/>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grpSp>
        <p:nvGrpSpPr>
          <p:cNvPr id="23" name="Group 22"/>
          <p:cNvGrpSpPr/>
          <p:nvPr userDrawn="1"/>
        </p:nvGrpSpPr>
        <p:grpSpPr>
          <a:xfrm>
            <a:off x="0" y="1295404"/>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sp>
        <p:nvSpPr>
          <p:cNvPr id="27" name="Content Placeholder 18"/>
          <p:cNvSpPr>
            <a:spLocks noGrp="1"/>
          </p:cNvSpPr>
          <p:nvPr>
            <p:ph sz="quarter" idx="10"/>
          </p:nvPr>
        </p:nvSpPr>
        <p:spPr>
          <a:xfrm>
            <a:off x="304800" y="152400"/>
            <a:ext cx="63246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4495800" y="6363741"/>
            <a:ext cx="9144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457200" y="6377940"/>
            <a:ext cx="2103120" cy="342900"/>
          </a:xfrm>
          <a:prstGeom prst="rect">
            <a:avLst/>
          </a:prstGeom>
        </p:spPr>
        <p:txBody>
          <a:bodyPr/>
          <a:lstStyle/>
          <a:p>
            <a:pPr algn="l" rtl="0" fontAlgn="base">
              <a:spcBef>
                <a:spcPct val="0"/>
              </a:spcBef>
              <a:spcAft>
                <a:spcPct val="0"/>
              </a:spcAft>
            </a:pPr>
            <a:endParaRPr lang="en-US" sz="1200" kern="1200">
              <a:solidFill>
                <a:prstClr val="black">
                  <a:tint val="75000"/>
                </a:prstClr>
              </a:solidFill>
              <a:latin typeface="Tahoma" charset="0"/>
              <a:ea typeface="+mn-ea"/>
              <a:cs typeface="+mn-cs"/>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7358633" y="6639735"/>
            <a:ext cx="1706245" cy="182245"/>
          </a:xfrm>
          <a:prstGeom prst="rect">
            <a:avLst/>
          </a:prstGeom>
        </p:spPr>
        <p:txBody>
          <a:bodyPr/>
          <a:lstStyle/>
          <a:p>
            <a:pPr algn="l" rtl="0" fontAlgn="base">
              <a:spcBef>
                <a:spcPct val="0"/>
              </a:spcBef>
              <a:spcAft>
                <a:spcPct val="0"/>
              </a:spcAft>
            </a:pPr>
            <a:endParaRPr lang="en-US" sz="1200" kern="1200">
              <a:solidFill>
                <a:prstClr val="black">
                  <a:tint val="75000"/>
                </a:prstClr>
              </a:solidFill>
              <a:latin typeface="Tahoma" charset="0"/>
              <a:ea typeface="+mn-ea"/>
              <a:cs typeface="+mn-cs"/>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7010400" y="6101555"/>
            <a:ext cx="2133600" cy="365125"/>
          </a:xfrm>
          <a:prstGeom prst="rect">
            <a:avLst/>
          </a:prstGeom>
        </p:spPr>
        <p:txBody>
          <a:bodyPr/>
          <a:lstStyle/>
          <a:p>
            <a:pPr algn="l" rtl="0" fontAlgn="base">
              <a:spcBef>
                <a:spcPct val="0"/>
              </a:spcBef>
              <a:spcAft>
                <a:spcPct val="0"/>
              </a:spcAft>
            </a:pPr>
            <a:fld id="{BC8D7E44-7D4F-4942-A8C9-2DF6BF8399E8}" type="slidenum">
              <a:rPr lang="en-US" sz="1200" kern="1200">
                <a:solidFill>
                  <a:prstClr val="black">
                    <a:tint val="75000"/>
                  </a:prstClr>
                </a:solidFill>
                <a:latin typeface="Tahoma" charset="0"/>
                <a:ea typeface="+mn-ea"/>
                <a:cs typeface="+mn-cs"/>
              </a:rPr>
              <a:pPr algn="l" rtl="0" fontAlgn="base">
                <a:spcBef>
                  <a:spcPct val="0"/>
                </a:spcBef>
                <a:spcAft>
                  <a:spcPct val="0"/>
                </a:spcAft>
              </a:pPr>
              <a:t>‹#›</a:t>
            </a:fld>
            <a:endParaRPr lang="en-US" sz="1200" kern="1200" dirty="0">
              <a:solidFill>
                <a:prstClr val="black">
                  <a:tint val="75000"/>
                </a:prstClr>
              </a:solidFill>
              <a:latin typeface="Tahoma" charset="0"/>
              <a:ea typeface="+mn-ea"/>
              <a:cs typeface="+mn-cs"/>
            </a:endParaRPr>
          </a:p>
        </p:txBody>
      </p:sp>
    </p:spTree>
    <p:extLst>
      <p:ext uri="{BB962C8B-B14F-4D97-AF65-F5344CB8AC3E}">
        <p14:creationId xmlns:p14="http://schemas.microsoft.com/office/powerpoint/2010/main" val="117392898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35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3" name="Content Placeholder 2"/>
          <p:cNvSpPr>
            <a:spLocks noGrp="1"/>
          </p:cNvSpPr>
          <p:nvPr>
            <p:ph idx="1" hasCustomPrompt="1"/>
          </p:nvPr>
        </p:nvSpPr>
        <p:spPr>
          <a:xfrm>
            <a:off x="304800" y="1493841"/>
            <a:ext cx="82296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3276600" y="6596393"/>
            <a:ext cx="5867400" cy="187615"/>
          </a:xfrm>
          <a:prstGeom prst="rect">
            <a:avLst/>
          </a:prstGeom>
          <a:noFill/>
        </p:spPr>
        <p:txBody>
          <a:bodyPr wrap="square" rtlCol="0">
            <a:spAutoFit/>
          </a:bodyPr>
          <a:lstStyle/>
          <a:p>
            <a:pPr algn="r" defTabSz="685800" rtl="0">
              <a:defRPr/>
            </a:pPr>
            <a:r>
              <a:rPr lang="en-US" sz="619" b="1" kern="1200" dirty="0">
                <a:solidFill>
                  <a:srgbClr val="101141"/>
                </a:solidFill>
                <a:latin typeface="Arial"/>
                <a:ea typeface="+mn-ea"/>
                <a:cs typeface="Arial"/>
              </a:rPr>
              <a:t>BITS </a:t>
            </a:r>
            <a:r>
              <a:rPr lang="en-US" sz="619" kern="1200" dirty="0">
                <a:solidFill>
                  <a:srgbClr val="101141"/>
                </a:solidFill>
                <a:latin typeface="Arial"/>
                <a:ea typeface="+mn-ea"/>
                <a:cs typeface="Arial"/>
              </a:rPr>
              <a:t>Pilani, Deemed to be University under Section 3 of UGC Act, 1956</a:t>
            </a:r>
          </a:p>
        </p:txBody>
      </p:sp>
      <p:grpSp>
        <p:nvGrpSpPr>
          <p:cNvPr id="12" name="Group 11"/>
          <p:cNvGrpSpPr/>
          <p:nvPr userDrawn="1"/>
        </p:nvGrpSpPr>
        <p:grpSpPr>
          <a:xfrm>
            <a:off x="2083888" y="6550675"/>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6629402" y="-1"/>
            <a:ext cx="2193193" cy="692697"/>
          </a:xfrm>
          <a:prstGeom prst="rect">
            <a:avLst/>
          </a:prstGeom>
        </p:spPr>
      </p:pic>
      <p:grpSp>
        <p:nvGrpSpPr>
          <p:cNvPr id="19" name="Group 18"/>
          <p:cNvGrpSpPr/>
          <p:nvPr userDrawn="1"/>
        </p:nvGrpSpPr>
        <p:grpSpPr>
          <a:xfrm>
            <a:off x="2133600" y="6558116"/>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grpSp>
        <p:nvGrpSpPr>
          <p:cNvPr id="23" name="Group 22"/>
          <p:cNvGrpSpPr/>
          <p:nvPr userDrawn="1"/>
        </p:nvGrpSpPr>
        <p:grpSpPr>
          <a:xfrm>
            <a:off x="0" y="1295404"/>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sp>
        <p:nvSpPr>
          <p:cNvPr id="27" name="Content Placeholder 18"/>
          <p:cNvSpPr>
            <a:spLocks noGrp="1"/>
          </p:cNvSpPr>
          <p:nvPr>
            <p:ph sz="quarter" idx="10"/>
          </p:nvPr>
        </p:nvSpPr>
        <p:spPr>
          <a:xfrm>
            <a:off x="304800" y="152400"/>
            <a:ext cx="63246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4495800" y="6363741"/>
            <a:ext cx="9144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457200" y="6377940"/>
            <a:ext cx="2103120" cy="342900"/>
          </a:xfrm>
          <a:prstGeom prst="rect">
            <a:avLst/>
          </a:prstGeom>
        </p:spPr>
        <p:txBody>
          <a:bodyPr/>
          <a:lstStyle/>
          <a:p>
            <a:pPr algn="l" rtl="0" fontAlgn="base">
              <a:spcBef>
                <a:spcPct val="0"/>
              </a:spcBef>
              <a:spcAft>
                <a:spcPct val="0"/>
              </a:spcAft>
            </a:pPr>
            <a:endParaRPr lang="en-US" sz="1200" kern="1200">
              <a:solidFill>
                <a:prstClr val="black">
                  <a:tint val="75000"/>
                </a:prstClr>
              </a:solidFill>
              <a:latin typeface="Tahoma" charset="0"/>
              <a:ea typeface="+mn-ea"/>
              <a:cs typeface="+mn-cs"/>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7358633" y="6639735"/>
            <a:ext cx="1706245" cy="182245"/>
          </a:xfrm>
          <a:prstGeom prst="rect">
            <a:avLst/>
          </a:prstGeom>
        </p:spPr>
        <p:txBody>
          <a:bodyPr/>
          <a:lstStyle/>
          <a:p>
            <a:pPr algn="l" rtl="0" fontAlgn="base">
              <a:spcBef>
                <a:spcPct val="0"/>
              </a:spcBef>
              <a:spcAft>
                <a:spcPct val="0"/>
              </a:spcAft>
            </a:pPr>
            <a:endParaRPr lang="en-US" sz="1200" kern="1200">
              <a:solidFill>
                <a:prstClr val="black">
                  <a:tint val="75000"/>
                </a:prstClr>
              </a:solidFill>
              <a:latin typeface="Tahoma" charset="0"/>
              <a:ea typeface="+mn-ea"/>
              <a:cs typeface="+mn-cs"/>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7010400" y="6101555"/>
            <a:ext cx="2133600" cy="365125"/>
          </a:xfrm>
          <a:prstGeom prst="rect">
            <a:avLst/>
          </a:prstGeom>
        </p:spPr>
        <p:txBody>
          <a:bodyPr/>
          <a:lstStyle/>
          <a:p>
            <a:pPr algn="l" rtl="0" fontAlgn="base">
              <a:spcBef>
                <a:spcPct val="0"/>
              </a:spcBef>
              <a:spcAft>
                <a:spcPct val="0"/>
              </a:spcAft>
            </a:pPr>
            <a:fld id="{BC8D7E44-7D4F-4942-A8C9-2DF6BF8399E8}" type="slidenum">
              <a:rPr lang="en-US" sz="1200" kern="1200">
                <a:solidFill>
                  <a:prstClr val="black">
                    <a:tint val="75000"/>
                  </a:prstClr>
                </a:solidFill>
                <a:latin typeface="Tahoma" charset="0"/>
                <a:ea typeface="+mn-ea"/>
                <a:cs typeface="+mn-cs"/>
              </a:rPr>
              <a:pPr algn="l" rtl="0" fontAlgn="base">
                <a:spcBef>
                  <a:spcPct val="0"/>
                </a:spcBef>
                <a:spcAft>
                  <a:spcPct val="0"/>
                </a:spcAft>
              </a:pPr>
              <a:t>‹#›</a:t>
            </a:fld>
            <a:endParaRPr lang="en-US" sz="1200" kern="1200" dirty="0">
              <a:solidFill>
                <a:prstClr val="black">
                  <a:tint val="75000"/>
                </a:prstClr>
              </a:solidFill>
              <a:latin typeface="Tahoma" charset="0"/>
              <a:ea typeface="+mn-ea"/>
              <a:cs typeface="+mn-cs"/>
            </a:endParaRPr>
          </a:p>
        </p:txBody>
      </p:sp>
    </p:spTree>
    <p:extLst>
      <p:ext uri="{BB962C8B-B14F-4D97-AF65-F5344CB8AC3E}">
        <p14:creationId xmlns:p14="http://schemas.microsoft.com/office/powerpoint/2010/main" val="396300909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36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3" name="Content Placeholder 2"/>
          <p:cNvSpPr>
            <a:spLocks noGrp="1"/>
          </p:cNvSpPr>
          <p:nvPr>
            <p:ph idx="1" hasCustomPrompt="1"/>
          </p:nvPr>
        </p:nvSpPr>
        <p:spPr>
          <a:xfrm>
            <a:off x="304800" y="1493841"/>
            <a:ext cx="82296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3276600" y="6596393"/>
            <a:ext cx="5867400" cy="187615"/>
          </a:xfrm>
          <a:prstGeom prst="rect">
            <a:avLst/>
          </a:prstGeom>
          <a:noFill/>
        </p:spPr>
        <p:txBody>
          <a:bodyPr wrap="square" rtlCol="0">
            <a:spAutoFit/>
          </a:bodyPr>
          <a:lstStyle/>
          <a:p>
            <a:pPr algn="r" defTabSz="685800" rtl="0">
              <a:defRPr/>
            </a:pPr>
            <a:r>
              <a:rPr lang="en-US" sz="619" b="1" kern="1200" dirty="0">
                <a:solidFill>
                  <a:srgbClr val="101141"/>
                </a:solidFill>
                <a:latin typeface="Arial"/>
                <a:ea typeface="+mn-ea"/>
                <a:cs typeface="Arial"/>
              </a:rPr>
              <a:t>BITS </a:t>
            </a:r>
            <a:r>
              <a:rPr lang="en-US" sz="619" kern="1200" dirty="0">
                <a:solidFill>
                  <a:srgbClr val="101141"/>
                </a:solidFill>
                <a:latin typeface="Arial"/>
                <a:ea typeface="+mn-ea"/>
                <a:cs typeface="Arial"/>
              </a:rPr>
              <a:t>Pilani, Deemed to be University under Section 3 of UGC Act, 1956</a:t>
            </a:r>
          </a:p>
        </p:txBody>
      </p:sp>
      <p:grpSp>
        <p:nvGrpSpPr>
          <p:cNvPr id="12" name="Group 11"/>
          <p:cNvGrpSpPr/>
          <p:nvPr userDrawn="1"/>
        </p:nvGrpSpPr>
        <p:grpSpPr>
          <a:xfrm>
            <a:off x="2083888" y="6550675"/>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6629402" y="-1"/>
            <a:ext cx="2193193" cy="692697"/>
          </a:xfrm>
          <a:prstGeom prst="rect">
            <a:avLst/>
          </a:prstGeom>
        </p:spPr>
      </p:pic>
      <p:grpSp>
        <p:nvGrpSpPr>
          <p:cNvPr id="19" name="Group 18"/>
          <p:cNvGrpSpPr/>
          <p:nvPr userDrawn="1"/>
        </p:nvGrpSpPr>
        <p:grpSpPr>
          <a:xfrm>
            <a:off x="2133600" y="6558116"/>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grpSp>
        <p:nvGrpSpPr>
          <p:cNvPr id="23" name="Group 22"/>
          <p:cNvGrpSpPr/>
          <p:nvPr userDrawn="1"/>
        </p:nvGrpSpPr>
        <p:grpSpPr>
          <a:xfrm>
            <a:off x="0" y="1295404"/>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rtl="0">
                <a:defRPr/>
              </a:pPr>
              <a:endParaRPr lang="en-US" sz="1013" kern="1200">
                <a:solidFill>
                  <a:prstClr val="white"/>
                </a:solidFill>
              </a:endParaRPr>
            </a:p>
          </p:txBody>
        </p:sp>
      </p:grpSp>
      <p:sp>
        <p:nvSpPr>
          <p:cNvPr id="27" name="Content Placeholder 18"/>
          <p:cNvSpPr>
            <a:spLocks noGrp="1"/>
          </p:cNvSpPr>
          <p:nvPr>
            <p:ph sz="quarter" idx="10"/>
          </p:nvPr>
        </p:nvSpPr>
        <p:spPr>
          <a:xfrm>
            <a:off x="304800" y="152400"/>
            <a:ext cx="63246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4495800" y="6363741"/>
            <a:ext cx="9144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457200" y="6377940"/>
            <a:ext cx="2103120" cy="342900"/>
          </a:xfrm>
          <a:prstGeom prst="rect">
            <a:avLst/>
          </a:prstGeom>
        </p:spPr>
        <p:txBody>
          <a:bodyPr/>
          <a:lstStyle/>
          <a:p>
            <a:pPr algn="l" rtl="0" fontAlgn="base">
              <a:spcBef>
                <a:spcPct val="0"/>
              </a:spcBef>
              <a:spcAft>
                <a:spcPct val="0"/>
              </a:spcAft>
            </a:pPr>
            <a:endParaRPr lang="en-US" sz="1200" kern="1200">
              <a:solidFill>
                <a:prstClr val="black">
                  <a:tint val="75000"/>
                </a:prstClr>
              </a:solidFill>
              <a:latin typeface="Tahoma" charset="0"/>
              <a:ea typeface="+mn-ea"/>
              <a:cs typeface="+mn-cs"/>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7358633" y="6639735"/>
            <a:ext cx="1706245" cy="182245"/>
          </a:xfrm>
          <a:prstGeom prst="rect">
            <a:avLst/>
          </a:prstGeom>
        </p:spPr>
        <p:txBody>
          <a:bodyPr/>
          <a:lstStyle/>
          <a:p>
            <a:pPr algn="l" rtl="0" fontAlgn="base">
              <a:spcBef>
                <a:spcPct val="0"/>
              </a:spcBef>
              <a:spcAft>
                <a:spcPct val="0"/>
              </a:spcAft>
            </a:pPr>
            <a:endParaRPr lang="en-US" sz="1200" kern="1200">
              <a:solidFill>
                <a:prstClr val="black">
                  <a:tint val="75000"/>
                </a:prstClr>
              </a:solidFill>
              <a:latin typeface="Tahoma" charset="0"/>
              <a:ea typeface="+mn-ea"/>
              <a:cs typeface="+mn-cs"/>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7010400" y="6101555"/>
            <a:ext cx="2133600" cy="365125"/>
          </a:xfrm>
          <a:prstGeom prst="rect">
            <a:avLst/>
          </a:prstGeom>
        </p:spPr>
        <p:txBody>
          <a:bodyPr/>
          <a:lstStyle/>
          <a:p>
            <a:pPr algn="l" rtl="0" fontAlgn="base">
              <a:spcBef>
                <a:spcPct val="0"/>
              </a:spcBef>
              <a:spcAft>
                <a:spcPct val="0"/>
              </a:spcAft>
            </a:pPr>
            <a:fld id="{BC8D7E44-7D4F-4942-A8C9-2DF6BF8399E8}" type="slidenum">
              <a:rPr lang="en-US" sz="1200" kern="1200">
                <a:solidFill>
                  <a:prstClr val="black">
                    <a:tint val="75000"/>
                  </a:prstClr>
                </a:solidFill>
                <a:latin typeface="Tahoma" charset="0"/>
                <a:ea typeface="+mn-ea"/>
                <a:cs typeface="+mn-cs"/>
              </a:rPr>
              <a:pPr algn="l" rtl="0" fontAlgn="base">
                <a:spcBef>
                  <a:spcPct val="0"/>
                </a:spcBef>
                <a:spcAft>
                  <a:spcPct val="0"/>
                </a:spcAft>
              </a:pPr>
              <a:t>‹#›</a:t>
            </a:fld>
            <a:endParaRPr lang="en-US" sz="1200" kern="1200" dirty="0">
              <a:solidFill>
                <a:prstClr val="black">
                  <a:tint val="75000"/>
                </a:prstClr>
              </a:solidFill>
              <a:latin typeface="Tahoma" charset="0"/>
              <a:ea typeface="+mn-ea"/>
              <a:cs typeface="+mn-cs"/>
            </a:endParaRPr>
          </a:p>
        </p:txBody>
      </p:sp>
    </p:spTree>
    <p:extLst>
      <p:ext uri="{BB962C8B-B14F-4D97-AF65-F5344CB8AC3E}">
        <p14:creationId xmlns:p14="http://schemas.microsoft.com/office/powerpoint/2010/main" val="395192568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rtl="0" fontAlgn="base">
              <a:spcBef>
                <a:spcPct val="0"/>
              </a:spcBef>
              <a:spcAft>
                <a:spcPct val="0"/>
              </a:spcAft>
              <a:defRPr/>
            </a:pPr>
            <a:r>
              <a:rPr lang="en-US" sz="1100" b="1" kern="1200" dirty="0">
                <a:solidFill>
                  <a:srgbClr val="101141"/>
                </a:solidFill>
                <a:ea typeface="+mn-ea"/>
                <a:cs typeface="Arial" panose="020B0604020202020204" pitchFamily="34" charset="0"/>
              </a:rPr>
              <a:t>BITS </a:t>
            </a:r>
            <a:r>
              <a:rPr lang="en-US" sz="1100" kern="1200" dirty="0" err="1">
                <a:solidFill>
                  <a:srgbClr val="101141"/>
                </a:solidFill>
                <a:ea typeface="+mn-ea"/>
                <a:cs typeface="Arial" panose="020B0604020202020204" pitchFamily="34" charset="0"/>
              </a:rPr>
              <a:t>Pilani</a:t>
            </a:r>
            <a:endParaRPr lang="en-US" sz="1100" kern="1200" dirty="0">
              <a:solidFill>
                <a:srgbClr val="101141"/>
              </a:solidFill>
              <a:ea typeface="+mn-ea"/>
              <a:cs typeface="Arial" panose="020B0604020202020204" pitchFamily="34" charset="0"/>
            </a:endParaRP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kern="1200">
                <a:solidFill>
                  <a:prstClr val="white"/>
                </a:solidFill>
              </a:endParaRPr>
            </a:p>
          </p:txBody>
        </p:sp>
      </p:grpSp>
      <p:pic>
        <p:nvPicPr>
          <p:cNvPr id="9" name="Picture 11" descr="Picture 7.png"/>
          <p:cNvPicPr>
            <a:picLocks noChangeAspect="1"/>
          </p:cNvPicPr>
          <p:nvPr userDrawn="1"/>
        </p:nvPicPr>
        <p:blipFill>
          <a:blip r:embed="rId2" cstate="print"/>
          <a:srcRect l="1923" b="5336"/>
          <a:stretch>
            <a:fillRect/>
          </a:stretch>
        </p:blipFill>
        <p:spPr bwMode="auto">
          <a:xfrm>
            <a:off x="6629400" y="0"/>
            <a:ext cx="2193925" cy="692150"/>
          </a:xfrm>
          <a:prstGeom prst="rect">
            <a:avLst/>
          </a:prstGeom>
          <a:noFill/>
          <a:ln w="9525">
            <a:noFill/>
            <a:miter lim="800000"/>
            <a:headEnd/>
            <a:tailEnd/>
          </a:ln>
        </p:spPr>
      </p:pic>
      <p:grpSp>
        <p:nvGrpSpPr>
          <p:cNvPr id="10" name="Group 18"/>
          <p:cNvGrpSpPr>
            <a:grpSpLocks/>
          </p:cNvGrpSpPr>
          <p:nvPr userDrawn="1"/>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kern="12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kern="12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kern="1200">
                <a:solidFill>
                  <a:prstClr val="white"/>
                </a:solidFill>
              </a:endParaRPr>
            </a:p>
          </p:txBody>
        </p:sp>
      </p:grpSp>
      <p:grpSp>
        <p:nvGrpSpPr>
          <p:cNvPr id="14" name="Group 22"/>
          <p:cNvGrpSpPr>
            <a:grpSpLocks/>
          </p:cNvGrpSpPr>
          <p:nvPr userDrawn="1"/>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kern="1200">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kern="1200">
                <a:solidFill>
                  <a:prstClr val="white"/>
                </a:solidFil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kern="1200">
                <a:solidFill>
                  <a:prstClr val="white"/>
                </a:solidFill>
              </a:endParaRPr>
            </a:p>
          </p:txBody>
        </p:sp>
      </p:grpSp>
      <p:sp>
        <p:nvSpPr>
          <p:cNvPr id="3" name="Content Placeholder 2"/>
          <p:cNvSpPr>
            <a:spLocks noGrp="1"/>
          </p:cNvSpPr>
          <p:nvPr>
            <p:ph idx="1"/>
          </p:nvPr>
        </p:nvSpPr>
        <p:spPr>
          <a:xfrm>
            <a:off x="304800" y="1600200"/>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0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000">
                <a:latin typeface="Cambria" panose="02040503050406030204" pitchFamily="18" charset="0"/>
                <a:ea typeface="Cambria" panose="02040503050406030204" pitchFamily="18" charset="0"/>
                <a:cs typeface="Times New Roman" panose="02020603050405020304" pitchFamily="18" charset="0"/>
              </a:defRPr>
            </a:lvl2pPr>
            <a:lvl3pPr>
              <a:defRPr sz="2000">
                <a:latin typeface="Cambria" panose="02040503050406030204" pitchFamily="18" charset="0"/>
                <a:ea typeface="Cambria" panose="02040503050406030204" pitchFamily="18" charset="0"/>
                <a:cs typeface="Times New Roman" panose="02020603050405020304" pitchFamily="18" charset="0"/>
              </a:defRPr>
            </a:lvl3pPr>
            <a:lvl4pPr>
              <a:defRPr sz="2000">
                <a:latin typeface="Cambria" panose="02040503050406030204" pitchFamily="18" charset="0"/>
                <a:ea typeface="Cambria" panose="02040503050406030204" pitchFamily="18" charset="0"/>
                <a:cs typeface="Times New Roman" panose="02020603050405020304" pitchFamily="18" charset="0"/>
              </a:defRPr>
            </a:lvl4pPr>
            <a:lvl5pPr>
              <a:defRPr sz="2000">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chemeClr val="accent2"/>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dirty="0"/>
              <a:t>Click to edit Master text styles</a:t>
            </a:r>
          </a:p>
        </p:txBody>
      </p:sp>
      <p:sp>
        <p:nvSpPr>
          <p:cNvPr id="2" name="Date Placeholder 1"/>
          <p:cNvSpPr>
            <a:spLocks noGrp="1"/>
          </p:cNvSpPr>
          <p:nvPr>
            <p:ph type="dt" sz="half" idx="11"/>
          </p:nvPr>
        </p:nvSpPr>
        <p:spPr>
          <a:xfrm>
            <a:off x="457200" y="6356350"/>
            <a:ext cx="2133600" cy="365125"/>
          </a:xfrm>
          <a:prstGeom prst="rect">
            <a:avLst/>
          </a:prstGeom>
        </p:spPr>
        <p:txBody>
          <a:bodyPr/>
          <a:lstStyle/>
          <a:p>
            <a:pPr algn="l" rtl="0" fontAlgn="base">
              <a:spcBef>
                <a:spcPct val="0"/>
              </a:spcBef>
              <a:spcAft>
                <a:spcPct val="0"/>
              </a:spcAft>
              <a:defRPr/>
            </a:pPr>
            <a:endParaRPr lang="en-US" sz="1600" kern="1200">
              <a:solidFill>
                <a:prstClr val="black">
                  <a:tint val="75000"/>
                </a:prstClr>
              </a:solidFill>
              <a:latin typeface="Tahoma" charset="0"/>
              <a:ea typeface="+mn-ea"/>
              <a:cs typeface="+mn-cs"/>
            </a:endParaRPr>
          </a:p>
        </p:txBody>
      </p:sp>
      <p:sp>
        <p:nvSpPr>
          <p:cNvPr id="18" name="Footer Placeholder 17"/>
          <p:cNvSpPr>
            <a:spLocks noGrp="1"/>
          </p:cNvSpPr>
          <p:nvPr>
            <p:ph type="ftr" sz="quarter" idx="12"/>
          </p:nvPr>
        </p:nvSpPr>
        <p:spPr>
          <a:xfrm>
            <a:off x="3124200" y="6356350"/>
            <a:ext cx="2895600" cy="365125"/>
          </a:xfrm>
          <a:prstGeom prst="rect">
            <a:avLst/>
          </a:prstGeom>
        </p:spPr>
        <p:txBody>
          <a:bodyPr/>
          <a:lstStyle/>
          <a:p>
            <a:pPr algn="l" rtl="0" fontAlgn="base">
              <a:spcBef>
                <a:spcPct val="0"/>
              </a:spcBef>
              <a:spcAft>
                <a:spcPct val="0"/>
              </a:spcAft>
              <a:defRPr/>
            </a:pPr>
            <a:endParaRPr lang="en-US" sz="1600" kern="1200" dirty="0">
              <a:solidFill>
                <a:prstClr val="black">
                  <a:tint val="75000"/>
                </a:prstClr>
              </a:solidFill>
              <a:latin typeface="Tahoma" charset="0"/>
              <a:ea typeface="+mn-ea"/>
              <a:cs typeface="+mn-cs"/>
            </a:endParaRPr>
          </a:p>
        </p:txBody>
      </p:sp>
      <p:sp>
        <p:nvSpPr>
          <p:cNvPr id="19" name="Slide Number Placeholder 18"/>
          <p:cNvSpPr>
            <a:spLocks noGrp="1"/>
          </p:cNvSpPr>
          <p:nvPr>
            <p:ph type="sldNum" sz="quarter" idx="13"/>
          </p:nvPr>
        </p:nvSpPr>
        <p:spPr>
          <a:xfrm>
            <a:off x="3086100" y="6424612"/>
            <a:ext cx="2133600" cy="365125"/>
          </a:xfrm>
          <a:prstGeom prst="rect">
            <a:avLst/>
          </a:prstGeom>
        </p:spPr>
        <p:txBody>
          <a:bodyPr/>
          <a:lstStyle>
            <a:lvl1pPr>
              <a:defRPr>
                <a:solidFill>
                  <a:srgbClr val="C00000"/>
                </a:solidFill>
              </a:defRPr>
            </a:lvl1pPr>
          </a:lstStyle>
          <a:p>
            <a:pPr algn="l" rtl="0" fontAlgn="base">
              <a:spcBef>
                <a:spcPct val="0"/>
              </a:spcBef>
              <a:spcAft>
                <a:spcPct val="0"/>
              </a:spcAft>
            </a:pPr>
            <a:fld id="{DB1C2494-8932-4549-9EEA-B787E7A0F253}" type="slidenum">
              <a:rPr lang="en-US" sz="1600" kern="1200" smtClean="0">
                <a:latin typeface="Tahoma" charset="0"/>
                <a:ea typeface="+mn-ea"/>
                <a:cs typeface="+mn-cs"/>
              </a:rPr>
              <a:pPr algn="l" rtl="0" fontAlgn="base">
                <a:spcBef>
                  <a:spcPct val="0"/>
                </a:spcBef>
                <a:spcAft>
                  <a:spcPct val="0"/>
                </a:spcAft>
              </a:pPr>
              <a:t>‹#›</a:t>
            </a:fld>
            <a:endParaRPr lang="en-US" sz="1600" kern="1200" dirty="0">
              <a:latin typeface="Tahoma" charset="0"/>
              <a:ea typeface="+mn-ea"/>
              <a:cs typeface="+mn-cs"/>
            </a:endParaRPr>
          </a:p>
        </p:txBody>
      </p:sp>
    </p:spTree>
    <p:extLst>
      <p:ext uri="{BB962C8B-B14F-4D97-AF65-F5344CB8AC3E}">
        <p14:creationId xmlns:p14="http://schemas.microsoft.com/office/powerpoint/2010/main" val="331347314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38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73873306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40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78482280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50198124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61692588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30129041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8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93776023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83492099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20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25115791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22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36836541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23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3276600" y="6596063"/>
            <a:ext cx="5867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rtl="0" fontAlgn="base">
              <a:spcBef>
                <a:spcPct val="0"/>
              </a:spcBef>
              <a:spcAft>
                <a:spcPct val="0"/>
              </a:spcAft>
              <a:defRPr/>
            </a:pPr>
            <a:r>
              <a:rPr lang="en-US" altLang="en-US" sz="1100" b="1" kern="1200">
                <a:solidFill>
                  <a:srgbClr val="101141"/>
                </a:solidFill>
                <a:ea typeface="+mn-ea"/>
              </a:rPr>
              <a:t>BITS </a:t>
            </a:r>
            <a:r>
              <a:rPr lang="en-US" altLang="en-US" sz="1100" kern="1200">
                <a:solidFill>
                  <a:srgbClr val="101141"/>
                </a:solidFill>
                <a:ea typeface="+mn-ea"/>
              </a:rPr>
              <a:t>Pilani, Pilani Campus</a:t>
            </a:r>
          </a:p>
        </p:txBody>
      </p:sp>
      <p:grpSp>
        <p:nvGrpSpPr>
          <p:cNvPr id="5"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9" name="Group 18"/>
          <p:cNvGrpSpPr>
            <a:grpSpLocks/>
          </p:cNvGrpSpPr>
          <p:nvPr userDrawn="1"/>
        </p:nvGrpSpPr>
        <p:grpSpPr bwMode="auto">
          <a:xfrm>
            <a:off x="2133600" y="6553200"/>
            <a:ext cx="70104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grpSp>
        <p:nvGrpSpPr>
          <p:cNvPr id="13" name="Group 22"/>
          <p:cNvGrpSpPr>
            <a:grpSpLocks/>
          </p:cNvGrpSpPr>
          <p:nvPr userDrawn="1"/>
        </p:nvGrpSpPr>
        <p:grpSpPr bwMode="auto">
          <a:xfrm>
            <a:off x="0" y="1295400"/>
            <a:ext cx="70104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a:defRPr/>
              </a:pPr>
              <a:endParaRPr lang="en-US" sz="1600" kern="1200">
                <a:solidFill>
                  <a:prstClr val="white"/>
                </a:solidFill>
              </a:endParaRPr>
            </a:p>
          </p:txBody>
        </p:sp>
      </p:grpSp>
      <p:sp>
        <p:nvSpPr>
          <p:cNvPr id="3" name="Content Placeholder 2"/>
          <p:cNvSpPr>
            <a:spLocks noGrp="1"/>
          </p:cNvSpPr>
          <p:nvPr>
            <p:ph idx="1"/>
          </p:nvPr>
        </p:nvSpPr>
        <p:spPr>
          <a:xfrm>
            <a:off x="304800" y="1493837"/>
            <a:ext cx="8229600" cy="1920526"/>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400">
                <a:latin typeface="Cambria" panose="02040503050406030204" pitchFamily="18" charset="0"/>
                <a:ea typeface="Cambria" panose="02040503050406030204" pitchFamily="18" charset="0"/>
                <a:cs typeface="Times New Roman" panose="02020603050405020304" pitchFamily="18" charset="0"/>
              </a:defRPr>
            </a:lvl2pPr>
            <a:lvl3pPr>
              <a:defRPr sz="2400">
                <a:latin typeface="Cambria" panose="02040503050406030204" pitchFamily="18" charset="0"/>
                <a:ea typeface="Cambria" panose="02040503050406030204" pitchFamily="18" charset="0"/>
                <a:cs typeface="Times New Roman" panose="02020603050405020304" pitchFamily="18" charset="0"/>
              </a:defRPr>
            </a:lvl3pPr>
            <a:lvl4pPr>
              <a:defRPr sz="2400">
                <a:latin typeface="Cambria" panose="02040503050406030204" pitchFamily="18" charset="0"/>
                <a:ea typeface="Cambria" panose="02040503050406030204" pitchFamily="18" charset="0"/>
                <a:cs typeface="Times New Roman" panose="02020603050405020304" pitchFamily="18" charset="0"/>
              </a:defRPr>
            </a:lvl4pPr>
            <a:lvl5pPr>
              <a:defRPr sz="2400">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304800" y="152400"/>
            <a:ext cx="6324600" cy="1143000"/>
          </a:xfrm>
          <a:prstGeom prst="rect">
            <a:avLst/>
          </a:prstGeom>
        </p:spPr>
        <p:txBody>
          <a:bodyPr anchor="ctr">
            <a:normAutofit/>
          </a:bodyPr>
          <a:lstStyle>
            <a:lvl1pPr marL="0">
              <a:lnSpc>
                <a:spcPts val="3600"/>
              </a:lnSpc>
              <a:spcBef>
                <a:spcPts val="0"/>
              </a:spcBef>
              <a:buNone/>
              <a:defRPr sz="3600" b="0" spc="-150" baseline="0">
                <a:solidFill>
                  <a:schemeClr val="tx1"/>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dirty="0"/>
              <a:t>Click to edit Master text styles</a:t>
            </a:r>
          </a:p>
        </p:txBody>
      </p:sp>
    </p:spTree>
    <p:extLst>
      <p:ext uri="{BB962C8B-B14F-4D97-AF65-F5344CB8AC3E}">
        <p14:creationId xmlns:p14="http://schemas.microsoft.com/office/powerpoint/2010/main" val="17743212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3" name="Rectangle 2"/>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l" rtl="0" fontAlgn="base">
              <a:spcBef>
                <a:spcPct val="0"/>
              </a:spcBef>
              <a:spcAft>
                <a:spcPct val="0"/>
              </a:spcAft>
              <a:defRPr/>
            </a:pPr>
            <a:endParaRPr lang="en-US" sz="1200" kern="1200" dirty="0">
              <a:solidFill>
                <a:prstClr val="white"/>
              </a:solidFill>
              <a:latin typeface="Arial" pitchFamily="34" charset="0"/>
              <a:cs typeface="Arial" pitchFamily="34" charset="0"/>
            </a:endParaRPr>
          </a:p>
        </p:txBody>
      </p:sp>
      <p:sp>
        <p:nvSpPr>
          <p:cNvPr id="4" name="Rectangle 3"/>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5" name="Rectangle 4"/>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6" name="Rectangle 5"/>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pic>
        <p:nvPicPr>
          <p:cNvPr id="7" name="Picture 10" descr="BITS_university_logo_whitevert.png"/>
          <p:cNvPicPr>
            <a:picLocks noChangeAspect="1"/>
          </p:cNvPicPr>
          <p:nvPr/>
        </p:nvPicPr>
        <p:blipFill>
          <a:blip r:embed="rId3" cstate="print"/>
          <a:srcRect t="2" b="28592"/>
          <a:stretch>
            <a:fillRect/>
          </a:stretch>
        </p:blipFill>
        <p:spPr bwMode="auto">
          <a:xfrm>
            <a:off x="76200" y="3352802"/>
            <a:ext cx="2057400" cy="1979613"/>
          </a:xfrm>
          <a:prstGeom prst="rect">
            <a:avLst/>
          </a:prstGeom>
          <a:noFill/>
          <a:ln w="9525">
            <a:noFill/>
            <a:miter lim="800000"/>
            <a:headEnd/>
            <a:tailEnd/>
          </a:ln>
        </p:spPr>
      </p:pic>
      <p:sp>
        <p:nvSpPr>
          <p:cNvPr id="8" name="TextBox 7"/>
          <p:cNvSpPr txBox="1"/>
          <p:nvPr/>
        </p:nvSpPr>
        <p:spPr>
          <a:xfrm>
            <a:off x="-76200" y="5257800"/>
            <a:ext cx="2209800" cy="427040"/>
          </a:xfrm>
          <a:prstGeom prst="rect">
            <a:avLst/>
          </a:prstGeom>
          <a:noFill/>
        </p:spPr>
        <p:txBody>
          <a:bodyPr>
            <a:spAutoFit/>
          </a:bodyPr>
          <a:lstStyle/>
          <a:p>
            <a:pPr algn="ctr" rtl="0" fontAlgn="base">
              <a:spcBef>
                <a:spcPct val="0"/>
              </a:spcBef>
              <a:spcAft>
                <a:spcPct val="0"/>
              </a:spcAft>
              <a:defRPr/>
            </a:pPr>
            <a:r>
              <a:rPr lang="en-US" sz="2175" b="1" kern="1200" spc="-113" dirty="0">
                <a:solidFill>
                  <a:prstClr val="white"/>
                </a:solidFill>
                <a:latin typeface="Arial"/>
                <a:ea typeface="+mn-ea"/>
                <a:cs typeface="Arial"/>
              </a:rPr>
              <a:t>BITS</a:t>
            </a:r>
            <a:r>
              <a:rPr lang="en-US" sz="2175" kern="1200" spc="-113" dirty="0">
                <a:solidFill>
                  <a:prstClr val="white"/>
                </a:solidFill>
                <a:latin typeface="Arial"/>
                <a:ea typeface="+mn-ea"/>
                <a:cs typeface="Arial"/>
              </a:rPr>
              <a:t> Pilani</a:t>
            </a:r>
          </a:p>
        </p:txBody>
      </p:sp>
      <p:sp>
        <p:nvSpPr>
          <p:cNvPr id="9" name="TextBox 8"/>
          <p:cNvSpPr txBox="1"/>
          <p:nvPr/>
        </p:nvSpPr>
        <p:spPr>
          <a:xfrm>
            <a:off x="152400" y="5667376"/>
            <a:ext cx="1905000" cy="230832"/>
          </a:xfrm>
          <a:prstGeom prst="rect">
            <a:avLst/>
          </a:prstGeom>
          <a:noFill/>
        </p:spPr>
        <p:txBody>
          <a:bodyPr>
            <a:spAutoFit/>
          </a:bodyPr>
          <a:lstStyle/>
          <a:p>
            <a:pPr algn="l" rtl="0" fontAlgn="base">
              <a:spcBef>
                <a:spcPct val="0"/>
              </a:spcBef>
              <a:spcAft>
                <a:spcPct val="0"/>
              </a:spcAft>
              <a:defRPr/>
            </a:pPr>
            <a:r>
              <a:rPr lang="en-US" sz="900" kern="1200" dirty="0">
                <a:solidFill>
                  <a:srgbClr val="FFFFFF"/>
                </a:solidFill>
                <a:latin typeface="Arial"/>
                <a:ea typeface="+mn-ea"/>
                <a:cs typeface="Arial"/>
              </a:rPr>
              <a:t>Pilani Campus</a:t>
            </a:r>
          </a:p>
        </p:txBody>
      </p:sp>
      <p:sp>
        <p:nvSpPr>
          <p:cNvPr id="11" name="Title 1"/>
          <p:cNvSpPr>
            <a:spLocks noGrp="1"/>
          </p:cNvSpPr>
          <p:nvPr>
            <p:ph type="title"/>
          </p:nvPr>
        </p:nvSpPr>
        <p:spPr>
          <a:xfrm>
            <a:off x="2514600" y="3810000"/>
            <a:ext cx="6019800" cy="1524000"/>
          </a:xfrm>
        </p:spPr>
        <p:txBody>
          <a:bodyPr anchorCtr="0">
            <a:noAutofit/>
          </a:bodyPr>
          <a:lstStyle>
            <a:lvl1pPr algn="l">
              <a:lnSpc>
                <a:spcPts val="3000"/>
              </a:lnSpc>
              <a:defRPr sz="33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93353439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ustom Layout">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dirty="0">
              <a:solidFill>
                <a:prstClr val="white"/>
              </a:solidFill>
              <a:latin typeface="Arial" pitchFamily="34" charset="0"/>
              <a:cs typeface="Arial" pitchFamily="34" charset="0"/>
            </a:endParaRPr>
          </a:p>
        </p:txBody>
      </p:sp>
      <p:sp>
        <p:nvSpPr>
          <p:cNvPr id="5" name="Rectangle 4"/>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6" name="Rectangle 5"/>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8" name="Rectangle 7"/>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pic>
        <p:nvPicPr>
          <p:cNvPr id="9" name="Picture 10" descr="BITS_university_logo_whitevert.png"/>
          <p:cNvPicPr>
            <a:picLocks noChangeAspect="1"/>
          </p:cNvPicPr>
          <p:nvPr/>
        </p:nvPicPr>
        <p:blipFill>
          <a:blip r:embed="rId3" cstate="print"/>
          <a:srcRect t="2" b="28592"/>
          <a:stretch>
            <a:fillRect/>
          </a:stretch>
        </p:blipFill>
        <p:spPr bwMode="auto">
          <a:xfrm>
            <a:off x="76200" y="3352802"/>
            <a:ext cx="2057400" cy="1979613"/>
          </a:xfrm>
          <a:prstGeom prst="rect">
            <a:avLst/>
          </a:prstGeom>
          <a:noFill/>
          <a:ln w="9525">
            <a:noFill/>
            <a:miter lim="800000"/>
            <a:headEnd/>
            <a:tailEnd/>
          </a:ln>
        </p:spPr>
      </p:pic>
      <p:sp>
        <p:nvSpPr>
          <p:cNvPr id="10" name="TextBox 9"/>
          <p:cNvSpPr txBox="1"/>
          <p:nvPr/>
        </p:nvSpPr>
        <p:spPr>
          <a:xfrm>
            <a:off x="-76200" y="5257800"/>
            <a:ext cx="2209800" cy="427040"/>
          </a:xfrm>
          <a:prstGeom prst="rect">
            <a:avLst/>
          </a:prstGeom>
          <a:noFill/>
        </p:spPr>
        <p:txBody>
          <a:bodyPr>
            <a:spAutoFit/>
          </a:bodyPr>
          <a:lstStyle/>
          <a:p>
            <a:pPr algn="ctr" rtl="0" fontAlgn="base">
              <a:spcBef>
                <a:spcPct val="0"/>
              </a:spcBef>
              <a:spcAft>
                <a:spcPct val="0"/>
              </a:spcAft>
              <a:defRPr/>
            </a:pPr>
            <a:r>
              <a:rPr lang="en-US" sz="2175" b="1" kern="1200" spc="-113" dirty="0">
                <a:solidFill>
                  <a:prstClr val="white"/>
                </a:solidFill>
                <a:latin typeface="Arial"/>
                <a:ea typeface="+mn-ea"/>
                <a:cs typeface="Arial"/>
              </a:rPr>
              <a:t>BITS</a:t>
            </a:r>
            <a:r>
              <a:rPr lang="en-US" sz="2175" kern="1200" spc="-113" dirty="0">
                <a:solidFill>
                  <a:prstClr val="white"/>
                </a:solidFill>
                <a:latin typeface="Arial"/>
                <a:ea typeface="+mn-ea"/>
                <a:cs typeface="Arial"/>
              </a:rPr>
              <a:t> Pilani</a:t>
            </a:r>
          </a:p>
        </p:txBody>
      </p:sp>
      <p:sp>
        <p:nvSpPr>
          <p:cNvPr id="11" name="TextBox 10"/>
          <p:cNvSpPr txBox="1"/>
          <p:nvPr/>
        </p:nvSpPr>
        <p:spPr>
          <a:xfrm>
            <a:off x="152400" y="5667376"/>
            <a:ext cx="1905000" cy="230832"/>
          </a:xfrm>
          <a:prstGeom prst="rect">
            <a:avLst/>
          </a:prstGeom>
          <a:noFill/>
        </p:spPr>
        <p:txBody>
          <a:bodyPr>
            <a:spAutoFit/>
          </a:bodyPr>
          <a:lstStyle/>
          <a:p>
            <a:pPr algn="l" rtl="0" fontAlgn="base">
              <a:spcBef>
                <a:spcPct val="0"/>
              </a:spcBef>
              <a:spcAft>
                <a:spcPct val="0"/>
              </a:spcAft>
              <a:defRPr/>
            </a:pPr>
            <a:r>
              <a:rPr lang="en-US" sz="900" kern="1200" dirty="0">
                <a:solidFill>
                  <a:srgbClr val="FFFFFF"/>
                </a:solidFill>
                <a:latin typeface="Arial"/>
                <a:ea typeface="+mn-ea"/>
                <a:cs typeface="Arial"/>
              </a:rPr>
              <a:t>Pilani Campus</a:t>
            </a:r>
          </a:p>
        </p:txBody>
      </p:sp>
      <p:sp>
        <p:nvSpPr>
          <p:cNvPr id="12" name="Rectangle 11"/>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dirty="0">
              <a:solidFill>
                <a:prstClr val="white"/>
              </a:solidFill>
              <a:latin typeface="Arial" pitchFamily="34" charset="0"/>
              <a:cs typeface="Arial" pitchFamily="34" charset="0"/>
            </a:endParaRPr>
          </a:p>
        </p:txBody>
      </p:sp>
      <p:sp>
        <p:nvSpPr>
          <p:cNvPr id="13" name="Rectangle 12"/>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4" name="Rectangle 13"/>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5" name="Rectangle 14"/>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pic>
        <p:nvPicPr>
          <p:cNvPr id="16" name="Picture 17" descr="BITS_university_logo_whitevert.png"/>
          <p:cNvPicPr>
            <a:picLocks noChangeAspect="1"/>
          </p:cNvPicPr>
          <p:nvPr/>
        </p:nvPicPr>
        <p:blipFill>
          <a:blip r:embed="rId3" cstate="print"/>
          <a:srcRect t="2" b="28592"/>
          <a:stretch>
            <a:fillRect/>
          </a:stretch>
        </p:blipFill>
        <p:spPr bwMode="auto">
          <a:xfrm>
            <a:off x="76200" y="3352802"/>
            <a:ext cx="2057400" cy="1979613"/>
          </a:xfrm>
          <a:prstGeom prst="rect">
            <a:avLst/>
          </a:prstGeom>
          <a:noFill/>
          <a:ln w="9525">
            <a:noFill/>
            <a:miter lim="800000"/>
            <a:headEnd/>
            <a:tailEnd/>
          </a:ln>
        </p:spPr>
      </p:pic>
      <p:sp>
        <p:nvSpPr>
          <p:cNvPr id="17" name="TextBox 16"/>
          <p:cNvSpPr txBox="1"/>
          <p:nvPr/>
        </p:nvSpPr>
        <p:spPr>
          <a:xfrm>
            <a:off x="-76200" y="5257800"/>
            <a:ext cx="2209800" cy="427040"/>
          </a:xfrm>
          <a:prstGeom prst="rect">
            <a:avLst/>
          </a:prstGeom>
          <a:noFill/>
        </p:spPr>
        <p:txBody>
          <a:bodyPr>
            <a:spAutoFit/>
          </a:bodyPr>
          <a:lstStyle/>
          <a:p>
            <a:pPr algn="ctr" rtl="0" fontAlgn="base">
              <a:spcBef>
                <a:spcPct val="0"/>
              </a:spcBef>
              <a:spcAft>
                <a:spcPct val="0"/>
              </a:spcAft>
              <a:defRPr/>
            </a:pPr>
            <a:r>
              <a:rPr lang="en-US" sz="2175" b="1" kern="1200" spc="-113" dirty="0">
                <a:solidFill>
                  <a:prstClr val="white"/>
                </a:solidFill>
                <a:latin typeface="Arial"/>
                <a:ea typeface="+mn-ea"/>
                <a:cs typeface="Arial"/>
              </a:rPr>
              <a:t>BITS</a:t>
            </a:r>
            <a:r>
              <a:rPr lang="en-US" sz="2175" kern="1200" spc="-113" dirty="0">
                <a:solidFill>
                  <a:prstClr val="white"/>
                </a:solidFill>
                <a:latin typeface="Arial"/>
                <a:ea typeface="+mn-ea"/>
                <a:cs typeface="Arial"/>
              </a:rPr>
              <a:t> Pilani</a:t>
            </a:r>
          </a:p>
        </p:txBody>
      </p:sp>
      <p:sp>
        <p:nvSpPr>
          <p:cNvPr id="18" name="TextBox 17"/>
          <p:cNvSpPr txBox="1"/>
          <p:nvPr/>
        </p:nvSpPr>
        <p:spPr>
          <a:xfrm>
            <a:off x="152400" y="5667376"/>
            <a:ext cx="1905000" cy="230832"/>
          </a:xfrm>
          <a:prstGeom prst="rect">
            <a:avLst/>
          </a:prstGeom>
          <a:noFill/>
        </p:spPr>
        <p:txBody>
          <a:bodyPr>
            <a:spAutoFit/>
          </a:bodyPr>
          <a:lstStyle/>
          <a:p>
            <a:pPr algn="l" rtl="0" fontAlgn="base">
              <a:spcBef>
                <a:spcPct val="0"/>
              </a:spcBef>
              <a:spcAft>
                <a:spcPct val="0"/>
              </a:spcAft>
              <a:defRPr/>
            </a:pPr>
            <a:r>
              <a:rPr lang="en-US" sz="900" kern="1200" dirty="0">
                <a:solidFill>
                  <a:srgbClr val="FFFFFF"/>
                </a:solidFill>
                <a:latin typeface="Arial"/>
                <a:ea typeface="+mn-ea"/>
                <a:cs typeface="Arial"/>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350"/>
              </a:lnSpc>
              <a:spcBef>
                <a:spcPts val="0"/>
              </a:spcBef>
              <a:buNone/>
              <a:defRPr sz="135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2514600" y="3810000"/>
            <a:ext cx="6019800" cy="1524000"/>
          </a:xfrm>
        </p:spPr>
        <p:txBody>
          <a:bodyPr anchorCtr="0">
            <a:noAutofit/>
          </a:bodyPr>
          <a:lstStyle>
            <a:lvl1pPr algn="l">
              <a:lnSpc>
                <a:spcPts val="3000"/>
              </a:lnSpc>
              <a:defRPr sz="33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06086323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3" name="Picture 2" descr="\\Server\D\jyoti\FI023_BITS_v1\styleguide img\IMG_5627_b.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a:ln w="9525">
            <a:noFill/>
            <a:miter lim="800000"/>
            <a:headEnd/>
            <a:tailEnd/>
          </a:ln>
        </p:spPr>
      </p:pic>
      <p:sp>
        <p:nvSpPr>
          <p:cNvPr id="4" name="Rectangle 3"/>
          <p:cNvSpPr/>
          <p:nvPr/>
        </p:nvSpPr>
        <p:spPr>
          <a:xfrm>
            <a:off x="0" y="4281488"/>
            <a:ext cx="9144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pic>
        <p:nvPicPr>
          <p:cNvPr id="5" name="Picture 8" descr="Picture 7.png"/>
          <p:cNvPicPr>
            <a:picLocks noChangeAspect="1"/>
          </p:cNvPicPr>
          <p:nvPr/>
        </p:nvPicPr>
        <p:blipFill>
          <a:blip r:embed="rId3" cstate="print"/>
          <a:srcRect l="1923" b="5336"/>
          <a:stretch>
            <a:fillRect/>
          </a:stretch>
        </p:blipFill>
        <p:spPr bwMode="auto">
          <a:xfrm>
            <a:off x="6629401" y="0"/>
            <a:ext cx="2193925" cy="692150"/>
          </a:xfrm>
          <a:prstGeom prst="rect">
            <a:avLst/>
          </a:prstGeom>
          <a:noFill/>
          <a:ln w="9525">
            <a:noFill/>
            <a:miter lim="800000"/>
            <a:headEnd/>
            <a:tailEnd/>
          </a:ln>
        </p:spPr>
      </p:pic>
      <p:sp>
        <p:nvSpPr>
          <p:cNvPr id="6" name="Rectangle 5"/>
          <p:cNvSpPr/>
          <p:nvPr/>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7" name="Rectangle 6"/>
          <p:cNvSpPr/>
          <p:nvPr/>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8" name="Rectangle 7"/>
          <p:cNvSpPr/>
          <p:nvPr/>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9" name="TextBox 8"/>
          <p:cNvSpPr txBox="1"/>
          <p:nvPr/>
        </p:nvSpPr>
        <p:spPr>
          <a:xfrm>
            <a:off x="6858000" y="762000"/>
            <a:ext cx="2209800" cy="427040"/>
          </a:xfrm>
          <a:prstGeom prst="rect">
            <a:avLst/>
          </a:prstGeom>
          <a:noFill/>
        </p:spPr>
        <p:txBody>
          <a:bodyPr>
            <a:spAutoFit/>
          </a:bodyPr>
          <a:lstStyle/>
          <a:p>
            <a:pPr algn="ctr" rtl="0" fontAlgn="base">
              <a:spcBef>
                <a:spcPct val="0"/>
              </a:spcBef>
              <a:spcAft>
                <a:spcPct val="0"/>
              </a:spcAft>
              <a:defRPr/>
            </a:pPr>
            <a:r>
              <a:rPr lang="en-US" sz="2175" b="1" kern="1200" spc="-113" dirty="0">
                <a:solidFill>
                  <a:prstClr val="white"/>
                </a:solidFill>
                <a:latin typeface="Arial"/>
                <a:ea typeface="+mn-ea"/>
                <a:cs typeface="Arial"/>
              </a:rPr>
              <a:t>BITS</a:t>
            </a:r>
            <a:r>
              <a:rPr lang="en-US" sz="2175" kern="1200" spc="-113" dirty="0">
                <a:solidFill>
                  <a:prstClr val="white"/>
                </a:solidFill>
                <a:latin typeface="Arial"/>
                <a:ea typeface="+mn-ea"/>
                <a:cs typeface="Arial"/>
              </a:rPr>
              <a:t> Pilani</a:t>
            </a:r>
          </a:p>
        </p:txBody>
      </p:sp>
      <p:sp>
        <p:nvSpPr>
          <p:cNvPr id="10" name="TextBox 9"/>
          <p:cNvSpPr txBox="1"/>
          <p:nvPr/>
        </p:nvSpPr>
        <p:spPr>
          <a:xfrm>
            <a:off x="7086600" y="1171576"/>
            <a:ext cx="1905000" cy="230832"/>
          </a:xfrm>
          <a:prstGeom prst="rect">
            <a:avLst/>
          </a:prstGeom>
          <a:noFill/>
        </p:spPr>
        <p:txBody>
          <a:bodyPr>
            <a:spAutoFit/>
          </a:bodyPr>
          <a:lstStyle/>
          <a:p>
            <a:pPr algn="l" rtl="0" fontAlgn="base">
              <a:spcBef>
                <a:spcPct val="0"/>
              </a:spcBef>
              <a:spcAft>
                <a:spcPct val="0"/>
              </a:spcAft>
              <a:defRPr/>
            </a:pPr>
            <a:r>
              <a:rPr lang="en-US" sz="900" kern="1200" dirty="0">
                <a:solidFill>
                  <a:srgbClr val="FFFFFF"/>
                </a:solidFill>
                <a:latin typeface="Arial"/>
                <a:ea typeface="+mn-ea"/>
                <a:cs typeface="Arial"/>
              </a:rPr>
              <a:t>Pilani Campus</a:t>
            </a:r>
          </a:p>
        </p:txBody>
      </p:sp>
      <p:sp>
        <p:nvSpPr>
          <p:cNvPr id="17" name="Content Placeholder 16"/>
          <p:cNvSpPr>
            <a:spLocks noGrp="1"/>
          </p:cNvSpPr>
          <p:nvPr>
            <p:ph sz="quarter" idx="10"/>
          </p:nvPr>
        </p:nvSpPr>
        <p:spPr>
          <a:xfrm>
            <a:off x="304800" y="4648200"/>
            <a:ext cx="8458200" cy="1600200"/>
          </a:xfrm>
        </p:spPr>
        <p:txBody>
          <a:bodyPr>
            <a:noAutofit/>
          </a:bodyPr>
          <a:lstStyle>
            <a:lvl1pPr marL="0" indent="0">
              <a:lnSpc>
                <a:spcPts val="3150"/>
              </a:lnSpc>
              <a:spcBef>
                <a:spcPts val="0"/>
              </a:spcBef>
              <a:buNone/>
              <a:defRPr sz="3000" b="1" spc="-113"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3408372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4" name="TextBox 3"/>
          <p:cNvSpPr txBox="1"/>
          <p:nvPr/>
        </p:nvSpPr>
        <p:spPr>
          <a:xfrm>
            <a:off x="3276600" y="6596065"/>
            <a:ext cx="5867400" cy="219291"/>
          </a:xfrm>
          <a:prstGeom prst="rect">
            <a:avLst/>
          </a:prstGeom>
          <a:noFill/>
        </p:spPr>
        <p:txBody>
          <a:bodyPr>
            <a:spAutoFit/>
          </a:bodyPr>
          <a:lstStyle/>
          <a:p>
            <a:pPr algn="r" rtl="0" fontAlgn="base">
              <a:spcBef>
                <a:spcPct val="0"/>
              </a:spcBef>
              <a:spcAft>
                <a:spcPct val="0"/>
              </a:spcAft>
              <a:defRPr/>
            </a:pPr>
            <a:r>
              <a:rPr lang="en-US" sz="825" b="1" kern="1200" dirty="0">
                <a:solidFill>
                  <a:srgbClr val="101141"/>
                </a:solidFill>
                <a:latin typeface="Arial"/>
                <a:ea typeface="+mn-ea"/>
                <a:cs typeface="Arial"/>
              </a:rPr>
              <a:t>BITS </a:t>
            </a:r>
            <a:r>
              <a:rPr lang="en-US" sz="825" kern="1200" dirty="0">
                <a:solidFill>
                  <a:srgbClr val="101141"/>
                </a:solidFill>
                <a:latin typeface="Arial"/>
                <a:ea typeface="+mn-ea"/>
                <a:cs typeface="Arial"/>
              </a:rPr>
              <a:t>Pilani, Pilani Campus</a:t>
            </a:r>
          </a:p>
        </p:txBody>
      </p:sp>
      <p:grpSp>
        <p:nvGrpSpPr>
          <p:cNvPr id="5" name="Group 11"/>
          <p:cNvGrpSpPr>
            <a:grpSpLocks/>
          </p:cNvGrpSpPr>
          <p:nvPr/>
        </p:nvGrpSpPr>
        <p:grpSpPr bwMode="auto">
          <a:xfrm>
            <a:off x="2084388" y="6550027"/>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6629401" y="0"/>
            <a:ext cx="2193925" cy="692150"/>
          </a:xfrm>
          <a:prstGeom prst="rect">
            <a:avLst/>
          </a:prstGeom>
          <a:noFill/>
          <a:ln w="9525">
            <a:noFill/>
            <a:miter lim="800000"/>
            <a:headEnd/>
            <a:tailEnd/>
          </a:ln>
        </p:spPr>
      </p:pic>
      <p:grpSp>
        <p:nvGrpSpPr>
          <p:cNvPr id="10" name="Group 1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grpSp>
        <p:nvGrpSpPr>
          <p:cNvPr id="14" name="Group 22"/>
          <p:cNvGrpSpPr>
            <a:grpSpLocks/>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sp>
        <p:nvSpPr>
          <p:cNvPr id="3" name="Content Placeholder 2"/>
          <p:cNvSpPr>
            <a:spLocks noGrp="1"/>
          </p:cNvSpPr>
          <p:nvPr>
            <p:ph idx="1"/>
          </p:nvPr>
        </p:nvSpPr>
        <p:spPr>
          <a:xfrm>
            <a:off x="304800" y="1493839"/>
            <a:ext cx="82296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2000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pic>
        <p:nvPicPr>
          <p:cNvPr id="5" name="Picture 6" descr="Picture 7.png"/>
          <p:cNvPicPr>
            <a:picLocks noChangeAspect="1"/>
          </p:cNvPicPr>
          <p:nvPr/>
        </p:nvPicPr>
        <p:blipFill>
          <a:blip r:embed="rId2" cstate="print"/>
          <a:srcRect l="1923" b="5336"/>
          <a:stretch>
            <a:fillRect/>
          </a:stretch>
        </p:blipFill>
        <p:spPr bwMode="auto">
          <a:xfrm>
            <a:off x="6629401" y="0"/>
            <a:ext cx="2193925" cy="692150"/>
          </a:xfrm>
          <a:prstGeom prst="rect">
            <a:avLst/>
          </a:prstGeom>
          <a:noFill/>
          <a:ln w="9525">
            <a:noFill/>
            <a:miter lim="800000"/>
            <a:headEnd/>
            <a:tailEnd/>
          </a:ln>
        </p:spPr>
      </p:pic>
      <p:grpSp>
        <p:nvGrpSpPr>
          <p:cNvPr id="6" name="Group 19"/>
          <p:cNvGrpSpPr>
            <a:grpSpLocks/>
          </p:cNvGrpSpPr>
          <p:nvPr/>
        </p:nvGrpSpPr>
        <p:grpSpPr bwMode="auto">
          <a:xfrm>
            <a:off x="0" y="1295400"/>
            <a:ext cx="7010400" cy="46038"/>
            <a:chOff x="1905000" y="6553200"/>
            <a:chExt cx="7010400" cy="45719"/>
          </a:xfrm>
        </p:grpSpPr>
        <p:sp>
          <p:nvSpPr>
            <p:cNvPr id="7" name="Rectangle 6"/>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grpSp>
        <p:nvGrpSpPr>
          <p:cNvPr id="10" name="Group 2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sp>
        <p:nvSpPr>
          <p:cNvPr id="14" name="TextBox 13"/>
          <p:cNvSpPr txBox="1"/>
          <p:nvPr/>
        </p:nvSpPr>
        <p:spPr>
          <a:xfrm>
            <a:off x="3276600" y="6596065"/>
            <a:ext cx="5867400" cy="219291"/>
          </a:xfrm>
          <a:prstGeom prst="rect">
            <a:avLst/>
          </a:prstGeom>
          <a:noFill/>
        </p:spPr>
        <p:txBody>
          <a:bodyPr>
            <a:spAutoFit/>
          </a:bodyPr>
          <a:lstStyle/>
          <a:p>
            <a:pPr algn="r" rtl="0" fontAlgn="base">
              <a:spcBef>
                <a:spcPct val="0"/>
              </a:spcBef>
              <a:spcAft>
                <a:spcPct val="0"/>
              </a:spcAft>
              <a:defRPr/>
            </a:pPr>
            <a:r>
              <a:rPr lang="en-US" sz="825" b="1" kern="1200" dirty="0">
                <a:solidFill>
                  <a:srgbClr val="101141"/>
                </a:solidFill>
                <a:latin typeface="Arial"/>
                <a:ea typeface="+mn-ea"/>
                <a:cs typeface="Arial"/>
              </a:rPr>
              <a:t>BITS </a:t>
            </a:r>
            <a:r>
              <a:rPr lang="en-US" sz="825" kern="1200" dirty="0">
                <a:solidFill>
                  <a:srgbClr val="101141"/>
                </a:solidFill>
                <a:latin typeface="Arial"/>
                <a:ea typeface="+mn-ea"/>
                <a:cs typeface="Arial"/>
              </a:rPr>
              <a:t>Pilani, Pilani Campus</a:t>
            </a:r>
          </a:p>
        </p:txBody>
      </p:sp>
      <p:sp>
        <p:nvSpPr>
          <p:cNvPr id="3" name="Content Placeholder 2"/>
          <p:cNvSpPr>
            <a:spLocks noGrp="1"/>
          </p:cNvSpPr>
          <p:nvPr>
            <p:ph sz="half" idx="1"/>
          </p:nvPr>
        </p:nvSpPr>
        <p:spPr>
          <a:xfrm>
            <a:off x="457200" y="1600202"/>
            <a:ext cx="40386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2100"/>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4" name="Content Placeholder 3"/>
          <p:cNvSpPr>
            <a:spLocks noGrp="1"/>
          </p:cNvSpPr>
          <p:nvPr>
            <p:ph sz="half" idx="2"/>
          </p:nvPr>
        </p:nvSpPr>
        <p:spPr>
          <a:xfrm>
            <a:off x="4953000" y="1600202"/>
            <a:ext cx="40386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2100"/>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89293024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grpSp>
        <p:nvGrpSpPr>
          <p:cNvPr id="7" name="Group 10"/>
          <p:cNvGrpSpPr>
            <a:grpSpLocks/>
          </p:cNvGrpSpPr>
          <p:nvPr/>
        </p:nvGrpSpPr>
        <p:grpSpPr bwMode="auto">
          <a:xfrm>
            <a:off x="0" y="1295400"/>
            <a:ext cx="7010400" cy="46038"/>
            <a:chOff x="1905000" y="6553200"/>
            <a:chExt cx="7010400" cy="45719"/>
          </a:xfrm>
        </p:grpSpPr>
        <p:sp>
          <p:nvSpPr>
            <p:cNvPr id="8" name="Rectangle 7"/>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9" name="Rectangle 8"/>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grpSp>
        <p:nvGrpSpPr>
          <p:cNvPr id="12" name="Group 15"/>
          <p:cNvGrpSpPr>
            <a:grpSpLocks/>
          </p:cNvGrpSpPr>
          <p:nvPr/>
        </p:nvGrpSpPr>
        <p:grpSpPr bwMode="auto">
          <a:xfrm>
            <a:off x="2133600" y="6553200"/>
            <a:ext cx="7010400" cy="46038"/>
            <a:chOff x="1905000" y="6553200"/>
            <a:chExt cx="7010400" cy="45719"/>
          </a:xfrm>
        </p:grpSpPr>
        <p:sp>
          <p:nvSpPr>
            <p:cNvPr id="13" name="Rectangle 12"/>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4" name="Rectangle 13"/>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5" name="Rectangle 14"/>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pic>
        <p:nvPicPr>
          <p:cNvPr id="16" name="Picture 14" descr="Picture 7.png"/>
          <p:cNvPicPr>
            <a:picLocks noChangeAspect="1"/>
          </p:cNvPicPr>
          <p:nvPr/>
        </p:nvPicPr>
        <p:blipFill>
          <a:blip r:embed="rId2" cstate="print"/>
          <a:srcRect l="1923" b="5336"/>
          <a:stretch>
            <a:fillRect/>
          </a:stretch>
        </p:blipFill>
        <p:spPr bwMode="auto">
          <a:xfrm>
            <a:off x="6629401" y="0"/>
            <a:ext cx="2193925" cy="692150"/>
          </a:xfrm>
          <a:prstGeom prst="rect">
            <a:avLst/>
          </a:prstGeom>
          <a:noFill/>
          <a:ln w="9525">
            <a:noFill/>
            <a:miter lim="800000"/>
            <a:headEnd/>
            <a:tailEnd/>
          </a:ln>
        </p:spPr>
      </p:pic>
      <p:sp>
        <p:nvSpPr>
          <p:cNvPr id="17" name="TextBox 16"/>
          <p:cNvSpPr txBox="1"/>
          <p:nvPr/>
        </p:nvSpPr>
        <p:spPr>
          <a:xfrm>
            <a:off x="3276600" y="6596065"/>
            <a:ext cx="5867400" cy="219291"/>
          </a:xfrm>
          <a:prstGeom prst="rect">
            <a:avLst/>
          </a:prstGeom>
          <a:noFill/>
        </p:spPr>
        <p:txBody>
          <a:bodyPr>
            <a:spAutoFit/>
          </a:bodyPr>
          <a:lstStyle/>
          <a:p>
            <a:pPr algn="r" rtl="0" fontAlgn="base">
              <a:spcBef>
                <a:spcPct val="0"/>
              </a:spcBef>
              <a:spcAft>
                <a:spcPct val="0"/>
              </a:spcAft>
              <a:defRPr/>
            </a:pPr>
            <a:r>
              <a:rPr lang="en-US" sz="825" b="1" kern="1200" dirty="0">
                <a:solidFill>
                  <a:srgbClr val="101141"/>
                </a:solidFill>
                <a:latin typeface="Arial"/>
                <a:ea typeface="+mn-ea"/>
                <a:cs typeface="Arial"/>
              </a:rPr>
              <a:t>BITS </a:t>
            </a:r>
            <a:r>
              <a:rPr lang="en-US" sz="825" kern="1200" dirty="0">
                <a:solidFill>
                  <a:srgbClr val="101141"/>
                </a:solidFill>
                <a:latin typeface="Arial"/>
                <a:ea typeface="+mn-ea"/>
                <a:cs typeface="Arial"/>
              </a:rPr>
              <a:t>Pilani, Deemed to be University under Section 3 of UGC Act, 1956</a:t>
            </a:r>
          </a:p>
        </p:txBody>
      </p:sp>
      <p:sp>
        <p:nvSpPr>
          <p:cNvPr id="3" name="Text Placeholder 2"/>
          <p:cNvSpPr>
            <a:spLocks noGrp="1"/>
          </p:cNvSpPr>
          <p:nvPr>
            <p:ph type="body" idx="1"/>
          </p:nvPr>
        </p:nvSpPr>
        <p:spPr>
          <a:xfrm>
            <a:off x="457200" y="1535112"/>
            <a:ext cx="4040188" cy="827087"/>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362201"/>
            <a:ext cx="4040188" cy="3763963"/>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2"/>
            <a:ext cx="4041775" cy="827087"/>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2362201"/>
            <a:ext cx="4041775" cy="3763963"/>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17239681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grpSp>
        <p:nvGrpSpPr>
          <p:cNvPr id="3" name="Group 5"/>
          <p:cNvGrpSpPr>
            <a:grpSpLocks/>
          </p:cNvGrpSpPr>
          <p:nvPr/>
        </p:nvGrpSpPr>
        <p:grpSpPr bwMode="auto">
          <a:xfrm>
            <a:off x="0" y="1295400"/>
            <a:ext cx="7010400" cy="46038"/>
            <a:chOff x="1905000" y="6553200"/>
            <a:chExt cx="7010400" cy="45719"/>
          </a:xfrm>
        </p:grpSpPr>
        <p:sp>
          <p:nvSpPr>
            <p:cNvPr id="4" name="Rectangle 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6" name="Rectangle 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7" name="Rectangle 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grpSp>
        <p:nvGrpSpPr>
          <p:cNvPr id="8" name="Group 10"/>
          <p:cNvGrpSpPr>
            <a:grpSpLocks/>
          </p:cNvGrpSpPr>
          <p:nvPr/>
        </p:nvGrpSpPr>
        <p:grpSpPr bwMode="auto">
          <a:xfrm>
            <a:off x="2133600" y="6553200"/>
            <a:ext cx="7010400" cy="46038"/>
            <a:chOff x="1905000" y="6553200"/>
            <a:chExt cx="7010400" cy="45719"/>
          </a:xfrm>
        </p:grpSpPr>
        <p:sp>
          <p:nvSpPr>
            <p:cNvPr id="9" name="Rectangle 8"/>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pic>
        <p:nvPicPr>
          <p:cNvPr id="12" name="Picture 14" descr="Picture 7.png"/>
          <p:cNvPicPr>
            <a:picLocks noChangeAspect="1"/>
          </p:cNvPicPr>
          <p:nvPr/>
        </p:nvPicPr>
        <p:blipFill>
          <a:blip r:embed="rId2" cstate="print"/>
          <a:srcRect l="1923" b="5336"/>
          <a:stretch>
            <a:fillRect/>
          </a:stretch>
        </p:blipFill>
        <p:spPr bwMode="auto">
          <a:xfrm>
            <a:off x="6629401" y="0"/>
            <a:ext cx="2193925" cy="692150"/>
          </a:xfrm>
          <a:prstGeom prst="rect">
            <a:avLst/>
          </a:prstGeom>
          <a:noFill/>
          <a:ln w="9525">
            <a:noFill/>
            <a:miter lim="800000"/>
            <a:headEnd/>
            <a:tailEnd/>
          </a:ln>
        </p:spPr>
      </p:pic>
      <p:sp>
        <p:nvSpPr>
          <p:cNvPr id="13" name="TextBox 12"/>
          <p:cNvSpPr txBox="1"/>
          <p:nvPr/>
        </p:nvSpPr>
        <p:spPr>
          <a:xfrm>
            <a:off x="3276600" y="6596065"/>
            <a:ext cx="5867400" cy="219291"/>
          </a:xfrm>
          <a:prstGeom prst="rect">
            <a:avLst/>
          </a:prstGeom>
          <a:noFill/>
        </p:spPr>
        <p:txBody>
          <a:bodyPr>
            <a:spAutoFit/>
          </a:bodyPr>
          <a:lstStyle/>
          <a:p>
            <a:pPr algn="r" rtl="0" fontAlgn="base">
              <a:spcBef>
                <a:spcPct val="0"/>
              </a:spcBef>
              <a:spcAft>
                <a:spcPct val="0"/>
              </a:spcAft>
              <a:defRPr/>
            </a:pPr>
            <a:r>
              <a:rPr lang="en-US" sz="825" b="1" kern="1200" dirty="0">
                <a:solidFill>
                  <a:srgbClr val="101141"/>
                </a:solidFill>
                <a:latin typeface="Arial"/>
                <a:ea typeface="+mn-ea"/>
                <a:cs typeface="Arial"/>
              </a:rPr>
              <a:t>BITS </a:t>
            </a:r>
            <a:r>
              <a:rPr lang="en-US" sz="825" kern="1200" dirty="0">
                <a:solidFill>
                  <a:srgbClr val="101141"/>
                </a:solidFill>
                <a:latin typeface="Arial"/>
                <a:ea typeface="+mn-ea"/>
                <a:cs typeface="Arial"/>
              </a:rPr>
              <a:t>Pilani, Deemed to be University under Section 3 of UGC Act, 1956</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59879406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grpSp>
        <p:nvGrpSpPr>
          <p:cNvPr id="5" name="Group 8"/>
          <p:cNvGrpSpPr>
            <a:grpSpLocks/>
          </p:cNvGrpSpPr>
          <p:nvPr/>
        </p:nvGrpSpPr>
        <p:grpSpPr bwMode="auto">
          <a:xfrm>
            <a:off x="0" y="1295400"/>
            <a:ext cx="7010400" cy="46038"/>
            <a:chOff x="1905000" y="6553200"/>
            <a:chExt cx="7010400" cy="45719"/>
          </a:xfrm>
        </p:grpSpPr>
        <p:sp>
          <p:nvSpPr>
            <p:cNvPr id="6" name="Rectangle 5"/>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7" name="Rectangle 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grpSp>
        <p:nvGrpSpPr>
          <p:cNvPr id="10" name="Group 13"/>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pic>
        <p:nvPicPr>
          <p:cNvPr id="14" name="Picture 14" descr="Picture 7.png"/>
          <p:cNvPicPr>
            <a:picLocks noChangeAspect="1"/>
          </p:cNvPicPr>
          <p:nvPr/>
        </p:nvPicPr>
        <p:blipFill>
          <a:blip r:embed="rId2" cstate="print"/>
          <a:srcRect l="1923" b="5336"/>
          <a:stretch>
            <a:fillRect/>
          </a:stretch>
        </p:blipFill>
        <p:spPr bwMode="auto">
          <a:xfrm>
            <a:off x="6629401" y="0"/>
            <a:ext cx="2193925" cy="692150"/>
          </a:xfrm>
          <a:prstGeom prst="rect">
            <a:avLst/>
          </a:prstGeom>
          <a:noFill/>
          <a:ln w="9525">
            <a:noFill/>
            <a:miter lim="800000"/>
            <a:headEnd/>
            <a:tailEnd/>
          </a:ln>
        </p:spPr>
      </p:pic>
      <p:sp>
        <p:nvSpPr>
          <p:cNvPr id="15" name="TextBox 14"/>
          <p:cNvSpPr txBox="1"/>
          <p:nvPr/>
        </p:nvSpPr>
        <p:spPr>
          <a:xfrm>
            <a:off x="3276600" y="6596065"/>
            <a:ext cx="5867400" cy="219291"/>
          </a:xfrm>
          <a:prstGeom prst="rect">
            <a:avLst/>
          </a:prstGeom>
          <a:noFill/>
        </p:spPr>
        <p:txBody>
          <a:bodyPr>
            <a:spAutoFit/>
          </a:bodyPr>
          <a:lstStyle/>
          <a:p>
            <a:pPr algn="r" rtl="0" fontAlgn="base">
              <a:spcBef>
                <a:spcPct val="0"/>
              </a:spcBef>
              <a:spcAft>
                <a:spcPct val="0"/>
              </a:spcAft>
              <a:defRPr/>
            </a:pPr>
            <a:r>
              <a:rPr lang="en-US" sz="825" b="1" kern="1200" dirty="0">
                <a:solidFill>
                  <a:srgbClr val="101141"/>
                </a:solidFill>
                <a:latin typeface="Arial"/>
                <a:ea typeface="+mn-ea"/>
                <a:cs typeface="Arial"/>
              </a:rPr>
              <a:t>BITS </a:t>
            </a:r>
            <a:r>
              <a:rPr lang="en-US" sz="825" kern="1200" dirty="0">
                <a:solidFill>
                  <a:srgbClr val="101141"/>
                </a:solidFill>
                <a:latin typeface="Arial"/>
                <a:ea typeface="+mn-ea"/>
                <a:cs typeface="Arial"/>
              </a:rPr>
              <a:t>Pilani, Pilani Campus</a:t>
            </a:r>
          </a:p>
        </p:txBody>
      </p:sp>
      <p:sp>
        <p:nvSpPr>
          <p:cNvPr id="3" name="Content Placeholder 2"/>
          <p:cNvSpPr>
            <a:spLocks noGrp="1"/>
          </p:cNvSpPr>
          <p:nvPr>
            <p:ph idx="1"/>
          </p:nvPr>
        </p:nvSpPr>
        <p:spPr>
          <a:xfrm>
            <a:off x="3575050" y="1600202"/>
            <a:ext cx="5111750" cy="452596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600202"/>
            <a:ext cx="3008313" cy="45259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8" name="Content Placeholder 18"/>
          <p:cNvSpPr>
            <a:spLocks noGrp="1"/>
          </p:cNvSpPr>
          <p:nvPr>
            <p:ph sz="quarter" idx="13"/>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90210085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grpSp>
        <p:nvGrpSpPr>
          <p:cNvPr id="6" name="Group 6"/>
          <p:cNvGrpSpPr>
            <a:grpSpLocks/>
          </p:cNvGrpSpPr>
          <p:nvPr/>
        </p:nvGrpSpPr>
        <p:grpSpPr bwMode="auto">
          <a:xfrm>
            <a:off x="0" y="1295400"/>
            <a:ext cx="7010400" cy="46038"/>
            <a:chOff x="1905000" y="6553200"/>
            <a:chExt cx="7010400" cy="45719"/>
          </a:xfrm>
        </p:grpSpPr>
        <p:sp>
          <p:nvSpPr>
            <p:cNvPr id="7" name="Rectangle 6"/>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9" name="Rectangle 8"/>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grpSp>
        <p:nvGrpSpPr>
          <p:cNvPr id="10" name="Group 10"/>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pic>
        <p:nvPicPr>
          <p:cNvPr id="14" name="Picture 14" descr="Picture 7.png"/>
          <p:cNvPicPr>
            <a:picLocks noChangeAspect="1"/>
          </p:cNvPicPr>
          <p:nvPr/>
        </p:nvPicPr>
        <p:blipFill>
          <a:blip r:embed="rId2" cstate="print"/>
          <a:srcRect l="1923" b="5336"/>
          <a:stretch>
            <a:fillRect/>
          </a:stretch>
        </p:blipFill>
        <p:spPr bwMode="auto">
          <a:xfrm>
            <a:off x="6629401" y="0"/>
            <a:ext cx="2193925" cy="692150"/>
          </a:xfrm>
          <a:prstGeom prst="rect">
            <a:avLst/>
          </a:prstGeom>
          <a:noFill/>
          <a:ln w="9525">
            <a:noFill/>
            <a:miter lim="800000"/>
            <a:headEnd/>
            <a:tailEnd/>
          </a:ln>
        </p:spPr>
      </p:pic>
      <p:sp>
        <p:nvSpPr>
          <p:cNvPr id="15" name="TextBox 14"/>
          <p:cNvSpPr txBox="1"/>
          <p:nvPr/>
        </p:nvSpPr>
        <p:spPr>
          <a:xfrm>
            <a:off x="3276600" y="6596065"/>
            <a:ext cx="5867400" cy="219291"/>
          </a:xfrm>
          <a:prstGeom prst="rect">
            <a:avLst/>
          </a:prstGeom>
          <a:noFill/>
        </p:spPr>
        <p:txBody>
          <a:bodyPr>
            <a:spAutoFit/>
          </a:bodyPr>
          <a:lstStyle/>
          <a:p>
            <a:pPr algn="r" rtl="0" fontAlgn="base">
              <a:spcBef>
                <a:spcPct val="0"/>
              </a:spcBef>
              <a:spcAft>
                <a:spcPct val="0"/>
              </a:spcAft>
              <a:defRPr/>
            </a:pPr>
            <a:r>
              <a:rPr lang="en-US" sz="825" b="1" kern="1200" dirty="0">
                <a:solidFill>
                  <a:srgbClr val="101141"/>
                </a:solidFill>
                <a:latin typeface="Arial"/>
                <a:ea typeface="+mn-ea"/>
                <a:cs typeface="Arial"/>
              </a:rPr>
              <a:t>BITS </a:t>
            </a:r>
            <a:r>
              <a:rPr lang="en-US" sz="825" kern="1200" dirty="0">
                <a:solidFill>
                  <a:srgbClr val="101141"/>
                </a:solidFill>
                <a:latin typeface="Arial"/>
                <a:ea typeface="+mn-ea"/>
                <a:cs typeface="Arial"/>
              </a:rPr>
              <a:t>Pilani, Pilani Campus</a:t>
            </a:r>
          </a:p>
        </p:txBody>
      </p:sp>
      <p:sp>
        <p:nvSpPr>
          <p:cNvPr id="2" name="Title 1"/>
          <p:cNvSpPr>
            <a:spLocks noGrp="1"/>
          </p:cNvSpPr>
          <p:nvPr>
            <p:ph type="title"/>
          </p:nvPr>
        </p:nvSpPr>
        <p:spPr>
          <a:xfrm>
            <a:off x="1792288" y="5407025"/>
            <a:ext cx="5486400" cy="304800"/>
          </a:xfrm>
        </p:spPr>
        <p:txBody>
          <a:bodyPr anchor="b"/>
          <a:lstStyle>
            <a:lvl1pPr algn="l">
              <a:defRPr sz="1350" b="1" spc="0"/>
            </a:lvl1pPr>
          </a:lstStyle>
          <a:p>
            <a:r>
              <a:rPr lang="en-US"/>
              <a:t>Click to edit Master title style</a:t>
            </a:r>
            <a:endParaRPr lang="en-US" dirty="0"/>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86314100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grpSp>
        <p:nvGrpSpPr>
          <p:cNvPr id="4" name="Group 19"/>
          <p:cNvGrpSpPr>
            <a:grpSpLocks/>
          </p:cNvGrpSpPr>
          <p:nvPr/>
        </p:nvGrpSpPr>
        <p:grpSpPr bwMode="auto">
          <a:xfrm>
            <a:off x="0" y="1295400"/>
            <a:ext cx="7010400" cy="46038"/>
            <a:chOff x="1905000" y="6553200"/>
            <a:chExt cx="7010400" cy="45719"/>
          </a:xfrm>
        </p:grpSpPr>
        <p:sp>
          <p:nvSpPr>
            <p:cNvPr id="5" name="Rectangle 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6" name="Rectangle 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7" name="Rectangle 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grpSp>
        <p:nvGrpSpPr>
          <p:cNvPr id="8" name="Group 24"/>
          <p:cNvGrpSpPr>
            <a:grpSpLocks/>
          </p:cNvGrpSpPr>
          <p:nvPr/>
        </p:nvGrpSpPr>
        <p:grpSpPr bwMode="auto">
          <a:xfrm>
            <a:off x="2133600" y="6553200"/>
            <a:ext cx="7010400" cy="46038"/>
            <a:chOff x="1905000" y="6553200"/>
            <a:chExt cx="7010400" cy="45719"/>
          </a:xfrm>
        </p:grpSpPr>
        <p:sp>
          <p:nvSpPr>
            <p:cNvPr id="9" name="Rectangle 8"/>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1" name="Rectangle 10"/>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pic>
        <p:nvPicPr>
          <p:cNvPr id="12" name="Picture 14" descr="Picture 7.png"/>
          <p:cNvPicPr>
            <a:picLocks noChangeAspect="1"/>
          </p:cNvPicPr>
          <p:nvPr/>
        </p:nvPicPr>
        <p:blipFill>
          <a:blip r:embed="rId2" cstate="print"/>
          <a:srcRect l="1923" b="5336"/>
          <a:stretch>
            <a:fillRect/>
          </a:stretch>
        </p:blipFill>
        <p:spPr bwMode="auto">
          <a:xfrm>
            <a:off x="6629401" y="0"/>
            <a:ext cx="2193925" cy="692150"/>
          </a:xfrm>
          <a:prstGeom prst="rect">
            <a:avLst/>
          </a:prstGeom>
          <a:noFill/>
          <a:ln w="9525">
            <a:noFill/>
            <a:miter lim="800000"/>
            <a:headEnd/>
            <a:tailEnd/>
          </a:ln>
        </p:spPr>
      </p:pic>
      <p:sp>
        <p:nvSpPr>
          <p:cNvPr id="13" name="TextBox 12"/>
          <p:cNvSpPr txBox="1"/>
          <p:nvPr/>
        </p:nvSpPr>
        <p:spPr>
          <a:xfrm>
            <a:off x="3276600" y="6596065"/>
            <a:ext cx="5867400" cy="219291"/>
          </a:xfrm>
          <a:prstGeom prst="rect">
            <a:avLst/>
          </a:prstGeom>
          <a:noFill/>
        </p:spPr>
        <p:txBody>
          <a:bodyPr>
            <a:spAutoFit/>
          </a:bodyPr>
          <a:lstStyle/>
          <a:p>
            <a:pPr algn="r" rtl="0" fontAlgn="base">
              <a:spcBef>
                <a:spcPct val="0"/>
              </a:spcBef>
              <a:spcAft>
                <a:spcPct val="0"/>
              </a:spcAft>
              <a:defRPr/>
            </a:pPr>
            <a:r>
              <a:rPr lang="en-US" sz="825" b="1" kern="1200" dirty="0">
                <a:solidFill>
                  <a:srgbClr val="101141"/>
                </a:solidFill>
                <a:latin typeface="Arial"/>
                <a:ea typeface="+mn-ea"/>
                <a:cs typeface="Arial"/>
              </a:rPr>
              <a:t>BITS </a:t>
            </a:r>
            <a:r>
              <a:rPr lang="en-US" sz="825" kern="1200" dirty="0">
                <a:solidFill>
                  <a:srgbClr val="101141"/>
                </a:solidFill>
                <a:latin typeface="Arial"/>
                <a:ea typeface="+mn-ea"/>
                <a:cs typeface="Arial"/>
              </a:rPr>
              <a:t>Pilani, Pilani Campus</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90469036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grpSp>
        <p:nvGrpSpPr>
          <p:cNvPr id="4" name="Group 7"/>
          <p:cNvGrpSpPr>
            <a:grpSpLocks/>
          </p:cNvGrpSpPr>
          <p:nvPr/>
        </p:nvGrpSpPr>
        <p:grpSpPr bwMode="auto">
          <a:xfrm rot="5400000">
            <a:off x="5006182" y="2567783"/>
            <a:ext cx="5181600" cy="46037"/>
            <a:chOff x="1905000" y="6553200"/>
            <a:chExt cx="7010400" cy="45719"/>
          </a:xfrm>
        </p:grpSpPr>
        <p:sp>
          <p:nvSpPr>
            <p:cNvPr id="5" name="Rectangle 4"/>
            <p:cNvSpPr/>
            <p:nvPr/>
          </p:nvSpPr>
          <p:spPr>
            <a:xfrm>
              <a:off x="4267574" y="6553200"/>
              <a:ext cx="2328209"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6" name="Rectangle 5"/>
            <p:cNvSpPr/>
            <p:nvPr/>
          </p:nvSpPr>
          <p:spPr>
            <a:xfrm>
              <a:off x="1905000" y="6553200"/>
              <a:ext cx="2362574"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8" name="Rectangle 7"/>
            <p:cNvSpPr/>
            <p:nvPr userDrawn="1"/>
          </p:nvSpPr>
          <p:spPr>
            <a:xfrm>
              <a:off x="6587191" y="6553200"/>
              <a:ext cx="2328209"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pic>
        <p:nvPicPr>
          <p:cNvPr id="9" name="Picture 10" descr="Picture 7.png"/>
          <p:cNvPicPr>
            <a:picLocks noChangeAspect="1"/>
          </p:cNvPicPr>
          <p:nvPr/>
        </p:nvPicPr>
        <p:blipFill>
          <a:blip r:embed="rId2" cstate="print"/>
          <a:srcRect l="5336" t="1923"/>
          <a:stretch>
            <a:fillRect/>
          </a:stretch>
        </p:blipFill>
        <p:spPr bwMode="auto">
          <a:xfrm>
            <a:off x="-7937" y="381002"/>
            <a:ext cx="692151" cy="2193925"/>
          </a:xfrm>
          <a:prstGeom prst="rect">
            <a:avLst/>
          </a:prstGeom>
          <a:noFill/>
          <a:ln w="9525">
            <a:noFill/>
            <a:miter lim="800000"/>
            <a:headEnd/>
            <a:tailEnd/>
          </a:ln>
        </p:spPr>
      </p:pic>
      <p:sp>
        <p:nvSpPr>
          <p:cNvPr id="10" name="TextBox 9"/>
          <p:cNvSpPr txBox="1"/>
          <p:nvPr/>
        </p:nvSpPr>
        <p:spPr>
          <a:xfrm rot="5400000">
            <a:off x="-2794793" y="3826196"/>
            <a:ext cx="5867400" cy="196208"/>
          </a:xfrm>
          <a:prstGeom prst="rect">
            <a:avLst/>
          </a:prstGeom>
          <a:noFill/>
        </p:spPr>
        <p:txBody>
          <a:bodyPr>
            <a:spAutoFit/>
          </a:bodyPr>
          <a:lstStyle/>
          <a:p>
            <a:pPr algn="r" rtl="0" fontAlgn="base">
              <a:spcBef>
                <a:spcPct val="0"/>
              </a:spcBef>
              <a:spcAft>
                <a:spcPct val="0"/>
              </a:spcAft>
              <a:defRPr/>
            </a:pPr>
            <a:r>
              <a:rPr lang="en-US" sz="675" b="1" kern="1200" dirty="0">
                <a:solidFill>
                  <a:srgbClr val="101141"/>
                </a:solidFill>
                <a:latin typeface="Arial"/>
                <a:ea typeface="+mn-ea"/>
                <a:cs typeface="Arial"/>
              </a:rPr>
              <a:t>BITS </a:t>
            </a:r>
            <a:r>
              <a:rPr lang="en-US" sz="675" kern="1200" dirty="0">
                <a:solidFill>
                  <a:srgbClr val="101141"/>
                </a:solidFill>
                <a:latin typeface="Arial"/>
                <a:ea typeface="+mn-ea"/>
                <a:cs typeface="Arial"/>
              </a:rPr>
              <a:t>Pilani, Pilani Campus</a:t>
            </a:r>
          </a:p>
        </p:txBody>
      </p:sp>
      <p:sp>
        <p:nvSpPr>
          <p:cNvPr id="3" name="Vertical Text Placeholder 2"/>
          <p:cNvSpPr>
            <a:spLocks noGrp="1"/>
          </p:cNvSpPr>
          <p:nvPr>
            <p:ph type="body" orient="vert" idx="1"/>
          </p:nvPr>
        </p:nvSpPr>
        <p:spPr>
          <a:xfrm>
            <a:off x="1219200" y="381002"/>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p:nvPr>
        </p:nvSpPr>
        <p:spPr>
          <a:xfrm rot="5400000">
            <a:off x="5410200" y="2743200"/>
            <a:ext cx="58674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10066062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cSld name="1_Custom Layout">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dirty="0">
              <a:solidFill>
                <a:prstClr val="white"/>
              </a:solidFill>
              <a:latin typeface="Arial" pitchFamily="34" charset="0"/>
              <a:cs typeface="Arial" pitchFamily="34" charset="0"/>
            </a:endParaRPr>
          </a:p>
        </p:txBody>
      </p:sp>
      <p:sp>
        <p:nvSpPr>
          <p:cNvPr id="5" name="Rectangle 4"/>
          <p:cNvSpPr/>
          <p:nvPr/>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6" name="Rectangle 5"/>
          <p:cNvSpPr/>
          <p:nvPr/>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8" name="Rectangle 7"/>
          <p:cNvSpPr/>
          <p:nvPr/>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pic>
        <p:nvPicPr>
          <p:cNvPr id="9" name="Picture 10" descr="BITS_university_logo_whitevert.png"/>
          <p:cNvPicPr>
            <a:picLocks noChangeAspect="1"/>
          </p:cNvPicPr>
          <p:nvPr/>
        </p:nvPicPr>
        <p:blipFill>
          <a:blip r:embed="rId3" cstate="print"/>
          <a:srcRect t="2" b="28592"/>
          <a:stretch>
            <a:fillRect/>
          </a:stretch>
        </p:blipFill>
        <p:spPr bwMode="auto">
          <a:xfrm>
            <a:off x="76200" y="3352802"/>
            <a:ext cx="2057400" cy="1979613"/>
          </a:xfrm>
          <a:prstGeom prst="rect">
            <a:avLst/>
          </a:prstGeom>
          <a:noFill/>
          <a:ln w="9525">
            <a:noFill/>
            <a:miter lim="800000"/>
            <a:headEnd/>
            <a:tailEnd/>
          </a:ln>
        </p:spPr>
      </p:pic>
      <p:sp>
        <p:nvSpPr>
          <p:cNvPr id="10" name="TextBox 9"/>
          <p:cNvSpPr txBox="1"/>
          <p:nvPr/>
        </p:nvSpPr>
        <p:spPr>
          <a:xfrm>
            <a:off x="-76200" y="5257800"/>
            <a:ext cx="2209800" cy="427040"/>
          </a:xfrm>
          <a:prstGeom prst="rect">
            <a:avLst/>
          </a:prstGeom>
          <a:noFill/>
        </p:spPr>
        <p:txBody>
          <a:bodyPr>
            <a:spAutoFit/>
          </a:bodyPr>
          <a:lstStyle/>
          <a:p>
            <a:pPr algn="ctr" rtl="0" fontAlgn="base">
              <a:spcBef>
                <a:spcPct val="0"/>
              </a:spcBef>
              <a:spcAft>
                <a:spcPct val="0"/>
              </a:spcAft>
              <a:defRPr/>
            </a:pPr>
            <a:r>
              <a:rPr lang="en-US" sz="2175" b="1" kern="1200" spc="-113" dirty="0">
                <a:solidFill>
                  <a:prstClr val="white"/>
                </a:solidFill>
                <a:latin typeface="Arial"/>
                <a:ea typeface="+mn-ea"/>
                <a:cs typeface="Arial"/>
              </a:rPr>
              <a:t>BITS</a:t>
            </a:r>
            <a:r>
              <a:rPr lang="en-US" sz="2175" kern="1200" spc="-113" dirty="0">
                <a:solidFill>
                  <a:prstClr val="white"/>
                </a:solidFill>
                <a:latin typeface="Arial"/>
                <a:ea typeface="+mn-ea"/>
                <a:cs typeface="Arial"/>
              </a:rPr>
              <a:t> Pilani</a:t>
            </a:r>
          </a:p>
        </p:txBody>
      </p:sp>
      <p:sp>
        <p:nvSpPr>
          <p:cNvPr id="11" name="TextBox 10"/>
          <p:cNvSpPr txBox="1"/>
          <p:nvPr/>
        </p:nvSpPr>
        <p:spPr>
          <a:xfrm>
            <a:off x="152400" y="5667376"/>
            <a:ext cx="1905000" cy="230832"/>
          </a:xfrm>
          <a:prstGeom prst="rect">
            <a:avLst/>
          </a:prstGeom>
          <a:noFill/>
        </p:spPr>
        <p:txBody>
          <a:bodyPr>
            <a:spAutoFit/>
          </a:bodyPr>
          <a:lstStyle/>
          <a:p>
            <a:pPr algn="l" rtl="0" fontAlgn="base">
              <a:spcBef>
                <a:spcPct val="0"/>
              </a:spcBef>
              <a:spcAft>
                <a:spcPct val="0"/>
              </a:spcAft>
              <a:defRPr/>
            </a:pPr>
            <a:r>
              <a:rPr lang="en-US" sz="900" kern="1200" dirty="0">
                <a:solidFill>
                  <a:srgbClr val="FFFFFF"/>
                </a:solidFill>
                <a:latin typeface="Arial"/>
                <a:ea typeface="+mn-ea"/>
                <a:cs typeface="Arial"/>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350"/>
              </a:lnSpc>
              <a:spcBef>
                <a:spcPts val="0"/>
              </a:spcBef>
              <a:buNone/>
              <a:defRPr sz="135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2514600" y="3810000"/>
            <a:ext cx="6019800" cy="1524000"/>
          </a:xfrm>
        </p:spPr>
        <p:txBody>
          <a:bodyPr>
            <a:noAutofit/>
          </a:bodyPr>
          <a:lstStyle>
            <a:lvl1pPr algn="l">
              <a:lnSpc>
                <a:spcPts val="3000"/>
              </a:lnSpc>
              <a:defRPr sz="33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99510130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2"/>
            <a:ext cx="2133600" cy="365125"/>
          </a:xfrm>
          <a:prstGeom prst="rect">
            <a:avLst/>
          </a:prstGeom>
        </p:spPr>
        <p:txBody>
          <a:bodyPr/>
          <a:lstStyle/>
          <a:p>
            <a:pPr>
              <a:defRPr/>
            </a:pPr>
            <a:fld id="{460CB459-1A4D-47F4-A8EE-5438035C956C}" type="datetime1">
              <a:rPr lang="en-US">
                <a:solidFill>
                  <a:prstClr val="black">
                    <a:tint val="75000"/>
                  </a:prstClr>
                </a:solidFill>
              </a:rPr>
              <a:pPr>
                <a:defRPr/>
              </a:pPr>
              <a:t>12/26/2024</a:t>
            </a:fld>
            <a:endParaRPr lang="en-US">
              <a:solidFill>
                <a:prstClr val="black">
                  <a:tint val="75000"/>
                </a:prstClr>
              </a:solidFill>
            </a:endParaRPr>
          </a:p>
        </p:txBody>
      </p:sp>
      <p:sp>
        <p:nvSpPr>
          <p:cNvPr id="3" name="Footer Placeholder 2"/>
          <p:cNvSpPr>
            <a:spLocks noGrp="1"/>
          </p:cNvSpPr>
          <p:nvPr>
            <p:ph type="ftr" sz="quarter" idx="11"/>
          </p:nvPr>
        </p:nvSpPr>
        <p:spPr>
          <a:xfrm>
            <a:off x="3124200" y="6356352"/>
            <a:ext cx="2895600" cy="365125"/>
          </a:xfrm>
          <a:prstGeom prst="rect">
            <a:avLst/>
          </a:prstGeom>
        </p:spPr>
        <p:txBody>
          <a:bodyPr/>
          <a:lstStyle/>
          <a:p>
            <a:pPr>
              <a:defRPr/>
            </a:pPr>
            <a:endParaRPr lang="en-US">
              <a:solidFill>
                <a:prstClr val="black">
                  <a:tint val="75000"/>
                </a:prstClr>
              </a:solidFill>
            </a:endParaRPr>
          </a:p>
        </p:txBody>
      </p:sp>
      <p:sp>
        <p:nvSpPr>
          <p:cNvPr id="4" name="Slide Number Placeholder 3"/>
          <p:cNvSpPr>
            <a:spLocks noGrp="1"/>
          </p:cNvSpPr>
          <p:nvPr>
            <p:ph type="sldNum" sz="quarter" idx="12"/>
          </p:nvPr>
        </p:nvSpPr>
        <p:spPr>
          <a:xfrm>
            <a:off x="6553200" y="6356352"/>
            <a:ext cx="2133600" cy="365125"/>
          </a:xfrm>
          <a:prstGeom prst="rect">
            <a:avLst/>
          </a:prstGeom>
        </p:spPr>
        <p:txBody>
          <a:bodyPr/>
          <a:lstStyle/>
          <a:p>
            <a:pPr>
              <a:defRPr/>
            </a:pPr>
            <a:fld id="{60DB935C-A2BB-404C-A6C5-67E9068028EC}"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400376328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7358633" y="6639735"/>
            <a:ext cx="1706245" cy="182245"/>
          </a:xfrm>
          <a:prstGeom prst="rect">
            <a:avLst/>
          </a:prstGeom>
        </p:spPr>
        <p:txBody>
          <a:bodyPr lIns="0" tIns="0" rIns="0" bIns="0"/>
          <a:lstStyle>
            <a:lvl1pPr>
              <a:defRPr sz="1100" b="0" i="0">
                <a:solidFill>
                  <a:srgbClr val="0F1141"/>
                </a:solidFill>
                <a:latin typeface="Arial MT"/>
                <a:cs typeface="Arial MT"/>
              </a:defRPr>
            </a:lvl1pPr>
          </a:lstStyle>
          <a:p>
            <a:pPr marL="12700">
              <a:lnSpc>
                <a:spcPct val="100000"/>
              </a:lnSpc>
            </a:pPr>
            <a:r>
              <a:rPr b="1" dirty="0">
                <a:latin typeface="Arial"/>
                <a:cs typeface="Arial"/>
              </a:rPr>
              <a:t>BITS</a:t>
            </a:r>
            <a:r>
              <a:rPr b="1" spc="-55" dirty="0">
                <a:latin typeface="Arial"/>
                <a:cs typeface="Arial"/>
              </a:rPr>
              <a:t> </a:t>
            </a:r>
            <a:r>
              <a:rPr dirty="0"/>
              <a:t>Pilani,</a:t>
            </a:r>
            <a:r>
              <a:rPr spc="-35" dirty="0"/>
              <a:t> </a:t>
            </a:r>
            <a:r>
              <a:rPr dirty="0"/>
              <a:t>Pilani</a:t>
            </a:r>
            <a:r>
              <a:rPr spc="-30" dirty="0"/>
              <a:t> </a:t>
            </a:r>
            <a:r>
              <a:rPr spc="-10" dirty="0"/>
              <a:t>Campus</a:t>
            </a:r>
          </a:p>
        </p:txBody>
      </p:sp>
      <p:sp>
        <p:nvSpPr>
          <p:cNvPr id="8" name="Content Placeholder 2"/>
          <p:cNvSpPr>
            <a:spLocks noGrp="1"/>
          </p:cNvSpPr>
          <p:nvPr>
            <p:ph idx="10"/>
          </p:nvPr>
        </p:nvSpPr>
        <p:spPr>
          <a:xfrm>
            <a:off x="228600" y="1545224"/>
            <a:ext cx="8610600" cy="4525963"/>
          </a:xfrm>
          <a:prstGeom prst="rect">
            <a:avLst/>
          </a:prstGeom>
        </p:spPr>
        <p:txBody>
          <a:bodyPr>
            <a:normAutofit/>
          </a:bodyPr>
          <a:lstStyle>
            <a:lvl1pPr>
              <a:defRPr sz="2400">
                <a:latin typeface="Cambria" panose="02040503050406030204" pitchFamily="18" charset="0"/>
                <a:ea typeface="Cambria" panose="02040503050406030204" pitchFamily="18" charset="0"/>
              </a:defRPr>
            </a:lvl1pPr>
            <a:lvl2pPr>
              <a:defRPr sz="2400">
                <a:latin typeface="Cambria" panose="02040503050406030204" pitchFamily="18" charset="0"/>
                <a:ea typeface="Cambria" panose="02040503050406030204" pitchFamily="18" charset="0"/>
              </a:defRPr>
            </a:lvl2pPr>
            <a:lvl3pPr>
              <a:defRPr sz="2400">
                <a:latin typeface="Cambria" panose="02040503050406030204" pitchFamily="18" charset="0"/>
                <a:ea typeface="Cambria" panose="02040503050406030204" pitchFamily="18" charset="0"/>
              </a:defRPr>
            </a:lvl3pPr>
            <a:lvl4pPr>
              <a:defRPr sz="2400">
                <a:latin typeface="Cambria" panose="02040503050406030204" pitchFamily="18" charset="0"/>
                <a:ea typeface="Cambria" panose="02040503050406030204" pitchFamily="18" charset="0"/>
              </a:defRPr>
            </a:lvl4pPr>
            <a:lvl5pPr>
              <a:defRPr sz="2400">
                <a:latin typeface="Cambria" panose="02040503050406030204" pitchFamily="18" charset="0"/>
                <a:ea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itle 1"/>
          <p:cNvSpPr>
            <a:spLocks noGrp="1"/>
          </p:cNvSpPr>
          <p:nvPr>
            <p:ph type="title"/>
          </p:nvPr>
        </p:nvSpPr>
        <p:spPr>
          <a:xfrm>
            <a:off x="228600" y="0"/>
            <a:ext cx="8160907" cy="1219200"/>
          </a:xfrm>
          <a:prstGeom prst="rect">
            <a:avLst/>
          </a:prstGeom>
        </p:spPr>
        <p:txBody>
          <a:bodyPr anchor="ctr"/>
          <a:lstStyle>
            <a:lvl1pPr algn="l">
              <a:defRPr sz="3600" b="0">
                <a:latin typeface="Cambria" panose="02040503050406030204" pitchFamily="18" charset="0"/>
                <a:ea typeface="Cambria" panose="02040503050406030204" pitchFamily="18" charset="0"/>
              </a:defRPr>
            </a:lvl1pPr>
          </a:lstStyle>
          <a:p>
            <a:r>
              <a:rPr lang="en-US" dirty="0"/>
              <a:t>Click to edit Master title style</a:t>
            </a:r>
            <a:endParaRPr lang="en-IN" dirty="0"/>
          </a:p>
        </p:txBody>
      </p:sp>
    </p:spTree>
    <p:extLst>
      <p:ext uri="{BB962C8B-B14F-4D97-AF65-F5344CB8AC3E}">
        <p14:creationId xmlns:p14="http://schemas.microsoft.com/office/powerpoint/2010/main" val="342575859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7358633" y="6639735"/>
            <a:ext cx="1706245" cy="182245"/>
          </a:xfrm>
          <a:prstGeom prst="rect">
            <a:avLst/>
          </a:prstGeom>
        </p:spPr>
        <p:txBody>
          <a:bodyPr lIns="0" tIns="0" rIns="0" bIns="0"/>
          <a:lstStyle>
            <a:lvl1pPr>
              <a:defRPr sz="1100" b="0" i="0">
                <a:solidFill>
                  <a:srgbClr val="0F1141"/>
                </a:solidFill>
                <a:latin typeface="Arial MT"/>
                <a:cs typeface="Arial MT"/>
              </a:defRPr>
            </a:lvl1pPr>
          </a:lstStyle>
          <a:p>
            <a:pPr marL="12700">
              <a:lnSpc>
                <a:spcPct val="100000"/>
              </a:lnSpc>
            </a:pPr>
            <a:r>
              <a:rPr b="1" dirty="0">
                <a:latin typeface="Arial"/>
                <a:cs typeface="Arial"/>
              </a:rPr>
              <a:t>BITS</a:t>
            </a:r>
            <a:r>
              <a:rPr b="1" spc="-55" dirty="0">
                <a:latin typeface="Arial"/>
                <a:cs typeface="Arial"/>
              </a:rPr>
              <a:t> </a:t>
            </a:r>
            <a:r>
              <a:rPr dirty="0"/>
              <a:t>Pilani,</a:t>
            </a:r>
            <a:r>
              <a:rPr spc="-35" dirty="0"/>
              <a:t> </a:t>
            </a:r>
            <a:r>
              <a:rPr dirty="0"/>
              <a:t>Pilani</a:t>
            </a:r>
            <a:r>
              <a:rPr spc="-30" dirty="0"/>
              <a:t> </a:t>
            </a:r>
            <a:r>
              <a:rPr spc="-10" dirty="0"/>
              <a:t>Campus</a:t>
            </a:r>
          </a:p>
        </p:txBody>
      </p:sp>
      <p:sp>
        <p:nvSpPr>
          <p:cNvPr id="8" name="Content Placeholder 2"/>
          <p:cNvSpPr>
            <a:spLocks noGrp="1"/>
          </p:cNvSpPr>
          <p:nvPr>
            <p:ph idx="10"/>
          </p:nvPr>
        </p:nvSpPr>
        <p:spPr>
          <a:xfrm>
            <a:off x="228600" y="1545224"/>
            <a:ext cx="8610600" cy="4525963"/>
          </a:xfrm>
          <a:prstGeom prst="rect">
            <a:avLst/>
          </a:prstGeom>
        </p:spPr>
        <p:txBody>
          <a:bodyPr>
            <a:normAutofit/>
          </a:bodyPr>
          <a:lstStyle>
            <a:lvl1pPr>
              <a:defRPr sz="2400">
                <a:latin typeface="Cambria" panose="02040503050406030204" pitchFamily="18" charset="0"/>
                <a:ea typeface="Cambria" panose="02040503050406030204" pitchFamily="18" charset="0"/>
              </a:defRPr>
            </a:lvl1pPr>
            <a:lvl2pPr>
              <a:defRPr sz="2400">
                <a:latin typeface="Cambria" panose="02040503050406030204" pitchFamily="18" charset="0"/>
                <a:ea typeface="Cambria" panose="02040503050406030204" pitchFamily="18" charset="0"/>
              </a:defRPr>
            </a:lvl2pPr>
            <a:lvl3pPr>
              <a:defRPr sz="2400">
                <a:latin typeface="Cambria" panose="02040503050406030204" pitchFamily="18" charset="0"/>
                <a:ea typeface="Cambria" panose="02040503050406030204" pitchFamily="18" charset="0"/>
              </a:defRPr>
            </a:lvl3pPr>
            <a:lvl4pPr>
              <a:defRPr sz="2400">
                <a:latin typeface="Cambria" panose="02040503050406030204" pitchFamily="18" charset="0"/>
                <a:ea typeface="Cambria" panose="02040503050406030204" pitchFamily="18" charset="0"/>
              </a:defRPr>
            </a:lvl4pPr>
            <a:lvl5pPr>
              <a:defRPr sz="2400">
                <a:latin typeface="Cambria" panose="02040503050406030204" pitchFamily="18" charset="0"/>
                <a:ea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itle 1"/>
          <p:cNvSpPr>
            <a:spLocks noGrp="1"/>
          </p:cNvSpPr>
          <p:nvPr>
            <p:ph type="title"/>
          </p:nvPr>
        </p:nvSpPr>
        <p:spPr>
          <a:xfrm>
            <a:off x="228600" y="0"/>
            <a:ext cx="8160907" cy="1219200"/>
          </a:xfrm>
          <a:prstGeom prst="rect">
            <a:avLst/>
          </a:prstGeom>
        </p:spPr>
        <p:txBody>
          <a:bodyPr anchor="ctr"/>
          <a:lstStyle>
            <a:lvl1pPr algn="l">
              <a:defRPr sz="3600" b="0">
                <a:latin typeface="Cambria" panose="02040503050406030204" pitchFamily="18" charset="0"/>
                <a:ea typeface="Cambria" panose="02040503050406030204" pitchFamily="18" charset="0"/>
              </a:defRPr>
            </a:lvl1pPr>
          </a:lstStyle>
          <a:p>
            <a:r>
              <a:rPr lang="en-US" dirty="0"/>
              <a:t>Click to edit Master title style</a:t>
            </a:r>
            <a:endParaRPr lang="en-IN" dirty="0"/>
          </a:p>
        </p:txBody>
      </p:sp>
    </p:spTree>
    <p:extLst>
      <p:ext uri="{BB962C8B-B14F-4D97-AF65-F5344CB8AC3E}">
        <p14:creationId xmlns:p14="http://schemas.microsoft.com/office/powerpoint/2010/main" val="309822982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cSld name="3_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2404718" y="435270"/>
            <a:ext cx="4334562" cy="543226"/>
          </a:xfrm>
        </p:spPr>
        <p:txBody>
          <a:bodyPr lIns="0" tIns="0" rIns="0" bIns="0"/>
          <a:lstStyle>
            <a:lvl1pPr>
              <a:defRPr sz="3530" b="1" i="0">
                <a:solidFill>
                  <a:srgbClr val="0000CC"/>
                </a:solidFill>
                <a:latin typeface="Calibri"/>
                <a:cs typeface="Calibri"/>
              </a:defRPr>
            </a:lvl1pPr>
          </a:lstStyle>
          <a:p>
            <a:endParaRPr/>
          </a:p>
        </p:txBody>
      </p:sp>
      <p:sp>
        <p:nvSpPr>
          <p:cNvPr id="3" name="Holder 3"/>
          <p:cNvSpPr>
            <a:spLocks noGrp="1"/>
          </p:cNvSpPr>
          <p:nvPr>
            <p:ph type="body" idx="1"/>
          </p:nvPr>
        </p:nvSpPr>
        <p:spPr>
          <a:xfrm>
            <a:off x="609069" y="1559555"/>
            <a:ext cx="3872923" cy="896271"/>
          </a:xfrm>
        </p:spPr>
        <p:txBody>
          <a:bodyPr lIns="0" tIns="0" rIns="0" bIns="0"/>
          <a:lstStyle>
            <a:lvl1pPr>
              <a:defRPr sz="5824"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solidFill>
                <a:prstClr val="black">
                  <a:tint val="75000"/>
                </a:prstClr>
              </a:solidFill>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12/26/2024</a:t>
            </a:fld>
            <a:endParaRPr lang="en-US">
              <a:solidFill>
                <a:prstClr val="black">
                  <a:tint val="75000"/>
                </a:prstClr>
              </a:solidFill>
            </a:endParaRPr>
          </a:p>
        </p:txBody>
      </p:sp>
      <p:sp>
        <p:nvSpPr>
          <p:cNvPr id="6" name="Holder 6"/>
          <p:cNvSpPr>
            <a:spLocks noGrp="1"/>
          </p:cNvSpPr>
          <p:nvPr>
            <p:ph type="sldNum" sz="quarter" idx="7"/>
          </p:nvPr>
        </p:nvSpPr>
        <p:spPr/>
        <p:txBody>
          <a:bodyPr lIns="0" tIns="0" rIns="0" bIns="0"/>
          <a:lstStyle>
            <a:lvl1pPr>
              <a:defRPr sz="1059" b="0" i="0">
                <a:solidFill>
                  <a:srgbClr val="898989"/>
                </a:solidFill>
                <a:latin typeface="Calibri"/>
                <a:cs typeface="Calibri"/>
              </a:defRPr>
            </a:lvl1pPr>
          </a:lstStyle>
          <a:p>
            <a:pPr marL="11206">
              <a:lnSpc>
                <a:spcPts val="1094"/>
              </a:lnSpc>
            </a:pPr>
            <a:r>
              <a:rPr lang="en-IN"/>
              <a:t>1</a:t>
            </a:r>
            <a:fld id="{81D60167-4931-47E6-BA6A-407CBD079E47}" type="slidenum">
              <a:rPr smtClean="0"/>
              <a:pPr marL="11206">
                <a:lnSpc>
                  <a:spcPts val="1094"/>
                </a:lnSpc>
              </a:pPr>
              <a:t>‹#›</a:t>
            </a:fld>
            <a:endParaRPr dirty="0"/>
          </a:p>
        </p:txBody>
      </p:sp>
    </p:spTree>
    <p:extLst>
      <p:ext uri="{BB962C8B-B14F-4D97-AF65-F5344CB8AC3E}">
        <p14:creationId xmlns:p14="http://schemas.microsoft.com/office/powerpoint/2010/main" val="339746136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7.xml"/><Relationship Id="rId13" Type="http://schemas.openxmlformats.org/officeDocument/2006/relationships/slideLayout" Target="../slideLayouts/slideLayout52.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slideLayout" Target="../slideLayouts/slideLayout51.xml"/><Relationship Id="rId17" Type="http://schemas.openxmlformats.org/officeDocument/2006/relationships/theme" Target="../theme/theme2.xml"/><Relationship Id="rId2" Type="http://schemas.openxmlformats.org/officeDocument/2006/relationships/slideLayout" Target="../slideLayouts/slideLayout41.xml"/><Relationship Id="rId16" Type="http://schemas.openxmlformats.org/officeDocument/2006/relationships/slideLayout" Target="../slideLayouts/slideLayout55.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5" Type="http://schemas.openxmlformats.org/officeDocument/2006/relationships/slideLayout" Target="../slideLayouts/slideLayout54.xml"/><Relationship Id="rId10" Type="http://schemas.openxmlformats.org/officeDocument/2006/relationships/slideLayout" Target="../slideLayouts/slideLayout49.xml"/><Relationship Id="rId4" Type="http://schemas.openxmlformats.org/officeDocument/2006/relationships/slideLayout" Target="../slideLayouts/slideLayout43.xml"/><Relationship Id="rId9" Type="http://schemas.openxmlformats.org/officeDocument/2006/relationships/slideLayout" Target="../slideLayouts/slideLayout48.xml"/><Relationship Id="rId14"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631436" y="6550152"/>
            <a:ext cx="2329180" cy="48895"/>
          </a:xfrm>
          <a:custGeom>
            <a:avLst/>
            <a:gdLst/>
            <a:ahLst/>
            <a:cxnLst/>
            <a:rect l="l" t="t" r="r" b="b"/>
            <a:pathLst>
              <a:path w="2329179" h="48895">
                <a:moveTo>
                  <a:pt x="2328671" y="0"/>
                </a:moveTo>
                <a:lnTo>
                  <a:pt x="0" y="0"/>
                </a:lnTo>
                <a:lnTo>
                  <a:pt x="0" y="48768"/>
                </a:lnTo>
                <a:lnTo>
                  <a:pt x="2328671" y="48768"/>
                </a:lnTo>
                <a:lnTo>
                  <a:pt x="2328671" y="0"/>
                </a:lnTo>
                <a:close/>
              </a:path>
            </a:pathLst>
          </a:custGeom>
          <a:solidFill>
            <a:srgbClr val="76C2E4"/>
          </a:solidFill>
        </p:spPr>
        <p:txBody>
          <a:bodyPr wrap="square" lIns="0" tIns="0" rIns="0" bIns="0" rtlCol="0"/>
          <a:lstStyle/>
          <a:p>
            <a:endParaRPr/>
          </a:p>
        </p:txBody>
      </p:sp>
      <p:sp>
        <p:nvSpPr>
          <p:cNvPr id="17" name="bg object 17"/>
          <p:cNvSpPr/>
          <p:nvPr/>
        </p:nvSpPr>
        <p:spPr>
          <a:xfrm>
            <a:off x="6908291" y="6550152"/>
            <a:ext cx="2235835" cy="45720"/>
          </a:xfrm>
          <a:custGeom>
            <a:avLst/>
            <a:gdLst/>
            <a:ahLst/>
            <a:cxnLst/>
            <a:rect l="l" t="t" r="r" b="b"/>
            <a:pathLst>
              <a:path w="2235834" h="45720">
                <a:moveTo>
                  <a:pt x="2235707" y="0"/>
                </a:moveTo>
                <a:lnTo>
                  <a:pt x="0" y="0"/>
                </a:lnTo>
                <a:lnTo>
                  <a:pt x="0" y="45720"/>
                </a:lnTo>
                <a:lnTo>
                  <a:pt x="2235707" y="45720"/>
                </a:lnTo>
                <a:lnTo>
                  <a:pt x="2235707" y="0"/>
                </a:lnTo>
                <a:close/>
              </a:path>
            </a:pathLst>
          </a:custGeom>
          <a:solidFill>
            <a:srgbClr val="E21C23"/>
          </a:solidFill>
        </p:spPr>
        <p:txBody>
          <a:bodyPr wrap="square" lIns="0" tIns="0" rIns="0" bIns="0" rtlCol="0"/>
          <a:lstStyle/>
          <a:p>
            <a:endParaRPr/>
          </a:p>
        </p:txBody>
      </p:sp>
      <p:sp>
        <p:nvSpPr>
          <p:cNvPr id="18" name="bg object 18"/>
          <p:cNvSpPr/>
          <p:nvPr/>
        </p:nvSpPr>
        <p:spPr>
          <a:xfrm>
            <a:off x="2084832" y="6550152"/>
            <a:ext cx="2580640" cy="48895"/>
          </a:xfrm>
          <a:custGeom>
            <a:avLst/>
            <a:gdLst/>
            <a:ahLst/>
            <a:cxnLst/>
            <a:rect l="l" t="t" r="r" b="b"/>
            <a:pathLst>
              <a:path w="2580640" h="48895">
                <a:moveTo>
                  <a:pt x="2580132" y="0"/>
                </a:moveTo>
                <a:lnTo>
                  <a:pt x="0" y="0"/>
                </a:lnTo>
                <a:lnTo>
                  <a:pt x="0" y="48768"/>
                </a:lnTo>
                <a:lnTo>
                  <a:pt x="2580132" y="48768"/>
                </a:lnTo>
                <a:lnTo>
                  <a:pt x="2580132" y="0"/>
                </a:lnTo>
                <a:close/>
              </a:path>
            </a:pathLst>
          </a:custGeom>
          <a:solidFill>
            <a:srgbClr val="FBAF17"/>
          </a:solidFill>
        </p:spPr>
        <p:txBody>
          <a:bodyPr wrap="square" lIns="0" tIns="0" rIns="0" bIns="0" rtlCol="0"/>
          <a:lstStyle/>
          <a:p>
            <a:endParaRPr/>
          </a:p>
        </p:txBody>
      </p:sp>
      <p:sp>
        <p:nvSpPr>
          <p:cNvPr id="19" name="bg object 19"/>
          <p:cNvSpPr/>
          <p:nvPr/>
        </p:nvSpPr>
        <p:spPr>
          <a:xfrm>
            <a:off x="4495800"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a:p>
        </p:txBody>
      </p:sp>
      <p:sp>
        <p:nvSpPr>
          <p:cNvPr id="20" name="bg object 20"/>
          <p:cNvSpPr/>
          <p:nvPr/>
        </p:nvSpPr>
        <p:spPr>
          <a:xfrm>
            <a:off x="2133600" y="6553200"/>
            <a:ext cx="2362200" cy="45720"/>
          </a:xfrm>
          <a:custGeom>
            <a:avLst/>
            <a:gdLst/>
            <a:ahLst/>
            <a:cxnLst/>
            <a:rect l="l" t="t" r="r" b="b"/>
            <a:pathLst>
              <a:path w="2362200" h="45720">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a:p>
        </p:txBody>
      </p:sp>
      <p:sp>
        <p:nvSpPr>
          <p:cNvPr id="21" name="bg object 21"/>
          <p:cNvSpPr/>
          <p:nvPr/>
        </p:nvSpPr>
        <p:spPr>
          <a:xfrm>
            <a:off x="6815328" y="6553200"/>
            <a:ext cx="2329180"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a:p>
        </p:txBody>
      </p:sp>
      <p:pic>
        <p:nvPicPr>
          <p:cNvPr id="22" name="bg object 22"/>
          <p:cNvPicPr/>
          <p:nvPr/>
        </p:nvPicPr>
        <p:blipFill>
          <a:blip r:embed="rId41" cstate="print"/>
          <a:stretch>
            <a:fillRect/>
          </a:stretch>
        </p:blipFill>
        <p:spPr>
          <a:xfrm>
            <a:off x="6629400" y="0"/>
            <a:ext cx="2194559" cy="691896"/>
          </a:xfrm>
          <a:prstGeom prst="rect">
            <a:avLst/>
          </a:prstGeom>
        </p:spPr>
      </p:pic>
      <p:sp>
        <p:nvSpPr>
          <p:cNvPr id="23" name="bg object 23"/>
          <p:cNvSpPr/>
          <p:nvPr/>
        </p:nvSpPr>
        <p:spPr>
          <a:xfrm>
            <a:off x="2362200"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a:p>
        </p:txBody>
      </p:sp>
      <p:sp>
        <p:nvSpPr>
          <p:cNvPr id="24" name="bg object 24"/>
          <p:cNvSpPr/>
          <p:nvPr/>
        </p:nvSpPr>
        <p:spPr>
          <a:xfrm>
            <a:off x="0" y="1295400"/>
            <a:ext cx="2362200" cy="45720"/>
          </a:xfrm>
          <a:custGeom>
            <a:avLst/>
            <a:gdLst/>
            <a:ahLst/>
            <a:cxnLst/>
            <a:rect l="l" t="t" r="r" b="b"/>
            <a:pathLst>
              <a:path w="2362200" h="45719">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a:p>
        </p:txBody>
      </p:sp>
      <p:sp>
        <p:nvSpPr>
          <p:cNvPr id="25" name="bg object 25"/>
          <p:cNvSpPr/>
          <p:nvPr/>
        </p:nvSpPr>
        <p:spPr>
          <a:xfrm>
            <a:off x="4681728" y="1295400"/>
            <a:ext cx="2329180"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a:p>
        </p:txBody>
      </p:sp>
      <p:sp>
        <p:nvSpPr>
          <p:cNvPr id="8" name="Title Placeholder 7"/>
          <p:cNvSpPr>
            <a:spLocks noGrp="1"/>
          </p:cNvSpPr>
          <p:nvPr>
            <p:ph type="title"/>
          </p:nvPr>
        </p:nvSpPr>
        <p:spPr>
          <a:xfrm>
            <a:off x="173990" y="32162"/>
            <a:ext cx="78867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9" name="Text Placeholder 8"/>
          <p:cNvSpPr>
            <a:spLocks noGrp="1"/>
          </p:cNvSpPr>
          <p:nvPr>
            <p:ph type="body" idx="1"/>
          </p:nvPr>
        </p:nvSpPr>
        <p:spPr>
          <a:xfrm>
            <a:off x="304800" y="1676400"/>
            <a:ext cx="78867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84" r:id="rId7"/>
    <p:sldLayoutId id="2147483685"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 id="2147483696" r:id="rId18"/>
    <p:sldLayoutId id="2147483697" r:id="rId19"/>
    <p:sldLayoutId id="2147483698" r:id="rId20"/>
    <p:sldLayoutId id="2147483699" r:id="rId21"/>
    <p:sldLayoutId id="2147483700" r:id="rId22"/>
    <p:sldLayoutId id="2147483701" r:id="rId23"/>
    <p:sldLayoutId id="2147483702" r:id="rId24"/>
    <p:sldLayoutId id="2147483703" r:id="rId25"/>
    <p:sldLayoutId id="2147483704" r:id="rId26"/>
    <p:sldLayoutId id="2147483705" r:id="rId27"/>
    <p:sldLayoutId id="2147483706" r:id="rId28"/>
    <p:sldLayoutId id="2147483707" r:id="rId29"/>
    <p:sldLayoutId id="2147483708" r:id="rId30"/>
    <p:sldLayoutId id="2147483709" r:id="rId31"/>
    <p:sldLayoutId id="2147483711" r:id="rId32"/>
    <p:sldLayoutId id="2147483712" r:id="rId33"/>
    <p:sldLayoutId id="2147483713" r:id="rId34"/>
    <p:sldLayoutId id="2147483714" r:id="rId35"/>
    <p:sldLayoutId id="2147483715" r:id="rId36"/>
    <p:sldLayoutId id="2147483717" r:id="rId37"/>
    <p:sldLayoutId id="2147483718" r:id="rId38"/>
    <p:sldLayoutId id="2147483719" r:id="rId39"/>
  </p:sldLayoutIdLst>
  <p:txStyles>
    <p:titleStyle>
      <a:lvl1pPr>
        <a:defRPr sz="3600">
          <a:latin typeface="Cambria" panose="02040503050406030204" pitchFamily="18" charset="0"/>
          <a:ea typeface="Cambria" panose="02040503050406030204" pitchFamily="18" charset="0"/>
          <a:cs typeface="+mj-cs"/>
        </a:defRPr>
      </a:lvl1pPr>
    </p:titleStyle>
    <p:bodyStyle>
      <a:lvl1pPr marL="0">
        <a:defRPr sz="2400">
          <a:latin typeface="Cambria" panose="02040503050406030204" pitchFamily="18" charset="0"/>
          <a:ea typeface="Cambria" panose="02040503050406030204" pitchFamily="18" charset="0"/>
          <a:cs typeface="+mn-cs"/>
        </a:defRPr>
      </a:lvl1pPr>
      <a:lvl2pPr marL="457200">
        <a:defRPr sz="2400">
          <a:latin typeface="Cambria" panose="02040503050406030204" pitchFamily="18" charset="0"/>
          <a:ea typeface="Cambria" panose="02040503050406030204" pitchFamily="18" charset="0"/>
          <a:cs typeface="+mn-cs"/>
        </a:defRPr>
      </a:lvl2pPr>
      <a:lvl3pPr marL="914400">
        <a:defRPr sz="2400">
          <a:latin typeface="Cambria" panose="02040503050406030204" pitchFamily="18" charset="0"/>
          <a:ea typeface="Cambria" panose="02040503050406030204" pitchFamily="18" charset="0"/>
          <a:cs typeface="+mn-cs"/>
        </a:defRPr>
      </a:lvl3pPr>
      <a:lvl4pPr marL="1371600">
        <a:defRPr sz="2400">
          <a:latin typeface="Cambria" panose="02040503050406030204" pitchFamily="18" charset="0"/>
          <a:ea typeface="Cambria" panose="02040503050406030204" pitchFamily="18" charset="0"/>
          <a:cs typeface="+mn-cs"/>
        </a:defRPr>
      </a:lvl4pPr>
      <a:lvl5pPr marL="1828800">
        <a:defRPr sz="2400">
          <a:latin typeface="Cambria" panose="02040503050406030204" pitchFamily="18" charset="0"/>
          <a:ea typeface="Cambria" panose="02040503050406030204" pitchFamily="18" charset="0"/>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2051" name="Text Placeholder 2"/>
          <p:cNvSpPr>
            <a:spLocks noGrp="1"/>
          </p:cNvSpPr>
          <p:nvPr>
            <p:ph type="body" idx="1"/>
          </p:nvPr>
        </p:nvSpPr>
        <p:spPr bwMode="auto">
          <a:xfrm>
            <a:off x="457200" y="1600202"/>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900" smtClean="0">
                <a:solidFill>
                  <a:schemeClr val="tx1">
                    <a:tint val="75000"/>
                  </a:schemeClr>
                </a:solidFill>
                <a:latin typeface="Arial" pitchFamily="34" charset="0"/>
                <a:cs typeface="Arial" pitchFamily="34" charset="0"/>
              </a:defRPr>
            </a:lvl1pPr>
          </a:lstStyle>
          <a:p>
            <a:pPr rtl="0" fontAlgn="base">
              <a:spcBef>
                <a:spcPct val="0"/>
              </a:spcBef>
              <a:spcAft>
                <a:spcPct val="0"/>
              </a:spcAft>
              <a:defRPr/>
            </a:pPr>
            <a:fld id="{DAE0A98B-91D6-4D0A-A390-AF26B360F87A}" type="datetime1">
              <a:rPr lang="en-US" kern="1200">
                <a:solidFill>
                  <a:prstClr val="black">
                    <a:tint val="75000"/>
                  </a:prstClr>
                </a:solidFill>
                <a:ea typeface="+mn-ea"/>
              </a:rPr>
              <a:pPr rtl="0" fontAlgn="base">
                <a:spcBef>
                  <a:spcPct val="0"/>
                </a:spcBef>
                <a:spcAft>
                  <a:spcPct val="0"/>
                </a:spcAft>
                <a:defRPr/>
              </a:pPr>
              <a:t>12/26/2024</a:t>
            </a:fld>
            <a:endParaRPr lang="en-US" kern="1200">
              <a:solidFill>
                <a:prstClr val="black">
                  <a:tint val="75000"/>
                </a:prstClr>
              </a:solidFill>
              <a:ea typeface="+mn-ea"/>
            </a:endParaRPr>
          </a:p>
        </p:txBody>
      </p:sp>
      <p:sp>
        <p:nvSpPr>
          <p:cNvPr id="5" name="Footer Placeholder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900" smtClean="0">
                <a:solidFill>
                  <a:schemeClr val="tx1">
                    <a:tint val="75000"/>
                  </a:schemeClr>
                </a:solidFill>
                <a:latin typeface="Arial" pitchFamily="34" charset="0"/>
                <a:cs typeface="Arial" pitchFamily="34" charset="0"/>
              </a:defRPr>
            </a:lvl1pPr>
          </a:lstStyle>
          <a:p>
            <a:pPr rtl="0" fontAlgn="base">
              <a:spcBef>
                <a:spcPct val="0"/>
              </a:spcBef>
              <a:spcAft>
                <a:spcPct val="0"/>
              </a:spcAft>
              <a:defRPr/>
            </a:pPr>
            <a:endParaRPr lang="en-US" kern="1200">
              <a:solidFill>
                <a:prstClr val="black">
                  <a:tint val="75000"/>
                </a:prstClr>
              </a:solidFill>
              <a:ea typeface="+mn-ea"/>
            </a:endParaRPr>
          </a:p>
        </p:txBody>
      </p:sp>
      <p:sp>
        <p:nvSpPr>
          <p:cNvPr id="6" name="Slide Number Placeholder 5"/>
          <p:cNvSpPr>
            <a:spLocks noGrp="1"/>
          </p:cNvSpPr>
          <p:nvPr>
            <p:ph type="sldNum" sz="quarter" idx="4"/>
          </p:nvPr>
        </p:nvSpPr>
        <p:spPr>
          <a:xfrm>
            <a:off x="6553200" y="6356352"/>
            <a:ext cx="2133600" cy="365125"/>
          </a:xfrm>
          <a:prstGeom prst="rect">
            <a:avLst/>
          </a:prstGeom>
        </p:spPr>
        <p:txBody>
          <a:bodyPr vert="horz" lIns="91440" tIns="45720" rIns="91440" bIns="45720" rtlCol="0" anchor="ctr"/>
          <a:lstStyle>
            <a:lvl1pPr algn="r">
              <a:defRPr sz="900" smtClean="0">
                <a:solidFill>
                  <a:schemeClr val="tx1">
                    <a:tint val="75000"/>
                  </a:schemeClr>
                </a:solidFill>
                <a:latin typeface="Arial" pitchFamily="34" charset="0"/>
                <a:cs typeface="Arial" pitchFamily="34" charset="0"/>
              </a:defRPr>
            </a:lvl1pPr>
          </a:lstStyle>
          <a:p>
            <a:pPr rtl="0" fontAlgn="base">
              <a:spcBef>
                <a:spcPct val="0"/>
              </a:spcBef>
              <a:spcAft>
                <a:spcPct val="0"/>
              </a:spcAft>
              <a:defRPr/>
            </a:pPr>
            <a:fld id="{60DB935C-A2BB-404C-A6C5-67E9068028EC}" type="slidenum">
              <a:rPr lang="en-US" kern="1200">
                <a:solidFill>
                  <a:prstClr val="black">
                    <a:tint val="75000"/>
                  </a:prstClr>
                </a:solidFill>
                <a:ea typeface="+mn-ea"/>
              </a:rPr>
              <a:pPr rtl="0" fontAlgn="base">
                <a:spcBef>
                  <a:spcPct val="0"/>
                </a:spcBef>
                <a:spcAft>
                  <a:spcPct val="0"/>
                </a:spcAft>
                <a:defRPr/>
              </a:pPr>
              <a:t>‹#›</a:t>
            </a:fld>
            <a:endParaRPr lang="en-US" kern="1200">
              <a:solidFill>
                <a:prstClr val="black">
                  <a:tint val="75000"/>
                </a:prstClr>
              </a:solidFill>
              <a:ea typeface="+mn-ea"/>
            </a:endParaRPr>
          </a:p>
        </p:txBody>
      </p:sp>
    </p:spTree>
    <p:extLst>
      <p:ext uri="{BB962C8B-B14F-4D97-AF65-F5344CB8AC3E}">
        <p14:creationId xmlns:p14="http://schemas.microsoft.com/office/powerpoint/2010/main" val="1850106545"/>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6" r:id="rId16"/>
  </p:sldLayoutIdLst>
  <p:hf sldNum="0" hdr="0" ftr="0" dt="0"/>
  <p:txStyles>
    <p:titleStyle>
      <a:lvl1pPr algn="l" rtl="0" fontAlgn="base">
        <a:spcBef>
          <a:spcPct val="0"/>
        </a:spcBef>
        <a:spcAft>
          <a:spcPct val="0"/>
        </a:spcAft>
        <a:defRPr sz="3000" b="1" kern="1200" spc="-113">
          <a:solidFill>
            <a:schemeClr val="tx1"/>
          </a:solidFill>
          <a:latin typeface="Arial" pitchFamily="34" charset="0"/>
          <a:ea typeface="+mj-ea"/>
          <a:cs typeface="Arial" pitchFamily="34" charset="0"/>
        </a:defRPr>
      </a:lvl1pPr>
      <a:lvl2pPr algn="l" rtl="0" fontAlgn="base">
        <a:spcBef>
          <a:spcPct val="0"/>
        </a:spcBef>
        <a:spcAft>
          <a:spcPct val="0"/>
        </a:spcAft>
        <a:defRPr sz="3000" b="1">
          <a:solidFill>
            <a:schemeClr val="tx1"/>
          </a:solidFill>
          <a:latin typeface="Arial" charset="0"/>
          <a:cs typeface="Arial" charset="0"/>
        </a:defRPr>
      </a:lvl2pPr>
      <a:lvl3pPr algn="l" rtl="0" fontAlgn="base">
        <a:spcBef>
          <a:spcPct val="0"/>
        </a:spcBef>
        <a:spcAft>
          <a:spcPct val="0"/>
        </a:spcAft>
        <a:defRPr sz="3000" b="1">
          <a:solidFill>
            <a:schemeClr val="tx1"/>
          </a:solidFill>
          <a:latin typeface="Arial" charset="0"/>
          <a:cs typeface="Arial" charset="0"/>
        </a:defRPr>
      </a:lvl3pPr>
      <a:lvl4pPr algn="l" rtl="0" fontAlgn="base">
        <a:spcBef>
          <a:spcPct val="0"/>
        </a:spcBef>
        <a:spcAft>
          <a:spcPct val="0"/>
        </a:spcAft>
        <a:defRPr sz="3000" b="1">
          <a:solidFill>
            <a:schemeClr val="tx1"/>
          </a:solidFill>
          <a:latin typeface="Arial" charset="0"/>
          <a:cs typeface="Arial" charset="0"/>
        </a:defRPr>
      </a:lvl4pPr>
      <a:lvl5pPr algn="l" rtl="0" fontAlgn="base">
        <a:spcBef>
          <a:spcPct val="0"/>
        </a:spcBef>
        <a:spcAft>
          <a:spcPct val="0"/>
        </a:spcAft>
        <a:defRPr sz="3000" b="1">
          <a:solidFill>
            <a:schemeClr val="tx1"/>
          </a:solidFill>
          <a:latin typeface="Arial" charset="0"/>
          <a:cs typeface="Arial" charset="0"/>
        </a:defRPr>
      </a:lvl5pPr>
      <a:lvl6pPr marL="342900" algn="l" rtl="0" fontAlgn="base">
        <a:spcBef>
          <a:spcPct val="0"/>
        </a:spcBef>
        <a:spcAft>
          <a:spcPct val="0"/>
        </a:spcAft>
        <a:defRPr sz="3000" b="1">
          <a:solidFill>
            <a:schemeClr val="tx1"/>
          </a:solidFill>
          <a:latin typeface="Arial" charset="0"/>
          <a:cs typeface="Arial" charset="0"/>
        </a:defRPr>
      </a:lvl6pPr>
      <a:lvl7pPr marL="685800" algn="l" rtl="0" fontAlgn="base">
        <a:spcBef>
          <a:spcPct val="0"/>
        </a:spcBef>
        <a:spcAft>
          <a:spcPct val="0"/>
        </a:spcAft>
        <a:defRPr sz="3000" b="1">
          <a:solidFill>
            <a:schemeClr val="tx1"/>
          </a:solidFill>
          <a:latin typeface="Arial" charset="0"/>
          <a:cs typeface="Arial" charset="0"/>
        </a:defRPr>
      </a:lvl7pPr>
      <a:lvl8pPr marL="1028700" algn="l" rtl="0" fontAlgn="base">
        <a:spcBef>
          <a:spcPct val="0"/>
        </a:spcBef>
        <a:spcAft>
          <a:spcPct val="0"/>
        </a:spcAft>
        <a:defRPr sz="3000" b="1">
          <a:solidFill>
            <a:schemeClr val="tx1"/>
          </a:solidFill>
          <a:latin typeface="Arial" charset="0"/>
          <a:cs typeface="Arial" charset="0"/>
        </a:defRPr>
      </a:lvl8pPr>
      <a:lvl9pPr marL="1371600" algn="l" rtl="0" fontAlgn="base">
        <a:spcBef>
          <a:spcPct val="0"/>
        </a:spcBef>
        <a:spcAft>
          <a:spcPct val="0"/>
        </a:spcAft>
        <a:defRPr sz="3000" b="1">
          <a:solidFill>
            <a:schemeClr val="tx1"/>
          </a:solidFill>
          <a:latin typeface="Arial" charset="0"/>
          <a:cs typeface="Arial" charset="0"/>
        </a:defRPr>
      </a:lvl9pPr>
    </p:titleStyle>
    <p:bodyStyle>
      <a:lvl1pPr marL="257175" indent="-257175" algn="l" rtl="0" fontAlgn="base">
        <a:spcBef>
          <a:spcPct val="20000"/>
        </a:spcBef>
        <a:spcAft>
          <a:spcPct val="0"/>
        </a:spcAft>
        <a:buFont typeface="Arial" charset="0"/>
        <a:buChar char="•"/>
        <a:defRPr sz="2400" kern="1200">
          <a:solidFill>
            <a:schemeClr val="tx1"/>
          </a:solidFill>
          <a:latin typeface="Arial" pitchFamily="34" charset="0"/>
          <a:ea typeface="+mn-ea"/>
          <a:cs typeface="Arial" pitchFamily="34" charset="0"/>
        </a:defRPr>
      </a:lvl1pPr>
      <a:lvl2pPr marL="557213" indent="-214313" algn="l" rtl="0" fontAlgn="base">
        <a:spcBef>
          <a:spcPct val="20000"/>
        </a:spcBef>
        <a:spcAft>
          <a:spcPct val="0"/>
        </a:spcAft>
        <a:buFont typeface="Arial" charset="0"/>
        <a:buChar char="–"/>
        <a:defRPr sz="2100" kern="1200">
          <a:solidFill>
            <a:schemeClr val="tx1"/>
          </a:solidFill>
          <a:latin typeface="Arial" pitchFamily="34" charset="0"/>
          <a:ea typeface="+mn-ea"/>
          <a:cs typeface="Arial" pitchFamily="34" charset="0"/>
        </a:defRPr>
      </a:lvl2pPr>
      <a:lvl3pPr marL="857250" indent="-171450" algn="l" rtl="0" fontAlgn="base">
        <a:spcBef>
          <a:spcPct val="20000"/>
        </a:spcBef>
        <a:spcAft>
          <a:spcPct val="0"/>
        </a:spcAft>
        <a:buFont typeface="Arial" charset="0"/>
        <a:buChar char="•"/>
        <a:defRPr sz="1800" kern="1200">
          <a:solidFill>
            <a:schemeClr val="tx1"/>
          </a:solidFill>
          <a:latin typeface="Arial" pitchFamily="34" charset="0"/>
          <a:ea typeface="+mn-ea"/>
          <a:cs typeface="Arial" pitchFamily="34" charset="0"/>
        </a:defRPr>
      </a:lvl3pPr>
      <a:lvl4pPr marL="1200150" indent="-171450" algn="l" rtl="0" fontAlgn="base">
        <a:spcBef>
          <a:spcPct val="20000"/>
        </a:spcBef>
        <a:spcAft>
          <a:spcPct val="0"/>
        </a:spcAft>
        <a:buFont typeface="Arial" charset="0"/>
        <a:buChar char="–"/>
        <a:defRPr sz="1500" kern="1200">
          <a:solidFill>
            <a:schemeClr val="tx1"/>
          </a:solidFill>
          <a:latin typeface="Arial" pitchFamily="34" charset="0"/>
          <a:ea typeface="+mn-ea"/>
          <a:cs typeface="Arial" pitchFamily="34" charset="0"/>
        </a:defRPr>
      </a:lvl4pPr>
      <a:lvl5pPr marL="1543050" indent="-171450" algn="l" rtl="0" fontAlgn="base">
        <a:spcBef>
          <a:spcPct val="20000"/>
        </a:spcBef>
        <a:spcAft>
          <a:spcPct val="0"/>
        </a:spcAft>
        <a:buFont typeface="Arial" charset="0"/>
        <a:buChar char="»"/>
        <a:defRPr sz="1500" kern="1200">
          <a:solidFill>
            <a:schemeClr val="tx1"/>
          </a:solidFill>
          <a:latin typeface="Arial" pitchFamily="34" charset="0"/>
          <a:ea typeface="+mn-ea"/>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4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2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30.xml.rels><?xml version="1.0" encoding="UTF-8" standalone="yes"?>
<Relationships xmlns="http://schemas.openxmlformats.org/package/2006/relationships"><Relationship Id="rId3" Type="http://schemas.openxmlformats.org/officeDocument/2006/relationships/image" Target="../media/image810.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2.png"/></Relationships>
</file>

<file path=ppt/slides/_rels/slide31.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80.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86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4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40.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52.png"/><Relationship Id="rId4" Type="http://schemas.openxmlformats.org/officeDocument/2006/relationships/image" Target="../media/image5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54.jp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4.jp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57.jpg"/><Relationship Id="rId5" Type="http://schemas.openxmlformats.org/officeDocument/2006/relationships/image" Target="../media/image56.jpg"/><Relationship Id="rId4" Type="http://schemas.openxmlformats.org/officeDocument/2006/relationships/image" Target="../media/image55.jpg"/></Relationships>
</file>

<file path=ppt/slides/_rels/slide4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8.png"/><Relationship Id="rId1" Type="http://schemas.openxmlformats.org/officeDocument/2006/relationships/slideLayout" Target="../slideLayouts/slideLayout2.xml"/><Relationship Id="rId6" Type="http://schemas.openxmlformats.org/officeDocument/2006/relationships/image" Target="../media/image100.png"/><Relationship Id="rId5" Type="http://schemas.openxmlformats.org/officeDocument/2006/relationships/image" Target="../media/image99.png"/><Relationship Id="rId4" Type="http://schemas.openxmlformats.org/officeDocument/2006/relationships/image" Target="../media/image54.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914650" y="3714750"/>
            <a:ext cx="4629150" cy="1143000"/>
          </a:xfrm>
        </p:spPr>
        <p:txBody>
          <a:bodyPr/>
          <a:lstStyle/>
          <a:p>
            <a:pPr fontAlgn="auto">
              <a:spcAft>
                <a:spcPts val="0"/>
              </a:spcAft>
              <a:defRPr/>
            </a:pP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Deep Neural Network</a:t>
            </a:r>
          </a:p>
        </p:txBody>
      </p:sp>
      <p:sp>
        <p:nvSpPr>
          <p:cNvPr id="3" name="Content Placeholder 2">
            <a:extLst>
              <a:ext uri="{FF2B5EF4-FFF2-40B4-BE49-F238E27FC236}">
                <a16:creationId xmlns:a16="http://schemas.microsoft.com/office/drawing/2014/main" id="{47010D74-25B0-A4E6-FA3D-C13CFD5ECF6B}"/>
              </a:ext>
            </a:extLst>
          </p:cNvPr>
          <p:cNvSpPr>
            <a:spLocks noGrp="1"/>
          </p:cNvSpPr>
          <p:nvPr>
            <p:ph sz="quarter" idx="13"/>
          </p:nvPr>
        </p:nvSpPr>
        <p:spPr/>
        <p:txBody>
          <a:bodyPr/>
          <a:lstStyle/>
          <a:p>
            <a:endParaRPr lang="en-US"/>
          </a:p>
        </p:txBody>
      </p:sp>
    </p:spTree>
    <p:extLst>
      <p:ext uri="{BB962C8B-B14F-4D97-AF65-F5344CB8AC3E}">
        <p14:creationId xmlns:p14="http://schemas.microsoft.com/office/powerpoint/2010/main" val="3645932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914400" y="443478"/>
            <a:ext cx="5944791" cy="507831"/>
          </a:xfrm>
          <a:prstGeom prst="rect">
            <a:avLst/>
          </a:prstGeom>
          <a:noFill/>
          <a:ln w="9525">
            <a:noFill/>
            <a:miter lim="800000"/>
            <a:headEnd/>
            <a:tailEnd/>
          </a:ln>
          <a:effectLst/>
        </p:spPr>
        <p:txBody>
          <a:bodyPr wrap="square">
            <a:spAutoFit/>
          </a:bodyPr>
          <a:lstStyle/>
          <a:p>
            <a:r>
              <a:rPr lang="en-US" sz="2700" b="0" dirty="0">
                <a:latin typeface="Cambria" panose="02040503050406030204" pitchFamily="18" charset="0"/>
                <a:ea typeface="Cambria" panose="02040503050406030204" pitchFamily="18" charset="0"/>
                <a:cs typeface="+mn-cs"/>
              </a:rPr>
              <a:t>Deep Neural Network</a:t>
            </a:r>
            <a:endParaRPr sz="2700" b="0" dirty="0">
              <a:latin typeface="Cambria" panose="02040503050406030204" pitchFamily="18" charset="0"/>
              <a:ea typeface="Cambria" panose="02040503050406030204" pitchFamily="18" charset="0"/>
              <a:cs typeface="+mn-cs"/>
            </a:endParaRPr>
          </a:p>
        </p:txBody>
      </p:sp>
      <p:sp>
        <p:nvSpPr>
          <p:cNvPr id="3" name="object 3"/>
          <p:cNvSpPr txBox="1"/>
          <p:nvPr/>
        </p:nvSpPr>
        <p:spPr>
          <a:xfrm>
            <a:off x="1234786" y="4133140"/>
            <a:ext cx="6777644" cy="848137"/>
          </a:xfrm>
          <a:prstGeom prst="rect">
            <a:avLst/>
          </a:prstGeom>
        </p:spPr>
        <p:txBody>
          <a:bodyPr vert="horz" wrap="square" lIns="0" tIns="24595" rIns="0" bIns="0" rtlCol="0">
            <a:spAutoFit/>
          </a:bodyPr>
          <a:lstStyle/>
          <a:p>
            <a:pPr marL="99961" marR="29325" indent="-93969" algn="l" rtl="0" fontAlgn="base">
              <a:lnSpc>
                <a:spcPts val="1153"/>
              </a:lnSpc>
              <a:spcBef>
                <a:spcPts val="194"/>
              </a:spcBef>
              <a:spcAft>
                <a:spcPct val="0"/>
              </a:spcAft>
              <a:buFont typeface="Arial MT"/>
              <a:buChar char="•"/>
              <a:tabLst>
                <a:tab pos="100276" algn="l"/>
              </a:tabLst>
            </a:pPr>
            <a:r>
              <a:rPr sz="1200" kern="1200" spc="-2" dirty="0">
                <a:solidFill>
                  <a:prstClr val="black"/>
                </a:solidFill>
                <a:latin typeface="Cambria" panose="02040503050406030204" pitchFamily="18" charset="0"/>
                <a:ea typeface="Cambria" panose="02040503050406030204" pitchFamily="18" charset="0"/>
                <a:cs typeface="Calibri"/>
              </a:rPr>
              <a:t>The </a:t>
            </a:r>
            <a:r>
              <a:rPr sz="1200" kern="1200" spc="-8" dirty="0">
                <a:solidFill>
                  <a:prstClr val="black"/>
                </a:solidFill>
                <a:latin typeface="Cambria" panose="02040503050406030204" pitchFamily="18" charset="0"/>
                <a:ea typeface="Cambria" panose="02040503050406030204" pitchFamily="18" charset="0"/>
                <a:cs typeface="Calibri"/>
              </a:rPr>
              <a:t>content </a:t>
            </a:r>
            <a:r>
              <a:rPr sz="1200" kern="1200" spc="-10" dirty="0">
                <a:solidFill>
                  <a:prstClr val="black"/>
                </a:solidFill>
                <a:latin typeface="Cambria" panose="02040503050406030204" pitchFamily="18" charset="0"/>
                <a:ea typeface="Cambria" panose="02040503050406030204" pitchFamily="18" charset="0"/>
                <a:cs typeface="Calibri"/>
              </a:rPr>
              <a:t>for </a:t>
            </a:r>
            <a:r>
              <a:rPr sz="1200" kern="1200" spc="-2" dirty="0">
                <a:solidFill>
                  <a:prstClr val="black"/>
                </a:solidFill>
                <a:latin typeface="Cambria" panose="02040503050406030204" pitchFamily="18" charset="0"/>
                <a:ea typeface="Cambria" panose="02040503050406030204" pitchFamily="18" charset="0"/>
                <a:cs typeface="Calibri"/>
              </a:rPr>
              <a:t>these slides has been </a:t>
            </a:r>
            <a:r>
              <a:rPr sz="1200" kern="1200" spc="-5" dirty="0">
                <a:solidFill>
                  <a:prstClr val="black"/>
                </a:solidFill>
                <a:latin typeface="Cambria" panose="02040503050406030204" pitchFamily="18" charset="0"/>
                <a:ea typeface="Cambria" panose="02040503050406030204" pitchFamily="18" charset="0"/>
                <a:cs typeface="Calibri"/>
              </a:rPr>
              <a:t>obtained </a:t>
            </a:r>
            <a:r>
              <a:rPr sz="1200" kern="1200" spc="-8" dirty="0">
                <a:solidFill>
                  <a:prstClr val="black"/>
                </a:solidFill>
                <a:latin typeface="Cambria" panose="02040503050406030204" pitchFamily="18" charset="0"/>
                <a:ea typeface="Cambria" panose="02040503050406030204" pitchFamily="18" charset="0"/>
                <a:cs typeface="Calibri"/>
              </a:rPr>
              <a:t>from </a:t>
            </a:r>
            <a:r>
              <a:rPr sz="1200" kern="1200" spc="-5" dirty="0">
                <a:solidFill>
                  <a:prstClr val="black"/>
                </a:solidFill>
                <a:latin typeface="Cambria" panose="02040503050406030204" pitchFamily="18" charset="0"/>
                <a:ea typeface="Cambria" panose="02040503050406030204" pitchFamily="18" charset="0"/>
                <a:cs typeface="Calibri"/>
              </a:rPr>
              <a:t>books </a:t>
            </a:r>
            <a:r>
              <a:rPr sz="1200" kern="1200" spc="-2" dirty="0">
                <a:solidFill>
                  <a:prstClr val="black"/>
                </a:solidFill>
                <a:latin typeface="Cambria" panose="02040503050406030204" pitchFamily="18" charset="0"/>
                <a:ea typeface="Cambria" panose="02040503050406030204" pitchFamily="18" charset="0"/>
                <a:cs typeface="Calibri"/>
              </a:rPr>
              <a:t>and </a:t>
            </a:r>
            <a:r>
              <a:rPr sz="1200" kern="1200" spc="-5" dirty="0">
                <a:solidFill>
                  <a:prstClr val="black"/>
                </a:solidFill>
                <a:latin typeface="Cambria" panose="02040503050406030204" pitchFamily="18" charset="0"/>
                <a:ea typeface="Cambria" panose="02040503050406030204" pitchFamily="18" charset="0"/>
                <a:cs typeface="Calibri"/>
              </a:rPr>
              <a:t>various other </a:t>
            </a:r>
            <a:r>
              <a:rPr sz="1200" kern="1200" spc="-236" dirty="0">
                <a:solidFill>
                  <a:prstClr val="black"/>
                </a:solidFill>
                <a:latin typeface="Cambria" panose="02040503050406030204" pitchFamily="18" charset="0"/>
                <a:ea typeface="Cambria" panose="02040503050406030204" pitchFamily="18" charset="0"/>
                <a:cs typeface="Calibri"/>
              </a:rPr>
              <a:t> </a:t>
            </a:r>
            <a:r>
              <a:rPr sz="1200" kern="1200" spc="-5" dirty="0">
                <a:solidFill>
                  <a:prstClr val="black"/>
                </a:solidFill>
                <a:latin typeface="Cambria" panose="02040503050406030204" pitchFamily="18" charset="0"/>
                <a:ea typeface="Cambria" panose="02040503050406030204" pitchFamily="18" charset="0"/>
                <a:cs typeface="Calibri"/>
              </a:rPr>
              <a:t>source</a:t>
            </a:r>
            <a:r>
              <a:rPr sz="1200" kern="1200" spc="-10" dirty="0">
                <a:solidFill>
                  <a:prstClr val="black"/>
                </a:solidFill>
                <a:latin typeface="Cambria" panose="02040503050406030204" pitchFamily="18" charset="0"/>
                <a:ea typeface="Cambria" panose="02040503050406030204" pitchFamily="18" charset="0"/>
                <a:cs typeface="Calibri"/>
              </a:rPr>
              <a:t> </a:t>
            </a:r>
            <a:r>
              <a:rPr sz="1200" kern="1200" spc="-2" dirty="0">
                <a:solidFill>
                  <a:prstClr val="black"/>
                </a:solidFill>
                <a:latin typeface="Cambria" panose="02040503050406030204" pitchFamily="18" charset="0"/>
                <a:ea typeface="Cambria" panose="02040503050406030204" pitchFamily="18" charset="0"/>
                <a:cs typeface="Calibri"/>
              </a:rPr>
              <a:t>on the </a:t>
            </a:r>
            <a:r>
              <a:rPr sz="1200" kern="1200" spc="-8" dirty="0">
                <a:solidFill>
                  <a:prstClr val="black"/>
                </a:solidFill>
                <a:latin typeface="Cambria" panose="02040503050406030204" pitchFamily="18" charset="0"/>
                <a:ea typeface="Cambria" panose="02040503050406030204" pitchFamily="18" charset="0"/>
                <a:cs typeface="Calibri"/>
              </a:rPr>
              <a:t>Internet</a:t>
            </a:r>
            <a:endParaRPr sz="1200" kern="1200" dirty="0">
              <a:solidFill>
                <a:prstClr val="black"/>
              </a:solidFill>
              <a:latin typeface="Cambria" panose="02040503050406030204" pitchFamily="18" charset="0"/>
              <a:ea typeface="Cambria" panose="02040503050406030204" pitchFamily="18" charset="0"/>
              <a:cs typeface="Calibri"/>
            </a:endParaRPr>
          </a:p>
          <a:p>
            <a:pPr marL="99961" indent="-93969" algn="l" rtl="0" fontAlgn="base">
              <a:spcBef>
                <a:spcPts val="258"/>
              </a:spcBef>
              <a:spcAft>
                <a:spcPct val="0"/>
              </a:spcAft>
              <a:buFont typeface="Arial MT"/>
              <a:buChar char="•"/>
              <a:tabLst>
                <a:tab pos="100276" algn="l"/>
              </a:tabLst>
            </a:pPr>
            <a:r>
              <a:rPr sz="1200" kern="1200" spc="-2" dirty="0">
                <a:solidFill>
                  <a:prstClr val="black"/>
                </a:solidFill>
                <a:latin typeface="Cambria" panose="02040503050406030204" pitchFamily="18" charset="0"/>
                <a:ea typeface="Cambria" panose="02040503050406030204" pitchFamily="18" charset="0"/>
                <a:cs typeface="Calibri"/>
              </a:rPr>
              <a:t>I</a:t>
            </a:r>
            <a:r>
              <a:rPr sz="1200" kern="1200" dirty="0">
                <a:solidFill>
                  <a:prstClr val="black"/>
                </a:solidFill>
                <a:latin typeface="Cambria" panose="02040503050406030204" pitchFamily="18" charset="0"/>
                <a:ea typeface="Cambria" panose="02040503050406030204" pitchFamily="18" charset="0"/>
                <a:cs typeface="Calibri"/>
              </a:rPr>
              <a:t> </a:t>
            </a:r>
            <a:r>
              <a:rPr sz="1200" kern="1200" spc="-8" dirty="0">
                <a:solidFill>
                  <a:prstClr val="black"/>
                </a:solidFill>
                <a:latin typeface="Cambria" panose="02040503050406030204" pitchFamily="18" charset="0"/>
                <a:ea typeface="Cambria" panose="02040503050406030204" pitchFamily="18" charset="0"/>
                <a:cs typeface="Calibri"/>
              </a:rPr>
              <a:t>here</a:t>
            </a:r>
            <a:r>
              <a:rPr sz="1200" kern="1200" dirty="0">
                <a:solidFill>
                  <a:prstClr val="black"/>
                </a:solidFill>
                <a:latin typeface="Cambria" panose="02040503050406030204" pitchFamily="18" charset="0"/>
                <a:ea typeface="Cambria" panose="02040503050406030204" pitchFamily="18" charset="0"/>
                <a:cs typeface="Calibri"/>
              </a:rPr>
              <a:t> </a:t>
            </a:r>
            <a:r>
              <a:rPr sz="1200" kern="1200" spc="-5" dirty="0">
                <a:solidFill>
                  <a:prstClr val="black"/>
                </a:solidFill>
                <a:latin typeface="Cambria" panose="02040503050406030204" pitchFamily="18" charset="0"/>
                <a:ea typeface="Cambria" panose="02040503050406030204" pitchFamily="18" charset="0"/>
                <a:cs typeface="Calibri"/>
              </a:rPr>
              <a:t>by</a:t>
            </a:r>
            <a:r>
              <a:rPr sz="1200" kern="1200" spc="2" dirty="0">
                <a:solidFill>
                  <a:prstClr val="black"/>
                </a:solidFill>
                <a:latin typeface="Cambria" panose="02040503050406030204" pitchFamily="18" charset="0"/>
                <a:ea typeface="Cambria" panose="02040503050406030204" pitchFamily="18" charset="0"/>
                <a:cs typeface="Calibri"/>
              </a:rPr>
              <a:t> </a:t>
            </a:r>
            <a:r>
              <a:rPr sz="1200" kern="1200" spc="-5" dirty="0">
                <a:solidFill>
                  <a:prstClr val="black"/>
                </a:solidFill>
                <a:latin typeface="Cambria" panose="02040503050406030204" pitchFamily="18" charset="0"/>
                <a:ea typeface="Cambria" panose="02040503050406030204" pitchFamily="18" charset="0"/>
                <a:cs typeface="Calibri"/>
              </a:rPr>
              <a:t>acknowledge</a:t>
            </a:r>
            <a:r>
              <a:rPr sz="1200" kern="1200" dirty="0">
                <a:solidFill>
                  <a:prstClr val="black"/>
                </a:solidFill>
                <a:latin typeface="Cambria" panose="02040503050406030204" pitchFamily="18" charset="0"/>
                <a:ea typeface="Cambria" panose="02040503050406030204" pitchFamily="18" charset="0"/>
                <a:cs typeface="Calibri"/>
              </a:rPr>
              <a:t> </a:t>
            </a:r>
            <a:r>
              <a:rPr sz="1200" kern="1200" spc="-2" dirty="0">
                <a:solidFill>
                  <a:prstClr val="black"/>
                </a:solidFill>
                <a:latin typeface="Cambria" panose="02040503050406030204" pitchFamily="18" charset="0"/>
                <a:ea typeface="Cambria" panose="02040503050406030204" pitchFamily="18" charset="0"/>
                <a:cs typeface="Calibri"/>
              </a:rPr>
              <a:t>all</a:t>
            </a:r>
            <a:r>
              <a:rPr sz="1200" kern="1200" dirty="0">
                <a:solidFill>
                  <a:prstClr val="black"/>
                </a:solidFill>
                <a:latin typeface="Cambria" panose="02040503050406030204" pitchFamily="18" charset="0"/>
                <a:ea typeface="Cambria" panose="02040503050406030204" pitchFamily="18" charset="0"/>
                <a:cs typeface="Calibri"/>
              </a:rPr>
              <a:t> </a:t>
            </a:r>
            <a:r>
              <a:rPr sz="1200" kern="1200" spc="-2" dirty="0">
                <a:solidFill>
                  <a:prstClr val="black"/>
                </a:solidFill>
                <a:latin typeface="Cambria" panose="02040503050406030204" pitchFamily="18" charset="0"/>
                <a:ea typeface="Cambria" panose="02040503050406030204" pitchFamily="18" charset="0"/>
                <a:cs typeface="Calibri"/>
              </a:rPr>
              <a:t>the</a:t>
            </a:r>
            <a:r>
              <a:rPr sz="1200" kern="1200" spc="2" dirty="0">
                <a:solidFill>
                  <a:prstClr val="black"/>
                </a:solidFill>
                <a:latin typeface="Cambria" panose="02040503050406030204" pitchFamily="18" charset="0"/>
                <a:ea typeface="Cambria" panose="02040503050406030204" pitchFamily="18" charset="0"/>
                <a:cs typeface="Calibri"/>
              </a:rPr>
              <a:t> </a:t>
            </a:r>
            <a:r>
              <a:rPr sz="1200" kern="1200" spc="-8" dirty="0">
                <a:solidFill>
                  <a:prstClr val="black"/>
                </a:solidFill>
                <a:latin typeface="Cambria" panose="02040503050406030204" pitchFamily="18" charset="0"/>
                <a:ea typeface="Cambria" panose="02040503050406030204" pitchFamily="18" charset="0"/>
                <a:cs typeface="Calibri"/>
              </a:rPr>
              <a:t>contributors</a:t>
            </a:r>
            <a:r>
              <a:rPr sz="1200" kern="1200" dirty="0">
                <a:solidFill>
                  <a:prstClr val="black"/>
                </a:solidFill>
                <a:latin typeface="Cambria" panose="02040503050406030204" pitchFamily="18" charset="0"/>
                <a:ea typeface="Cambria" panose="02040503050406030204" pitchFamily="18" charset="0"/>
                <a:cs typeface="Calibri"/>
              </a:rPr>
              <a:t> </a:t>
            </a:r>
            <a:r>
              <a:rPr sz="1200" kern="1200" spc="-10" dirty="0">
                <a:solidFill>
                  <a:prstClr val="black"/>
                </a:solidFill>
                <a:latin typeface="Cambria" panose="02040503050406030204" pitchFamily="18" charset="0"/>
                <a:ea typeface="Cambria" panose="02040503050406030204" pitchFamily="18" charset="0"/>
                <a:cs typeface="Calibri"/>
              </a:rPr>
              <a:t>for</a:t>
            </a:r>
            <a:r>
              <a:rPr sz="1200" kern="1200" dirty="0">
                <a:solidFill>
                  <a:prstClr val="black"/>
                </a:solidFill>
                <a:latin typeface="Cambria" panose="02040503050406030204" pitchFamily="18" charset="0"/>
                <a:ea typeface="Cambria" panose="02040503050406030204" pitchFamily="18" charset="0"/>
                <a:cs typeface="Calibri"/>
              </a:rPr>
              <a:t> </a:t>
            </a:r>
            <a:r>
              <a:rPr sz="1200" kern="1200" spc="-2" dirty="0">
                <a:solidFill>
                  <a:prstClr val="black"/>
                </a:solidFill>
                <a:latin typeface="Cambria" panose="02040503050406030204" pitchFamily="18" charset="0"/>
                <a:ea typeface="Cambria" panose="02040503050406030204" pitchFamily="18" charset="0"/>
                <a:cs typeface="Calibri"/>
              </a:rPr>
              <a:t>their</a:t>
            </a:r>
            <a:r>
              <a:rPr sz="1200" kern="1200" dirty="0">
                <a:solidFill>
                  <a:prstClr val="black"/>
                </a:solidFill>
                <a:latin typeface="Cambria" panose="02040503050406030204" pitchFamily="18" charset="0"/>
                <a:ea typeface="Cambria" panose="02040503050406030204" pitchFamily="18" charset="0"/>
                <a:cs typeface="Calibri"/>
              </a:rPr>
              <a:t> </a:t>
            </a:r>
            <a:r>
              <a:rPr sz="1200" kern="1200" spc="-5" dirty="0">
                <a:solidFill>
                  <a:prstClr val="black"/>
                </a:solidFill>
                <a:latin typeface="Cambria" panose="02040503050406030204" pitchFamily="18" charset="0"/>
                <a:ea typeface="Cambria" panose="02040503050406030204" pitchFamily="18" charset="0"/>
                <a:cs typeface="Calibri"/>
              </a:rPr>
              <a:t>material</a:t>
            </a:r>
            <a:r>
              <a:rPr sz="1200" kern="1200" dirty="0">
                <a:solidFill>
                  <a:prstClr val="black"/>
                </a:solidFill>
                <a:latin typeface="Cambria" panose="02040503050406030204" pitchFamily="18" charset="0"/>
                <a:ea typeface="Cambria" panose="02040503050406030204" pitchFamily="18" charset="0"/>
                <a:cs typeface="Calibri"/>
              </a:rPr>
              <a:t> </a:t>
            </a:r>
            <a:r>
              <a:rPr sz="1200" kern="1200" spc="-2" dirty="0">
                <a:solidFill>
                  <a:prstClr val="black"/>
                </a:solidFill>
                <a:latin typeface="Cambria" panose="02040503050406030204" pitchFamily="18" charset="0"/>
                <a:ea typeface="Cambria" panose="02040503050406030204" pitchFamily="18" charset="0"/>
                <a:cs typeface="Calibri"/>
              </a:rPr>
              <a:t>and</a:t>
            </a:r>
            <a:r>
              <a:rPr sz="1200" kern="1200" spc="2" dirty="0">
                <a:solidFill>
                  <a:prstClr val="black"/>
                </a:solidFill>
                <a:latin typeface="Cambria" panose="02040503050406030204" pitchFamily="18" charset="0"/>
                <a:ea typeface="Cambria" panose="02040503050406030204" pitchFamily="18" charset="0"/>
                <a:cs typeface="Calibri"/>
              </a:rPr>
              <a:t> </a:t>
            </a:r>
            <a:r>
              <a:rPr sz="1200" kern="1200" spc="-5" dirty="0">
                <a:solidFill>
                  <a:prstClr val="black"/>
                </a:solidFill>
                <a:latin typeface="Cambria" panose="02040503050406030204" pitchFamily="18" charset="0"/>
                <a:ea typeface="Cambria" panose="02040503050406030204" pitchFamily="18" charset="0"/>
                <a:cs typeface="Calibri"/>
              </a:rPr>
              <a:t>inputs.</a:t>
            </a:r>
            <a:endParaRPr sz="1200" kern="1200" dirty="0">
              <a:solidFill>
                <a:prstClr val="black"/>
              </a:solidFill>
              <a:latin typeface="Cambria" panose="02040503050406030204" pitchFamily="18" charset="0"/>
              <a:ea typeface="Cambria" panose="02040503050406030204" pitchFamily="18" charset="0"/>
              <a:cs typeface="Calibri"/>
            </a:endParaRPr>
          </a:p>
          <a:p>
            <a:pPr marL="99961" indent="-93969" algn="l" rtl="0" fontAlgn="base">
              <a:spcBef>
                <a:spcPts val="281"/>
              </a:spcBef>
              <a:spcAft>
                <a:spcPct val="0"/>
              </a:spcAft>
              <a:buFont typeface="Arial MT"/>
              <a:buChar char="•"/>
              <a:tabLst>
                <a:tab pos="100276" algn="l"/>
              </a:tabLst>
            </a:pPr>
            <a:r>
              <a:rPr sz="1200" kern="1200" spc="-2" dirty="0">
                <a:solidFill>
                  <a:prstClr val="black"/>
                </a:solidFill>
                <a:latin typeface="Cambria" panose="02040503050406030204" pitchFamily="18" charset="0"/>
                <a:ea typeface="Cambria" panose="02040503050406030204" pitchFamily="18" charset="0"/>
                <a:cs typeface="Calibri"/>
              </a:rPr>
              <a:t>I </a:t>
            </a:r>
            <a:r>
              <a:rPr sz="1200" kern="1200" spc="-10" dirty="0">
                <a:solidFill>
                  <a:prstClr val="black"/>
                </a:solidFill>
                <a:latin typeface="Cambria" panose="02040503050406030204" pitchFamily="18" charset="0"/>
                <a:ea typeface="Cambria" panose="02040503050406030204" pitchFamily="18" charset="0"/>
                <a:cs typeface="Calibri"/>
              </a:rPr>
              <a:t>have</a:t>
            </a:r>
            <a:r>
              <a:rPr sz="1200" kern="1200" spc="-2" dirty="0">
                <a:solidFill>
                  <a:prstClr val="black"/>
                </a:solidFill>
                <a:latin typeface="Cambria" panose="02040503050406030204" pitchFamily="18" charset="0"/>
                <a:ea typeface="Cambria" panose="02040503050406030204" pitchFamily="18" charset="0"/>
                <a:cs typeface="Calibri"/>
              </a:rPr>
              <a:t> </a:t>
            </a:r>
            <a:r>
              <a:rPr sz="1200" kern="1200" spc="-5" dirty="0">
                <a:solidFill>
                  <a:prstClr val="black"/>
                </a:solidFill>
                <a:latin typeface="Cambria" panose="02040503050406030204" pitchFamily="18" charset="0"/>
                <a:ea typeface="Cambria" panose="02040503050406030204" pitchFamily="18" charset="0"/>
                <a:cs typeface="Calibri"/>
              </a:rPr>
              <a:t>provided</a:t>
            </a:r>
            <a:r>
              <a:rPr sz="1200" kern="1200" spc="-8" dirty="0">
                <a:solidFill>
                  <a:prstClr val="black"/>
                </a:solidFill>
                <a:latin typeface="Cambria" panose="02040503050406030204" pitchFamily="18" charset="0"/>
                <a:ea typeface="Cambria" panose="02040503050406030204" pitchFamily="18" charset="0"/>
                <a:cs typeface="Calibri"/>
              </a:rPr>
              <a:t> </a:t>
            </a:r>
            <a:r>
              <a:rPr sz="1200" kern="1200" spc="-5" dirty="0">
                <a:solidFill>
                  <a:prstClr val="black"/>
                </a:solidFill>
                <a:latin typeface="Cambria" panose="02040503050406030204" pitchFamily="18" charset="0"/>
                <a:ea typeface="Cambria" panose="02040503050406030204" pitchFamily="18" charset="0"/>
                <a:cs typeface="Calibri"/>
              </a:rPr>
              <a:t>source</a:t>
            </a:r>
            <a:r>
              <a:rPr sz="1200" kern="1200" spc="-8" dirty="0">
                <a:solidFill>
                  <a:prstClr val="black"/>
                </a:solidFill>
                <a:latin typeface="Cambria" panose="02040503050406030204" pitchFamily="18" charset="0"/>
                <a:ea typeface="Cambria" panose="02040503050406030204" pitchFamily="18" charset="0"/>
                <a:cs typeface="Calibri"/>
              </a:rPr>
              <a:t> information</a:t>
            </a:r>
            <a:r>
              <a:rPr sz="1200" kern="1200" spc="-2" dirty="0">
                <a:solidFill>
                  <a:prstClr val="black"/>
                </a:solidFill>
                <a:latin typeface="Cambria" panose="02040503050406030204" pitchFamily="18" charset="0"/>
                <a:ea typeface="Cambria" panose="02040503050406030204" pitchFamily="18" charset="0"/>
                <a:cs typeface="Calibri"/>
              </a:rPr>
              <a:t> </a:t>
            </a:r>
            <a:r>
              <a:rPr sz="1200" kern="1200" spc="-8" dirty="0">
                <a:solidFill>
                  <a:prstClr val="black"/>
                </a:solidFill>
                <a:latin typeface="Cambria" panose="02040503050406030204" pitchFamily="18" charset="0"/>
                <a:ea typeface="Cambria" panose="02040503050406030204" pitchFamily="18" charset="0"/>
                <a:cs typeface="Calibri"/>
              </a:rPr>
              <a:t>wherever </a:t>
            </a:r>
            <a:r>
              <a:rPr sz="1200" kern="1200" spc="-2" dirty="0">
                <a:solidFill>
                  <a:prstClr val="black"/>
                </a:solidFill>
                <a:latin typeface="Cambria" panose="02040503050406030204" pitchFamily="18" charset="0"/>
                <a:ea typeface="Cambria" panose="02040503050406030204" pitchFamily="18" charset="0"/>
                <a:cs typeface="Calibri"/>
              </a:rPr>
              <a:t>necessary</a:t>
            </a:r>
            <a:endParaRPr sz="1200" kern="1200" dirty="0">
              <a:solidFill>
                <a:prstClr val="black"/>
              </a:solidFill>
              <a:latin typeface="Cambria" panose="02040503050406030204" pitchFamily="18" charset="0"/>
              <a:ea typeface="Cambria" panose="02040503050406030204" pitchFamily="18" charset="0"/>
              <a:cs typeface="Calibri"/>
            </a:endParaRPr>
          </a:p>
          <a:p>
            <a:pPr marL="99961" indent="-93969" algn="l" rtl="0" fontAlgn="base">
              <a:spcBef>
                <a:spcPts val="281"/>
              </a:spcBef>
              <a:spcAft>
                <a:spcPct val="0"/>
              </a:spcAft>
              <a:buFont typeface="Arial MT"/>
              <a:buChar char="•"/>
              <a:tabLst>
                <a:tab pos="100276" algn="l"/>
              </a:tabLst>
            </a:pPr>
            <a:r>
              <a:rPr sz="1200" kern="1200" spc="-2" dirty="0">
                <a:solidFill>
                  <a:prstClr val="black"/>
                </a:solidFill>
                <a:latin typeface="Cambria" panose="02040503050406030204" pitchFamily="18" charset="0"/>
                <a:ea typeface="Cambria" panose="02040503050406030204" pitchFamily="18" charset="0"/>
                <a:cs typeface="Calibri"/>
              </a:rPr>
              <a:t>I </a:t>
            </a:r>
            <a:r>
              <a:rPr sz="1200" kern="1200" spc="-10" dirty="0">
                <a:solidFill>
                  <a:prstClr val="black"/>
                </a:solidFill>
                <a:latin typeface="Cambria" panose="02040503050406030204" pitchFamily="18" charset="0"/>
                <a:ea typeface="Cambria" panose="02040503050406030204" pitchFamily="18" charset="0"/>
                <a:cs typeface="Calibri"/>
              </a:rPr>
              <a:t>have</a:t>
            </a:r>
            <a:r>
              <a:rPr sz="1200" kern="1200" spc="-2" dirty="0">
                <a:solidFill>
                  <a:prstClr val="black"/>
                </a:solidFill>
                <a:latin typeface="Cambria" panose="02040503050406030204" pitchFamily="18" charset="0"/>
                <a:ea typeface="Cambria" panose="02040503050406030204" pitchFamily="18" charset="0"/>
                <a:cs typeface="Calibri"/>
              </a:rPr>
              <a:t> added</a:t>
            </a:r>
            <a:r>
              <a:rPr sz="1200" kern="1200" spc="-8" dirty="0">
                <a:solidFill>
                  <a:prstClr val="black"/>
                </a:solidFill>
                <a:latin typeface="Cambria" panose="02040503050406030204" pitchFamily="18" charset="0"/>
                <a:ea typeface="Cambria" panose="02040503050406030204" pitchFamily="18" charset="0"/>
                <a:cs typeface="Calibri"/>
              </a:rPr>
              <a:t> </a:t>
            </a:r>
            <a:r>
              <a:rPr sz="1200" kern="1200" spc="-2" dirty="0">
                <a:solidFill>
                  <a:prstClr val="black"/>
                </a:solidFill>
                <a:latin typeface="Cambria" panose="02040503050406030204" pitchFamily="18" charset="0"/>
                <a:ea typeface="Cambria" panose="02040503050406030204" pitchFamily="18" charset="0"/>
                <a:cs typeface="Calibri"/>
              </a:rPr>
              <a:t>and </a:t>
            </a:r>
            <a:r>
              <a:rPr sz="1200" kern="1200" spc="-5" dirty="0">
                <a:solidFill>
                  <a:prstClr val="black"/>
                </a:solidFill>
                <a:latin typeface="Cambria" panose="02040503050406030204" pitchFamily="18" charset="0"/>
                <a:ea typeface="Cambria" panose="02040503050406030204" pitchFamily="18" charset="0"/>
                <a:cs typeface="Calibri"/>
              </a:rPr>
              <a:t>modified</a:t>
            </a:r>
            <a:r>
              <a:rPr sz="1200" kern="1200" spc="-8" dirty="0">
                <a:solidFill>
                  <a:prstClr val="black"/>
                </a:solidFill>
                <a:latin typeface="Cambria" panose="02040503050406030204" pitchFamily="18" charset="0"/>
                <a:ea typeface="Cambria" panose="02040503050406030204" pitchFamily="18" charset="0"/>
                <a:cs typeface="Calibri"/>
              </a:rPr>
              <a:t> </a:t>
            </a:r>
            <a:r>
              <a:rPr sz="1200" kern="1200" spc="-2" dirty="0">
                <a:solidFill>
                  <a:prstClr val="black"/>
                </a:solidFill>
                <a:latin typeface="Cambria" panose="02040503050406030204" pitchFamily="18" charset="0"/>
                <a:ea typeface="Cambria" panose="02040503050406030204" pitchFamily="18" charset="0"/>
                <a:cs typeface="Calibri"/>
              </a:rPr>
              <a:t>the</a:t>
            </a:r>
            <a:r>
              <a:rPr sz="1200" kern="1200" spc="-8" dirty="0">
                <a:solidFill>
                  <a:prstClr val="black"/>
                </a:solidFill>
                <a:latin typeface="Cambria" panose="02040503050406030204" pitchFamily="18" charset="0"/>
                <a:ea typeface="Cambria" panose="02040503050406030204" pitchFamily="18" charset="0"/>
                <a:cs typeface="Calibri"/>
              </a:rPr>
              <a:t> content to</a:t>
            </a:r>
            <a:r>
              <a:rPr sz="1200" kern="1200" spc="-2" dirty="0">
                <a:solidFill>
                  <a:prstClr val="black"/>
                </a:solidFill>
                <a:latin typeface="Cambria" panose="02040503050406030204" pitchFamily="18" charset="0"/>
                <a:ea typeface="Cambria" panose="02040503050406030204" pitchFamily="18" charset="0"/>
                <a:cs typeface="Calibri"/>
              </a:rPr>
              <a:t> suit the</a:t>
            </a:r>
            <a:r>
              <a:rPr sz="1200" kern="1200" spc="-8" dirty="0">
                <a:solidFill>
                  <a:prstClr val="black"/>
                </a:solidFill>
                <a:latin typeface="Cambria" panose="02040503050406030204" pitchFamily="18" charset="0"/>
                <a:ea typeface="Cambria" panose="02040503050406030204" pitchFamily="18" charset="0"/>
                <a:cs typeface="Calibri"/>
              </a:rPr>
              <a:t> </a:t>
            </a:r>
            <a:r>
              <a:rPr sz="1200" kern="1200" spc="-5" dirty="0">
                <a:solidFill>
                  <a:prstClr val="black"/>
                </a:solidFill>
                <a:latin typeface="Cambria" panose="02040503050406030204" pitchFamily="18" charset="0"/>
                <a:ea typeface="Cambria" panose="02040503050406030204" pitchFamily="18" charset="0"/>
                <a:cs typeface="Calibri"/>
              </a:rPr>
              <a:t>requirements</a:t>
            </a:r>
            <a:r>
              <a:rPr sz="1200" kern="1200" spc="-12" dirty="0">
                <a:solidFill>
                  <a:prstClr val="black"/>
                </a:solidFill>
                <a:latin typeface="Cambria" panose="02040503050406030204" pitchFamily="18" charset="0"/>
                <a:ea typeface="Cambria" panose="02040503050406030204" pitchFamily="18" charset="0"/>
                <a:cs typeface="Calibri"/>
              </a:rPr>
              <a:t> </a:t>
            </a:r>
            <a:r>
              <a:rPr sz="1200" kern="1200" spc="-2" dirty="0">
                <a:solidFill>
                  <a:prstClr val="black"/>
                </a:solidFill>
                <a:latin typeface="Cambria" panose="02040503050406030204" pitchFamily="18" charset="0"/>
                <a:ea typeface="Cambria" panose="02040503050406030204" pitchFamily="18" charset="0"/>
                <a:cs typeface="Calibri"/>
              </a:rPr>
              <a:t>of the</a:t>
            </a:r>
            <a:r>
              <a:rPr sz="1200" kern="1200" spc="-8" dirty="0">
                <a:solidFill>
                  <a:prstClr val="black"/>
                </a:solidFill>
                <a:latin typeface="Cambria" panose="02040503050406030204" pitchFamily="18" charset="0"/>
                <a:ea typeface="Cambria" panose="02040503050406030204" pitchFamily="18" charset="0"/>
                <a:cs typeface="Calibri"/>
              </a:rPr>
              <a:t> course</a:t>
            </a:r>
            <a:endParaRPr sz="1200" kern="1200" dirty="0">
              <a:solidFill>
                <a:prstClr val="black"/>
              </a:solidFill>
              <a:latin typeface="Cambria" panose="02040503050406030204" pitchFamily="18" charset="0"/>
              <a:ea typeface="Cambria" panose="02040503050406030204" pitchFamily="18" charset="0"/>
              <a:cs typeface="Calibri"/>
            </a:endParaRPr>
          </a:p>
        </p:txBody>
      </p:sp>
      <p:sp>
        <p:nvSpPr>
          <p:cNvPr id="4" name="object 4"/>
          <p:cNvSpPr txBox="1"/>
          <p:nvPr/>
        </p:nvSpPr>
        <p:spPr>
          <a:xfrm>
            <a:off x="2943389" y="2171701"/>
            <a:ext cx="4274196" cy="233216"/>
          </a:xfrm>
          <a:prstGeom prst="rect">
            <a:avLst/>
          </a:prstGeom>
        </p:spPr>
        <p:txBody>
          <a:bodyPr vert="horz" wrap="square" lIns="0" tIns="7568" rIns="0" bIns="0" rtlCol="0">
            <a:spAutoFit/>
          </a:bodyPr>
          <a:lstStyle/>
          <a:p>
            <a:pPr marL="6306" algn="l" rtl="0" fontAlgn="base">
              <a:spcBef>
                <a:spcPts val="59"/>
              </a:spcBef>
              <a:spcAft>
                <a:spcPct val="0"/>
              </a:spcAft>
            </a:pPr>
            <a:r>
              <a:rPr sz="1466" kern="1200" spc="-8" dirty="0">
                <a:solidFill>
                  <a:srgbClr val="1C1572"/>
                </a:solidFill>
                <a:latin typeface="Cambria" panose="02040503050406030204" pitchFamily="18" charset="0"/>
                <a:ea typeface="Cambria" panose="02040503050406030204" pitchFamily="18" charset="0"/>
                <a:cs typeface="Calibri Light"/>
              </a:rPr>
              <a:t>Disclaimer</a:t>
            </a:r>
            <a:r>
              <a:rPr sz="1466" kern="1200" spc="-35" dirty="0">
                <a:solidFill>
                  <a:srgbClr val="1C1572"/>
                </a:solidFill>
                <a:latin typeface="Cambria" panose="02040503050406030204" pitchFamily="18" charset="0"/>
                <a:ea typeface="Cambria" panose="02040503050406030204" pitchFamily="18" charset="0"/>
                <a:cs typeface="Calibri Light"/>
              </a:rPr>
              <a:t> </a:t>
            </a:r>
            <a:r>
              <a:rPr sz="1466" kern="1200" spc="-5" dirty="0">
                <a:solidFill>
                  <a:srgbClr val="1C1572"/>
                </a:solidFill>
                <a:latin typeface="Cambria" panose="02040503050406030204" pitchFamily="18" charset="0"/>
                <a:ea typeface="Cambria" panose="02040503050406030204" pitchFamily="18" charset="0"/>
                <a:cs typeface="Calibri Light"/>
              </a:rPr>
              <a:t>and</a:t>
            </a:r>
            <a:r>
              <a:rPr sz="1466" kern="1200" spc="-35" dirty="0">
                <a:solidFill>
                  <a:srgbClr val="1C1572"/>
                </a:solidFill>
                <a:latin typeface="Cambria" panose="02040503050406030204" pitchFamily="18" charset="0"/>
                <a:ea typeface="Cambria" panose="02040503050406030204" pitchFamily="18" charset="0"/>
                <a:cs typeface="Calibri Light"/>
              </a:rPr>
              <a:t> </a:t>
            </a:r>
            <a:r>
              <a:rPr sz="1466" kern="1200" spc="-12" dirty="0">
                <a:solidFill>
                  <a:srgbClr val="1C1572"/>
                </a:solidFill>
                <a:latin typeface="Cambria" panose="02040503050406030204" pitchFamily="18" charset="0"/>
                <a:ea typeface="Cambria" panose="02040503050406030204" pitchFamily="18" charset="0"/>
                <a:cs typeface="Calibri Light"/>
              </a:rPr>
              <a:t>Acknowledgement</a:t>
            </a:r>
            <a:endParaRPr sz="1466" kern="1200" dirty="0">
              <a:solidFill>
                <a:prstClr val="black"/>
              </a:solidFill>
              <a:latin typeface="Cambria" panose="02040503050406030204" pitchFamily="18" charset="0"/>
              <a:ea typeface="Cambria" panose="02040503050406030204" pitchFamily="18" charset="0"/>
              <a:cs typeface="Calibri Light"/>
            </a:endParaRPr>
          </a:p>
        </p:txBody>
      </p:sp>
      <p:pic>
        <p:nvPicPr>
          <p:cNvPr id="5" name="object 5"/>
          <p:cNvPicPr/>
          <p:nvPr/>
        </p:nvPicPr>
        <p:blipFill>
          <a:blip r:embed="rId2" cstate="print"/>
          <a:stretch>
            <a:fillRect/>
          </a:stretch>
        </p:blipFill>
        <p:spPr>
          <a:xfrm>
            <a:off x="3756597" y="2823275"/>
            <a:ext cx="815403" cy="891476"/>
          </a:xfrm>
          <a:prstGeom prst="rect">
            <a:avLst/>
          </a:prstGeom>
        </p:spPr>
      </p:pic>
    </p:spTree>
    <p:extLst>
      <p:ext uri="{BB962C8B-B14F-4D97-AF65-F5344CB8AC3E}">
        <p14:creationId xmlns:p14="http://schemas.microsoft.com/office/powerpoint/2010/main" val="31472854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7463" y="1524000"/>
            <a:ext cx="8229600" cy="4525963"/>
          </a:xfrm>
        </p:spPr>
        <p:txBody>
          <a:bodyPr/>
          <a:lstStyle/>
          <a:p>
            <a:pPr marL="457200" indent="-457200">
              <a:buFont typeface="Arial" panose="020B0604020202020204" pitchFamily="34" charset="0"/>
              <a:buChar char="•"/>
            </a:pPr>
            <a:r>
              <a:rPr lang="en-IN" sz="2800" spc="-10" dirty="0">
                <a:latin typeface="Cambria" panose="02040503050406030204" pitchFamily="18" charset="0"/>
                <a:ea typeface="Cambria" panose="02040503050406030204" pitchFamily="18" charset="0"/>
              </a:rPr>
              <a:t>Optimization</a:t>
            </a:r>
            <a:r>
              <a:rPr lang="en-IN" sz="2800" spc="-85" dirty="0">
                <a:latin typeface="Cambria" panose="02040503050406030204" pitchFamily="18" charset="0"/>
                <a:ea typeface="Cambria" panose="02040503050406030204" pitchFamily="18" charset="0"/>
              </a:rPr>
              <a:t> </a:t>
            </a:r>
            <a:r>
              <a:rPr lang="en-IN" sz="2800" spc="-10" dirty="0">
                <a:latin typeface="Cambria" panose="02040503050406030204" pitchFamily="18" charset="0"/>
                <a:ea typeface="Cambria" panose="02040503050406030204" pitchFamily="18" charset="0"/>
              </a:rPr>
              <a:t>Algorithms</a:t>
            </a:r>
          </a:p>
          <a:p>
            <a:pPr marL="1057275" lvl="2" indent="-457200">
              <a:buFont typeface="Arial" panose="020B0604020202020204" pitchFamily="34" charset="0"/>
              <a:buChar char="•"/>
            </a:pPr>
            <a:r>
              <a:rPr lang="en-US" sz="2800" spc="-10" dirty="0">
                <a:latin typeface="Cambria" panose="02040503050406030204" pitchFamily="18" charset="0"/>
                <a:ea typeface="Cambria" panose="02040503050406030204" pitchFamily="18" charset="0"/>
              </a:rPr>
              <a:t>Gradient Descent</a:t>
            </a:r>
          </a:p>
          <a:p>
            <a:pPr marL="1057275" lvl="2" indent="-457200">
              <a:buFont typeface="Arial" panose="020B0604020202020204" pitchFamily="34" charset="0"/>
              <a:buChar char="•"/>
            </a:pPr>
            <a:r>
              <a:rPr lang="en-US" sz="2800" spc="-10" dirty="0">
                <a:latin typeface="Cambria" panose="02040503050406030204" pitchFamily="18" charset="0"/>
                <a:ea typeface="Cambria" panose="02040503050406030204" pitchFamily="18" charset="0"/>
              </a:rPr>
              <a:t>Stochastic Gradient Descent</a:t>
            </a:r>
          </a:p>
          <a:p>
            <a:pPr marL="1057275" lvl="2" indent="-457200">
              <a:buFont typeface="Arial" panose="020B0604020202020204" pitchFamily="34" charset="0"/>
              <a:buChar char="•"/>
            </a:pPr>
            <a:r>
              <a:rPr lang="en-US" sz="2800" spc="-10" dirty="0">
                <a:latin typeface="Cambria" panose="02040503050406030204" pitchFamily="18" charset="0"/>
                <a:ea typeface="Cambria" panose="02040503050406030204" pitchFamily="18" charset="0"/>
              </a:rPr>
              <a:t>Mini batch Gradient Descent</a:t>
            </a:r>
          </a:p>
          <a:p>
            <a:pPr marL="1057275" lvl="2" indent="-457200">
              <a:buFont typeface="Arial" panose="020B0604020202020204" pitchFamily="34" charset="0"/>
              <a:buChar char="•"/>
            </a:pPr>
            <a:r>
              <a:rPr lang="en-US" sz="2800" spc="-10" dirty="0">
                <a:latin typeface="Cambria" panose="02040503050406030204" pitchFamily="18" charset="0"/>
                <a:ea typeface="Cambria" panose="02040503050406030204" pitchFamily="18" charset="0"/>
              </a:rPr>
              <a:t>Gradient Descent with momentum</a:t>
            </a:r>
          </a:p>
          <a:p>
            <a:pPr marL="1057275" lvl="2" indent="-457200">
              <a:buFont typeface="Arial" panose="020B0604020202020204" pitchFamily="34" charset="0"/>
              <a:buChar char="•"/>
            </a:pPr>
            <a:r>
              <a:rPr lang="en-US" sz="2800" spc="-10" dirty="0" err="1">
                <a:latin typeface="Cambria" panose="02040503050406030204" pitchFamily="18" charset="0"/>
                <a:ea typeface="Cambria" panose="02040503050406030204" pitchFamily="18" charset="0"/>
              </a:rPr>
              <a:t>ADAgrad</a:t>
            </a:r>
            <a:endParaRPr lang="en-US" sz="2800" spc="-10" dirty="0">
              <a:latin typeface="Cambria" panose="02040503050406030204" pitchFamily="18" charset="0"/>
              <a:ea typeface="Cambria" panose="02040503050406030204" pitchFamily="18" charset="0"/>
            </a:endParaRPr>
          </a:p>
          <a:p>
            <a:pPr marL="1057275" lvl="2" indent="-457200">
              <a:buFont typeface="Arial" panose="020B0604020202020204" pitchFamily="34" charset="0"/>
              <a:buChar char="•"/>
            </a:pPr>
            <a:r>
              <a:rPr lang="en-US" sz="2800" spc="-10" dirty="0" err="1">
                <a:latin typeface="Cambria" panose="02040503050406030204" pitchFamily="18" charset="0"/>
                <a:ea typeface="Cambria" panose="02040503050406030204" pitchFamily="18" charset="0"/>
              </a:rPr>
              <a:t>RMSProp</a:t>
            </a:r>
            <a:endParaRPr lang="en-US" sz="2800" spc="-10" dirty="0">
              <a:latin typeface="Cambria" panose="02040503050406030204" pitchFamily="18" charset="0"/>
              <a:ea typeface="Cambria" panose="02040503050406030204" pitchFamily="18" charset="0"/>
            </a:endParaRPr>
          </a:p>
          <a:p>
            <a:pPr marL="1057275" lvl="2" indent="-457200">
              <a:buFont typeface="Arial" panose="020B0604020202020204" pitchFamily="34" charset="0"/>
              <a:buChar char="•"/>
            </a:pPr>
            <a:r>
              <a:rPr lang="en-US" sz="2800" spc="-10" dirty="0">
                <a:latin typeface="Cambria" panose="02040503050406030204" pitchFamily="18" charset="0"/>
                <a:ea typeface="Cambria" panose="02040503050406030204" pitchFamily="18" charset="0"/>
              </a:rPr>
              <a:t>Adam</a:t>
            </a:r>
          </a:p>
          <a:p>
            <a:pPr marL="457200" indent="-457200">
              <a:buFont typeface="Arial" panose="020B0604020202020204" pitchFamily="34" charset="0"/>
              <a:buChar char="•"/>
            </a:pPr>
            <a:endParaRPr lang="en-IN" sz="2800" spc="-10" dirty="0">
              <a:latin typeface="Cambria" panose="02040503050406030204" pitchFamily="18" charset="0"/>
              <a:ea typeface="Cambria" panose="02040503050406030204" pitchFamily="18" charset="0"/>
            </a:endParaRPr>
          </a:p>
          <a:p>
            <a:pPr marL="457200" indent="-457200">
              <a:buFont typeface="Arial" panose="020B0604020202020204" pitchFamily="34" charset="0"/>
              <a:buChar char="•"/>
            </a:pPr>
            <a:endParaRPr lang="en-IN" sz="2800" spc="-10" dirty="0">
              <a:latin typeface="Cambria" panose="02040503050406030204" pitchFamily="18" charset="0"/>
              <a:ea typeface="Cambria" panose="02040503050406030204" pitchFamily="18" charset="0"/>
            </a:endParaRPr>
          </a:p>
          <a:p>
            <a:pPr marL="457200" indent="-457200">
              <a:buFont typeface="Arial" panose="020B0604020202020204" pitchFamily="34" charset="0"/>
              <a:buChar char="•"/>
            </a:pPr>
            <a:endParaRPr lang="en-IN" sz="2800" dirty="0">
              <a:latin typeface="Cambria" panose="02040503050406030204" pitchFamily="18" charset="0"/>
              <a:ea typeface="Cambria" panose="02040503050406030204" pitchFamily="18" charset="0"/>
            </a:endParaRPr>
          </a:p>
        </p:txBody>
      </p:sp>
      <p:sp>
        <p:nvSpPr>
          <p:cNvPr id="3" name="Content Placeholder 2"/>
          <p:cNvSpPr>
            <a:spLocks noGrp="1"/>
          </p:cNvSpPr>
          <p:nvPr>
            <p:ph sz="quarter" idx="10"/>
          </p:nvPr>
        </p:nvSpPr>
        <p:spPr/>
        <p:txBody>
          <a:bodyPr vert="horz" lIns="91440" tIns="45720" rIns="91440" bIns="45720" rtlCol="0" anchor="ctr">
            <a:normAutofit fontScale="97500"/>
          </a:bodyPr>
          <a:lstStyle/>
          <a:p>
            <a:r>
              <a:rPr lang="en-US" sz="3600" b="0" dirty="0">
                <a:latin typeface="Cambria" panose="02040503050406030204" pitchFamily="18" charset="0"/>
                <a:ea typeface="Cambria" panose="02040503050406030204" pitchFamily="18" charset="0"/>
                <a:cs typeface="+mj-cs"/>
              </a:rPr>
              <a:t>Session Agenda</a:t>
            </a:r>
            <a:endParaRPr lang="en-IN" sz="3600" b="0" dirty="0">
              <a:latin typeface="Cambria" panose="02040503050406030204" pitchFamily="18" charset="0"/>
              <a:ea typeface="Cambria" panose="02040503050406030204" pitchFamily="18" charset="0"/>
              <a:cs typeface="+mj-cs"/>
            </a:endParaRPr>
          </a:p>
        </p:txBody>
      </p:sp>
    </p:spTree>
    <p:extLst>
      <p:ext uri="{BB962C8B-B14F-4D97-AF65-F5344CB8AC3E}">
        <p14:creationId xmlns:p14="http://schemas.microsoft.com/office/powerpoint/2010/main" val="9857459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a:xfrm>
            <a:off x="12879" y="1524000"/>
            <a:ext cx="8610600" cy="4525963"/>
          </a:xfrm>
        </p:spPr>
        <p:txBody>
          <a:bodyPr/>
          <a:lstStyle/>
          <a:p>
            <a:pPr marL="355600" indent="-342900">
              <a:lnSpc>
                <a:spcPct val="100000"/>
              </a:lnSpc>
              <a:spcBef>
                <a:spcPts val="440"/>
              </a:spcBef>
              <a:buFont typeface="Arial" panose="020B0604020202020204" pitchFamily="34" charset="0"/>
              <a:buChar char="•"/>
              <a:tabLst>
                <a:tab pos="386715" algn="l"/>
              </a:tabLst>
            </a:pPr>
            <a:r>
              <a:rPr lang="en-US" spc="-10" dirty="0">
                <a:cs typeface="Arial MT"/>
              </a:rPr>
              <a:t>Optimization</a:t>
            </a:r>
            <a:r>
              <a:rPr lang="en-US" spc="-75" dirty="0">
                <a:cs typeface="Arial MT"/>
              </a:rPr>
              <a:t> </a:t>
            </a:r>
            <a:r>
              <a:rPr lang="en-US" dirty="0">
                <a:cs typeface="Arial MT"/>
              </a:rPr>
              <a:t>algorithms</a:t>
            </a:r>
            <a:r>
              <a:rPr lang="en-US" spc="-75" dirty="0">
                <a:cs typeface="Arial MT"/>
              </a:rPr>
              <a:t> </a:t>
            </a:r>
            <a:r>
              <a:rPr lang="en-US" dirty="0">
                <a:cs typeface="Arial MT"/>
              </a:rPr>
              <a:t>train</a:t>
            </a:r>
            <a:r>
              <a:rPr lang="en-US" spc="-75" dirty="0">
                <a:cs typeface="Arial MT"/>
              </a:rPr>
              <a:t> </a:t>
            </a:r>
            <a:r>
              <a:rPr lang="en-US" dirty="0">
                <a:cs typeface="Arial MT"/>
              </a:rPr>
              <a:t>deep</a:t>
            </a:r>
            <a:r>
              <a:rPr lang="en-US" spc="-75" dirty="0">
                <a:cs typeface="Arial MT"/>
              </a:rPr>
              <a:t> </a:t>
            </a:r>
            <a:r>
              <a:rPr lang="en-US" dirty="0">
                <a:cs typeface="Arial MT"/>
              </a:rPr>
              <a:t>learning</a:t>
            </a:r>
            <a:r>
              <a:rPr lang="en-US" spc="-75" dirty="0">
                <a:cs typeface="Arial MT"/>
              </a:rPr>
              <a:t> </a:t>
            </a:r>
            <a:r>
              <a:rPr lang="en-US" spc="-10" dirty="0">
                <a:cs typeface="Arial MT"/>
              </a:rPr>
              <a:t>models.</a:t>
            </a:r>
            <a:endParaRPr lang="en-US" dirty="0">
              <a:cs typeface="Arial MT"/>
            </a:endParaRPr>
          </a:p>
          <a:p>
            <a:pPr marL="355600" indent="-342900">
              <a:lnSpc>
                <a:spcPct val="100000"/>
              </a:lnSpc>
              <a:spcBef>
                <a:spcPts val="345"/>
              </a:spcBef>
              <a:buFont typeface="Arial" panose="020B0604020202020204" pitchFamily="34" charset="0"/>
              <a:buChar char="•"/>
              <a:tabLst>
                <a:tab pos="386715" algn="l"/>
                <a:tab pos="3041015" algn="l"/>
              </a:tabLst>
            </a:pPr>
            <a:r>
              <a:rPr lang="en-US" spc="-10" dirty="0">
                <a:cs typeface="Arial MT"/>
              </a:rPr>
              <a:t>Optimization</a:t>
            </a:r>
            <a:r>
              <a:rPr lang="en-US" spc="-50" dirty="0">
                <a:cs typeface="Arial MT"/>
              </a:rPr>
              <a:t> </a:t>
            </a:r>
            <a:r>
              <a:rPr lang="en-US" spc="-10" dirty="0">
                <a:cs typeface="Arial MT"/>
              </a:rPr>
              <a:t>algorithms</a:t>
            </a:r>
            <a:r>
              <a:rPr lang="en-US" dirty="0">
                <a:cs typeface="Arial MT"/>
              </a:rPr>
              <a:t>	are</a:t>
            </a:r>
            <a:r>
              <a:rPr lang="en-US" spc="-50" dirty="0">
                <a:cs typeface="Arial MT"/>
              </a:rPr>
              <a:t> </a:t>
            </a:r>
            <a:r>
              <a:rPr lang="en-US" dirty="0">
                <a:cs typeface="Arial MT"/>
              </a:rPr>
              <a:t>the</a:t>
            </a:r>
            <a:r>
              <a:rPr lang="en-US" spc="-45" dirty="0">
                <a:cs typeface="Arial MT"/>
              </a:rPr>
              <a:t> </a:t>
            </a:r>
            <a:r>
              <a:rPr lang="en-US" dirty="0">
                <a:cs typeface="Arial MT"/>
              </a:rPr>
              <a:t>tools</a:t>
            </a:r>
            <a:r>
              <a:rPr lang="en-US" spc="-45" dirty="0">
                <a:cs typeface="Arial MT"/>
              </a:rPr>
              <a:t> </a:t>
            </a:r>
            <a:r>
              <a:rPr lang="en-US" dirty="0">
                <a:cs typeface="Arial MT"/>
              </a:rPr>
              <a:t>that</a:t>
            </a:r>
            <a:r>
              <a:rPr lang="en-US" spc="-45" dirty="0">
                <a:cs typeface="Arial MT"/>
              </a:rPr>
              <a:t> </a:t>
            </a:r>
            <a:r>
              <a:rPr lang="en-US" spc="-10" dirty="0">
                <a:cs typeface="Arial MT"/>
              </a:rPr>
              <a:t>allow</a:t>
            </a:r>
            <a:endParaRPr lang="en-US" dirty="0">
              <a:cs typeface="Arial MT"/>
            </a:endParaRPr>
          </a:p>
          <a:p>
            <a:pPr marL="800100" lvl="1" indent="-342900">
              <a:buFont typeface="Arial" panose="020B0604020202020204" pitchFamily="34" charset="0"/>
              <a:buChar char="•"/>
            </a:pPr>
            <a:r>
              <a:rPr lang="en-IN" dirty="0">
                <a:cs typeface="Arial MT"/>
              </a:rPr>
              <a:t>continue</a:t>
            </a:r>
            <a:r>
              <a:rPr lang="en-IN" spc="-105" dirty="0">
                <a:cs typeface="Arial MT"/>
              </a:rPr>
              <a:t> </a:t>
            </a:r>
            <a:r>
              <a:rPr lang="en-IN" b="1" dirty="0">
                <a:cs typeface="Arial"/>
              </a:rPr>
              <a:t>updating</a:t>
            </a:r>
            <a:r>
              <a:rPr lang="en-IN" b="1" spc="-100" dirty="0">
                <a:cs typeface="Arial"/>
              </a:rPr>
              <a:t> </a:t>
            </a:r>
            <a:r>
              <a:rPr lang="en-IN" b="1" dirty="0">
                <a:cs typeface="Arial"/>
              </a:rPr>
              <a:t>model</a:t>
            </a:r>
            <a:r>
              <a:rPr lang="en-IN" b="1" spc="-105" dirty="0">
                <a:cs typeface="Arial"/>
              </a:rPr>
              <a:t> </a:t>
            </a:r>
            <a:r>
              <a:rPr lang="en-IN" b="1" spc="-10" dirty="0">
                <a:cs typeface="Arial"/>
              </a:rPr>
              <a:t>parameters</a:t>
            </a:r>
            <a:endParaRPr lang="en-IN" dirty="0">
              <a:cs typeface="Arial"/>
            </a:endParaRPr>
          </a:p>
          <a:p>
            <a:pPr marL="800100" lvl="1" indent="-342900">
              <a:buFont typeface="Arial" panose="020B0604020202020204" pitchFamily="34" charset="0"/>
              <a:buChar char="•"/>
            </a:pPr>
            <a:r>
              <a:rPr lang="en-US" dirty="0">
                <a:cs typeface="Arial MT"/>
              </a:rPr>
              <a:t>to</a:t>
            </a:r>
            <a:r>
              <a:rPr lang="en-US" spc="-55" dirty="0">
                <a:cs typeface="Arial MT"/>
              </a:rPr>
              <a:t> </a:t>
            </a:r>
            <a:r>
              <a:rPr lang="en-US" b="1" dirty="0">
                <a:cs typeface="Arial"/>
              </a:rPr>
              <a:t>minimize</a:t>
            </a:r>
            <a:r>
              <a:rPr lang="en-US" b="1" spc="-55" dirty="0">
                <a:cs typeface="Arial"/>
              </a:rPr>
              <a:t> </a:t>
            </a:r>
            <a:r>
              <a:rPr lang="en-US" b="1" dirty="0">
                <a:cs typeface="Arial"/>
              </a:rPr>
              <a:t>the</a:t>
            </a:r>
            <a:r>
              <a:rPr lang="en-US" b="1" spc="-55" dirty="0">
                <a:cs typeface="Arial"/>
              </a:rPr>
              <a:t> </a:t>
            </a:r>
            <a:r>
              <a:rPr lang="en-US" b="1" dirty="0">
                <a:cs typeface="Arial"/>
              </a:rPr>
              <a:t>value</a:t>
            </a:r>
            <a:r>
              <a:rPr lang="en-US" b="1" spc="-50" dirty="0">
                <a:cs typeface="Arial"/>
              </a:rPr>
              <a:t> </a:t>
            </a:r>
            <a:r>
              <a:rPr lang="en-US" b="1" dirty="0">
                <a:cs typeface="Arial"/>
              </a:rPr>
              <a:t>of</a:t>
            </a:r>
            <a:r>
              <a:rPr lang="en-US" b="1" spc="-55" dirty="0">
                <a:cs typeface="Arial"/>
              </a:rPr>
              <a:t> </a:t>
            </a:r>
            <a:r>
              <a:rPr lang="en-US" b="1" dirty="0">
                <a:cs typeface="Arial"/>
              </a:rPr>
              <a:t>the</a:t>
            </a:r>
            <a:r>
              <a:rPr lang="en-US" b="1" spc="-55" dirty="0">
                <a:cs typeface="Arial"/>
              </a:rPr>
              <a:t> </a:t>
            </a:r>
            <a:r>
              <a:rPr lang="en-US" b="1" dirty="0">
                <a:cs typeface="Arial"/>
              </a:rPr>
              <a:t>loss</a:t>
            </a:r>
            <a:r>
              <a:rPr lang="en-US" b="1" spc="-50" dirty="0">
                <a:cs typeface="Arial"/>
              </a:rPr>
              <a:t> </a:t>
            </a:r>
            <a:r>
              <a:rPr lang="en-US" b="1" dirty="0">
                <a:cs typeface="Arial"/>
              </a:rPr>
              <a:t>function</a:t>
            </a:r>
            <a:r>
              <a:rPr lang="en-US" dirty="0">
                <a:cs typeface="Arial MT"/>
              </a:rPr>
              <a:t>,</a:t>
            </a:r>
            <a:r>
              <a:rPr lang="en-US" spc="-55" dirty="0">
                <a:cs typeface="Arial MT"/>
              </a:rPr>
              <a:t> </a:t>
            </a:r>
            <a:r>
              <a:rPr lang="en-US" dirty="0">
                <a:cs typeface="Arial MT"/>
              </a:rPr>
              <a:t>as</a:t>
            </a:r>
            <a:r>
              <a:rPr lang="en-US" spc="-55" dirty="0">
                <a:cs typeface="Arial MT"/>
              </a:rPr>
              <a:t> </a:t>
            </a:r>
            <a:r>
              <a:rPr lang="en-US" dirty="0">
                <a:cs typeface="Arial MT"/>
              </a:rPr>
              <a:t>evaluated</a:t>
            </a:r>
            <a:r>
              <a:rPr lang="en-US" spc="-50" dirty="0">
                <a:cs typeface="Arial MT"/>
              </a:rPr>
              <a:t> </a:t>
            </a:r>
            <a:r>
              <a:rPr lang="en-US" dirty="0">
                <a:cs typeface="Arial MT"/>
              </a:rPr>
              <a:t>on</a:t>
            </a:r>
            <a:r>
              <a:rPr lang="en-US" spc="-55" dirty="0">
                <a:cs typeface="Arial MT"/>
              </a:rPr>
              <a:t> </a:t>
            </a:r>
            <a:r>
              <a:rPr lang="en-US" spc="-25" dirty="0">
                <a:cs typeface="Arial MT"/>
              </a:rPr>
              <a:t>the </a:t>
            </a:r>
            <a:r>
              <a:rPr lang="en-IN" dirty="0">
                <a:cs typeface="Arial MT"/>
              </a:rPr>
              <a:t>training</a:t>
            </a:r>
            <a:r>
              <a:rPr lang="en-IN" spc="-105" dirty="0">
                <a:cs typeface="Arial MT"/>
              </a:rPr>
              <a:t> </a:t>
            </a:r>
            <a:r>
              <a:rPr lang="en-IN" spc="-20" dirty="0">
                <a:cs typeface="Arial MT"/>
              </a:rPr>
              <a:t>set.</a:t>
            </a:r>
            <a:endParaRPr lang="en-IN" dirty="0">
              <a:cs typeface="Arial MT"/>
            </a:endParaRPr>
          </a:p>
          <a:p>
            <a:pPr marL="342900" indent="-342900">
              <a:buFont typeface="Arial" panose="020B0604020202020204" pitchFamily="34" charset="0"/>
              <a:buChar char="•"/>
            </a:pPr>
            <a:r>
              <a:rPr lang="en-US" dirty="0">
                <a:cs typeface="Arial MT"/>
              </a:rPr>
              <a:t>In</a:t>
            </a:r>
            <a:r>
              <a:rPr lang="en-US" spc="-50" dirty="0">
                <a:cs typeface="Arial MT"/>
              </a:rPr>
              <a:t> </a:t>
            </a:r>
            <a:r>
              <a:rPr lang="en-US" spc="-10" dirty="0">
                <a:cs typeface="Arial MT"/>
              </a:rPr>
              <a:t>optimization,</a:t>
            </a:r>
            <a:r>
              <a:rPr lang="en-US" spc="-45" dirty="0">
                <a:cs typeface="Arial MT"/>
              </a:rPr>
              <a:t> </a:t>
            </a:r>
            <a:r>
              <a:rPr lang="en-US" dirty="0">
                <a:cs typeface="Arial MT"/>
              </a:rPr>
              <a:t>a</a:t>
            </a:r>
            <a:r>
              <a:rPr lang="en-US" spc="-45" dirty="0">
                <a:cs typeface="Arial MT"/>
              </a:rPr>
              <a:t> </a:t>
            </a:r>
            <a:r>
              <a:rPr lang="en-US" dirty="0">
                <a:cs typeface="Arial MT"/>
              </a:rPr>
              <a:t>loss</a:t>
            </a:r>
            <a:r>
              <a:rPr lang="en-US" spc="-50" dirty="0">
                <a:cs typeface="Arial MT"/>
              </a:rPr>
              <a:t> </a:t>
            </a:r>
            <a:r>
              <a:rPr lang="en-US" dirty="0">
                <a:cs typeface="Arial MT"/>
              </a:rPr>
              <a:t>function</a:t>
            </a:r>
            <a:r>
              <a:rPr lang="en-US" spc="-45" dirty="0">
                <a:cs typeface="Arial MT"/>
              </a:rPr>
              <a:t> </a:t>
            </a:r>
            <a:r>
              <a:rPr lang="en-US" dirty="0">
                <a:cs typeface="Arial MT"/>
              </a:rPr>
              <a:t>is</a:t>
            </a:r>
            <a:r>
              <a:rPr lang="en-US" spc="-45" dirty="0">
                <a:cs typeface="Arial MT"/>
              </a:rPr>
              <a:t> </a:t>
            </a:r>
            <a:r>
              <a:rPr lang="en-US" dirty="0">
                <a:cs typeface="Arial MT"/>
              </a:rPr>
              <a:t>often</a:t>
            </a:r>
            <a:r>
              <a:rPr lang="en-US" spc="-50" dirty="0">
                <a:cs typeface="Arial MT"/>
              </a:rPr>
              <a:t> </a:t>
            </a:r>
            <a:r>
              <a:rPr lang="en-US" dirty="0">
                <a:cs typeface="Arial MT"/>
              </a:rPr>
              <a:t>referred</a:t>
            </a:r>
            <a:r>
              <a:rPr lang="en-US" spc="-45" dirty="0">
                <a:cs typeface="Arial MT"/>
              </a:rPr>
              <a:t> </a:t>
            </a:r>
            <a:r>
              <a:rPr lang="en-US" dirty="0">
                <a:cs typeface="Arial MT"/>
              </a:rPr>
              <a:t>to</a:t>
            </a:r>
            <a:r>
              <a:rPr lang="en-US" spc="-45" dirty="0">
                <a:cs typeface="Arial MT"/>
              </a:rPr>
              <a:t> </a:t>
            </a:r>
            <a:r>
              <a:rPr lang="en-US" dirty="0">
                <a:cs typeface="Arial MT"/>
              </a:rPr>
              <a:t>as</a:t>
            </a:r>
            <a:r>
              <a:rPr lang="en-US" spc="-50" dirty="0">
                <a:cs typeface="Arial MT"/>
              </a:rPr>
              <a:t> </a:t>
            </a:r>
            <a:r>
              <a:rPr lang="en-US" dirty="0">
                <a:cs typeface="Arial MT"/>
              </a:rPr>
              <a:t>the</a:t>
            </a:r>
            <a:r>
              <a:rPr lang="en-US" spc="-10" dirty="0">
                <a:cs typeface="Arial MT"/>
              </a:rPr>
              <a:t> </a:t>
            </a:r>
            <a:r>
              <a:rPr lang="en-US" b="1" spc="-10" dirty="0">
                <a:cs typeface="Arial"/>
              </a:rPr>
              <a:t>objective </a:t>
            </a:r>
            <a:r>
              <a:rPr lang="en-US" b="1" dirty="0">
                <a:cs typeface="Arial"/>
              </a:rPr>
              <a:t>function</a:t>
            </a:r>
            <a:r>
              <a:rPr lang="en-US" b="1" spc="-50" dirty="0">
                <a:cs typeface="Arial"/>
              </a:rPr>
              <a:t> </a:t>
            </a:r>
            <a:r>
              <a:rPr lang="en-US" dirty="0">
                <a:cs typeface="Arial MT"/>
              </a:rPr>
              <a:t>of</a:t>
            </a:r>
            <a:r>
              <a:rPr lang="en-US" spc="-55" dirty="0">
                <a:cs typeface="Arial MT"/>
              </a:rPr>
              <a:t> </a:t>
            </a:r>
            <a:r>
              <a:rPr lang="en-US" dirty="0">
                <a:cs typeface="Arial MT"/>
              </a:rPr>
              <a:t>the</a:t>
            </a:r>
            <a:r>
              <a:rPr lang="en-US" spc="-55" dirty="0">
                <a:cs typeface="Arial MT"/>
              </a:rPr>
              <a:t> </a:t>
            </a:r>
            <a:r>
              <a:rPr lang="en-US" spc="-10" dirty="0">
                <a:cs typeface="Arial MT"/>
              </a:rPr>
              <a:t>optimization</a:t>
            </a:r>
            <a:r>
              <a:rPr lang="en-US" spc="-55" dirty="0">
                <a:cs typeface="Arial MT"/>
              </a:rPr>
              <a:t> </a:t>
            </a:r>
            <a:r>
              <a:rPr lang="en-US" spc="-10" dirty="0">
                <a:cs typeface="Arial MT"/>
              </a:rPr>
              <a:t>problem.</a:t>
            </a:r>
            <a:endParaRPr lang="en-US" dirty="0">
              <a:cs typeface="Arial MT"/>
            </a:endParaRPr>
          </a:p>
          <a:p>
            <a:pPr marL="342900" indent="-342900">
              <a:buFont typeface="Arial" panose="020B0604020202020204" pitchFamily="34" charset="0"/>
              <a:buChar char="•"/>
            </a:pPr>
            <a:r>
              <a:rPr lang="en-US" dirty="0">
                <a:cs typeface="Arial MT"/>
              </a:rPr>
              <a:t>By</a:t>
            </a:r>
            <a:r>
              <a:rPr lang="en-US" spc="-60" dirty="0">
                <a:cs typeface="Arial MT"/>
              </a:rPr>
              <a:t> </a:t>
            </a:r>
            <a:r>
              <a:rPr lang="en-US" dirty="0">
                <a:cs typeface="Arial MT"/>
              </a:rPr>
              <a:t>tradition</a:t>
            </a:r>
            <a:r>
              <a:rPr lang="en-US" spc="-55" dirty="0">
                <a:cs typeface="Arial MT"/>
              </a:rPr>
              <a:t> </a:t>
            </a:r>
            <a:r>
              <a:rPr lang="en-US" dirty="0">
                <a:cs typeface="Arial MT"/>
              </a:rPr>
              <a:t>and</a:t>
            </a:r>
            <a:r>
              <a:rPr lang="en-US" spc="-55" dirty="0">
                <a:cs typeface="Arial MT"/>
              </a:rPr>
              <a:t> </a:t>
            </a:r>
            <a:r>
              <a:rPr lang="en-US" spc="-10" dirty="0">
                <a:cs typeface="Arial MT"/>
              </a:rPr>
              <a:t>convention</a:t>
            </a:r>
            <a:r>
              <a:rPr lang="en-US" spc="-55" dirty="0">
                <a:cs typeface="Arial MT"/>
              </a:rPr>
              <a:t> </a:t>
            </a:r>
            <a:r>
              <a:rPr lang="en-US" dirty="0">
                <a:cs typeface="Arial MT"/>
              </a:rPr>
              <a:t>most</a:t>
            </a:r>
            <a:r>
              <a:rPr lang="en-US" spc="-55" dirty="0">
                <a:cs typeface="Arial MT"/>
              </a:rPr>
              <a:t> </a:t>
            </a:r>
            <a:r>
              <a:rPr lang="en-US" spc="-10" dirty="0">
                <a:cs typeface="Arial MT"/>
              </a:rPr>
              <a:t>optimization</a:t>
            </a:r>
            <a:r>
              <a:rPr lang="en-US" spc="-55" dirty="0">
                <a:cs typeface="Arial MT"/>
              </a:rPr>
              <a:t> </a:t>
            </a:r>
            <a:r>
              <a:rPr lang="en-US" dirty="0">
                <a:cs typeface="Arial MT"/>
              </a:rPr>
              <a:t>algorithms</a:t>
            </a:r>
            <a:r>
              <a:rPr lang="en-US" spc="-55" dirty="0">
                <a:cs typeface="Arial MT"/>
              </a:rPr>
              <a:t> </a:t>
            </a:r>
            <a:r>
              <a:rPr lang="en-US" dirty="0">
                <a:cs typeface="Arial MT"/>
              </a:rPr>
              <a:t>are</a:t>
            </a:r>
            <a:r>
              <a:rPr lang="en-US" spc="-60" dirty="0">
                <a:cs typeface="Arial MT"/>
              </a:rPr>
              <a:t> </a:t>
            </a:r>
            <a:r>
              <a:rPr lang="en-US" spc="-10" dirty="0">
                <a:cs typeface="Arial MT"/>
              </a:rPr>
              <a:t>concerned </a:t>
            </a:r>
            <a:r>
              <a:rPr lang="en-IN" dirty="0">
                <a:cs typeface="Arial MT"/>
              </a:rPr>
              <a:t>with</a:t>
            </a:r>
            <a:r>
              <a:rPr lang="en-IN" spc="-50" dirty="0">
                <a:cs typeface="Arial MT"/>
              </a:rPr>
              <a:t> </a:t>
            </a:r>
            <a:r>
              <a:rPr lang="en-IN" b="1" spc="-10" dirty="0">
                <a:cs typeface="Arial"/>
              </a:rPr>
              <a:t>minimization</a:t>
            </a:r>
            <a:r>
              <a:rPr lang="en-IN" spc="-10" dirty="0">
                <a:cs typeface="Arial MT"/>
              </a:rPr>
              <a:t>.</a:t>
            </a:r>
          </a:p>
          <a:p>
            <a:pPr marL="342900" indent="-342900">
              <a:buFont typeface="Arial" panose="020B0604020202020204" pitchFamily="34" charset="0"/>
              <a:buChar char="•"/>
            </a:pPr>
            <a:r>
              <a:rPr lang="en-US" spc="-10" dirty="0">
                <a:cs typeface="Arial MT"/>
              </a:rPr>
              <a:t>The goal of optimization is to reduce the training error. The goal of deep learning is to reduce the generalization error, this requires reduction </a:t>
            </a:r>
            <a:r>
              <a:rPr lang="en-IN" spc="-10" dirty="0">
                <a:cs typeface="Arial MT"/>
              </a:rPr>
              <a:t>in overfitting also.</a:t>
            </a:r>
          </a:p>
          <a:p>
            <a:pPr marL="342900" indent="-342900">
              <a:buFont typeface="Arial" panose="020B0604020202020204" pitchFamily="34" charset="0"/>
              <a:buChar char="•"/>
            </a:pPr>
            <a:endParaRPr lang="en-IN" dirty="0">
              <a:cs typeface="Arial MT"/>
            </a:endParaRPr>
          </a:p>
          <a:p>
            <a:pPr marL="342900" indent="-342900">
              <a:buFont typeface="Arial" panose="020B0604020202020204" pitchFamily="34" charset="0"/>
              <a:buChar char="•"/>
            </a:pPr>
            <a:endParaRPr lang="en-US" dirty="0">
              <a:cs typeface="Arial MT"/>
            </a:endParaRPr>
          </a:p>
          <a:p>
            <a:pPr marL="342900" indent="-342900">
              <a:buFont typeface="Arial" panose="020B0604020202020204" pitchFamily="34" charset="0"/>
              <a:buChar char="•"/>
            </a:pPr>
            <a:endParaRPr lang="en-US" dirty="0">
              <a:cs typeface="Arial"/>
            </a:endParaRPr>
          </a:p>
          <a:p>
            <a:pPr marL="342900" indent="-342900">
              <a:buFont typeface="Arial" panose="020B0604020202020204" pitchFamily="34" charset="0"/>
              <a:buChar char="•"/>
            </a:pPr>
            <a:endParaRPr lang="en-US" dirty="0">
              <a:cs typeface="Arial MT"/>
            </a:endParaRPr>
          </a:p>
          <a:p>
            <a:pPr marL="342900" indent="-342900">
              <a:buFont typeface="Arial" panose="020B0604020202020204" pitchFamily="34" charset="0"/>
              <a:buChar char="•"/>
            </a:pPr>
            <a:endParaRPr lang="en-IN" dirty="0"/>
          </a:p>
        </p:txBody>
      </p:sp>
      <p:sp>
        <p:nvSpPr>
          <p:cNvPr id="3" name="Title 2"/>
          <p:cNvSpPr>
            <a:spLocks noGrp="1"/>
          </p:cNvSpPr>
          <p:nvPr>
            <p:ph type="title"/>
          </p:nvPr>
        </p:nvSpPr>
        <p:spPr/>
        <p:txBody>
          <a:bodyPr/>
          <a:lstStyle/>
          <a:p>
            <a:r>
              <a:rPr lang="en-IN" spc="-10" dirty="0"/>
              <a:t>Optimization</a:t>
            </a:r>
            <a:r>
              <a:rPr lang="en-IN" spc="-85" dirty="0"/>
              <a:t> </a:t>
            </a:r>
            <a:r>
              <a:rPr lang="en-IN" spc="-10" dirty="0"/>
              <a:t>Algorithm</a:t>
            </a:r>
            <a:endParaRPr lang="en-IN" dirty="0"/>
          </a:p>
        </p:txBody>
      </p:sp>
    </p:spTree>
    <p:extLst>
      <p:ext uri="{BB962C8B-B14F-4D97-AF65-F5344CB8AC3E}">
        <p14:creationId xmlns:p14="http://schemas.microsoft.com/office/powerpoint/2010/main" val="21866727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p:txBody>
          <a:bodyPr vert="horz" lIns="91440" tIns="45720" rIns="91440" bIns="45720" rtlCol="0">
            <a:normAutofit/>
          </a:bodyPr>
          <a:lstStyle/>
          <a:p>
            <a:pPr marL="355600" indent="-342900">
              <a:spcBef>
                <a:spcPts val="440"/>
              </a:spcBef>
              <a:buFont typeface="Arial" panose="020B0604020202020204" pitchFamily="34" charset="0"/>
              <a:buChar char="•"/>
              <a:tabLst>
                <a:tab pos="386715" algn="l"/>
              </a:tabLst>
            </a:pPr>
            <a:r>
              <a:rPr lang="en-US" spc="-10" dirty="0">
                <a:cs typeface="Arial MT"/>
              </a:rPr>
              <a:t>Understanding the principles of different optimization algorithms and the role of their </a:t>
            </a:r>
            <a:r>
              <a:rPr lang="en-US" spc="-10" dirty="0" err="1">
                <a:cs typeface="Arial MT"/>
              </a:rPr>
              <a:t>hyperparameters</a:t>
            </a:r>
            <a:r>
              <a:rPr lang="en-US" spc="-10" dirty="0">
                <a:cs typeface="Arial MT"/>
              </a:rPr>
              <a:t> will enable us to tune the </a:t>
            </a:r>
            <a:r>
              <a:rPr lang="en-US" spc="-10" dirty="0" err="1">
                <a:cs typeface="Arial MT"/>
              </a:rPr>
              <a:t>hyperparameters</a:t>
            </a:r>
            <a:r>
              <a:rPr lang="en-US" spc="-10" dirty="0">
                <a:cs typeface="Arial MT"/>
              </a:rPr>
              <a:t> in a targeted manner to improve the performance of </a:t>
            </a:r>
            <a:r>
              <a:rPr lang="en-IN" spc="-10" dirty="0">
                <a:cs typeface="Arial MT"/>
              </a:rPr>
              <a:t>deep learning models</a:t>
            </a:r>
          </a:p>
          <a:p>
            <a:pPr marL="355600" indent="-342900">
              <a:spcBef>
                <a:spcPts val="440"/>
              </a:spcBef>
              <a:buFont typeface="Arial" panose="020B0604020202020204" pitchFamily="34" charset="0"/>
              <a:buChar char="•"/>
              <a:tabLst>
                <a:tab pos="386715" algn="l"/>
              </a:tabLst>
            </a:pPr>
            <a:endParaRPr lang="en-US" spc="-10" dirty="0">
              <a:cs typeface="Arial MT"/>
            </a:endParaRPr>
          </a:p>
          <a:p>
            <a:pPr marL="355600" indent="-342900">
              <a:spcBef>
                <a:spcPts val="440"/>
              </a:spcBef>
              <a:buFont typeface="Arial" panose="020B0604020202020204" pitchFamily="34" charset="0"/>
              <a:buChar char="•"/>
              <a:tabLst>
                <a:tab pos="386715" algn="l"/>
              </a:tabLst>
            </a:pPr>
            <a:endParaRPr lang="en-US" spc="-10" dirty="0">
              <a:cs typeface="Arial MT"/>
            </a:endParaRPr>
          </a:p>
          <a:p>
            <a:pPr marL="355600" indent="-342900">
              <a:spcBef>
                <a:spcPts val="440"/>
              </a:spcBef>
              <a:buFont typeface="Arial" panose="020B0604020202020204" pitchFamily="34" charset="0"/>
              <a:buChar char="•"/>
              <a:tabLst>
                <a:tab pos="386715" algn="l"/>
              </a:tabLst>
            </a:pPr>
            <a:endParaRPr lang="en-US" spc="-10" dirty="0">
              <a:cs typeface="Arial MT"/>
            </a:endParaRPr>
          </a:p>
          <a:p>
            <a:pPr marL="355600" indent="-342900">
              <a:spcBef>
                <a:spcPts val="440"/>
              </a:spcBef>
              <a:buFont typeface="Arial" panose="020B0604020202020204" pitchFamily="34" charset="0"/>
              <a:buChar char="•"/>
              <a:tabLst>
                <a:tab pos="386715" algn="l"/>
              </a:tabLst>
            </a:pPr>
            <a:endParaRPr lang="en-US" spc="-10" dirty="0">
              <a:cs typeface="Arial MT"/>
            </a:endParaRPr>
          </a:p>
          <a:p>
            <a:pPr marL="355600" indent="-342900">
              <a:spcBef>
                <a:spcPts val="440"/>
              </a:spcBef>
              <a:buFont typeface="Arial" panose="020B0604020202020204" pitchFamily="34" charset="0"/>
              <a:buChar char="•"/>
              <a:tabLst>
                <a:tab pos="386715" algn="l"/>
              </a:tabLst>
            </a:pPr>
            <a:endParaRPr lang="en-IN" spc="-10" dirty="0">
              <a:cs typeface="Arial MT"/>
            </a:endParaRPr>
          </a:p>
        </p:txBody>
      </p:sp>
      <p:sp>
        <p:nvSpPr>
          <p:cNvPr id="3" name="Title 2"/>
          <p:cNvSpPr>
            <a:spLocks noGrp="1"/>
          </p:cNvSpPr>
          <p:nvPr>
            <p:ph type="title"/>
          </p:nvPr>
        </p:nvSpPr>
        <p:spPr/>
        <p:txBody>
          <a:bodyPr/>
          <a:lstStyle/>
          <a:p>
            <a:r>
              <a:rPr lang="en-IN" dirty="0"/>
              <a:t>Why</a:t>
            </a:r>
            <a:r>
              <a:rPr lang="en-IN" spc="25" dirty="0"/>
              <a:t> </a:t>
            </a:r>
            <a:r>
              <a:rPr lang="en-IN" spc="-10" dirty="0"/>
              <a:t>Optimization</a:t>
            </a:r>
            <a:r>
              <a:rPr lang="en-IN" spc="-110" dirty="0"/>
              <a:t> </a:t>
            </a:r>
            <a:r>
              <a:rPr lang="en-IN" spc="-10" dirty="0"/>
              <a:t>Algorithm?</a:t>
            </a:r>
            <a:endParaRPr lang="en-IN" dirty="0"/>
          </a:p>
        </p:txBody>
      </p:sp>
    </p:spTree>
    <p:extLst>
      <p:ext uri="{BB962C8B-B14F-4D97-AF65-F5344CB8AC3E}">
        <p14:creationId xmlns:p14="http://schemas.microsoft.com/office/powerpoint/2010/main" val="16874065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spc="-10" dirty="0"/>
              <a:t>Optimization</a:t>
            </a:r>
            <a:endParaRPr lang="en-IN" dirty="0"/>
          </a:p>
        </p:txBody>
      </p:sp>
      <p:pic>
        <p:nvPicPr>
          <p:cNvPr id="4" name="object 2"/>
          <p:cNvPicPr>
            <a:picLocks noGrp="1"/>
          </p:cNvPicPr>
          <p:nvPr>
            <p:ph idx="10"/>
          </p:nvPr>
        </p:nvPicPr>
        <p:blipFill>
          <a:blip r:embed="rId2" cstate="print"/>
          <a:stretch>
            <a:fillRect/>
          </a:stretch>
        </p:blipFill>
        <p:spPr>
          <a:xfrm>
            <a:off x="914400" y="1676400"/>
            <a:ext cx="6629400" cy="4724400"/>
          </a:xfrm>
          <a:prstGeom prst="rect">
            <a:avLst/>
          </a:prstGeom>
        </p:spPr>
      </p:pic>
    </p:spTree>
    <p:extLst>
      <p:ext uri="{BB962C8B-B14F-4D97-AF65-F5344CB8AC3E}">
        <p14:creationId xmlns:p14="http://schemas.microsoft.com/office/powerpoint/2010/main" val="20150659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Finding</a:t>
            </a:r>
            <a:r>
              <a:rPr lang="en-US" spc="15" dirty="0"/>
              <a:t> </a:t>
            </a:r>
            <a:r>
              <a:rPr lang="en-US" dirty="0"/>
              <a:t>Minimum</a:t>
            </a:r>
            <a:r>
              <a:rPr lang="en-US" spc="15" dirty="0"/>
              <a:t> </a:t>
            </a:r>
            <a:r>
              <a:rPr lang="en-US" dirty="0"/>
              <a:t>of</a:t>
            </a:r>
            <a:r>
              <a:rPr lang="en-US" spc="15" dirty="0"/>
              <a:t> </a:t>
            </a:r>
            <a:r>
              <a:rPr lang="en-US" dirty="0"/>
              <a:t>a</a:t>
            </a:r>
            <a:r>
              <a:rPr lang="en-US" spc="15" dirty="0"/>
              <a:t> </a:t>
            </a:r>
            <a:r>
              <a:rPr lang="en-US" spc="-10" dirty="0"/>
              <a:t>Function</a:t>
            </a:r>
            <a:endParaRPr lang="en-IN" dirty="0"/>
          </a:p>
        </p:txBody>
      </p:sp>
      <p:pic>
        <p:nvPicPr>
          <p:cNvPr id="4" name="object 2"/>
          <p:cNvPicPr>
            <a:picLocks noGrp="1"/>
          </p:cNvPicPr>
          <p:nvPr>
            <p:ph idx="10"/>
          </p:nvPr>
        </p:nvPicPr>
        <p:blipFill>
          <a:blip r:embed="rId2" cstate="print"/>
          <a:stretch>
            <a:fillRect/>
          </a:stretch>
        </p:blipFill>
        <p:spPr>
          <a:xfrm>
            <a:off x="381000" y="1524000"/>
            <a:ext cx="6267450" cy="4181475"/>
          </a:xfrm>
          <a:prstGeom prst="rect">
            <a:avLst/>
          </a:prstGeom>
        </p:spPr>
      </p:pic>
    </p:spTree>
    <p:extLst>
      <p:ext uri="{BB962C8B-B14F-4D97-AF65-F5344CB8AC3E}">
        <p14:creationId xmlns:p14="http://schemas.microsoft.com/office/powerpoint/2010/main" val="2295934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57946-FC7F-477C-9867-0ED704A858E1}"/>
              </a:ext>
            </a:extLst>
          </p:cNvPr>
          <p:cNvSpPr>
            <a:spLocks noGrp="1"/>
          </p:cNvSpPr>
          <p:nvPr>
            <p:ph type="title"/>
          </p:nvPr>
        </p:nvSpPr>
        <p:spPr>
          <a:xfrm>
            <a:off x="163517" y="243877"/>
            <a:ext cx="6923083" cy="616125"/>
          </a:xfrm>
        </p:spPr>
        <p:txBody>
          <a:bodyPr>
            <a:noAutofit/>
          </a:bodyPr>
          <a:lstStyle/>
          <a:p>
            <a:r>
              <a:rPr lang="en-IN" dirty="0">
                <a:solidFill>
                  <a:schemeClr val="tx1"/>
                </a:solidFill>
              </a:rPr>
              <a:t>Derivatives and critical points</a:t>
            </a:r>
          </a:p>
        </p:txBody>
      </p:sp>
      <p:grpSp>
        <p:nvGrpSpPr>
          <p:cNvPr id="8" name="Group 7"/>
          <p:cNvGrpSpPr/>
          <p:nvPr/>
        </p:nvGrpSpPr>
        <p:grpSpPr>
          <a:xfrm>
            <a:off x="3055382" y="2854599"/>
            <a:ext cx="3904344" cy="2223842"/>
            <a:chOff x="2506358" y="3032470"/>
            <a:chExt cx="2807494" cy="1620434"/>
          </a:xfrm>
        </p:grpSpPr>
        <p:grpSp>
          <p:nvGrpSpPr>
            <p:cNvPr id="7" name="Group 6"/>
            <p:cNvGrpSpPr/>
            <p:nvPr/>
          </p:nvGrpSpPr>
          <p:grpSpPr>
            <a:xfrm>
              <a:off x="2506358" y="3032470"/>
              <a:ext cx="2807494" cy="1620434"/>
              <a:chOff x="2506358" y="3032470"/>
              <a:chExt cx="2807494" cy="1620434"/>
            </a:xfrm>
          </p:grpSpPr>
          <p:sp>
            <p:nvSpPr>
              <p:cNvPr id="32" name="Freeform: Shape 31">
                <a:extLst>
                  <a:ext uri="{FF2B5EF4-FFF2-40B4-BE49-F238E27FC236}">
                    <a16:creationId xmlns:a16="http://schemas.microsoft.com/office/drawing/2014/main" id="{CB0F32E9-5CF6-4360-BCE6-C0F6905C5BA1}"/>
                  </a:ext>
                </a:extLst>
              </p:cNvPr>
              <p:cNvSpPr/>
              <p:nvPr/>
            </p:nvSpPr>
            <p:spPr>
              <a:xfrm>
                <a:off x="2506358" y="3032470"/>
                <a:ext cx="2807494" cy="1620434"/>
              </a:xfrm>
              <a:custGeom>
                <a:avLst/>
                <a:gdLst>
                  <a:gd name="connsiteX0" fmla="*/ 0 w 2809875"/>
                  <a:gd name="connsiteY0" fmla="*/ 1815755 h 1815755"/>
                  <a:gd name="connsiteX1" fmla="*/ 257175 w 2809875"/>
                  <a:gd name="connsiteY1" fmla="*/ 587030 h 1815755"/>
                  <a:gd name="connsiteX2" fmla="*/ 695325 w 2809875"/>
                  <a:gd name="connsiteY2" fmla="*/ 1253780 h 1815755"/>
                  <a:gd name="connsiteX3" fmla="*/ 1343025 w 2809875"/>
                  <a:gd name="connsiteY3" fmla="*/ 491780 h 1815755"/>
                  <a:gd name="connsiteX4" fmla="*/ 1924050 w 2809875"/>
                  <a:gd name="connsiteY4" fmla="*/ 358430 h 1815755"/>
                  <a:gd name="connsiteX5" fmla="*/ 2200275 w 2809875"/>
                  <a:gd name="connsiteY5" fmla="*/ 6005 h 1815755"/>
                  <a:gd name="connsiteX6" fmla="*/ 2495550 w 2809875"/>
                  <a:gd name="connsiteY6" fmla="*/ 682280 h 1815755"/>
                  <a:gd name="connsiteX7" fmla="*/ 2809875 w 2809875"/>
                  <a:gd name="connsiteY7" fmla="*/ 244130 h 1815755"/>
                  <a:gd name="connsiteX8" fmla="*/ 2809875 w 2809875"/>
                  <a:gd name="connsiteY8" fmla="*/ 244130 h 1815755"/>
                  <a:gd name="connsiteX0" fmla="*/ 0 w 2809875"/>
                  <a:gd name="connsiteY0" fmla="*/ 1815755 h 1815755"/>
                  <a:gd name="connsiteX1" fmla="*/ 257175 w 2809875"/>
                  <a:gd name="connsiteY1" fmla="*/ 587030 h 1815755"/>
                  <a:gd name="connsiteX2" fmla="*/ 695325 w 2809875"/>
                  <a:gd name="connsiteY2" fmla="*/ 1253780 h 1815755"/>
                  <a:gd name="connsiteX3" fmla="*/ 1343025 w 2809875"/>
                  <a:gd name="connsiteY3" fmla="*/ 491780 h 1815755"/>
                  <a:gd name="connsiteX4" fmla="*/ 1859702 w 2809875"/>
                  <a:gd name="connsiteY4" fmla="*/ 358430 h 1815755"/>
                  <a:gd name="connsiteX5" fmla="*/ 2200275 w 2809875"/>
                  <a:gd name="connsiteY5" fmla="*/ 6005 h 1815755"/>
                  <a:gd name="connsiteX6" fmla="*/ 2495550 w 2809875"/>
                  <a:gd name="connsiteY6" fmla="*/ 682280 h 1815755"/>
                  <a:gd name="connsiteX7" fmla="*/ 2809875 w 2809875"/>
                  <a:gd name="connsiteY7" fmla="*/ 244130 h 1815755"/>
                  <a:gd name="connsiteX8" fmla="*/ 2809875 w 2809875"/>
                  <a:gd name="connsiteY8" fmla="*/ 244130 h 1815755"/>
                  <a:gd name="connsiteX0" fmla="*/ 0 w 2809875"/>
                  <a:gd name="connsiteY0" fmla="*/ 1814900 h 1814900"/>
                  <a:gd name="connsiteX1" fmla="*/ 257175 w 2809875"/>
                  <a:gd name="connsiteY1" fmla="*/ 586175 h 1814900"/>
                  <a:gd name="connsiteX2" fmla="*/ 695325 w 2809875"/>
                  <a:gd name="connsiteY2" fmla="*/ 1252925 h 1814900"/>
                  <a:gd name="connsiteX3" fmla="*/ 1343025 w 2809875"/>
                  <a:gd name="connsiteY3" fmla="*/ 490925 h 1814900"/>
                  <a:gd name="connsiteX4" fmla="*/ 1859702 w 2809875"/>
                  <a:gd name="connsiteY4" fmla="*/ 357575 h 1814900"/>
                  <a:gd name="connsiteX5" fmla="*/ 2200275 w 2809875"/>
                  <a:gd name="connsiteY5" fmla="*/ 5150 h 1814900"/>
                  <a:gd name="connsiteX6" fmla="*/ 2495550 w 2809875"/>
                  <a:gd name="connsiteY6" fmla="*/ 681425 h 1814900"/>
                  <a:gd name="connsiteX7" fmla="*/ 2809875 w 2809875"/>
                  <a:gd name="connsiteY7" fmla="*/ 243275 h 1814900"/>
                  <a:gd name="connsiteX8" fmla="*/ 2809875 w 2809875"/>
                  <a:gd name="connsiteY8" fmla="*/ 243275 h 1814900"/>
                  <a:gd name="connsiteX0" fmla="*/ 0 w 2809875"/>
                  <a:gd name="connsiteY0" fmla="*/ 2018483 h 2018483"/>
                  <a:gd name="connsiteX1" fmla="*/ 257175 w 2809875"/>
                  <a:gd name="connsiteY1" fmla="*/ 789758 h 2018483"/>
                  <a:gd name="connsiteX2" fmla="*/ 695325 w 2809875"/>
                  <a:gd name="connsiteY2" fmla="*/ 1456508 h 2018483"/>
                  <a:gd name="connsiteX3" fmla="*/ 1343025 w 2809875"/>
                  <a:gd name="connsiteY3" fmla="*/ 694508 h 2018483"/>
                  <a:gd name="connsiteX4" fmla="*/ 1859702 w 2809875"/>
                  <a:gd name="connsiteY4" fmla="*/ 561158 h 2018483"/>
                  <a:gd name="connsiteX5" fmla="*/ 2286073 w 2809875"/>
                  <a:gd name="connsiteY5" fmla="*/ 4090 h 2018483"/>
                  <a:gd name="connsiteX6" fmla="*/ 2495550 w 2809875"/>
                  <a:gd name="connsiteY6" fmla="*/ 885008 h 2018483"/>
                  <a:gd name="connsiteX7" fmla="*/ 2809875 w 2809875"/>
                  <a:gd name="connsiteY7" fmla="*/ 446858 h 2018483"/>
                  <a:gd name="connsiteX8" fmla="*/ 2809875 w 2809875"/>
                  <a:gd name="connsiteY8" fmla="*/ 446858 h 2018483"/>
                  <a:gd name="connsiteX0" fmla="*/ 0 w 2809875"/>
                  <a:gd name="connsiteY0" fmla="*/ 2017962 h 2017962"/>
                  <a:gd name="connsiteX1" fmla="*/ 257175 w 2809875"/>
                  <a:gd name="connsiteY1" fmla="*/ 789237 h 2017962"/>
                  <a:gd name="connsiteX2" fmla="*/ 695325 w 2809875"/>
                  <a:gd name="connsiteY2" fmla="*/ 1455987 h 2017962"/>
                  <a:gd name="connsiteX3" fmla="*/ 1343025 w 2809875"/>
                  <a:gd name="connsiteY3" fmla="*/ 693987 h 2017962"/>
                  <a:gd name="connsiteX4" fmla="*/ 1881151 w 2809875"/>
                  <a:gd name="connsiteY4" fmla="*/ 578432 h 2017962"/>
                  <a:gd name="connsiteX5" fmla="*/ 2286073 w 2809875"/>
                  <a:gd name="connsiteY5" fmla="*/ 3569 h 2017962"/>
                  <a:gd name="connsiteX6" fmla="*/ 2495550 w 2809875"/>
                  <a:gd name="connsiteY6" fmla="*/ 884487 h 2017962"/>
                  <a:gd name="connsiteX7" fmla="*/ 2809875 w 2809875"/>
                  <a:gd name="connsiteY7" fmla="*/ 446337 h 2017962"/>
                  <a:gd name="connsiteX8" fmla="*/ 2809875 w 2809875"/>
                  <a:gd name="connsiteY8" fmla="*/ 446337 h 2017962"/>
                  <a:gd name="connsiteX0" fmla="*/ 0 w 2809875"/>
                  <a:gd name="connsiteY0" fmla="*/ 2017513 h 2017513"/>
                  <a:gd name="connsiteX1" fmla="*/ 257175 w 2809875"/>
                  <a:gd name="connsiteY1" fmla="*/ 788788 h 2017513"/>
                  <a:gd name="connsiteX2" fmla="*/ 695325 w 2809875"/>
                  <a:gd name="connsiteY2" fmla="*/ 1455538 h 2017513"/>
                  <a:gd name="connsiteX3" fmla="*/ 1343025 w 2809875"/>
                  <a:gd name="connsiteY3" fmla="*/ 693538 h 2017513"/>
                  <a:gd name="connsiteX4" fmla="*/ 1881151 w 2809875"/>
                  <a:gd name="connsiteY4" fmla="*/ 577983 h 2017513"/>
                  <a:gd name="connsiteX5" fmla="*/ 2286073 w 2809875"/>
                  <a:gd name="connsiteY5" fmla="*/ 3120 h 2017513"/>
                  <a:gd name="connsiteX6" fmla="*/ 2495550 w 2809875"/>
                  <a:gd name="connsiteY6" fmla="*/ 884038 h 2017513"/>
                  <a:gd name="connsiteX7" fmla="*/ 2809875 w 2809875"/>
                  <a:gd name="connsiteY7" fmla="*/ 445888 h 2017513"/>
                  <a:gd name="connsiteX8" fmla="*/ 2809875 w 2809875"/>
                  <a:gd name="connsiteY8" fmla="*/ 445888 h 2017513"/>
                  <a:gd name="connsiteX0" fmla="*/ 0 w 2809875"/>
                  <a:gd name="connsiteY0" fmla="*/ 2018019 h 2018019"/>
                  <a:gd name="connsiteX1" fmla="*/ 257175 w 2809875"/>
                  <a:gd name="connsiteY1" fmla="*/ 789294 h 2018019"/>
                  <a:gd name="connsiteX2" fmla="*/ 695325 w 2809875"/>
                  <a:gd name="connsiteY2" fmla="*/ 1456044 h 2018019"/>
                  <a:gd name="connsiteX3" fmla="*/ 1357325 w 2809875"/>
                  <a:gd name="connsiteY3" fmla="*/ 747429 h 2018019"/>
                  <a:gd name="connsiteX4" fmla="*/ 1881151 w 2809875"/>
                  <a:gd name="connsiteY4" fmla="*/ 578489 h 2018019"/>
                  <a:gd name="connsiteX5" fmla="*/ 2286073 w 2809875"/>
                  <a:gd name="connsiteY5" fmla="*/ 3626 h 2018019"/>
                  <a:gd name="connsiteX6" fmla="*/ 2495550 w 2809875"/>
                  <a:gd name="connsiteY6" fmla="*/ 884544 h 2018019"/>
                  <a:gd name="connsiteX7" fmla="*/ 2809875 w 2809875"/>
                  <a:gd name="connsiteY7" fmla="*/ 446394 h 2018019"/>
                  <a:gd name="connsiteX8" fmla="*/ 2809875 w 2809875"/>
                  <a:gd name="connsiteY8" fmla="*/ 446394 h 2018019"/>
                  <a:gd name="connsiteX0" fmla="*/ 0 w 2809875"/>
                  <a:gd name="connsiteY0" fmla="*/ 2016895 h 2016895"/>
                  <a:gd name="connsiteX1" fmla="*/ 257175 w 2809875"/>
                  <a:gd name="connsiteY1" fmla="*/ 788170 h 2016895"/>
                  <a:gd name="connsiteX2" fmla="*/ 695325 w 2809875"/>
                  <a:gd name="connsiteY2" fmla="*/ 1454920 h 2016895"/>
                  <a:gd name="connsiteX3" fmla="*/ 1357325 w 2809875"/>
                  <a:gd name="connsiteY3" fmla="*/ 746305 h 2016895"/>
                  <a:gd name="connsiteX4" fmla="*/ 1881151 w 2809875"/>
                  <a:gd name="connsiteY4" fmla="*/ 621852 h 2016895"/>
                  <a:gd name="connsiteX5" fmla="*/ 2286073 w 2809875"/>
                  <a:gd name="connsiteY5" fmla="*/ 2502 h 2016895"/>
                  <a:gd name="connsiteX6" fmla="*/ 2495550 w 2809875"/>
                  <a:gd name="connsiteY6" fmla="*/ 883420 h 2016895"/>
                  <a:gd name="connsiteX7" fmla="*/ 2809875 w 2809875"/>
                  <a:gd name="connsiteY7" fmla="*/ 445270 h 2016895"/>
                  <a:gd name="connsiteX8" fmla="*/ 2809875 w 2809875"/>
                  <a:gd name="connsiteY8" fmla="*/ 445270 h 2016895"/>
                  <a:gd name="connsiteX0" fmla="*/ 0 w 2809875"/>
                  <a:gd name="connsiteY0" fmla="*/ 2016478 h 2016478"/>
                  <a:gd name="connsiteX1" fmla="*/ 257175 w 2809875"/>
                  <a:gd name="connsiteY1" fmla="*/ 787753 h 2016478"/>
                  <a:gd name="connsiteX2" fmla="*/ 695325 w 2809875"/>
                  <a:gd name="connsiteY2" fmla="*/ 1454503 h 2016478"/>
                  <a:gd name="connsiteX3" fmla="*/ 1357325 w 2809875"/>
                  <a:gd name="connsiteY3" fmla="*/ 745888 h 2016478"/>
                  <a:gd name="connsiteX4" fmla="*/ 1881151 w 2809875"/>
                  <a:gd name="connsiteY4" fmla="*/ 621435 h 2016478"/>
                  <a:gd name="connsiteX5" fmla="*/ 2286073 w 2809875"/>
                  <a:gd name="connsiteY5" fmla="*/ 2085 h 2016478"/>
                  <a:gd name="connsiteX6" fmla="*/ 2495550 w 2809875"/>
                  <a:gd name="connsiteY6" fmla="*/ 883003 h 2016478"/>
                  <a:gd name="connsiteX7" fmla="*/ 2809875 w 2809875"/>
                  <a:gd name="connsiteY7" fmla="*/ 444853 h 2016478"/>
                  <a:gd name="connsiteX8" fmla="*/ 2809875 w 2809875"/>
                  <a:gd name="connsiteY8" fmla="*/ 444853 h 2016478"/>
                  <a:gd name="connsiteX0" fmla="*/ 0 w 2809875"/>
                  <a:gd name="connsiteY0" fmla="*/ 2016920 h 2016920"/>
                  <a:gd name="connsiteX1" fmla="*/ 257175 w 2809875"/>
                  <a:gd name="connsiteY1" fmla="*/ 788195 h 2016920"/>
                  <a:gd name="connsiteX2" fmla="*/ 695325 w 2809875"/>
                  <a:gd name="connsiteY2" fmla="*/ 1454945 h 2016920"/>
                  <a:gd name="connsiteX3" fmla="*/ 1343025 w 2809875"/>
                  <a:gd name="connsiteY3" fmla="*/ 781920 h 2016920"/>
                  <a:gd name="connsiteX4" fmla="*/ 1881151 w 2809875"/>
                  <a:gd name="connsiteY4" fmla="*/ 621877 h 2016920"/>
                  <a:gd name="connsiteX5" fmla="*/ 2286073 w 2809875"/>
                  <a:gd name="connsiteY5" fmla="*/ 2527 h 2016920"/>
                  <a:gd name="connsiteX6" fmla="*/ 2495550 w 2809875"/>
                  <a:gd name="connsiteY6" fmla="*/ 883445 h 2016920"/>
                  <a:gd name="connsiteX7" fmla="*/ 2809875 w 2809875"/>
                  <a:gd name="connsiteY7" fmla="*/ 445295 h 2016920"/>
                  <a:gd name="connsiteX8" fmla="*/ 2809875 w 2809875"/>
                  <a:gd name="connsiteY8" fmla="*/ 445295 h 2016920"/>
                  <a:gd name="connsiteX0" fmla="*/ 0 w 2809875"/>
                  <a:gd name="connsiteY0" fmla="*/ 2016920 h 2016920"/>
                  <a:gd name="connsiteX1" fmla="*/ 257175 w 2809875"/>
                  <a:gd name="connsiteY1" fmla="*/ 788195 h 2016920"/>
                  <a:gd name="connsiteX2" fmla="*/ 695325 w 2809875"/>
                  <a:gd name="connsiteY2" fmla="*/ 1454945 h 2016920"/>
                  <a:gd name="connsiteX3" fmla="*/ 1343025 w 2809875"/>
                  <a:gd name="connsiteY3" fmla="*/ 781920 h 2016920"/>
                  <a:gd name="connsiteX4" fmla="*/ 1881151 w 2809875"/>
                  <a:gd name="connsiteY4" fmla="*/ 621877 h 2016920"/>
                  <a:gd name="connsiteX5" fmla="*/ 2286073 w 2809875"/>
                  <a:gd name="connsiteY5" fmla="*/ 2527 h 2016920"/>
                  <a:gd name="connsiteX6" fmla="*/ 2495550 w 2809875"/>
                  <a:gd name="connsiteY6" fmla="*/ 883445 h 2016920"/>
                  <a:gd name="connsiteX7" fmla="*/ 2809875 w 2809875"/>
                  <a:gd name="connsiteY7" fmla="*/ 445295 h 2016920"/>
                  <a:gd name="connsiteX8" fmla="*/ 2809875 w 2809875"/>
                  <a:gd name="connsiteY8" fmla="*/ 445295 h 2016920"/>
                  <a:gd name="connsiteX0" fmla="*/ 0 w 2809875"/>
                  <a:gd name="connsiteY0" fmla="*/ 2016889 h 2016889"/>
                  <a:gd name="connsiteX1" fmla="*/ 257175 w 2809875"/>
                  <a:gd name="connsiteY1" fmla="*/ 788164 h 2016889"/>
                  <a:gd name="connsiteX2" fmla="*/ 695325 w 2809875"/>
                  <a:gd name="connsiteY2" fmla="*/ 1454914 h 2016889"/>
                  <a:gd name="connsiteX3" fmla="*/ 1350175 w 2809875"/>
                  <a:gd name="connsiteY3" fmla="*/ 737402 h 2016889"/>
                  <a:gd name="connsiteX4" fmla="*/ 1881151 w 2809875"/>
                  <a:gd name="connsiteY4" fmla="*/ 621846 h 2016889"/>
                  <a:gd name="connsiteX5" fmla="*/ 2286073 w 2809875"/>
                  <a:gd name="connsiteY5" fmla="*/ 2496 h 2016889"/>
                  <a:gd name="connsiteX6" fmla="*/ 2495550 w 2809875"/>
                  <a:gd name="connsiteY6" fmla="*/ 883414 h 2016889"/>
                  <a:gd name="connsiteX7" fmla="*/ 2809875 w 2809875"/>
                  <a:gd name="connsiteY7" fmla="*/ 445264 h 2016889"/>
                  <a:gd name="connsiteX8" fmla="*/ 2809875 w 2809875"/>
                  <a:gd name="connsiteY8" fmla="*/ 445264 h 2016889"/>
                  <a:gd name="connsiteX0" fmla="*/ 0 w 2809875"/>
                  <a:gd name="connsiteY0" fmla="*/ 2016870 h 2016870"/>
                  <a:gd name="connsiteX1" fmla="*/ 257175 w 2809875"/>
                  <a:gd name="connsiteY1" fmla="*/ 788145 h 2016870"/>
                  <a:gd name="connsiteX2" fmla="*/ 695325 w 2809875"/>
                  <a:gd name="connsiteY2" fmla="*/ 1454895 h 2016870"/>
                  <a:gd name="connsiteX3" fmla="*/ 1350175 w 2809875"/>
                  <a:gd name="connsiteY3" fmla="*/ 710691 h 2016870"/>
                  <a:gd name="connsiteX4" fmla="*/ 1881151 w 2809875"/>
                  <a:gd name="connsiteY4" fmla="*/ 621827 h 2016870"/>
                  <a:gd name="connsiteX5" fmla="*/ 2286073 w 2809875"/>
                  <a:gd name="connsiteY5" fmla="*/ 2477 h 2016870"/>
                  <a:gd name="connsiteX6" fmla="*/ 2495550 w 2809875"/>
                  <a:gd name="connsiteY6" fmla="*/ 883395 h 2016870"/>
                  <a:gd name="connsiteX7" fmla="*/ 2809875 w 2809875"/>
                  <a:gd name="connsiteY7" fmla="*/ 445245 h 2016870"/>
                  <a:gd name="connsiteX8" fmla="*/ 2809875 w 2809875"/>
                  <a:gd name="connsiteY8" fmla="*/ 445245 h 2016870"/>
                  <a:gd name="connsiteX0" fmla="*/ 0 w 2809875"/>
                  <a:gd name="connsiteY0" fmla="*/ 2017980 h 2017980"/>
                  <a:gd name="connsiteX1" fmla="*/ 257175 w 2809875"/>
                  <a:gd name="connsiteY1" fmla="*/ 789255 h 2017980"/>
                  <a:gd name="connsiteX2" fmla="*/ 695325 w 2809875"/>
                  <a:gd name="connsiteY2" fmla="*/ 1456005 h 2017980"/>
                  <a:gd name="connsiteX3" fmla="*/ 1350175 w 2809875"/>
                  <a:gd name="connsiteY3" fmla="*/ 711801 h 2017980"/>
                  <a:gd name="connsiteX4" fmla="*/ 1881151 w 2809875"/>
                  <a:gd name="connsiteY4" fmla="*/ 578449 h 2017980"/>
                  <a:gd name="connsiteX5" fmla="*/ 2286073 w 2809875"/>
                  <a:gd name="connsiteY5" fmla="*/ 3587 h 2017980"/>
                  <a:gd name="connsiteX6" fmla="*/ 2495550 w 2809875"/>
                  <a:gd name="connsiteY6" fmla="*/ 884505 h 2017980"/>
                  <a:gd name="connsiteX7" fmla="*/ 2809875 w 2809875"/>
                  <a:gd name="connsiteY7" fmla="*/ 446355 h 2017980"/>
                  <a:gd name="connsiteX8" fmla="*/ 2809875 w 2809875"/>
                  <a:gd name="connsiteY8" fmla="*/ 446355 h 2017980"/>
                  <a:gd name="connsiteX0" fmla="*/ 0 w 2809875"/>
                  <a:gd name="connsiteY0" fmla="*/ 2017980 h 2017980"/>
                  <a:gd name="connsiteX1" fmla="*/ 257175 w 2809875"/>
                  <a:gd name="connsiteY1" fmla="*/ 789255 h 2017980"/>
                  <a:gd name="connsiteX2" fmla="*/ 695325 w 2809875"/>
                  <a:gd name="connsiteY2" fmla="*/ 1456005 h 2017980"/>
                  <a:gd name="connsiteX3" fmla="*/ 1350175 w 2809875"/>
                  <a:gd name="connsiteY3" fmla="*/ 711801 h 2017980"/>
                  <a:gd name="connsiteX4" fmla="*/ 1881151 w 2809875"/>
                  <a:gd name="connsiteY4" fmla="*/ 578449 h 2017980"/>
                  <a:gd name="connsiteX5" fmla="*/ 2286073 w 2809875"/>
                  <a:gd name="connsiteY5" fmla="*/ 3587 h 2017980"/>
                  <a:gd name="connsiteX6" fmla="*/ 2495550 w 2809875"/>
                  <a:gd name="connsiteY6" fmla="*/ 884505 h 2017980"/>
                  <a:gd name="connsiteX7" fmla="*/ 2809875 w 2809875"/>
                  <a:gd name="connsiteY7" fmla="*/ 446355 h 2017980"/>
                  <a:gd name="connsiteX8" fmla="*/ 2809875 w 2809875"/>
                  <a:gd name="connsiteY8" fmla="*/ 446355 h 2017980"/>
                  <a:gd name="connsiteX0" fmla="*/ 0 w 2809875"/>
                  <a:gd name="connsiteY0" fmla="*/ 2017401 h 2017401"/>
                  <a:gd name="connsiteX1" fmla="*/ 257175 w 2809875"/>
                  <a:gd name="connsiteY1" fmla="*/ 788676 h 2017401"/>
                  <a:gd name="connsiteX2" fmla="*/ 695325 w 2809875"/>
                  <a:gd name="connsiteY2" fmla="*/ 1455426 h 2017401"/>
                  <a:gd name="connsiteX3" fmla="*/ 1350175 w 2809875"/>
                  <a:gd name="connsiteY3" fmla="*/ 711222 h 2017401"/>
                  <a:gd name="connsiteX4" fmla="*/ 1881151 w 2809875"/>
                  <a:gd name="connsiteY4" fmla="*/ 577870 h 2017401"/>
                  <a:gd name="connsiteX5" fmla="*/ 2286073 w 2809875"/>
                  <a:gd name="connsiteY5" fmla="*/ 3008 h 2017401"/>
                  <a:gd name="connsiteX6" fmla="*/ 2495550 w 2809875"/>
                  <a:gd name="connsiteY6" fmla="*/ 883926 h 2017401"/>
                  <a:gd name="connsiteX7" fmla="*/ 2809875 w 2809875"/>
                  <a:gd name="connsiteY7" fmla="*/ 445776 h 2017401"/>
                  <a:gd name="connsiteX8" fmla="*/ 2809875 w 2809875"/>
                  <a:gd name="connsiteY8" fmla="*/ 445776 h 2017401"/>
                  <a:gd name="connsiteX0" fmla="*/ 0 w 2809875"/>
                  <a:gd name="connsiteY0" fmla="*/ 2018294 h 2018294"/>
                  <a:gd name="connsiteX1" fmla="*/ 257175 w 2809875"/>
                  <a:gd name="connsiteY1" fmla="*/ 789569 h 2018294"/>
                  <a:gd name="connsiteX2" fmla="*/ 695325 w 2809875"/>
                  <a:gd name="connsiteY2" fmla="*/ 1456319 h 2018294"/>
                  <a:gd name="connsiteX3" fmla="*/ 1350175 w 2809875"/>
                  <a:gd name="connsiteY3" fmla="*/ 712115 h 2018294"/>
                  <a:gd name="connsiteX4" fmla="*/ 1866852 w 2809875"/>
                  <a:gd name="connsiteY4" fmla="*/ 543173 h 2018294"/>
                  <a:gd name="connsiteX5" fmla="*/ 2286073 w 2809875"/>
                  <a:gd name="connsiteY5" fmla="*/ 3901 h 2018294"/>
                  <a:gd name="connsiteX6" fmla="*/ 2495550 w 2809875"/>
                  <a:gd name="connsiteY6" fmla="*/ 884819 h 2018294"/>
                  <a:gd name="connsiteX7" fmla="*/ 2809875 w 2809875"/>
                  <a:gd name="connsiteY7" fmla="*/ 446669 h 2018294"/>
                  <a:gd name="connsiteX8" fmla="*/ 2809875 w 2809875"/>
                  <a:gd name="connsiteY8" fmla="*/ 446669 h 2018294"/>
                  <a:gd name="connsiteX0" fmla="*/ 0 w 2809875"/>
                  <a:gd name="connsiteY0" fmla="*/ 2019244 h 2019244"/>
                  <a:gd name="connsiteX1" fmla="*/ 257175 w 2809875"/>
                  <a:gd name="connsiteY1" fmla="*/ 790519 h 2019244"/>
                  <a:gd name="connsiteX2" fmla="*/ 695325 w 2809875"/>
                  <a:gd name="connsiteY2" fmla="*/ 1457269 h 2019244"/>
                  <a:gd name="connsiteX3" fmla="*/ 1350175 w 2809875"/>
                  <a:gd name="connsiteY3" fmla="*/ 713065 h 2019244"/>
                  <a:gd name="connsiteX4" fmla="*/ 1866852 w 2809875"/>
                  <a:gd name="connsiteY4" fmla="*/ 544123 h 2019244"/>
                  <a:gd name="connsiteX5" fmla="*/ 2286073 w 2809875"/>
                  <a:gd name="connsiteY5" fmla="*/ 4851 h 2019244"/>
                  <a:gd name="connsiteX6" fmla="*/ 2495550 w 2809875"/>
                  <a:gd name="connsiteY6" fmla="*/ 885769 h 2019244"/>
                  <a:gd name="connsiteX7" fmla="*/ 2809875 w 2809875"/>
                  <a:gd name="connsiteY7" fmla="*/ 447619 h 2019244"/>
                  <a:gd name="connsiteX8" fmla="*/ 2809875 w 2809875"/>
                  <a:gd name="connsiteY8" fmla="*/ 447619 h 2019244"/>
                  <a:gd name="connsiteX0" fmla="*/ 0 w 2809875"/>
                  <a:gd name="connsiteY0" fmla="*/ 2018720 h 2018720"/>
                  <a:gd name="connsiteX1" fmla="*/ 257175 w 2809875"/>
                  <a:gd name="connsiteY1" fmla="*/ 789995 h 2018720"/>
                  <a:gd name="connsiteX2" fmla="*/ 695325 w 2809875"/>
                  <a:gd name="connsiteY2" fmla="*/ 1456745 h 2018720"/>
                  <a:gd name="connsiteX3" fmla="*/ 1350175 w 2809875"/>
                  <a:gd name="connsiteY3" fmla="*/ 712541 h 2018720"/>
                  <a:gd name="connsiteX4" fmla="*/ 1866852 w 2809875"/>
                  <a:gd name="connsiteY4" fmla="*/ 543599 h 2018720"/>
                  <a:gd name="connsiteX5" fmla="*/ 2286073 w 2809875"/>
                  <a:gd name="connsiteY5" fmla="*/ 4327 h 2018720"/>
                  <a:gd name="connsiteX6" fmla="*/ 2495550 w 2809875"/>
                  <a:gd name="connsiteY6" fmla="*/ 885245 h 2018720"/>
                  <a:gd name="connsiteX7" fmla="*/ 2809875 w 2809875"/>
                  <a:gd name="connsiteY7" fmla="*/ 447095 h 2018720"/>
                  <a:gd name="connsiteX8" fmla="*/ 2809875 w 2809875"/>
                  <a:gd name="connsiteY8" fmla="*/ 447095 h 2018720"/>
                  <a:gd name="connsiteX0" fmla="*/ 0 w 2809875"/>
                  <a:gd name="connsiteY0" fmla="*/ 2017992 h 2017992"/>
                  <a:gd name="connsiteX1" fmla="*/ 257175 w 2809875"/>
                  <a:gd name="connsiteY1" fmla="*/ 789267 h 2017992"/>
                  <a:gd name="connsiteX2" fmla="*/ 695325 w 2809875"/>
                  <a:gd name="connsiteY2" fmla="*/ 1456017 h 2017992"/>
                  <a:gd name="connsiteX3" fmla="*/ 1350175 w 2809875"/>
                  <a:gd name="connsiteY3" fmla="*/ 711813 h 2017992"/>
                  <a:gd name="connsiteX4" fmla="*/ 1866852 w 2809875"/>
                  <a:gd name="connsiteY4" fmla="*/ 542871 h 2017992"/>
                  <a:gd name="connsiteX5" fmla="*/ 2286073 w 2809875"/>
                  <a:gd name="connsiteY5" fmla="*/ 3599 h 2017992"/>
                  <a:gd name="connsiteX6" fmla="*/ 2495550 w 2809875"/>
                  <a:gd name="connsiteY6" fmla="*/ 884517 h 2017992"/>
                  <a:gd name="connsiteX7" fmla="*/ 2809875 w 2809875"/>
                  <a:gd name="connsiteY7" fmla="*/ 446367 h 2017992"/>
                  <a:gd name="connsiteX8" fmla="*/ 2809875 w 2809875"/>
                  <a:gd name="connsiteY8" fmla="*/ 446367 h 2017992"/>
                  <a:gd name="connsiteX0" fmla="*/ 0 w 2809875"/>
                  <a:gd name="connsiteY0" fmla="*/ 2018350 h 2018350"/>
                  <a:gd name="connsiteX1" fmla="*/ 257175 w 2809875"/>
                  <a:gd name="connsiteY1" fmla="*/ 789625 h 2018350"/>
                  <a:gd name="connsiteX2" fmla="*/ 695325 w 2809875"/>
                  <a:gd name="connsiteY2" fmla="*/ 1456375 h 2018350"/>
                  <a:gd name="connsiteX3" fmla="*/ 1350175 w 2809875"/>
                  <a:gd name="connsiteY3" fmla="*/ 712171 h 2018350"/>
                  <a:gd name="connsiteX4" fmla="*/ 1866852 w 2809875"/>
                  <a:gd name="connsiteY4" fmla="*/ 543229 h 2018350"/>
                  <a:gd name="connsiteX5" fmla="*/ 2286073 w 2809875"/>
                  <a:gd name="connsiteY5" fmla="*/ 3957 h 2018350"/>
                  <a:gd name="connsiteX6" fmla="*/ 2495550 w 2809875"/>
                  <a:gd name="connsiteY6" fmla="*/ 884875 h 2018350"/>
                  <a:gd name="connsiteX7" fmla="*/ 2809875 w 2809875"/>
                  <a:gd name="connsiteY7" fmla="*/ 446725 h 2018350"/>
                  <a:gd name="connsiteX8" fmla="*/ 2809875 w 2809875"/>
                  <a:gd name="connsiteY8" fmla="*/ 446725 h 2018350"/>
                  <a:gd name="connsiteX0" fmla="*/ 0 w 2809875"/>
                  <a:gd name="connsiteY0" fmla="*/ 2018241 h 2018241"/>
                  <a:gd name="connsiteX1" fmla="*/ 257175 w 2809875"/>
                  <a:gd name="connsiteY1" fmla="*/ 789516 h 2018241"/>
                  <a:gd name="connsiteX2" fmla="*/ 695325 w 2809875"/>
                  <a:gd name="connsiteY2" fmla="*/ 1456266 h 2018241"/>
                  <a:gd name="connsiteX3" fmla="*/ 1350175 w 2809875"/>
                  <a:gd name="connsiteY3" fmla="*/ 712062 h 2018241"/>
                  <a:gd name="connsiteX4" fmla="*/ 1866852 w 2809875"/>
                  <a:gd name="connsiteY4" fmla="*/ 543120 h 2018241"/>
                  <a:gd name="connsiteX5" fmla="*/ 2286073 w 2809875"/>
                  <a:gd name="connsiteY5" fmla="*/ 3848 h 2018241"/>
                  <a:gd name="connsiteX6" fmla="*/ 2495550 w 2809875"/>
                  <a:gd name="connsiteY6" fmla="*/ 884766 h 2018241"/>
                  <a:gd name="connsiteX7" fmla="*/ 2809875 w 2809875"/>
                  <a:gd name="connsiteY7" fmla="*/ 446616 h 2018241"/>
                  <a:gd name="connsiteX8" fmla="*/ 2809875 w 2809875"/>
                  <a:gd name="connsiteY8" fmla="*/ 446616 h 2018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09875" h="2018241">
                    <a:moveTo>
                      <a:pt x="0" y="2018241"/>
                    </a:moveTo>
                    <a:cubicBezTo>
                      <a:pt x="70644" y="1450709"/>
                      <a:pt x="141288" y="883178"/>
                      <a:pt x="257175" y="789516"/>
                    </a:cubicBezTo>
                    <a:cubicBezTo>
                      <a:pt x="373062" y="695854"/>
                      <a:pt x="513158" y="1469175"/>
                      <a:pt x="695325" y="1456266"/>
                    </a:cubicBezTo>
                    <a:cubicBezTo>
                      <a:pt x="877492" y="1443357"/>
                      <a:pt x="1154921" y="864253"/>
                      <a:pt x="1350175" y="712062"/>
                    </a:cubicBezTo>
                    <a:cubicBezTo>
                      <a:pt x="1545429" y="559871"/>
                      <a:pt x="1582173" y="545489"/>
                      <a:pt x="1866852" y="543120"/>
                    </a:cubicBezTo>
                    <a:cubicBezTo>
                      <a:pt x="2151531" y="540751"/>
                      <a:pt x="2181290" y="-53093"/>
                      <a:pt x="2286073" y="3848"/>
                    </a:cubicBezTo>
                    <a:cubicBezTo>
                      <a:pt x="2390856" y="60789"/>
                      <a:pt x="2408250" y="810971"/>
                      <a:pt x="2495550" y="884766"/>
                    </a:cubicBezTo>
                    <a:cubicBezTo>
                      <a:pt x="2582850" y="958561"/>
                      <a:pt x="2809875" y="446616"/>
                      <a:pt x="2809875" y="446616"/>
                    </a:cubicBezTo>
                    <a:lnTo>
                      <a:pt x="2809875" y="446616"/>
                    </a:lnTo>
                  </a:path>
                </a:pathLst>
              </a:custGeom>
              <a:noFill/>
              <a:ln w="28575">
                <a:solidFill>
                  <a:srgbClr val="B806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3" name="Straight Connector 32">
                <a:extLst>
                  <a:ext uri="{FF2B5EF4-FFF2-40B4-BE49-F238E27FC236}">
                    <a16:creationId xmlns:a16="http://schemas.microsoft.com/office/drawing/2014/main" id="{1C2270C5-C3FA-4CA4-A227-BA97C9C489A0}"/>
                  </a:ext>
                </a:extLst>
              </p:cNvPr>
              <p:cNvCxnSpPr>
                <a:cxnSpLocks/>
              </p:cNvCxnSpPr>
              <p:nvPr/>
            </p:nvCxnSpPr>
            <p:spPr>
              <a:xfrm>
                <a:off x="2633083" y="3657610"/>
                <a:ext cx="331887" cy="0"/>
              </a:xfrm>
              <a:prstGeom prst="line">
                <a:avLst/>
              </a:prstGeom>
              <a:ln w="28575">
                <a:solidFill>
                  <a:srgbClr val="00B050"/>
                </a:solidFill>
                <a:prstDash val="soli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ED168BE3-C6A6-4EA6-8AFC-D206AD70B5E2}"/>
                  </a:ext>
                </a:extLst>
              </p:cNvPr>
              <p:cNvCxnSpPr>
                <a:cxnSpLocks/>
              </p:cNvCxnSpPr>
              <p:nvPr/>
            </p:nvCxnSpPr>
            <p:spPr>
              <a:xfrm>
                <a:off x="3018845" y="4214822"/>
                <a:ext cx="331887" cy="0"/>
              </a:xfrm>
              <a:prstGeom prst="line">
                <a:avLst/>
              </a:prstGeom>
              <a:ln w="28575">
                <a:solidFill>
                  <a:srgbClr val="00B050"/>
                </a:solidFill>
                <a:prstDash val="soli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2F098B6D-6278-47A4-BF58-6D1203F28AA1}"/>
                  </a:ext>
                </a:extLst>
              </p:cNvPr>
              <p:cNvCxnSpPr>
                <a:cxnSpLocks/>
              </p:cNvCxnSpPr>
              <p:nvPr/>
            </p:nvCxnSpPr>
            <p:spPr>
              <a:xfrm>
                <a:off x="4063695" y="3464729"/>
                <a:ext cx="585788" cy="0"/>
              </a:xfrm>
              <a:prstGeom prst="line">
                <a:avLst/>
              </a:prstGeom>
              <a:ln w="28575">
                <a:solidFill>
                  <a:srgbClr val="00B050"/>
                </a:solidFill>
                <a:prstDash val="soli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D7D33764-3FB5-4266-90C8-277C2B402E32}"/>
                  </a:ext>
                </a:extLst>
              </p:cNvPr>
              <p:cNvCxnSpPr>
                <a:cxnSpLocks/>
              </p:cNvCxnSpPr>
              <p:nvPr/>
            </p:nvCxnSpPr>
            <p:spPr>
              <a:xfrm>
                <a:off x="4528039" y="3032678"/>
                <a:ext cx="485775" cy="0"/>
              </a:xfrm>
              <a:prstGeom prst="line">
                <a:avLst/>
              </a:prstGeom>
              <a:ln w="28575">
                <a:solidFill>
                  <a:srgbClr val="00B050"/>
                </a:solidFill>
                <a:prstDash val="solid"/>
              </a:ln>
            </p:spPr>
            <p:style>
              <a:lnRef idx="1">
                <a:schemeClr val="accent1"/>
              </a:lnRef>
              <a:fillRef idx="0">
                <a:schemeClr val="accent1"/>
              </a:fillRef>
              <a:effectRef idx="0">
                <a:schemeClr val="accent1"/>
              </a:effectRef>
              <a:fontRef idx="minor">
                <a:schemeClr val="tx1"/>
              </a:fontRef>
            </p:style>
          </p:cxnSp>
        </p:grpSp>
        <p:cxnSp>
          <p:nvCxnSpPr>
            <p:cNvPr id="39" name="Straight Connector 38">
              <a:extLst>
                <a:ext uri="{FF2B5EF4-FFF2-40B4-BE49-F238E27FC236}">
                  <a16:creationId xmlns:a16="http://schemas.microsoft.com/office/drawing/2014/main" id="{A404D6DF-45BB-4B9E-8CBE-B0C17B2662CE}"/>
                </a:ext>
              </a:extLst>
            </p:cNvPr>
            <p:cNvCxnSpPr>
              <a:cxnSpLocks/>
            </p:cNvCxnSpPr>
            <p:nvPr/>
          </p:nvCxnSpPr>
          <p:spPr>
            <a:xfrm>
              <a:off x="4847870" y="3750479"/>
              <a:ext cx="331887" cy="0"/>
            </a:xfrm>
            <a:prstGeom prst="line">
              <a:avLst/>
            </a:prstGeom>
            <a:ln w="28575">
              <a:solidFill>
                <a:srgbClr val="00B050"/>
              </a:solidFill>
              <a:prstDash val="solid"/>
            </a:ln>
          </p:spPr>
          <p:style>
            <a:lnRef idx="1">
              <a:schemeClr val="accent1"/>
            </a:lnRef>
            <a:fillRef idx="0">
              <a:schemeClr val="accent1"/>
            </a:fillRef>
            <a:effectRef idx="0">
              <a:schemeClr val="accent1"/>
            </a:effectRef>
            <a:fontRef idx="minor">
              <a:schemeClr val="tx1"/>
            </a:fontRef>
          </p:style>
        </p:cxnSp>
      </p:grpSp>
      <p:sp>
        <p:nvSpPr>
          <p:cNvPr id="40" name="Speech Bubble: Rectangle 39">
            <a:extLst>
              <a:ext uri="{FF2B5EF4-FFF2-40B4-BE49-F238E27FC236}">
                <a16:creationId xmlns:a16="http://schemas.microsoft.com/office/drawing/2014/main" id="{C6D90D07-5543-4502-B5C3-C5FE2E5F62F8}"/>
              </a:ext>
            </a:extLst>
          </p:cNvPr>
          <p:cNvSpPr/>
          <p:nvPr/>
        </p:nvSpPr>
        <p:spPr>
          <a:xfrm>
            <a:off x="77077" y="2520840"/>
            <a:ext cx="2730522" cy="1361386"/>
          </a:xfrm>
          <a:prstGeom prst="wedgeRectCallout">
            <a:avLst>
              <a:gd name="adj1" fmla="val 74331"/>
              <a:gd name="adj2" fmla="val 36482"/>
            </a:avLst>
          </a:prstGeom>
          <a:solidFill>
            <a:schemeClr val="accent1">
              <a:alpha val="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000" dirty="0">
                <a:solidFill>
                  <a:schemeClr val="tx1"/>
                </a:solidFill>
                <a:latin typeface="Cambria" panose="02040503050406030204" pitchFamily="18" charset="0"/>
                <a:ea typeface="Cambria" panose="02040503050406030204" pitchFamily="18" charset="0"/>
              </a:rPr>
              <a:t>𝑓’(𝑥)= 0 at 𝑥, </a:t>
            </a:r>
          </a:p>
          <a:p>
            <a:r>
              <a:rPr lang="en-GB" sz="2000" dirty="0">
                <a:solidFill>
                  <a:schemeClr val="tx1"/>
                </a:solidFill>
                <a:latin typeface="Cambria" panose="02040503050406030204" pitchFamily="18" charset="0"/>
                <a:ea typeface="Cambria" panose="02040503050406030204" pitchFamily="18" charset="0"/>
              </a:rPr>
              <a:t>𝑓’(𝑥)&gt;0 just before 𝑥 𝑓’(𝑥)&lt;0 just after 𝑥</a:t>
            </a:r>
          </a:p>
          <a:p>
            <a:r>
              <a:rPr lang="en-GB" sz="2000" dirty="0">
                <a:solidFill>
                  <a:schemeClr val="tx1"/>
                </a:solidFill>
                <a:latin typeface="Cambria" panose="02040503050406030204" pitchFamily="18" charset="0"/>
                <a:ea typeface="Cambria" panose="02040503050406030204" pitchFamily="18" charset="0"/>
              </a:rPr>
              <a:t>𝑥 is a maxima</a:t>
            </a:r>
          </a:p>
        </p:txBody>
      </p:sp>
      <p:sp>
        <p:nvSpPr>
          <p:cNvPr id="43" name="Speech Bubble: Rectangle 42">
            <a:extLst>
              <a:ext uri="{FF2B5EF4-FFF2-40B4-BE49-F238E27FC236}">
                <a16:creationId xmlns:a16="http://schemas.microsoft.com/office/drawing/2014/main" id="{A7A953BC-EC9C-4756-B42E-33967F23B440}"/>
              </a:ext>
            </a:extLst>
          </p:cNvPr>
          <p:cNvSpPr/>
          <p:nvPr/>
        </p:nvSpPr>
        <p:spPr>
          <a:xfrm>
            <a:off x="4779903" y="4205814"/>
            <a:ext cx="3063576" cy="1401355"/>
          </a:xfrm>
          <a:prstGeom prst="wedgeRectCallout">
            <a:avLst>
              <a:gd name="adj1" fmla="val -68821"/>
              <a:gd name="adj2" fmla="val -31043"/>
            </a:avLst>
          </a:prstGeom>
          <a:solidFill>
            <a:schemeClr val="accent1">
              <a:alpha val="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000" dirty="0">
                <a:solidFill>
                  <a:schemeClr val="tx1"/>
                </a:solidFill>
                <a:latin typeface="Cambria" panose="02040503050406030204" pitchFamily="18" charset="0"/>
                <a:ea typeface="Cambria" panose="02040503050406030204" pitchFamily="18" charset="0"/>
              </a:rPr>
              <a:t>𝑓’(𝑥)= 0 at 𝑥</a:t>
            </a:r>
          </a:p>
          <a:p>
            <a:r>
              <a:rPr lang="en-GB" sz="2000" dirty="0">
                <a:solidFill>
                  <a:schemeClr val="tx1"/>
                </a:solidFill>
                <a:latin typeface="Cambria" panose="02040503050406030204" pitchFamily="18" charset="0"/>
                <a:ea typeface="Cambria" panose="02040503050406030204" pitchFamily="18" charset="0"/>
              </a:rPr>
              <a:t>𝑓’(𝑥)&lt; 0 just before 𝑥 𝑓’(𝑥)&gt;0 just after 𝑥</a:t>
            </a:r>
          </a:p>
          <a:p>
            <a:r>
              <a:rPr lang="en-GB" sz="2000" dirty="0">
                <a:solidFill>
                  <a:schemeClr val="tx1"/>
                </a:solidFill>
                <a:latin typeface="Cambria" panose="02040503050406030204" pitchFamily="18" charset="0"/>
                <a:ea typeface="Cambria" panose="02040503050406030204" pitchFamily="18" charset="0"/>
              </a:rPr>
              <a:t>𝑥 is a minima</a:t>
            </a:r>
          </a:p>
        </p:txBody>
      </p:sp>
      <p:sp>
        <p:nvSpPr>
          <p:cNvPr id="44" name="Speech Bubble: Rectangle 43">
            <a:extLst>
              <a:ext uri="{FF2B5EF4-FFF2-40B4-BE49-F238E27FC236}">
                <a16:creationId xmlns:a16="http://schemas.microsoft.com/office/drawing/2014/main" id="{8F08253E-E0FD-43AC-A15E-36B5A8456D8A}"/>
              </a:ext>
            </a:extLst>
          </p:cNvPr>
          <p:cNvSpPr/>
          <p:nvPr/>
        </p:nvSpPr>
        <p:spPr>
          <a:xfrm>
            <a:off x="-80757" y="1437379"/>
            <a:ext cx="6176757" cy="1015630"/>
          </a:xfrm>
          <a:prstGeom prst="wedgeRectCallout">
            <a:avLst>
              <a:gd name="adj1" fmla="val 49659"/>
              <a:gd name="adj2" fmla="val 60721"/>
            </a:avLst>
          </a:prstGeom>
          <a:solidFill>
            <a:schemeClr val="accent1">
              <a:alpha val="0"/>
            </a:schemeClr>
          </a:solid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2000" dirty="0">
                <a:solidFill>
                  <a:schemeClr val="tx1"/>
                </a:solidFill>
                <a:latin typeface="Cambria" panose="02040503050406030204" pitchFamily="18" charset="0"/>
                <a:ea typeface="Cambria" panose="02040503050406030204" pitchFamily="18" charset="0"/>
              </a:rPr>
              <a:t>𝑓’(𝑥)= 0 at 𝑥</a:t>
            </a:r>
          </a:p>
          <a:p>
            <a:r>
              <a:rPr lang="en-GB" sz="2000" dirty="0">
                <a:solidFill>
                  <a:schemeClr val="tx1"/>
                </a:solidFill>
                <a:latin typeface="Cambria" panose="02040503050406030204" pitchFamily="18" charset="0"/>
                <a:ea typeface="Cambria" panose="02040503050406030204" pitchFamily="18" charset="0"/>
              </a:rPr>
              <a:t>𝑓’(𝑥)= 0 just before 𝑥 𝑓’(𝑥)= 0 just after 𝑥</a:t>
            </a:r>
          </a:p>
          <a:p>
            <a:r>
              <a:rPr lang="en-GB" sz="2000" dirty="0">
                <a:solidFill>
                  <a:schemeClr val="tx1"/>
                </a:solidFill>
                <a:latin typeface="Cambria" panose="02040503050406030204" pitchFamily="18" charset="0"/>
                <a:ea typeface="Cambria" panose="02040503050406030204" pitchFamily="18" charset="0"/>
              </a:rPr>
              <a:t>𝑥 may be a saddle</a:t>
            </a:r>
          </a:p>
        </p:txBody>
      </p:sp>
      <mc:AlternateContent xmlns:mc="http://schemas.openxmlformats.org/markup-compatibility/2006" xmlns:a14="http://schemas.microsoft.com/office/drawing/2010/main">
        <mc:Choice Requires="a14">
          <p:sp>
            <p:nvSpPr>
              <p:cNvPr id="5" name="Rectangle 4"/>
              <p:cNvSpPr/>
              <p:nvPr/>
            </p:nvSpPr>
            <p:spPr>
              <a:xfrm>
                <a:off x="163517" y="5238920"/>
                <a:ext cx="4631747" cy="1323439"/>
              </a:xfrm>
              <a:prstGeom prst="rect">
                <a:avLst/>
              </a:prstGeom>
            </p:spPr>
            <p:txBody>
              <a:bodyPr wrap="square">
                <a:spAutoFit/>
              </a:bodyPr>
              <a:lstStyle/>
              <a:p>
                <a:r>
                  <a:rPr lang="en-GB" sz="2000" b="1" dirty="0">
                    <a:solidFill>
                      <a:srgbClr val="7030A0"/>
                    </a:solidFill>
                    <a:latin typeface="Cambria" panose="02040503050406030204" pitchFamily="18" charset="0"/>
                    <a:ea typeface="Cambria" panose="02040503050406030204" pitchFamily="18" charset="0"/>
                  </a:rPr>
                  <a:t>𝑓’(𝑥)= 0 and </a:t>
                </a:r>
                <a14:m>
                  <m:oMath xmlns:m="http://schemas.openxmlformats.org/officeDocument/2006/math">
                    <m:r>
                      <a:rPr lang="en-GB" sz="2000" b="1" i="1" dirty="0">
                        <a:solidFill>
                          <a:srgbClr val="7030A0"/>
                        </a:solidFill>
                        <a:latin typeface="Cambria Math" panose="02040503050406030204" pitchFamily="18" charset="0"/>
                      </a:rPr>
                      <m:t>𝒇</m:t>
                    </m:r>
                    <m:r>
                      <a:rPr lang="en-GB" sz="2000" b="1" i="1" dirty="0">
                        <a:solidFill>
                          <a:srgbClr val="7030A0"/>
                        </a:solidFill>
                        <a:latin typeface="Cambria Math" panose="02040503050406030204" pitchFamily="18" charset="0"/>
                      </a:rPr>
                      <m:t>’’</m:t>
                    </m:r>
                    <m:d>
                      <m:dPr>
                        <m:ctrlPr>
                          <a:rPr lang="en-GB" sz="2000" b="1" i="1" dirty="0">
                            <a:solidFill>
                              <a:srgbClr val="7030A0"/>
                            </a:solidFill>
                            <a:latin typeface="Cambria Math" panose="02040503050406030204" pitchFamily="18" charset="0"/>
                          </a:rPr>
                        </m:ctrlPr>
                      </m:dPr>
                      <m:e>
                        <m:r>
                          <a:rPr lang="en-GB" sz="2000" b="1" i="1" dirty="0">
                            <a:solidFill>
                              <a:srgbClr val="7030A0"/>
                            </a:solidFill>
                            <a:latin typeface="Cambria Math" panose="02040503050406030204" pitchFamily="18" charset="0"/>
                          </a:rPr>
                          <m:t>𝒙</m:t>
                        </m:r>
                      </m:e>
                    </m:d>
                    <m:r>
                      <a:rPr lang="en-GB" sz="2000" b="1" i="1" dirty="0">
                        <a:solidFill>
                          <a:srgbClr val="7030A0"/>
                        </a:solidFill>
                        <a:latin typeface="Cambria Math" panose="02040503050406030204" pitchFamily="18" charset="0"/>
                      </a:rPr>
                      <m:t>&lt; </m:t>
                    </m:r>
                    <m:r>
                      <a:rPr lang="en-GB" sz="2000" b="1" i="1" dirty="0">
                        <a:solidFill>
                          <a:srgbClr val="7030A0"/>
                        </a:solidFill>
                        <a:latin typeface="Cambria Math" panose="02040503050406030204" pitchFamily="18" charset="0"/>
                      </a:rPr>
                      <m:t>𝟎</m:t>
                    </m:r>
                    <m:r>
                      <a:rPr lang="en-US" sz="2000" b="1" i="1" dirty="0" smtClean="0">
                        <a:solidFill>
                          <a:srgbClr val="7030A0"/>
                        </a:solidFill>
                        <a:latin typeface="Cambria Math" panose="02040503050406030204" pitchFamily="18" charset="0"/>
                      </a:rPr>
                      <m:t>,</m:t>
                    </m:r>
                    <m:r>
                      <a:rPr lang="en-GB" sz="2000" b="1" i="1" dirty="0">
                        <a:solidFill>
                          <a:srgbClr val="7030A0"/>
                        </a:solidFill>
                        <a:latin typeface="Cambria Math" panose="02040503050406030204" pitchFamily="18" charset="0"/>
                      </a:rPr>
                      <m:t>𝒙</m:t>
                    </m:r>
                  </m:oMath>
                </a14:m>
                <a:r>
                  <a:rPr lang="en-GB" sz="2000" b="1" dirty="0">
                    <a:solidFill>
                      <a:srgbClr val="7030A0"/>
                    </a:solidFill>
                    <a:latin typeface="Cambria" panose="02040503050406030204" pitchFamily="18" charset="0"/>
                    <a:ea typeface="Cambria" panose="02040503050406030204" pitchFamily="18" charset="0"/>
                  </a:rPr>
                  <a:t> is a maxima</a:t>
                </a:r>
              </a:p>
              <a:p>
                <a:r>
                  <a:rPr lang="en-GB" sz="2000" b="1" dirty="0">
                    <a:solidFill>
                      <a:srgbClr val="7030A0"/>
                    </a:solidFill>
                    <a:latin typeface="Cambria" panose="02040503050406030204" pitchFamily="18" charset="0"/>
                    <a:ea typeface="Cambria" panose="02040503050406030204" pitchFamily="18" charset="0"/>
                  </a:rPr>
                  <a:t>𝑓’(𝑥)= 0 and </a:t>
                </a:r>
                <a14:m>
                  <m:oMath xmlns:m="http://schemas.openxmlformats.org/officeDocument/2006/math">
                    <m:r>
                      <a:rPr lang="en-GB" sz="2000" b="1" i="1" dirty="0">
                        <a:solidFill>
                          <a:srgbClr val="7030A0"/>
                        </a:solidFill>
                        <a:latin typeface="Cambria Math" panose="02040503050406030204" pitchFamily="18" charset="0"/>
                      </a:rPr>
                      <m:t>𝒇</m:t>
                    </m:r>
                    <m:r>
                      <a:rPr lang="en-GB" sz="2000" b="1" i="1" dirty="0">
                        <a:solidFill>
                          <a:srgbClr val="7030A0"/>
                        </a:solidFill>
                        <a:latin typeface="Cambria Math" panose="02040503050406030204" pitchFamily="18" charset="0"/>
                      </a:rPr>
                      <m:t>’’</m:t>
                    </m:r>
                    <m:d>
                      <m:dPr>
                        <m:ctrlPr>
                          <a:rPr lang="en-GB" sz="2000" b="1" i="1" dirty="0">
                            <a:solidFill>
                              <a:srgbClr val="7030A0"/>
                            </a:solidFill>
                            <a:latin typeface="Cambria Math" panose="02040503050406030204" pitchFamily="18" charset="0"/>
                          </a:rPr>
                        </m:ctrlPr>
                      </m:dPr>
                      <m:e>
                        <m:r>
                          <a:rPr lang="en-GB" sz="2000" b="1" i="1" dirty="0">
                            <a:solidFill>
                              <a:srgbClr val="7030A0"/>
                            </a:solidFill>
                            <a:latin typeface="Cambria Math" panose="02040503050406030204" pitchFamily="18" charset="0"/>
                          </a:rPr>
                          <m:t>𝒙</m:t>
                        </m:r>
                      </m:e>
                    </m:d>
                    <m:r>
                      <a:rPr lang="en-IN" sz="2000" b="1" i="1" dirty="0">
                        <a:solidFill>
                          <a:srgbClr val="7030A0"/>
                        </a:solidFill>
                        <a:latin typeface="Cambria Math" panose="02040503050406030204" pitchFamily="18" charset="0"/>
                      </a:rPr>
                      <m:t>&gt;</m:t>
                    </m:r>
                    <m:r>
                      <a:rPr lang="en-GB" sz="2000" b="1" i="1" dirty="0">
                        <a:solidFill>
                          <a:srgbClr val="7030A0"/>
                        </a:solidFill>
                        <a:latin typeface="Cambria Math" panose="02040503050406030204" pitchFamily="18" charset="0"/>
                      </a:rPr>
                      <m:t> </m:t>
                    </m:r>
                    <m:r>
                      <a:rPr lang="en-GB" sz="2000" b="1" i="1" dirty="0">
                        <a:solidFill>
                          <a:srgbClr val="7030A0"/>
                        </a:solidFill>
                        <a:latin typeface="Cambria Math" panose="02040503050406030204" pitchFamily="18" charset="0"/>
                      </a:rPr>
                      <m:t>𝟎</m:t>
                    </m:r>
                  </m:oMath>
                </a14:m>
                <a:r>
                  <a:rPr lang="en-GB" sz="2000" b="1" dirty="0">
                    <a:solidFill>
                      <a:srgbClr val="7030A0"/>
                    </a:solidFill>
                    <a:latin typeface="Cambria" panose="02040503050406030204" pitchFamily="18" charset="0"/>
                    <a:ea typeface="Cambria" panose="02040503050406030204" pitchFamily="18" charset="0"/>
                  </a:rPr>
                  <a:t>. </a:t>
                </a:r>
                <a14:m>
                  <m:oMath xmlns:m="http://schemas.openxmlformats.org/officeDocument/2006/math">
                    <m:r>
                      <a:rPr lang="en-GB" sz="2000" b="1" i="1" dirty="0">
                        <a:solidFill>
                          <a:srgbClr val="7030A0"/>
                        </a:solidFill>
                        <a:latin typeface="Cambria Math" panose="02040503050406030204" pitchFamily="18" charset="0"/>
                      </a:rPr>
                      <m:t>𝒙</m:t>
                    </m:r>
                  </m:oMath>
                </a14:m>
                <a:r>
                  <a:rPr lang="en-GB" sz="2000" b="1" dirty="0">
                    <a:solidFill>
                      <a:srgbClr val="7030A0"/>
                    </a:solidFill>
                    <a:latin typeface="Cambria" panose="02040503050406030204" pitchFamily="18" charset="0"/>
                    <a:ea typeface="Cambria" panose="02040503050406030204" pitchFamily="18" charset="0"/>
                  </a:rPr>
                  <a:t> is a minima</a:t>
                </a:r>
              </a:p>
              <a:p>
                <a:r>
                  <a:rPr lang="en-GB" sz="2000" b="1" dirty="0">
                    <a:solidFill>
                      <a:srgbClr val="7030A0"/>
                    </a:solidFill>
                    <a:latin typeface="Cambria" panose="02040503050406030204" pitchFamily="18" charset="0"/>
                    <a:ea typeface="Cambria" panose="02040503050406030204" pitchFamily="18" charset="0"/>
                  </a:rPr>
                  <a:t>𝑓’(𝑥)= 0 and </a:t>
                </a:r>
                <a14:m>
                  <m:oMath xmlns:m="http://schemas.openxmlformats.org/officeDocument/2006/math">
                    <m:r>
                      <a:rPr lang="en-GB" sz="2000" b="1" i="1" dirty="0">
                        <a:solidFill>
                          <a:srgbClr val="7030A0"/>
                        </a:solidFill>
                        <a:latin typeface="Cambria Math" panose="02040503050406030204" pitchFamily="18" charset="0"/>
                      </a:rPr>
                      <m:t>𝒇</m:t>
                    </m:r>
                    <m:r>
                      <a:rPr lang="en-GB" sz="2000" b="1" i="1" dirty="0">
                        <a:solidFill>
                          <a:srgbClr val="7030A0"/>
                        </a:solidFill>
                        <a:latin typeface="Cambria Math" panose="02040503050406030204" pitchFamily="18" charset="0"/>
                      </a:rPr>
                      <m:t>’’</m:t>
                    </m:r>
                    <m:d>
                      <m:dPr>
                        <m:ctrlPr>
                          <a:rPr lang="en-GB" sz="2000" b="1" i="1" dirty="0">
                            <a:solidFill>
                              <a:srgbClr val="7030A0"/>
                            </a:solidFill>
                            <a:latin typeface="Cambria Math" panose="02040503050406030204" pitchFamily="18" charset="0"/>
                          </a:rPr>
                        </m:ctrlPr>
                      </m:dPr>
                      <m:e>
                        <m:r>
                          <a:rPr lang="en-GB" sz="2000" b="1" i="1" dirty="0">
                            <a:solidFill>
                              <a:srgbClr val="7030A0"/>
                            </a:solidFill>
                            <a:latin typeface="Cambria Math" panose="02040503050406030204" pitchFamily="18" charset="0"/>
                          </a:rPr>
                          <m:t>𝒙</m:t>
                        </m:r>
                      </m:e>
                    </m:d>
                    <m:r>
                      <a:rPr lang="en-IN" sz="2000" b="1" i="1" dirty="0">
                        <a:solidFill>
                          <a:srgbClr val="7030A0"/>
                        </a:solidFill>
                        <a:latin typeface="Cambria Math" panose="02040503050406030204" pitchFamily="18" charset="0"/>
                      </a:rPr>
                      <m:t>=</m:t>
                    </m:r>
                    <m:r>
                      <a:rPr lang="en-GB" sz="2000" b="1" i="1" dirty="0">
                        <a:solidFill>
                          <a:srgbClr val="7030A0"/>
                        </a:solidFill>
                        <a:latin typeface="Cambria Math" panose="02040503050406030204" pitchFamily="18" charset="0"/>
                      </a:rPr>
                      <m:t> </m:t>
                    </m:r>
                    <m:r>
                      <a:rPr lang="en-GB" sz="2000" b="1" i="1" dirty="0">
                        <a:solidFill>
                          <a:srgbClr val="7030A0"/>
                        </a:solidFill>
                        <a:latin typeface="Cambria Math" panose="02040503050406030204" pitchFamily="18" charset="0"/>
                      </a:rPr>
                      <m:t>𝟎</m:t>
                    </m:r>
                    <m:r>
                      <a:rPr lang="en-US" sz="2000" b="1" i="0" dirty="0" smtClean="0">
                        <a:solidFill>
                          <a:srgbClr val="7030A0"/>
                        </a:solidFill>
                        <a:latin typeface="Cambria Math" panose="02040503050406030204" pitchFamily="18" charset="0"/>
                      </a:rPr>
                      <m:t>, </m:t>
                    </m:r>
                    <m:r>
                      <a:rPr lang="en-US" sz="2000" b="1" i="1" dirty="0" smtClean="0">
                        <a:solidFill>
                          <a:srgbClr val="7030A0"/>
                        </a:solidFill>
                        <a:latin typeface="Cambria Math" panose="02040503050406030204" pitchFamily="18" charset="0"/>
                      </a:rPr>
                      <m:t> </m:t>
                    </m:r>
                    <m:r>
                      <a:rPr lang="en-GB" sz="2000" b="1" i="1" dirty="0">
                        <a:solidFill>
                          <a:srgbClr val="7030A0"/>
                        </a:solidFill>
                        <a:latin typeface="Cambria Math" panose="02040503050406030204" pitchFamily="18" charset="0"/>
                      </a:rPr>
                      <m:t>𝒙</m:t>
                    </m:r>
                  </m:oMath>
                </a14:m>
                <a:r>
                  <a:rPr lang="en-GB" sz="2000" b="1" dirty="0">
                    <a:solidFill>
                      <a:srgbClr val="7030A0"/>
                    </a:solidFill>
                    <a:latin typeface="Cambria" panose="02040503050406030204" pitchFamily="18" charset="0"/>
                    <a:ea typeface="Cambria" panose="02040503050406030204" pitchFamily="18" charset="0"/>
                  </a:rPr>
                  <a:t> may be a saddle. </a:t>
                </a:r>
              </a:p>
            </p:txBody>
          </p:sp>
        </mc:Choice>
        <mc:Fallback xmlns="">
          <p:sp>
            <p:nvSpPr>
              <p:cNvPr id="5" name="Rectangle 4"/>
              <p:cNvSpPr>
                <a:spLocks noRot="1" noChangeAspect="1" noMove="1" noResize="1" noEditPoints="1" noAdjustHandles="1" noChangeArrowheads="1" noChangeShapeType="1" noTextEdit="1"/>
              </p:cNvSpPr>
              <p:nvPr/>
            </p:nvSpPr>
            <p:spPr>
              <a:xfrm>
                <a:off x="163517" y="5238920"/>
                <a:ext cx="4631747" cy="1323439"/>
              </a:xfrm>
              <a:prstGeom prst="rect">
                <a:avLst/>
              </a:prstGeom>
              <a:blipFill rotWithShape="0">
                <a:blip r:embed="rId3"/>
                <a:stretch>
                  <a:fillRect l="-1447" t="-2294" b="-6881"/>
                </a:stretch>
              </a:blipFill>
            </p:spPr>
            <p:txBody>
              <a:bodyPr/>
              <a:lstStyle/>
              <a:p>
                <a:r>
                  <a:rPr lang="en-IN">
                    <a:noFill/>
                  </a:rPr>
                  <a:t> </a:t>
                </a:r>
              </a:p>
            </p:txBody>
          </p:sp>
        </mc:Fallback>
      </mc:AlternateContent>
    </p:spTree>
    <p:custDataLst>
      <p:tags r:id="rId1"/>
    </p:custDataLst>
    <p:extLst>
      <p:ext uri="{BB962C8B-B14F-4D97-AF65-F5344CB8AC3E}">
        <p14:creationId xmlns:p14="http://schemas.microsoft.com/office/powerpoint/2010/main" val="306128791"/>
      </p:ext>
    </p:extLst>
  </p:cSld>
  <p:clrMapOvr>
    <a:masterClrMapping/>
  </p:clrMapOvr>
  <mc:AlternateContent xmlns:mc="http://schemas.openxmlformats.org/markup-compatibility/2006" xmlns:p14="http://schemas.microsoft.com/office/powerpoint/2010/main">
    <mc:Choice Requires="p14">
      <p:transition spd="slow" p14:dur="2000" advTm="165379"/>
    </mc:Choice>
    <mc:Fallback xmlns="">
      <p:transition spd="slow" advTm="16537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wipe(down)">
                                      <p:cBhvr>
                                        <p:cTn id="7" dur="500"/>
                                        <p:tgtEl>
                                          <p:spTgt spid="4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wipe(down)">
                                      <p:cBhvr>
                                        <p:cTn id="12" dur="500"/>
                                        <p:tgtEl>
                                          <p:spTgt spid="4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4"/>
                                        </p:tgtEl>
                                        <p:attrNameLst>
                                          <p:attrName>style.visibility</p:attrName>
                                        </p:attrNameLst>
                                      </p:cBhvr>
                                      <p:to>
                                        <p:strVal val="visible"/>
                                      </p:to>
                                    </p:set>
                                    <p:animEffect transition="in" filter="wipe(down)">
                                      <p:cBhvr>
                                        <p:cTn id="17"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3" grpId="0" animBg="1"/>
      <p:bldP spid="4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ChangeArrowheads="1"/>
          </p:cNvSpPr>
          <p:nvPr>
            <p:ph type="title"/>
          </p:nvPr>
        </p:nvSpPr>
        <p:spPr>
          <a:xfrm>
            <a:off x="304800" y="245378"/>
            <a:ext cx="8229600" cy="857251"/>
          </a:xfrm>
        </p:spPr>
        <p:txBody>
          <a:bodyPr/>
          <a:lstStyle/>
          <a:p>
            <a:r>
              <a:rPr lang="en-US" sz="2800" dirty="0"/>
              <a:t>Reminder: The error surface for a linear neuron</a:t>
            </a:r>
          </a:p>
        </p:txBody>
      </p:sp>
      <p:sp>
        <p:nvSpPr>
          <p:cNvPr id="176131" name="Rectangle 3"/>
          <p:cNvSpPr>
            <a:spLocks noGrp="1" noChangeArrowheads="1"/>
          </p:cNvSpPr>
          <p:nvPr>
            <p:ph type="body" idx="4294967295"/>
          </p:nvPr>
        </p:nvSpPr>
        <p:spPr>
          <a:xfrm>
            <a:off x="123842" y="1732558"/>
            <a:ext cx="5544616" cy="4973042"/>
          </a:xfrm>
          <a:prstGeom prst="rect">
            <a:avLst/>
          </a:prstGeom>
        </p:spPr>
        <p:txBody>
          <a:bodyPr/>
          <a:lstStyle/>
          <a:p>
            <a:pPr marL="342900" indent="-342900">
              <a:buFont typeface="Arial" panose="020B0604020202020204" pitchFamily="34" charset="0"/>
              <a:buChar char="•"/>
            </a:pPr>
            <a:r>
              <a:rPr lang="en-US" dirty="0"/>
              <a:t>The error surface lies in a space with a horizontal axis for each weight and one vertical axis for the error. </a:t>
            </a:r>
          </a:p>
          <a:p>
            <a:pPr marL="800100" lvl="1" indent="-342900">
              <a:buFont typeface="Arial" panose="020B0604020202020204" pitchFamily="34" charset="0"/>
              <a:buChar char="•"/>
            </a:pPr>
            <a:r>
              <a:rPr lang="en-US" dirty="0"/>
              <a:t>For a linear neuron with a squared error, it is a quadratic bowl. </a:t>
            </a:r>
          </a:p>
          <a:p>
            <a:pPr marL="342900" indent="-342900">
              <a:buFont typeface="Arial" panose="020B0604020202020204" pitchFamily="34" charset="0"/>
              <a:buChar char="•"/>
            </a:pPr>
            <a:r>
              <a:rPr lang="en-US" dirty="0"/>
              <a:t>For multi-layer, non-linear nets the error surface is much more complicated.</a:t>
            </a:r>
          </a:p>
          <a:p>
            <a:pPr marL="800100" lvl="1" indent="-342900">
              <a:buFont typeface="Arial" panose="020B0604020202020204" pitchFamily="34" charset="0"/>
              <a:buChar char="•"/>
            </a:pPr>
            <a:r>
              <a:rPr lang="en-US" b="1" dirty="0"/>
              <a:t>But locally, a piece of a quadratic bowl is usually a very good approximation.</a:t>
            </a:r>
          </a:p>
          <a:p>
            <a:pPr marL="800100" lvl="1" indent="-342900">
              <a:buFont typeface="Arial" panose="020B0604020202020204" pitchFamily="34" charset="0"/>
              <a:buChar char="•"/>
            </a:pPr>
            <a:r>
              <a:rPr lang="en-US" b="1" dirty="0"/>
              <a:t>GD can be a good approximation</a:t>
            </a:r>
          </a:p>
        </p:txBody>
      </p:sp>
      <p:sp>
        <p:nvSpPr>
          <p:cNvPr id="176132" name="Rectangle 4"/>
          <p:cNvSpPr>
            <a:spLocks noChangeArrowheads="1"/>
          </p:cNvSpPr>
          <p:nvPr/>
        </p:nvSpPr>
        <p:spPr bwMode="auto">
          <a:xfrm>
            <a:off x="6192181" y="1769860"/>
            <a:ext cx="2484279" cy="1350169"/>
          </a:xfrm>
          <a:prstGeom prst="rect">
            <a:avLst/>
          </a:prstGeom>
          <a:solidFill>
            <a:srgbClr val="EEECE1"/>
          </a:solidFill>
          <a:ln w="9525">
            <a:solidFill>
              <a:schemeClr val="tx1"/>
            </a:solidFill>
            <a:miter lim="800000"/>
            <a:headEnd/>
            <a:tailEnd/>
          </a:ln>
          <a:effectLst/>
        </p:spPr>
        <p:txBody>
          <a:bodyPr wrap="none" anchor="ctr"/>
          <a:lstStyle/>
          <a:p>
            <a:endParaRPr lang="en-US"/>
          </a:p>
        </p:txBody>
      </p:sp>
      <p:sp>
        <p:nvSpPr>
          <p:cNvPr id="176135" name="Freeform 7"/>
          <p:cNvSpPr>
            <a:spLocks/>
          </p:cNvSpPr>
          <p:nvPr/>
        </p:nvSpPr>
        <p:spPr bwMode="auto">
          <a:xfrm>
            <a:off x="6371981" y="1715089"/>
            <a:ext cx="1081087" cy="1313260"/>
          </a:xfrm>
          <a:custGeom>
            <a:avLst/>
            <a:gdLst>
              <a:gd name="T0" fmla="*/ 0 w 681"/>
              <a:gd name="T1" fmla="*/ 0 h 1103"/>
              <a:gd name="T2" fmla="*/ 46 w 681"/>
              <a:gd name="T3" fmla="*/ 272 h 1103"/>
              <a:gd name="T4" fmla="*/ 182 w 681"/>
              <a:gd name="T5" fmla="*/ 680 h 1103"/>
              <a:gd name="T6" fmla="*/ 408 w 681"/>
              <a:gd name="T7" fmla="*/ 997 h 1103"/>
              <a:gd name="T8" fmla="*/ 590 w 681"/>
              <a:gd name="T9" fmla="*/ 1088 h 1103"/>
              <a:gd name="T10" fmla="*/ 681 w 681"/>
              <a:gd name="T11" fmla="*/ 1088 h 1103"/>
            </a:gdLst>
            <a:ahLst/>
            <a:cxnLst>
              <a:cxn ang="0">
                <a:pos x="T0" y="T1"/>
              </a:cxn>
              <a:cxn ang="0">
                <a:pos x="T2" y="T3"/>
              </a:cxn>
              <a:cxn ang="0">
                <a:pos x="T4" y="T5"/>
              </a:cxn>
              <a:cxn ang="0">
                <a:pos x="T6" y="T7"/>
              </a:cxn>
              <a:cxn ang="0">
                <a:pos x="T8" y="T9"/>
              </a:cxn>
              <a:cxn ang="0">
                <a:pos x="T10" y="T11"/>
              </a:cxn>
            </a:cxnLst>
            <a:rect l="0" t="0" r="r" b="b"/>
            <a:pathLst>
              <a:path w="681" h="1103">
                <a:moveTo>
                  <a:pt x="0" y="0"/>
                </a:moveTo>
                <a:cubicBezTo>
                  <a:pt x="8" y="79"/>
                  <a:pt x="16" y="159"/>
                  <a:pt x="46" y="272"/>
                </a:cubicBezTo>
                <a:cubicBezTo>
                  <a:pt x="76" y="385"/>
                  <a:pt x="122" y="559"/>
                  <a:pt x="182" y="680"/>
                </a:cubicBezTo>
                <a:cubicBezTo>
                  <a:pt x="242" y="801"/>
                  <a:pt x="340" y="929"/>
                  <a:pt x="408" y="997"/>
                </a:cubicBezTo>
                <a:cubicBezTo>
                  <a:pt x="476" y="1065"/>
                  <a:pt x="545" y="1073"/>
                  <a:pt x="590" y="1088"/>
                </a:cubicBezTo>
                <a:cubicBezTo>
                  <a:pt x="635" y="1103"/>
                  <a:pt x="666" y="1088"/>
                  <a:pt x="681" y="1088"/>
                </a:cubicBezTo>
              </a:path>
            </a:pathLst>
          </a:custGeom>
          <a:noFill/>
          <a:ln w="9525">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176136" name="Freeform 8"/>
          <p:cNvSpPr>
            <a:spLocks/>
          </p:cNvSpPr>
          <p:nvPr/>
        </p:nvSpPr>
        <p:spPr bwMode="auto">
          <a:xfrm flipH="1">
            <a:off x="7451477" y="1715089"/>
            <a:ext cx="1223962" cy="1313260"/>
          </a:xfrm>
          <a:custGeom>
            <a:avLst/>
            <a:gdLst>
              <a:gd name="T0" fmla="*/ 0 w 681"/>
              <a:gd name="T1" fmla="*/ 0 h 1103"/>
              <a:gd name="T2" fmla="*/ 46 w 681"/>
              <a:gd name="T3" fmla="*/ 272 h 1103"/>
              <a:gd name="T4" fmla="*/ 182 w 681"/>
              <a:gd name="T5" fmla="*/ 680 h 1103"/>
              <a:gd name="T6" fmla="*/ 408 w 681"/>
              <a:gd name="T7" fmla="*/ 997 h 1103"/>
              <a:gd name="T8" fmla="*/ 590 w 681"/>
              <a:gd name="T9" fmla="*/ 1088 h 1103"/>
              <a:gd name="T10" fmla="*/ 681 w 681"/>
              <a:gd name="T11" fmla="*/ 1088 h 1103"/>
            </a:gdLst>
            <a:ahLst/>
            <a:cxnLst>
              <a:cxn ang="0">
                <a:pos x="T0" y="T1"/>
              </a:cxn>
              <a:cxn ang="0">
                <a:pos x="T2" y="T3"/>
              </a:cxn>
              <a:cxn ang="0">
                <a:pos x="T4" y="T5"/>
              </a:cxn>
              <a:cxn ang="0">
                <a:pos x="T6" y="T7"/>
              </a:cxn>
              <a:cxn ang="0">
                <a:pos x="T8" y="T9"/>
              </a:cxn>
              <a:cxn ang="0">
                <a:pos x="T10" y="T11"/>
              </a:cxn>
            </a:cxnLst>
            <a:rect l="0" t="0" r="r" b="b"/>
            <a:pathLst>
              <a:path w="681" h="1103">
                <a:moveTo>
                  <a:pt x="0" y="0"/>
                </a:moveTo>
                <a:cubicBezTo>
                  <a:pt x="8" y="79"/>
                  <a:pt x="16" y="159"/>
                  <a:pt x="46" y="272"/>
                </a:cubicBezTo>
                <a:cubicBezTo>
                  <a:pt x="76" y="385"/>
                  <a:pt x="122" y="559"/>
                  <a:pt x="182" y="680"/>
                </a:cubicBezTo>
                <a:cubicBezTo>
                  <a:pt x="242" y="801"/>
                  <a:pt x="340" y="929"/>
                  <a:pt x="408" y="997"/>
                </a:cubicBezTo>
                <a:cubicBezTo>
                  <a:pt x="476" y="1065"/>
                  <a:pt x="545" y="1073"/>
                  <a:pt x="590" y="1088"/>
                </a:cubicBezTo>
                <a:cubicBezTo>
                  <a:pt x="635" y="1103"/>
                  <a:pt x="666" y="1088"/>
                  <a:pt x="681" y="1088"/>
                </a:cubicBezTo>
              </a:path>
            </a:pathLst>
          </a:custGeom>
          <a:noFill/>
          <a:ln w="9525">
            <a:solidFill>
              <a:schemeClr val="tx1"/>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176137" name="Text Box 9"/>
          <p:cNvSpPr txBox="1">
            <a:spLocks noChangeArrowheads="1"/>
          </p:cNvSpPr>
          <p:nvPr/>
        </p:nvSpPr>
        <p:spPr bwMode="auto">
          <a:xfrm>
            <a:off x="5632205" y="2216345"/>
            <a:ext cx="389951"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sz="2400"/>
              <a:t>E</a:t>
            </a:r>
          </a:p>
        </p:txBody>
      </p:sp>
      <p:sp>
        <p:nvSpPr>
          <p:cNvPr id="176142" name="Line 14"/>
          <p:cNvSpPr>
            <a:spLocks noChangeShapeType="1"/>
          </p:cNvSpPr>
          <p:nvPr/>
        </p:nvSpPr>
        <p:spPr bwMode="auto">
          <a:xfrm flipV="1">
            <a:off x="5795714" y="1986551"/>
            <a:ext cx="0" cy="215504"/>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176152" name="Rectangle 24"/>
          <p:cNvSpPr>
            <a:spLocks noChangeArrowheads="1"/>
          </p:cNvSpPr>
          <p:nvPr/>
        </p:nvSpPr>
        <p:spPr bwMode="auto">
          <a:xfrm>
            <a:off x="6233716" y="3704029"/>
            <a:ext cx="2449512" cy="1476164"/>
          </a:xfrm>
          <a:prstGeom prst="rect">
            <a:avLst/>
          </a:prstGeom>
          <a:solidFill>
            <a:srgbClr val="EEECE1"/>
          </a:solidFill>
          <a:ln w="9525">
            <a:solidFill>
              <a:schemeClr val="tx1"/>
            </a:solidFill>
            <a:miter lim="800000"/>
            <a:headEnd/>
            <a:tailEnd/>
          </a:ln>
          <a:effectLst/>
        </p:spPr>
        <p:txBody>
          <a:bodyPr wrap="none" anchor="ctr"/>
          <a:lstStyle/>
          <a:p>
            <a:endParaRPr lang="en-US"/>
          </a:p>
        </p:txBody>
      </p:sp>
      <p:sp>
        <p:nvSpPr>
          <p:cNvPr id="176153" name="Text Box 25"/>
          <p:cNvSpPr txBox="1">
            <a:spLocks noChangeArrowheads="1"/>
          </p:cNvSpPr>
          <p:nvPr/>
        </p:nvSpPr>
        <p:spPr bwMode="auto">
          <a:xfrm>
            <a:off x="5724128" y="4181241"/>
            <a:ext cx="525354" cy="400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sz="2000"/>
              <a:t>w1</a:t>
            </a:r>
          </a:p>
        </p:txBody>
      </p:sp>
      <p:sp>
        <p:nvSpPr>
          <p:cNvPr id="176154" name="Text Box 26"/>
          <p:cNvSpPr txBox="1">
            <a:spLocks noChangeArrowheads="1"/>
          </p:cNvSpPr>
          <p:nvPr/>
        </p:nvSpPr>
        <p:spPr bwMode="auto">
          <a:xfrm>
            <a:off x="7237017" y="5261138"/>
            <a:ext cx="525354" cy="40011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sz="2000"/>
              <a:t>w2</a:t>
            </a:r>
          </a:p>
        </p:txBody>
      </p:sp>
      <p:sp>
        <p:nvSpPr>
          <p:cNvPr id="176155" name="Line 27"/>
          <p:cNvSpPr>
            <a:spLocks noChangeShapeType="1"/>
          </p:cNvSpPr>
          <p:nvPr/>
        </p:nvSpPr>
        <p:spPr bwMode="auto">
          <a:xfrm flipV="1">
            <a:off x="5946378" y="3883585"/>
            <a:ext cx="0" cy="270272"/>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176156" name="Line 28"/>
          <p:cNvSpPr>
            <a:spLocks noChangeShapeType="1"/>
          </p:cNvSpPr>
          <p:nvPr/>
        </p:nvSpPr>
        <p:spPr bwMode="auto">
          <a:xfrm>
            <a:off x="7818041" y="5395678"/>
            <a:ext cx="431800" cy="0"/>
          </a:xfrm>
          <a:prstGeom prst="line">
            <a:avLst/>
          </a:prstGeom>
          <a:noFill/>
          <a:ln w="19050">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en-US"/>
          </a:p>
        </p:txBody>
      </p:sp>
      <p:sp>
        <p:nvSpPr>
          <p:cNvPr id="176157" name="Oval 29"/>
          <p:cNvSpPr>
            <a:spLocks noChangeArrowheads="1"/>
          </p:cNvSpPr>
          <p:nvPr/>
        </p:nvSpPr>
        <p:spPr bwMode="auto">
          <a:xfrm rot="2463579">
            <a:off x="7097316" y="3668084"/>
            <a:ext cx="792162" cy="1458515"/>
          </a:xfrm>
          <a:prstGeom prst="ellipse">
            <a:avLst/>
          </a:prstGeom>
          <a:solidFill>
            <a:srgbClr val="EEECE1"/>
          </a:solidFill>
          <a:ln w="9525">
            <a:solidFill>
              <a:schemeClr val="tx1"/>
            </a:solidFill>
            <a:round/>
            <a:headEnd/>
            <a:tailEnd/>
          </a:ln>
          <a:effectLst/>
        </p:spPr>
        <p:txBody>
          <a:bodyPr wrap="none" anchor="ctr"/>
          <a:lstStyle/>
          <a:p>
            <a:endParaRPr lang="en-US"/>
          </a:p>
        </p:txBody>
      </p:sp>
      <p:sp>
        <p:nvSpPr>
          <p:cNvPr id="176158" name="Oval 30"/>
          <p:cNvSpPr>
            <a:spLocks noChangeArrowheads="1"/>
          </p:cNvSpPr>
          <p:nvPr/>
        </p:nvSpPr>
        <p:spPr bwMode="auto">
          <a:xfrm rot="2463579">
            <a:off x="7192566" y="3830009"/>
            <a:ext cx="615950" cy="1134665"/>
          </a:xfrm>
          <a:prstGeom prst="ellipse">
            <a:avLst/>
          </a:prstGeom>
          <a:solidFill>
            <a:srgbClr val="EEECE1"/>
          </a:solidFill>
          <a:ln w="9525">
            <a:solidFill>
              <a:schemeClr val="tx1"/>
            </a:solidFill>
            <a:round/>
            <a:headEnd/>
            <a:tailEnd/>
          </a:ln>
          <a:effectLst/>
        </p:spPr>
        <p:txBody>
          <a:bodyPr wrap="none" anchor="ctr"/>
          <a:lstStyle/>
          <a:p>
            <a:endParaRPr lang="en-US"/>
          </a:p>
        </p:txBody>
      </p:sp>
      <p:sp>
        <p:nvSpPr>
          <p:cNvPr id="176159" name="Oval 31"/>
          <p:cNvSpPr>
            <a:spLocks noChangeArrowheads="1"/>
          </p:cNvSpPr>
          <p:nvPr/>
        </p:nvSpPr>
        <p:spPr bwMode="auto">
          <a:xfrm rot="2463579">
            <a:off x="7241778" y="4022887"/>
            <a:ext cx="452438" cy="833438"/>
          </a:xfrm>
          <a:prstGeom prst="ellipse">
            <a:avLst/>
          </a:prstGeom>
          <a:solidFill>
            <a:srgbClr val="EEECE1"/>
          </a:solidFill>
          <a:ln w="9525">
            <a:solidFill>
              <a:schemeClr val="tx1"/>
            </a:solidFill>
            <a:round/>
            <a:headEnd/>
            <a:tailEnd/>
          </a:ln>
          <a:effectLst/>
        </p:spPr>
        <p:txBody>
          <a:bodyPr wrap="none" anchor="ctr"/>
          <a:lstStyle/>
          <a:p>
            <a:endParaRPr lang="en-US"/>
          </a:p>
        </p:txBody>
      </p:sp>
      <p:sp>
        <p:nvSpPr>
          <p:cNvPr id="176160" name="Oval 32"/>
          <p:cNvSpPr>
            <a:spLocks noChangeArrowheads="1"/>
          </p:cNvSpPr>
          <p:nvPr/>
        </p:nvSpPr>
        <p:spPr bwMode="auto">
          <a:xfrm rot="2463579">
            <a:off x="7308457" y="4097897"/>
            <a:ext cx="352425" cy="648891"/>
          </a:xfrm>
          <a:prstGeom prst="ellipse">
            <a:avLst/>
          </a:prstGeom>
          <a:solidFill>
            <a:srgbClr val="EEECE1"/>
          </a:solidFill>
          <a:ln w="9525">
            <a:solidFill>
              <a:schemeClr val="tx1"/>
            </a:solidFill>
            <a:round/>
            <a:headEnd/>
            <a:tailEnd/>
          </a:ln>
          <a:effectLst/>
        </p:spPr>
        <p:txBody>
          <a:bodyPr wrap="none" anchor="ctr"/>
          <a:lstStyle/>
          <a:p>
            <a:endParaRPr lang="en-US"/>
          </a:p>
        </p:txBody>
      </p:sp>
    </p:spTree>
    <p:extLst>
      <p:ext uri="{BB962C8B-B14F-4D97-AF65-F5344CB8AC3E}">
        <p14:creationId xmlns:p14="http://schemas.microsoft.com/office/powerpoint/2010/main" val="1583872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7613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613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613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613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614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615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615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615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615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615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615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615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615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616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76131">
                                            <p:txEl>
                                              <p:pRg st="2" end="2"/>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76131">
                                            <p:txEl>
                                              <p:pRg st="3" end="3"/>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7613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132" grpId="0" animBg="1"/>
      <p:bldP spid="176135" grpId="0" animBg="1"/>
      <p:bldP spid="176136" grpId="0" animBg="1"/>
      <p:bldP spid="176137" grpId="0"/>
      <p:bldP spid="176142" grpId="0" animBg="1"/>
      <p:bldP spid="176152" grpId="0" animBg="1"/>
      <p:bldP spid="176153" grpId="0"/>
      <p:bldP spid="176154" grpId="0"/>
      <p:bldP spid="176155" grpId="0" animBg="1"/>
      <p:bldP spid="176156" grpId="0" animBg="1"/>
      <p:bldP spid="176157" grpId="0" animBg="1"/>
      <p:bldP spid="176158" grpId="0" animBg="1"/>
      <p:bldP spid="176159" grpId="0" animBg="1"/>
      <p:bldP spid="17616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55" dirty="0">
                <a:latin typeface="Arial"/>
                <a:cs typeface="Arial"/>
              </a:rPr>
              <a:t> </a:t>
            </a:r>
            <a:r>
              <a:rPr dirty="0"/>
              <a:t>Pilani,</a:t>
            </a:r>
            <a:r>
              <a:rPr spc="-40" dirty="0"/>
              <a:t> </a:t>
            </a:r>
            <a:r>
              <a:rPr dirty="0"/>
              <a:t>Pilani</a:t>
            </a:r>
            <a:r>
              <a:rPr spc="-35" dirty="0"/>
              <a:t> </a:t>
            </a:r>
            <a:r>
              <a:rPr spc="-10" dirty="0"/>
              <a:t>Campus</a:t>
            </a:r>
          </a:p>
        </p:txBody>
      </p:sp>
      <p:sp>
        <p:nvSpPr>
          <p:cNvPr id="7" name="Content Placeholder 6"/>
          <p:cNvSpPr>
            <a:spLocks noGrp="1"/>
          </p:cNvSpPr>
          <p:nvPr>
            <p:ph idx="10"/>
          </p:nvPr>
        </p:nvSpPr>
        <p:spPr/>
        <p:txBody>
          <a:bodyPr/>
          <a:lstStyle/>
          <a:p>
            <a:pPr marL="12700">
              <a:lnSpc>
                <a:spcPct val="100000"/>
              </a:lnSpc>
              <a:spcBef>
                <a:spcPts val="1180"/>
              </a:spcBef>
            </a:pPr>
            <a:r>
              <a:rPr lang="en-US" b="1" spc="-10" dirty="0">
                <a:solidFill>
                  <a:schemeClr val="tx1"/>
                </a:solidFill>
                <a:cs typeface="Arial"/>
              </a:rPr>
              <a:t>One-</a:t>
            </a:r>
            <a:r>
              <a:rPr lang="en-US" b="1" dirty="0">
                <a:solidFill>
                  <a:schemeClr val="tx1"/>
                </a:solidFill>
                <a:cs typeface="Arial"/>
              </a:rPr>
              <a:t>Dimensional</a:t>
            </a:r>
            <a:r>
              <a:rPr lang="en-US" b="1" spc="-10" dirty="0">
                <a:solidFill>
                  <a:schemeClr val="tx1"/>
                </a:solidFill>
                <a:cs typeface="Arial"/>
              </a:rPr>
              <a:t> </a:t>
            </a:r>
            <a:r>
              <a:rPr lang="en-US" b="1" dirty="0">
                <a:solidFill>
                  <a:schemeClr val="tx1"/>
                </a:solidFill>
                <a:cs typeface="Arial"/>
              </a:rPr>
              <a:t>Gradient</a:t>
            </a:r>
            <a:r>
              <a:rPr lang="en-US" b="1" spc="-5" dirty="0">
                <a:solidFill>
                  <a:schemeClr val="tx1"/>
                </a:solidFill>
                <a:cs typeface="Arial"/>
              </a:rPr>
              <a:t> </a:t>
            </a:r>
            <a:r>
              <a:rPr lang="en-US" b="1" spc="-10" dirty="0">
                <a:solidFill>
                  <a:schemeClr val="tx1"/>
                </a:solidFill>
                <a:cs typeface="Arial"/>
              </a:rPr>
              <a:t>Descent</a:t>
            </a:r>
            <a:endParaRPr lang="en-US" dirty="0">
              <a:solidFill>
                <a:schemeClr val="tx1"/>
              </a:solidFill>
              <a:cs typeface="Arial"/>
            </a:endParaRPr>
          </a:p>
          <a:p>
            <a:pPr marL="756285" marR="168275" indent="-287020">
              <a:lnSpc>
                <a:spcPct val="150000"/>
              </a:lnSpc>
              <a:spcBef>
                <a:spcPts val="5"/>
              </a:spcBef>
              <a:buChar char="•"/>
              <a:tabLst>
                <a:tab pos="756285" algn="l"/>
              </a:tabLst>
            </a:pPr>
            <a:r>
              <a:rPr lang="en-US" dirty="0">
                <a:solidFill>
                  <a:schemeClr val="tx1"/>
                </a:solidFill>
                <a:cs typeface="Arial MT"/>
              </a:rPr>
              <a:t>In</a:t>
            </a:r>
            <a:r>
              <a:rPr lang="en-US" spc="-40" dirty="0">
                <a:solidFill>
                  <a:schemeClr val="tx1"/>
                </a:solidFill>
                <a:cs typeface="Arial MT"/>
              </a:rPr>
              <a:t> </a:t>
            </a:r>
            <a:r>
              <a:rPr lang="en-US" spc="-10" dirty="0">
                <a:solidFill>
                  <a:schemeClr val="tx1"/>
                </a:solidFill>
                <a:cs typeface="Arial MT"/>
              </a:rPr>
              <a:t>one-</a:t>
            </a:r>
            <a:r>
              <a:rPr lang="en-US" dirty="0">
                <a:solidFill>
                  <a:schemeClr val="tx1"/>
                </a:solidFill>
                <a:cs typeface="Arial MT"/>
              </a:rPr>
              <a:t>dimensional gradient</a:t>
            </a:r>
            <a:r>
              <a:rPr lang="en-US" spc="-5" dirty="0">
                <a:solidFill>
                  <a:schemeClr val="tx1"/>
                </a:solidFill>
                <a:cs typeface="Arial MT"/>
              </a:rPr>
              <a:t> </a:t>
            </a:r>
            <a:r>
              <a:rPr lang="en-US" dirty="0">
                <a:solidFill>
                  <a:schemeClr val="tx1"/>
                </a:solidFill>
                <a:cs typeface="Arial MT"/>
              </a:rPr>
              <a:t>descent,</a:t>
            </a:r>
            <a:r>
              <a:rPr lang="en-US" spc="-20" dirty="0">
                <a:solidFill>
                  <a:schemeClr val="tx1"/>
                </a:solidFill>
                <a:cs typeface="Arial MT"/>
              </a:rPr>
              <a:t> </a:t>
            </a:r>
            <a:r>
              <a:rPr lang="en-US" dirty="0">
                <a:solidFill>
                  <a:schemeClr val="tx1"/>
                </a:solidFill>
                <a:cs typeface="Arial MT"/>
              </a:rPr>
              <a:t>the</a:t>
            </a:r>
            <a:r>
              <a:rPr lang="en-US" spc="-40" dirty="0">
                <a:solidFill>
                  <a:schemeClr val="tx1"/>
                </a:solidFill>
                <a:cs typeface="Arial MT"/>
              </a:rPr>
              <a:t> </a:t>
            </a:r>
            <a:r>
              <a:rPr lang="en-US" dirty="0">
                <a:solidFill>
                  <a:schemeClr val="tx1"/>
                </a:solidFill>
                <a:cs typeface="Arial MT"/>
              </a:rPr>
              <a:t>algorithm</a:t>
            </a:r>
            <a:r>
              <a:rPr lang="en-US" spc="-15" dirty="0">
                <a:solidFill>
                  <a:schemeClr val="tx1"/>
                </a:solidFill>
                <a:cs typeface="Arial MT"/>
              </a:rPr>
              <a:t> </a:t>
            </a:r>
            <a:r>
              <a:rPr lang="en-US" dirty="0">
                <a:solidFill>
                  <a:schemeClr val="tx1"/>
                </a:solidFill>
                <a:cs typeface="Arial MT"/>
              </a:rPr>
              <a:t>adjusts</a:t>
            </a:r>
            <a:r>
              <a:rPr lang="en-US" spc="-15" dirty="0">
                <a:solidFill>
                  <a:schemeClr val="tx1"/>
                </a:solidFill>
                <a:cs typeface="Arial MT"/>
              </a:rPr>
              <a:t> </a:t>
            </a:r>
            <a:r>
              <a:rPr lang="en-US" dirty="0">
                <a:solidFill>
                  <a:schemeClr val="tx1"/>
                </a:solidFill>
                <a:cs typeface="Arial MT"/>
              </a:rPr>
              <a:t>a</a:t>
            </a:r>
            <a:r>
              <a:rPr lang="en-US" spc="-25" dirty="0">
                <a:solidFill>
                  <a:schemeClr val="tx1"/>
                </a:solidFill>
                <a:cs typeface="Arial MT"/>
              </a:rPr>
              <a:t> </a:t>
            </a:r>
            <a:r>
              <a:rPr lang="en-US" spc="-10" dirty="0">
                <a:solidFill>
                  <a:schemeClr val="tx1"/>
                </a:solidFill>
                <a:cs typeface="Arial MT"/>
              </a:rPr>
              <a:t>single </a:t>
            </a:r>
            <a:r>
              <a:rPr lang="en-US" dirty="0">
                <a:solidFill>
                  <a:schemeClr val="tx1"/>
                </a:solidFill>
                <a:cs typeface="Arial MT"/>
              </a:rPr>
              <a:t>parameter</a:t>
            </a:r>
            <a:r>
              <a:rPr lang="en-US" spc="-35" dirty="0">
                <a:solidFill>
                  <a:schemeClr val="tx1"/>
                </a:solidFill>
                <a:cs typeface="Arial MT"/>
              </a:rPr>
              <a:t> </a:t>
            </a:r>
            <a:r>
              <a:rPr lang="en-US" dirty="0">
                <a:solidFill>
                  <a:schemeClr val="tx1"/>
                </a:solidFill>
                <a:cs typeface="Arial MT"/>
              </a:rPr>
              <a:t>to</a:t>
            </a:r>
            <a:r>
              <a:rPr lang="en-US" spc="-30" dirty="0">
                <a:solidFill>
                  <a:schemeClr val="tx1"/>
                </a:solidFill>
                <a:cs typeface="Arial MT"/>
              </a:rPr>
              <a:t> </a:t>
            </a:r>
            <a:r>
              <a:rPr lang="en-US" dirty="0">
                <a:solidFill>
                  <a:schemeClr val="tx1"/>
                </a:solidFill>
                <a:cs typeface="Arial MT"/>
              </a:rPr>
              <a:t>minimize</a:t>
            </a:r>
            <a:r>
              <a:rPr lang="en-US" spc="-30" dirty="0">
                <a:solidFill>
                  <a:schemeClr val="tx1"/>
                </a:solidFill>
                <a:cs typeface="Arial MT"/>
              </a:rPr>
              <a:t> </a:t>
            </a:r>
            <a:r>
              <a:rPr lang="en-US" dirty="0">
                <a:solidFill>
                  <a:schemeClr val="tx1"/>
                </a:solidFill>
                <a:cs typeface="Arial MT"/>
              </a:rPr>
              <a:t>a</a:t>
            </a:r>
            <a:r>
              <a:rPr lang="en-US" spc="-30" dirty="0">
                <a:solidFill>
                  <a:schemeClr val="tx1"/>
                </a:solidFill>
                <a:cs typeface="Arial MT"/>
              </a:rPr>
              <a:t> </a:t>
            </a:r>
            <a:r>
              <a:rPr lang="en-US" dirty="0">
                <a:solidFill>
                  <a:schemeClr val="tx1"/>
                </a:solidFill>
                <a:cs typeface="Arial MT"/>
              </a:rPr>
              <a:t>function</a:t>
            </a:r>
            <a:r>
              <a:rPr lang="en-US" spc="-30" dirty="0">
                <a:solidFill>
                  <a:schemeClr val="tx1"/>
                </a:solidFill>
                <a:cs typeface="Arial MT"/>
              </a:rPr>
              <a:t> </a:t>
            </a:r>
            <a:r>
              <a:rPr lang="en-US" dirty="0">
                <a:solidFill>
                  <a:schemeClr val="tx1"/>
                </a:solidFill>
                <a:cs typeface="Arial MT"/>
              </a:rPr>
              <a:t>by</a:t>
            </a:r>
            <a:r>
              <a:rPr lang="en-US" spc="-35" dirty="0">
                <a:solidFill>
                  <a:schemeClr val="tx1"/>
                </a:solidFill>
                <a:cs typeface="Arial MT"/>
              </a:rPr>
              <a:t> </a:t>
            </a:r>
            <a:r>
              <a:rPr lang="en-US" dirty="0">
                <a:solidFill>
                  <a:schemeClr val="tx1"/>
                </a:solidFill>
                <a:cs typeface="Arial MT"/>
              </a:rPr>
              <a:t>following</a:t>
            </a:r>
            <a:r>
              <a:rPr lang="en-US" spc="20" dirty="0">
                <a:solidFill>
                  <a:schemeClr val="tx1"/>
                </a:solidFill>
                <a:cs typeface="Arial MT"/>
              </a:rPr>
              <a:t> </a:t>
            </a:r>
            <a:r>
              <a:rPr lang="en-US" dirty="0">
                <a:solidFill>
                  <a:schemeClr val="tx1"/>
                </a:solidFill>
                <a:cs typeface="Arial MT"/>
              </a:rPr>
              <a:t>the</a:t>
            </a:r>
            <a:r>
              <a:rPr lang="en-US" spc="-45" dirty="0">
                <a:solidFill>
                  <a:schemeClr val="tx1"/>
                </a:solidFill>
                <a:cs typeface="Arial MT"/>
              </a:rPr>
              <a:t> </a:t>
            </a:r>
            <a:r>
              <a:rPr lang="en-US" dirty="0">
                <a:solidFill>
                  <a:schemeClr val="tx1"/>
                </a:solidFill>
                <a:cs typeface="Arial MT"/>
              </a:rPr>
              <a:t>negative</a:t>
            </a:r>
            <a:r>
              <a:rPr lang="en-US" spc="-25" dirty="0">
                <a:solidFill>
                  <a:schemeClr val="tx1"/>
                </a:solidFill>
                <a:cs typeface="Arial MT"/>
              </a:rPr>
              <a:t> </a:t>
            </a:r>
            <a:r>
              <a:rPr lang="en-US" dirty="0">
                <a:solidFill>
                  <a:schemeClr val="tx1"/>
                </a:solidFill>
                <a:cs typeface="Arial MT"/>
              </a:rPr>
              <a:t>direction</a:t>
            </a:r>
            <a:r>
              <a:rPr lang="en-US" spc="-25" dirty="0">
                <a:solidFill>
                  <a:schemeClr val="tx1"/>
                </a:solidFill>
                <a:cs typeface="Arial MT"/>
              </a:rPr>
              <a:t> of </a:t>
            </a:r>
            <a:r>
              <a:rPr lang="en-US" dirty="0">
                <a:solidFill>
                  <a:schemeClr val="tx1"/>
                </a:solidFill>
                <a:cs typeface="Arial MT"/>
              </a:rPr>
              <a:t>the</a:t>
            </a:r>
            <a:r>
              <a:rPr lang="en-US" spc="-20" dirty="0">
                <a:solidFill>
                  <a:schemeClr val="tx1"/>
                </a:solidFill>
                <a:cs typeface="Arial MT"/>
              </a:rPr>
              <a:t> </a:t>
            </a:r>
            <a:r>
              <a:rPr lang="en-US" spc="-10" dirty="0">
                <a:solidFill>
                  <a:schemeClr val="tx1"/>
                </a:solidFill>
                <a:cs typeface="Arial MT"/>
              </a:rPr>
              <a:t>gradient.</a:t>
            </a:r>
            <a:endParaRPr lang="en-US" dirty="0">
              <a:solidFill>
                <a:schemeClr val="tx1"/>
              </a:solidFill>
              <a:cs typeface="Arial MT"/>
            </a:endParaRPr>
          </a:p>
          <a:p>
            <a:pPr marL="12700">
              <a:lnSpc>
                <a:spcPct val="100000"/>
              </a:lnSpc>
              <a:spcBef>
                <a:spcPts val="1080"/>
              </a:spcBef>
            </a:pPr>
            <a:r>
              <a:rPr lang="en-US" b="1" dirty="0">
                <a:solidFill>
                  <a:schemeClr val="tx1"/>
                </a:solidFill>
                <a:cs typeface="Arial"/>
              </a:rPr>
              <a:t>Multivariate</a:t>
            </a:r>
            <a:r>
              <a:rPr lang="en-US" b="1" spc="-10" dirty="0">
                <a:solidFill>
                  <a:schemeClr val="tx1"/>
                </a:solidFill>
                <a:cs typeface="Arial"/>
              </a:rPr>
              <a:t> </a:t>
            </a:r>
            <a:r>
              <a:rPr lang="en-US" b="1" dirty="0">
                <a:solidFill>
                  <a:schemeClr val="tx1"/>
                </a:solidFill>
                <a:cs typeface="Arial"/>
              </a:rPr>
              <a:t>Gradient</a:t>
            </a:r>
            <a:r>
              <a:rPr lang="en-US" b="1" spc="-45" dirty="0">
                <a:solidFill>
                  <a:schemeClr val="tx1"/>
                </a:solidFill>
                <a:cs typeface="Arial"/>
              </a:rPr>
              <a:t> </a:t>
            </a:r>
            <a:r>
              <a:rPr lang="en-US" b="1" spc="-10" dirty="0">
                <a:solidFill>
                  <a:schemeClr val="tx1"/>
                </a:solidFill>
                <a:cs typeface="Arial"/>
              </a:rPr>
              <a:t>Descent</a:t>
            </a:r>
            <a:endParaRPr lang="en-US" dirty="0">
              <a:solidFill>
                <a:schemeClr val="tx1"/>
              </a:solidFill>
              <a:cs typeface="Arial"/>
            </a:endParaRPr>
          </a:p>
          <a:p>
            <a:pPr marL="756285" marR="5080" indent="-287020">
              <a:lnSpc>
                <a:spcPct val="150000"/>
              </a:lnSpc>
              <a:buChar char="•"/>
              <a:tabLst>
                <a:tab pos="756285" algn="l"/>
              </a:tabLst>
            </a:pPr>
            <a:r>
              <a:rPr lang="en-US" dirty="0">
                <a:solidFill>
                  <a:schemeClr val="tx1"/>
                </a:solidFill>
                <a:cs typeface="Arial MT"/>
              </a:rPr>
              <a:t>For</a:t>
            </a:r>
            <a:r>
              <a:rPr lang="en-US" spc="-40" dirty="0">
                <a:solidFill>
                  <a:schemeClr val="tx1"/>
                </a:solidFill>
                <a:cs typeface="Arial MT"/>
              </a:rPr>
              <a:t> </a:t>
            </a:r>
            <a:r>
              <a:rPr lang="en-US" dirty="0">
                <a:solidFill>
                  <a:schemeClr val="tx1"/>
                </a:solidFill>
                <a:cs typeface="Arial MT"/>
              </a:rPr>
              <a:t>multivariate</a:t>
            </a:r>
            <a:r>
              <a:rPr lang="en-US" spc="-30" dirty="0">
                <a:solidFill>
                  <a:schemeClr val="tx1"/>
                </a:solidFill>
                <a:cs typeface="Arial MT"/>
              </a:rPr>
              <a:t> </a:t>
            </a:r>
            <a:r>
              <a:rPr lang="en-US" dirty="0">
                <a:solidFill>
                  <a:schemeClr val="tx1"/>
                </a:solidFill>
                <a:cs typeface="Arial MT"/>
              </a:rPr>
              <a:t>functions,</a:t>
            </a:r>
            <a:r>
              <a:rPr lang="en-US" spc="-35" dirty="0">
                <a:solidFill>
                  <a:schemeClr val="tx1"/>
                </a:solidFill>
                <a:cs typeface="Arial MT"/>
              </a:rPr>
              <a:t> </a:t>
            </a:r>
            <a:r>
              <a:rPr lang="en-US" dirty="0">
                <a:solidFill>
                  <a:schemeClr val="tx1"/>
                </a:solidFill>
                <a:cs typeface="Arial MT"/>
              </a:rPr>
              <a:t>gradient</a:t>
            </a:r>
            <a:r>
              <a:rPr lang="en-US" spc="-20" dirty="0">
                <a:solidFill>
                  <a:schemeClr val="tx1"/>
                </a:solidFill>
                <a:cs typeface="Arial MT"/>
              </a:rPr>
              <a:t> </a:t>
            </a:r>
            <a:r>
              <a:rPr lang="en-US" dirty="0">
                <a:solidFill>
                  <a:schemeClr val="tx1"/>
                </a:solidFill>
                <a:cs typeface="Arial MT"/>
              </a:rPr>
              <a:t>descent</a:t>
            </a:r>
            <a:r>
              <a:rPr lang="en-US" spc="-30" dirty="0">
                <a:solidFill>
                  <a:schemeClr val="tx1"/>
                </a:solidFill>
                <a:cs typeface="Arial MT"/>
              </a:rPr>
              <a:t> </a:t>
            </a:r>
            <a:r>
              <a:rPr lang="en-US" dirty="0">
                <a:solidFill>
                  <a:schemeClr val="tx1"/>
                </a:solidFill>
                <a:cs typeface="Arial MT"/>
              </a:rPr>
              <a:t>adjusts</a:t>
            </a:r>
            <a:r>
              <a:rPr lang="en-US" spc="-30" dirty="0">
                <a:solidFill>
                  <a:schemeClr val="tx1"/>
                </a:solidFill>
                <a:cs typeface="Arial MT"/>
              </a:rPr>
              <a:t> </a:t>
            </a:r>
            <a:r>
              <a:rPr lang="en-US" dirty="0">
                <a:solidFill>
                  <a:schemeClr val="tx1"/>
                </a:solidFill>
                <a:cs typeface="Arial MT"/>
              </a:rPr>
              <a:t>multiple</a:t>
            </a:r>
            <a:r>
              <a:rPr lang="en-US" spc="-30" dirty="0">
                <a:solidFill>
                  <a:schemeClr val="tx1"/>
                </a:solidFill>
                <a:cs typeface="Arial MT"/>
              </a:rPr>
              <a:t> </a:t>
            </a:r>
            <a:r>
              <a:rPr lang="en-US" spc="-10" dirty="0">
                <a:solidFill>
                  <a:schemeClr val="tx1"/>
                </a:solidFill>
                <a:cs typeface="Arial MT"/>
              </a:rPr>
              <a:t>parameters </a:t>
            </a:r>
            <a:r>
              <a:rPr lang="en-US" dirty="0">
                <a:solidFill>
                  <a:schemeClr val="tx1"/>
                </a:solidFill>
                <a:cs typeface="Arial MT"/>
              </a:rPr>
              <a:t>simultaneously</a:t>
            </a:r>
            <a:r>
              <a:rPr lang="en-US" spc="-20" dirty="0">
                <a:solidFill>
                  <a:schemeClr val="tx1"/>
                </a:solidFill>
                <a:cs typeface="Arial MT"/>
              </a:rPr>
              <a:t> </a:t>
            </a:r>
            <a:r>
              <a:rPr lang="en-US" dirty="0">
                <a:solidFill>
                  <a:schemeClr val="tx1"/>
                </a:solidFill>
                <a:cs typeface="Arial MT"/>
              </a:rPr>
              <a:t>by</a:t>
            </a:r>
            <a:r>
              <a:rPr lang="en-US" spc="-35" dirty="0">
                <a:solidFill>
                  <a:schemeClr val="tx1"/>
                </a:solidFill>
                <a:cs typeface="Arial MT"/>
              </a:rPr>
              <a:t> </a:t>
            </a:r>
            <a:r>
              <a:rPr lang="en-US" dirty="0">
                <a:solidFill>
                  <a:schemeClr val="tx1"/>
                </a:solidFill>
                <a:cs typeface="Arial MT"/>
              </a:rPr>
              <a:t>iteratively</a:t>
            </a:r>
            <a:r>
              <a:rPr lang="en-US" spc="-25" dirty="0">
                <a:solidFill>
                  <a:schemeClr val="tx1"/>
                </a:solidFill>
                <a:cs typeface="Arial MT"/>
              </a:rPr>
              <a:t> </a:t>
            </a:r>
            <a:r>
              <a:rPr lang="en-US" dirty="0">
                <a:solidFill>
                  <a:schemeClr val="tx1"/>
                </a:solidFill>
                <a:cs typeface="Arial MT"/>
              </a:rPr>
              <a:t>updating</a:t>
            </a:r>
            <a:r>
              <a:rPr lang="en-US" spc="-15" dirty="0">
                <a:solidFill>
                  <a:schemeClr val="tx1"/>
                </a:solidFill>
                <a:cs typeface="Arial MT"/>
              </a:rPr>
              <a:t> </a:t>
            </a:r>
            <a:r>
              <a:rPr lang="en-US" dirty="0">
                <a:solidFill>
                  <a:schemeClr val="tx1"/>
                </a:solidFill>
                <a:cs typeface="Arial MT"/>
              </a:rPr>
              <a:t>them</a:t>
            </a:r>
            <a:r>
              <a:rPr lang="en-US" spc="-30" dirty="0">
                <a:solidFill>
                  <a:schemeClr val="tx1"/>
                </a:solidFill>
                <a:cs typeface="Arial MT"/>
              </a:rPr>
              <a:t> </a:t>
            </a:r>
            <a:r>
              <a:rPr lang="en-US" dirty="0">
                <a:solidFill>
                  <a:schemeClr val="tx1"/>
                </a:solidFill>
                <a:cs typeface="Arial MT"/>
              </a:rPr>
              <a:t>in</a:t>
            </a:r>
            <a:r>
              <a:rPr lang="en-US" spc="-35" dirty="0">
                <a:solidFill>
                  <a:schemeClr val="tx1"/>
                </a:solidFill>
                <a:cs typeface="Arial MT"/>
              </a:rPr>
              <a:t> </a:t>
            </a:r>
            <a:r>
              <a:rPr lang="en-US" dirty="0">
                <a:solidFill>
                  <a:schemeClr val="tx1"/>
                </a:solidFill>
                <a:cs typeface="Arial MT"/>
              </a:rPr>
              <a:t>the</a:t>
            </a:r>
            <a:r>
              <a:rPr lang="en-US" spc="-40" dirty="0">
                <a:solidFill>
                  <a:schemeClr val="tx1"/>
                </a:solidFill>
                <a:cs typeface="Arial MT"/>
              </a:rPr>
              <a:t> </a:t>
            </a:r>
            <a:r>
              <a:rPr lang="en-US" dirty="0">
                <a:solidFill>
                  <a:schemeClr val="tx1"/>
                </a:solidFill>
                <a:cs typeface="Arial MT"/>
              </a:rPr>
              <a:t>direction</a:t>
            </a:r>
            <a:r>
              <a:rPr lang="en-US" spc="-15" dirty="0">
                <a:solidFill>
                  <a:schemeClr val="tx1"/>
                </a:solidFill>
                <a:cs typeface="Arial MT"/>
              </a:rPr>
              <a:t> </a:t>
            </a:r>
            <a:r>
              <a:rPr lang="en-US" dirty="0">
                <a:solidFill>
                  <a:schemeClr val="tx1"/>
                </a:solidFill>
                <a:cs typeface="Arial MT"/>
              </a:rPr>
              <a:t>of</a:t>
            </a:r>
            <a:r>
              <a:rPr lang="en-US" spc="-40" dirty="0">
                <a:solidFill>
                  <a:schemeClr val="tx1"/>
                </a:solidFill>
                <a:cs typeface="Arial MT"/>
              </a:rPr>
              <a:t> </a:t>
            </a:r>
            <a:r>
              <a:rPr lang="en-US" spc="-25" dirty="0">
                <a:solidFill>
                  <a:schemeClr val="tx1"/>
                </a:solidFill>
                <a:cs typeface="Arial MT"/>
              </a:rPr>
              <a:t>the </a:t>
            </a:r>
            <a:r>
              <a:rPr lang="en-US" dirty="0">
                <a:solidFill>
                  <a:schemeClr val="tx1"/>
                </a:solidFill>
                <a:cs typeface="Arial MT"/>
              </a:rPr>
              <a:t>negative</a:t>
            </a:r>
            <a:r>
              <a:rPr lang="en-US" spc="-55" dirty="0">
                <a:solidFill>
                  <a:schemeClr val="tx1"/>
                </a:solidFill>
                <a:cs typeface="Arial MT"/>
              </a:rPr>
              <a:t> </a:t>
            </a:r>
            <a:r>
              <a:rPr lang="en-US" spc="-10" dirty="0">
                <a:solidFill>
                  <a:schemeClr val="tx1"/>
                </a:solidFill>
                <a:cs typeface="Arial MT"/>
              </a:rPr>
              <a:t>gradient.</a:t>
            </a:r>
            <a:endParaRPr lang="en-US" dirty="0">
              <a:solidFill>
                <a:schemeClr val="tx1"/>
              </a:solidFill>
              <a:cs typeface="Arial MT"/>
            </a:endParaRPr>
          </a:p>
          <a:p>
            <a:endParaRPr lang="en-IN" dirty="0">
              <a:solidFill>
                <a:schemeClr val="tx1"/>
              </a:solidFill>
            </a:endParaRPr>
          </a:p>
          <a:p>
            <a:endParaRPr lang="en-IN" dirty="0"/>
          </a:p>
        </p:txBody>
      </p:sp>
      <p:sp>
        <p:nvSpPr>
          <p:cNvPr id="6" name="Title 5"/>
          <p:cNvSpPr>
            <a:spLocks noGrp="1"/>
          </p:cNvSpPr>
          <p:nvPr>
            <p:ph type="title"/>
          </p:nvPr>
        </p:nvSpPr>
        <p:spPr/>
        <p:txBody>
          <a:bodyPr/>
          <a:lstStyle/>
          <a:p>
            <a:r>
              <a:rPr lang="en-IN" dirty="0">
                <a:cs typeface="Arial"/>
              </a:rPr>
              <a:t>Gradient</a:t>
            </a:r>
            <a:r>
              <a:rPr lang="en-IN" spc="-5" dirty="0">
                <a:cs typeface="Arial"/>
              </a:rPr>
              <a:t> </a:t>
            </a:r>
            <a:r>
              <a:rPr lang="en-IN" spc="-10" dirty="0">
                <a:cs typeface="Arial"/>
              </a:rPr>
              <a:t>Descent</a:t>
            </a:r>
            <a:endParaRPr lang="en-IN" dirty="0"/>
          </a:p>
        </p:txBody>
      </p:sp>
    </p:spTree>
    <p:extLst>
      <p:ext uri="{BB962C8B-B14F-4D97-AF65-F5344CB8AC3E}">
        <p14:creationId xmlns:p14="http://schemas.microsoft.com/office/powerpoint/2010/main" val="1959317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a:xfrm>
            <a:off x="0" y="1371600"/>
            <a:ext cx="8965842" cy="5257800"/>
          </a:xfrm>
        </p:spPr>
        <p:txBody>
          <a:bodyPr>
            <a:normAutofit fontScale="92500" lnSpcReduction="20000"/>
          </a:bodyPr>
          <a:lstStyle/>
          <a:p>
            <a:pPr marL="342900" indent="-342900">
              <a:buFont typeface="Arial" panose="020B0604020202020204" pitchFamily="34" charset="0"/>
              <a:buChar char="•"/>
            </a:pPr>
            <a:r>
              <a:rPr lang="en-US" sz="2000" dirty="0"/>
              <a:t>Objective function is usually the average of the loss functions for each example in the training dataset. </a:t>
            </a:r>
          </a:p>
          <a:p>
            <a:pPr lvl="2"/>
            <a:r>
              <a:rPr lang="en-US" sz="2000" dirty="0"/>
              <a:t>n= no of examples  training dataset </a:t>
            </a:r>
          </a:p>
          <a:p>
            <a:pPr lvl="2"/>
            <a:r>
              <a:rPr lang="en-US" sz="2000" dirty="0"/>
              <a:t>𝑓</a:t>
            </a:r>
            <a:r>
              <a:rPr lang="en-US" sz="2000" baseline="-25000" dirty="0"/>
              <a:t>𝑖</a:t>
            </a:r>
            <a:r>
              <a:rPr lang="en-US" sz="2000" dirty="0"/>
              <a:t> (</a:t>
            </a:r>
            <a:r>
              <a:rPr lang="en-US" sz="2000" b="1" dirty="0"/>
              <a:t>x</a:t>
            </a:r>
            <a:r>
              <a:rPr lang="en-US" sz="2000" dirty="0"/>
              <a:t>) =  loss function with respect to the training example of index </a:t>
            </a:r>
            <a:r>
              <a:rPr lang="en-US" sz="2000" i="1" dirty="0"/>
              <a:t>𝑖</a:t>
            </a:r>
          </a:p>
          <a:p>
            <a:pPr lvl="2"/>
            <a:r>
              <a:rPr lang="en-US" sz="2000" b="1" dirty="0"/>
              <a:t>x </a:t>
            </a:r>
            <a:r>
              <a:rPr lang="en-US" sz="2000" dirty="0"/>
              <a:t>=  parameter vector</a:t>
            </a:r>
          </a:p>
          <a:p>
            <a:pPr marL="342900" indent="-342900">
              <a:buFont typeface="Arial" panose="020B0604020202020204" pitchFamily="34" charset="0"/>
              <a:buChar char="•"/>
            </a:pPr>
            <a:r>
              <a:rPr lang="en-US" sz="2000" dirty="0"/>
              <a:t>objective function   : </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gradient of the objective function at </a:t>
            </a:r>
            <a:r>
              <a:rPr lang="en-US" sz="2000" b="1" dirty="0"/>
              <a:t>x </a:t>
            </a:r>
            <a:r>
              <a:rPr lang="en-US" sz="2000" dirty="0"/>
              <a:t>:</a:t>
            </a:r>
          </a:p>
          <a:p>
            <a:r>
              <a:rPr lang="en-US" sz="2000" dirty="0"/>
              <a:t> </a:t>
            </a:r>
          </a:p>
          <a:p>
            <a:endParaRPr lang="en-US" sz="2000" dirty="0"/>
          </a:p>
          <a:p>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Update rule</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In vanilla GD, computational cost for each independent variable iteration is O(n) which grows linearly with </a:t>
            </a:r>
            <a:r>
              <a:rPr lang="en-US" sz="2000" i="1" dirty="0"/>
              <a:t>n </a:t>
            </a:r>
          </a:p>
          <a:p>
            <a:pPr marL="342900" indent="-342900">
              <a:buFont typeface="Arial" panose="020B0604020202020204" pitchFamily="34" charset="0"/>
              <a:buChar char="•"/>
            </a:pPr>
            <a:endParaRPr lang="en-US" sz="2000" i="1" dirty="0"/>
          </a:p>
          <a:p>
            <a:pPr marL="342900" indent="-342900">
              <a:buFont typeface="Arial" panose="020B0604020202020204" pitchFamily="34" charset="0"/>
              <a:buChar char="•"/>
            </a:pPr>
            <a:r>
              <a:rPr lang="en-US" sz="2000" b="1" dirty="0"/>
              <a:t>Larger the training dataset is larger, higher the cost of GD for each iteration</a:t>
            </a:r>
            <a:endParaRPr lang="en-IN" sz="2000" b="1" dirty="0"/>
          </a:p>
        </p:txBody>
      </p:sp>
      <p:sp>
        <p:nvSpPr>
          <p:cNvPr id="3" name="Title 2"/>
          <p:cNvSpPr>
            <a:spLocks noGrp="1"/>
          </p:cNvSpPr>
          <p:nvPr>
            <p:ph type="title"/>
          </p:nvPr>
        </p:nvSpPr>
        <p:spPr/>
        <p:txBody>
          <a:bodyPr/>
          <a:lstStyle/>
          <a:p>
            <a:r>
              <a:rPr lang="en-US" dirty="0"/>
              <a:t>Gradient descent </a:t>
            </a:r>
            <a:endParaRPr lang="en-IN" dirty="0"/>
          </a:p>
        </p:txBody>
      </p:sp>
      <p:pic>
        <p:nvPicPr>
          <p:cNvPr id="4" name="Picture 3"/>
          <p:cNvPicPr>
            <a:picLocks noChangeAspect="1"/>
          </p:cNvPicPr>
          <p:nvPr/>
        </p:nvPicPr>
        <p:blipFill>
          <a:blip r:embed="rId3"/>
          <a:stretch>
            <a:fillRect/>
          </a:stretch>
        </p:blipFill>
        <p:spPr>
          <a:xfrm>
            <a:off x="2328357" y="2824689"/>
            <a:ext cx="1744085" cy="647505"/>
          </a:xfrm>
          <a:prstGeom prst="rect">
            <a:avLst/>
          </a:prstGeom>
          <a:ln>
            <a:solidFill>
              <a:srgbClr val="FF0000"/>
            </a:solidFill>
          </a:ln>
        </p:spPr>
      </p:pic>
      <p:pic>
        <p:nvPicPr>
          <p:cNvPr id="5" name="Picture 4"/>
          <p:cNvPicPr>
            <a:picLocks noChangeAspect="1"/>
          </p:cNvPicPr>
          <p:nvPr/>
        </p:nvPicPr>
        <p:blipFill>
          <a:blip r:embed="rId4"/>
          <a:stretch>
            <a:fillRect/>
          </a:stretch>
        </p:blipFill>
        <p:spPr>
          <a:xfrm>
            <a:off x="1472519" y="3849574"/>
            <a:ext cx="1981200" cy="726440"/>
          </a:xfrm>
          <a:prstGeom prst="rect">
            <a:avLst/>
          </a:prstGeom>
          <a:ln>
            <a:solidFill>
              <a:srgbClr val="FF0000"/>
            </a:solidFill>
          </a:ln>
        </p:spPr>
      </p:pic>
      <p:pic>
        <p:nvPicPr>
          <p:cNvPr id="6" name="Picture 5"/>
          <p:cNvPicPr>
            <a:picLocks noChangeAspect="1"/>
          </p:cNvPicPr>
          <p:nvPr/>
        </p:nvPicPr>
        <p:blipFill>
          <a:blip r:embed="rId5"/>
          <a:stretch>
            <a:fillRect/>
          </a:stretch>
        </p:blipFill>
        <p:spPr>
          <a:xfrm>
            <a:off x="1866899" y="4777181"/>
            <a:ext cx="1530234" cy="404419"/>
          </a:xfrm>
          <a:prstGeom prst="rect">
            <a:avLst/>
          </a:prstGeom>
          <a:ln>
            <a:solidFill>
              <a:srgbClr val="FF0000"/>
            </a:solidFill>
          </a:ln>
        </p:spPr>
      </p:pic>
    </p:spTree>
    <p:extLst>
      <p:ext uri="{BB962C8B-B14F-4D97-AF65-F5344CB8AC3E}">
        <p14:creationId xmlns:p14="http://schemas.microsoft.com/office/powerpoint/2010/main" val="7433631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0"/>
          </p:nvPr>
        </p:nvPicPr>
        <p:blipFill>
          <a:blip r:embed="rId3"/>
          <a:stretch>
            <a:fillRect/>
          </a:stretch>
        </p:blipFill>
        <p:spPr>
          <a:xfrm>
            <a:off x="-1385" y="3952875"/>
            <a:ext cx="5237510" cy="1828800"/>
          </a:xfrm>
          <a:prstGeom prst="rect">
            <a:avLst/>
          </a:prstGeom>
        </p:spPr>
      </p:pic>
      <p:sp>
        <p:nvSpPr>
          <p:cNvPr id="3" name="Title 2"/>
          <p:cNvSpPr>
            <a:spLocks noGrp="1"/>
          </p:cNvSpPr>
          <p:nvPr>
            <p:ph type="title"/>
          </p:nvPr>
        </p:nvSpPr>
        <p:spPr/>
        <p:txBody>
          <a:bodyPr/>
          <a:lstStyle/>
          <a:p>
            <a:r>
              <a:rPr lang="en-US" dirty="0"/>
              <a:t>Gradient descent</a:t>
            </a:r>
            <a:endParaRPr lang="en-IN" dirty="0"/>
          </a:p>
        </p:txBody>
      </p:sp>
      <p:pic>
        <p:nvPicPr>
          <p:cNvPr id="5" name="Picture 4"/>
          <p:cNvPicPr>
            <a:picLocks noChangeAspect="1"/>
          </p:cNvPicPr>
          <p:nvPr/>
        </p:nvPicPr>
        <p:blipFill>
          <a:blip r:embed="rId4"/>
          <a:stretch>
            <a:fillRect/>
          </a:stretch>
        </p:blipFill>
        <p:spPr>
          <a:xfrm>
            <a:off x="762000" y="1752600"/>
            <a:ext cx="3048000" cy="1857375"/>
          </a:xfrm>
          <a:prstGeom prst="rect">
            <a:avLst/>
          </a:prstGeom>
        </p:spPr>
      </p:pic>
      <p:pic>
        <p:nvPicPr>
          <p:cNvPr id="6" name="Picture 5"/>
          <p:cNvPicPr>
            <a:picLocks noChangeAspect="1"/>
          </p:cNvPicPr>
          <p:nvPr/>
        </p:nvPicPr>
        <p:blipFill>
          <a:blip r:embed="rId5"/>
          <a:stretch>
            <a:fillRect/>
          </a:stretch>
        </p:blipFill>
        <p:spPr>
          <a:xfrm>
            <a:off x="4648200" y="1562100"/>
            <a:ext cx="2838450" cy="2047875"/>
          </a:xfrm>
          <a:prstGeom prst="rect">
            <a:avLst/>
          </a:prstGeom>
        </p:spPr>
      </p:pic>
      <p:sp>
        <p:nvSpPr>
          <p:cNvPr id="2" name="Rectangle 1"/>
          <p:cNvSpPr/>
          <p:nvPr/>
        </p:nvSpPr>
        <p:spPr>
          <a:xfrm>
            <a:off x="5236125" y="3810000"/>
            <a:ext cx="3828011" cy="2554545"/>
          </a:xfrm>
          <a:prstGeom prst="rect">
            <a:avLst/>
          </a:prstGeom>
        </p:spPr>
        <p:txBody>
          <a:bodyPr wrap="square">
            <a:spAutoFit/>
          </a:bodyPr>
          <a:lstStyle/>
          <a:p>
            <a:pPr marL="342900" indent="-342900">
              <a:buFont typeface="Arial" panose="020B0604020202020204" pitchFamily="34" charset="0"/>
              <a:buChar char="•"/>
            </a:pPr>
            <a:r>
              <a:rPr lang="en-IN" sz="2000" dirty="0">
                <a:solidFill>
                  <a:srgbClr val="7030A0"/>
                </a:solidFill>
                <a:latin typeface="Cambria" panose="02040503050406030204" pitchFamily="18" charset="0"/>
                <a:ea typeface="Cambria" panose="02040503050406030204" pitchFamily="18" charset="0"/>
              </a:rPr>
              <a:t>Loss functions of most deep learning models are non-convex</a:t>
            </a:r>
          </a:p>
          <a:p>
            <a:pPr marL="342900" indent="-342900">
              <a:buFont typeface="Arial" panose="020B0604020202020204" pitchFamily="34" charset="0"/>
              <a:buChar char="•"/>
            </a:pPr>
            <a:r>
              <a:rPr lang="en-IN" sz="2000" dirty="0">
                <a:solidFill>
                  <a:schemeClr val="tx1"/>
                </a:solidFill>
                <a:latin typeface="Cambria" panose="02040503050406030204" pitchFamily="18" charset="0"/>
                <a:ea typeface="Cambria" panose="02040503050406030204" pitchFamily="18" charset="0"/>
              </a:rPr>
              <a:t>Non-convex functions have multiple minima. Usually harder to optimize as compared to convex functions</a:t>
            </a:r>
          </a:p>
          <a:p>
            <a:pPr marL="342900" indent="-342900">
              <a:buFont typeface="Arial" panose="020B0604020202020204" pitchFamily="34" charset="0"/>
              <a:buChar char="•"/>
            </a:pPr>
            <a:endParaRPr lang="en-GB" sz="2000" dirty="0">
              <a:solidFill>
                <a:srgbClr val="7030A0"/>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6103389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Gradient descent </a:t>
            </a:r>
            <a:endParaRPr lang="en-IN" dirty="0"/>
          </a:p>
        </p:txBody>
      </p:sp>
      <p:pic>
        <p:nvPicPr>
          <p:cNvPr id="4" name="Picture 3"/>
          <p:cNvPicPr>
            <a:picLocks noChangeAspect="1"/>
          </p:cNvPicPr>
          <p:nvPr/>
        </p:nvPicPr>
        <p:blipFill>
          <a:blip r:embed="rId2"/>
          <a:stretch>
            <a:fillRect/>
          </a:stretch>
        </p:blipFill>
        <p:spPr>
          <a:xfrm>
            <a:off x="389313" y="3581400"/>
            <a:ext cx="7654803" cy="2667000"/>
          </a:xfrm>
          <a:prstGeom prst="rect">
            <a:avLst/>
          </a:prstGeom>
        </p:spPr>
      </p:pic>
      <p:pic>
        <p:nvPicPr>
          <p:cNvPr id="5" name="Picture 4"/>
          <p:cNvPicPr>
            <a:picLocks noChangeAspect="1"/>
          </p:cNvPicPr>
          <p:nvPr/>
        </p:nvPicPr>
        <p:blipFill>
          <a:blip r:embed="rId3"/>
          <a:stretch>
            <a:fillRect/>
          </a:stretch>
        </p:blipFill>
        <p:spPr>
          <a:xfrm>
            <a:off x="381000" y="1701213"/>
            <a:ext cx="3790950" cy="1524000"/>
          </a:xfrm>
          <a:prstGeom prst="rect">
            <a:avLst/>
          </a:prstGeom>
        </p:spPr>
      </p:pic>
    </p:spTree>
    <p:extLst>
      <p:ext uri="{BB962C8B-B14F-4D97-AF65-F5344CB8AC3E}">
        <p14:creationId xmlns:p14="http://schemas.microsoft.com/office/powerpoint/2010/main" val="19418309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a:xfrm>
            <a:off x="20392" y="1313395"/>
            <a:ext cx="8610600" cy="4525963"/>
          </a:xfrm>
        </p:spPr>
        <p:txBody>
          <a:bodyPr/>
          <a:lstStyle/>
          <a:p>
            <a:pPr marL="342900" indent="-342900">
              <a:buFont typeface="Arial" panose="020B0604020202020204" pitchFamily="34" charset="0"/>
              <a:buChar char="•"/>
            </a:pPr>
            <a:r>
              <a:rPr lang="en-US" dirty="0"/>
              <a:t>The role of the learning rate is to moderate the degree to which weights are changed at each step.</a:t>
            </a:r>
          </a:p>
          <a:p>
            <a:pPr marL="342900" indent="-342900">
              <a:buFont typeface="Arial" panose="020B0604020202020204" pitchFamily="34" charset="0"/>
              <a:buChar char="•"/>
            </a:pPr>
            <a:r>
              <a:rPr lang="en-US" dirty="0"/>
              <a:t>Learning rate η is set by the algorithm designer.</a:t>
            </a:r>
          </a:p>
          <a:p>
            <a:endParaRPr lang="en-IN" dirty="0"/>
          </a:p>
        </p:txBody>
      </p:sp>
      <p:sp>
        <p:nvSpPr>
          <p:cNvPr id="3" name="Title 2"/>
          <p:cNvSpPr>
            <a:spLocks noGrp="1"/>
          </p:cNvSpPr>
          <p:nvPr>
            <p:ph type="title"/>
          </p:nvPr>
        </p:nvSpPr>
        <p:spPr/>
        <p:txBody>
          <a:bodyPr/>
          <a:lstStyle/>
          <a:p>
            <a:r>
              <a:rPr lang="en-US" dirty="0"/>
              <a:t>Learning rate</a:t>
            </a:r>
            <a:endParaRPr lang="en-IN" dirty="0"/>
          </a:p>
        </p:txBody>
      </p:sp>
      <p:pic>
        <p:nvPicPr>
          <p:cNvPr id="4" name="Picture 3"/>
          <p:cNvPicPr>
            <a:picLocks noChangeAspect="1"/>
          </p:cNvPicPr>
          <p:nvPr/>
        </p:nvPicPr>
        <p:blipFill>
          <a:blip r:embed="rId2"/>
          <a:stretch>
            <a:fillRect/>
          </a:stretch>
        </p:blipFill>
        <p:spPr>
          <a:xfrm>
            <a:off x="197476" y="2665283"/>
            <a:ext cx="2886075" cy="1876425"/>
          </a:xfrm>
          <a:prstGeom prst="rect">
            <a:avLst/>
          </a:prstGeom>
        </p:spPr>
      </p:pic>
      <p:pic>
        <p:nvPicPr>
          <p:cNvPr id="5" name="Picture 4"/>
          <p:cNvPicPr>
            <a:picLocks noChangeAspect="1"/>
          </p:cNvPicPr>
          <p:nvPr/>
        </p:nvPicPr>
        <p:blipFill>
          <a:blip r:embed="rId3"/>
          <a:stretch>
            <a:fillRect/>
          </a:stretch>
        </p:blipFill>
        <p:spPr>
          <a:xfrm>
            <a:off x="2828993" y="2587855"/>
            <a:ext cx="3086100" cy="2038350"/>
          </a:xfrm>
          <a:prstGeom prst="rect">
            <a:avLst/>
          </a:prstGeom>
        </p:spPr>
      </p:pic>
      <p:sp>
        <p:nvSpPr>
          <p:cNvPr id="6" name="Rectangle 5"/>
          <p:cNvSpPr/>
          <p:nvPr/>
        </p:nvSpPr>
        <p:spPr>
          <a:xfrm>
            <a:off x="563518" y="4797828"/>
            <a:ext cx="2262255" cy="1213153"/>
          </a:xfrm>
          <a:prstGeom prst="rect">
            <a:avLst/>
          </a:prstGeom>
        </p:spPr>
        <p:txBody>
          <a:bodyPr wrap="square">
            <a:spAutoFit/>
          </a:bodyPr>
          <a:lstStyle/>
          <a:p>
            <a:pPr marL="12700">
              <a:spcBef>
                <a:spcPts val="100"/>
              </a:spcBef>
            </a:pPr>
            <a:r>
              <a:rPr lang="en-US" b="1" spc="-10" dirty="0">
                <a:latin typeface="Cambria" panose="02040503050406030204" pitchFamily="18" charset="0"/>
                <a:ea typeface="Cambria" panose="02040503050406030204" pitchFamily="18" charset="0"/>
                <a:cs typeface="Arial"/>
              </a:rPr>
              <a:t>Slow Learning</a:t>
            </a:r>
          </a:p>
          <a:p>
            <a:pPr marL="12700">
              <a:spcBef>
                <a:spcPts val="100"/>
              </a:spcBef>
            </a:pPr>
            <a:r>
              <a:rPr lang="en-US" spc="-10" dirty="0">
                <a:latin typeface="Cambria" panose="02040503050406030204" pitchFamily="18" charset="0"/>
                <a:ea typeface="Cambria" panose="02040503050406030204" pitchFamily="18" charset="0"/>
                <a:cs typeface="Arial"/>
              </a:rPr>
              <a:t>If we pick  </a:t>
            </a:r>
            <a:r>
              <a:rPr lang="en-US" spc="-10" dirty="0">
                <a:latin typeface="Cambria" panose="02040503050406030204" pitchFamily="18" charset="0"/>
                <a:ea typeface="Cambria" panose="02040503050406030204" pitchFamily="18" charset="0"/>
                <a:cs typeface="Arial"/>
                <a:sym typeface="Symbol" panose="05050102010706020507" pitchFamily="18" charset="2"/>
              </a:rPr>
              <a:t>  </a:t>
            </a:r>
            <a:r>
              <a:rPr lang="en-US" spc="-10" dirty="0">
                <a:latin typeface="Cambria" panose="02040503050406030204" pitchFamily="18" charset="0"/>
                <a:ea typeface="Cambria" panose="02040503050406030204" pitchFamily="18" charset="0"/>
                <a:cs typeface="Arial"/>
              </a:rPr>
              <a:t>too small, we make little progress.</a:t>
            </a:r>
          </a:p>
        </p:txBody>
      </p:sp>
      <p:sp>
        <p:nvSpPr>
          <p:cNvPr id="7" name="Rectangle 6"/>
          <p:cNvSpPr/>
          <p:nvPr/>
        </p:nvSpPr>
        <p:spPr>
          <a:xfrm>
            <a:off x="3368899" y="4691609"/>
            <a:ext cx="2955701" cy="1754326"/>
          </a:xfrm>
          <a:prstGeom prst="rect">
            <a:avLst/>
          </a:prstGeom>
        </p:spPr>
        <p:txBody>
          <a:bodyPr wrap="square">
            <a:spAutoFit/>
          </a:bodyPr>
          <a:lstStyle/>
          <a:p>
            <a:pPr marL="12700">
              <a:lnSpc>
                <a:spcPct val="100000"/>
              </a:lnSpc>
              <a:spcBef>
                <a:spcPts val="100"/>
              </a:spcBef>
            </a:pPr>
            <a:r>
              <a:rPr lang="en-US" b="1" spc="-10" dirty="0">
                <a:latin typeface="Cambria" panose="02040503050406030204" pitchFamily="18" charset="0"/>
                <a:ea typeface="Cambria" panose="02040503050406030204" pitchFamily="18" charset="0"/>
                <a:cs typeface="Arial"/>
              </a:rPr>
              <a:t>Oscillations</a:t>
            </a:r>
            <a:endParaRPr lang="en-US" dirty="0">
              <a:latin typeface="Cambria" panose="02040503050406030204" pitchFamily="18" charset="0"/>
              <a:ea typeface="Cambria" panose="02040503050406030204" pitchFamily="18" charset="0"/>
              <a:cs typeface="Arial"/>
            </a:endParaRPr>
          </a:p>
          <a:p>
            <a:pPr marL="12700" marR="5080">
              <a:lnSpc>
                <a:spcPct val="100000"/>
              </a:lnSpc>
              <a:tabLst>
                <a:tab pos="3324860" algn="l"/>
              </a:tabLst>
            </a:pPr>
            <a:r>
              <a:rPr lang="en-US" dirty="0">
                <a:latin typeface="Cambria" panose="02040503050406030204" pitchFamily="18" charset="0"/>
                <a:ea typeface="Cambria" panose="02040503050406030204" pitchFamily="18" charset="0"/>
                <a:cs typeface="Arial MT"/>
              </a:rPr>
              <a:t>If</a:t>
            </a:r>
            <a:r>
              <a:rPr lang="en-US" spc="-25" dirty="0">
                <a:latin typeface="Cambria" panose="02040503050406030204" pitchFamily="18" charset="0"/>
                <a:ea typeface="Cambria" panose="02040503050406030204" pitchFamily="18" charset="0"/>
                <a:cs typeface="Arial MT"/>
              </a:rPr>
              <a:t> </a:t>
            </a:r>
            <a:r>
              <a:rPr lang="en-US" dirty="0">
                <a:latin typeface="Cambria" panose="02040503050406030204" pitchFamily="18" charset="0"/>
                <a:ea typeface="Cambria" panose="02040503050406030204" pitchFamily="18" charset="0"/>
                <a:cs typeface="Arial MT"/>
              </a:rPr>
              <a:t>we</a:t>
            </a:r>
            <a:r>
              <a:rPr lang="en-US" spc="-25" dirty="0">
                <a:latin typeface="Cambria" panose="02040503050406030204" pitchFamily="18" charset="0"/>
                <a:ea typeface="Cambria" panose="02040503050406030204" pitchFamily="18" charset="0"/>
                <a:cs typeface="Arial MT"/>
              </a:rPr>
              <a:t> </a:t>
            </a:r>
            <a:r>
              <a:rPr lang="en-US" dirty="0">
                <a:latin typeface="Cambria" panose="02040503050406030204" pitchFamily="18" charset="0"/>
                <a:ea typeface="Cambria" panose="02040503050406030204" pitchFamily="18" charset="0"/>
                <a:cs typeface="Arial MT"/>
              </a:rPr>
              <a:t>pick</a:t>
            </a:r>
            <a:r>
              <a:rPr lang="en-US" spc="-20" dirty="0">
                <a:latin typeface="Cambria" panose="02040503050406030204" pitchFamily="18" charset="0"/>
                <a:ea typeface="Cambria" panose="02040503050406030204" pitchFamily="18" charset="0"/>
                <a:cs typeface="Arial MT"/>
              </a:rPr>
              <a:t> </a:t>
            </a:r>
            <a:r>
              <a:rPr lang="en-US" spc="-30" dirty="0">
                <a:latin typeface="Cambria" panose="02040503050406030204" pitchFamily="18" charset="0"/>
                <a:ea typeface="Cambria" panose="02040503050406030204" pitchFamily="18" charset="0"/>
                <a:cs typeface="Arial MT"/>
                <a:sym typeface="Symbol" panose="05050102010706020507" pitchFamily="18" charset="2"/>
              </a:rPr>
              <a:t></a:t>
            </a:r>
            <a:r>
              <a:rPr lang="en-US" spc="-25" dirty="0">
                <a:latin typeface="Cambria" panose="02040503050406030204" pitchFamily="18" charset="0"/>
                <a:ea typeface="Cambria" panose="02040503050406030204" pitchFamily="18" charset="0"/>
                <a:cs typeface="Arial MT"/>
              </a:rPr>
              <a:t> </a:t>
            </a:r>
            <a:r>
              <a:rPr lang="en-US" dirty="0">
                <a:latin typeface="Cambria" panose="02040503050406030204" pitchFamily="18" charset="0"/>
                <a:ea typeface="Cambria" panose="02040503050406030204" pitchFamily="18" charset="0"/>
                <a:cs typeface="Arial MT"/>
              </a:rPr>
              <a:t>too</a:t>
            </a:r>
            <a:r>
              <a:rPr lang="en-US" spc="-20" dirty="0">
                <a:latin typeface="Cambria" panose="02040503050406030204" pitchFamily="18" charset="0"/>
                <a:ea typeface="Cambria" panose="02040503050406030204" pitchFamily="18" charset="0"/>
                <a:cs typeface="Arial MT"/>
              </a:rPr>
              <a:t> </a:t>
            </a:r>
            <a:r>
              <a:rPr lang="en-US" dirty="0">
                <a:latin typeface="Cambria" panose="02040503050406030204" pitchFamily="18" charset="0"/>
                <a:ea typeface="Cambria" panose="02040503050406030204" pitchFamily="18" charset="0"/>
                <a:cs typeface="Arial MT"/>
              </a:rPr>
              <a:t>large,</a:t>
            </a:r>
            <a:r>
              <a:rPr lang="en-US" spc="-25" dirty="0">
                <a:latin typeface="Cambria" panose="02040503050406030204" pitchFamily="18" charset="0"/>
                <a:ea typeface="Cambria" panose="02040503050406030204" pitchFamily="18" charset="0"/>
                <a:cs typeface="Arial MT"/>
              </a:rPr>
              <a:t> the </a:t>
            </a:r>
            <a:r>
              <a:rPr lang="en-US" dirty="0">
                <a:latin typeface="Cambria" panose="02040503050406030204" pitchFamily="18" charset="0"/>
                <a:ea typeface="Cambria" panose="02040503050406030204" pitchFamily="18" charset="0"/>
                <a:cs typeface="Arial MT"/>
              </a:rPr>
              <a:t>solution</a:t>
            </a:r>
            <a:r>
              <a:rPr lang="en-US" spc="-70" dirty="0">
                <a:latin typeface="Cambria" panose="02040503050406030204" pitchFamily="18" charset="0"/>
                <a:ea typeface="Cambria" panose="02040503050406030204" pitchFamily="18" charset="0"/>
                <a:cs typeface="Arial MT"/>
              </a:rPr>
              <a:t> </a:t>
            </a:r>
            <a:r>
              <a:rPr lang="en-US" dirty="0">
                <a:latin typeface="Cambria" panose="02040503050406030204" pitchFamily="18" charset="0"/>
                <a:ea typeface="Cambria" panose="02040503050406030204" pitchFamily="18" charset="0"/>
                <a:cs typeface="Arial MT"/>
              </a:rPr>
              <a:t>oscillates</a:t>
            </a:r>
            <a:r>
              <a:rPr lang="en-US" spc="-70" dirty="0">
                <a:latin typeface="Cambria" panose="02040503050406030204" pitchFamily="18" charset="0"/>
                <a:ea typeface="Cambria" panose="02040503050406030204" pitchFamily="18" charset="0"/>
                <a:cs typeface="Arial MT"/>
              </a:rPr>
              <a:t> </a:t>
            </a:r>
            <a:r>
              <a:rPr lang="en-US" dirty="0">
                <a:latin typeface="Cambria" panose="02040503050406030204" pitchFamily="18" charset="0"/>
                <a:ea typeface="Cambria" panose="02040503050406030204" pitchFamily="18" charset="0"/>
                <a:cs typeface="Arial MT"/>
              </a:rPr>
              <a:t>and</a:t>
            </a:r>
            <a:r>
              <a:rPr lang="en-US" spc="-65" dirty="0">
                <a:latin typeface="Cambria" panose="02040503050406030204" pitchFamily="18" charset="0"/>
                <a:ea typeface="Cambria" panose="02040503050406030204" pitchFamily="18" charset="0"/>
                <a:cs typeface="Arial MT"/>
              </a:rPr>
              <a:t> </a:t>
            </a:r>
            <a:r>
              <a:rPr lang="en-US" dirty="0">
                <a:latin typeface="Cambria" panose="02040503050406030204" pitchFamily="18" charset="0"/>
                <a:ea typeface="Cambria" panose="02040503050406030204" pitchFamily="18" charset="0"/>
                <a:cs typeface="Arial MT"/>
              </a:rPr>
              <a:t>in</a:t>
            </a:r>
            <a:r>
              <a:rPr lang="en-US" spc="-70" dirty="0">
                <a:latin typeface="Cambria" panose="02040503050406030204" pitchFamily="18" charset="0"/>
                <a:ea typeface="Cambria" panose="02040503050406030204" pitchFamily="18" charset="0"/>
                <a:cs typeface="Arial MT"/>
              </a:rPr>
              <a:t> </a:t>
            </a:r>
            <a:r>
              <a:rPr lang="en-US" spc="-25" dirty="0">
                <a:latin typeface="Cambria" panose="02040503050406030204" pitchFamily="18" charset="0"/>
                <a:ea typeface="Cambria" panose="02040503050406030204" pitchFamily="18" charset="0"/>
                <a:cs typeface="Arial MT"/>
              </a:rPr>
              <a:t>the </a:t>
            </a:r>
            <a:r>
              <a:rPr lang="en-US" dirty="0">
                <a:latin typeface="Cambria" panose="02040503050406030204" pitchFamily="18" charset="0"/>
                <a:ea typeface="Cambria" panose="02040503050406030204" pitchFamily="18" charset="0"/>
                <a:cs typeface="Arial MT"/>
              </a:rPr>
              <a:t>worst</a:t>
            </a:r>
            <a:r>
              <a:rPr lang="en-US" spc="-20" dirty="0">
                <a:latin typeface="Cambria" panose="02040503050406030204" pitchFamily="18" charset="0"/>
                <a:ea typeface="Cambria" panose="02040503050406030204" pitchFamily="18" charset="0"/>
                <a:cs typeface="Arial MT"/>
              </a:rPr>
              <a:t> </a:t>
            </a:r>
            <a:r>
              <a:rPr lang="en-US" dirty="0">
                <a:latin typeface="Cambria" panose="02040503050406030204" pitchFamily="18" charset="0"/>
                <a:ea typeface="Cambria" panose="02040503050406030204" pitchFamily="18" charset="0"/>
                <a:cs typeface="Arial MT"/>
              </a:rPr>
              <a:t>case</a:t>
            </a:r>
            <a:r>
              <a:rPr lang="en-US" spc="-20" dirty="0">
                <a:latin typeface="Cambria" panose="02040503050406030204" pitchFamily="18" charset="0"/>
                <a:ea typeface="Cambria" panose="02040503050406030204" pitchFamily="18" charset="0"/>
                <a:cs typeface="Arial MT"/>
              </a:rPr>
              <a:t> </a:t>
            </a:r>
            <a:r>
              <a:rPr lang="en-US" dirty="0">
                <a:latin typeface="Cambria" panose="02040503050406030204" pitchFamily="18" charset="0"/>
                <a:ea typeface="Cambria" panose="02040503050406030204" pitchFamily="18" charset="0"/>
                <a:cs typeface="Arial MT"/>
              </a:rPr>
              <a:t>it</a:t>
            </a:r>
            <a:r>
              <a:rPr lang="en-US" spc="-20" dirty="0">
                <a:latin typeface="Cambria" panose="02040503050406030204" pitchFamily="18" charset="0"/>
                <a:ea typeface="Cambria" panose="02040503050406030204" pitchFamily="18" charset="0"/>
                <a:cs typeface="Arial MT"/>
              </a:rPr>
              <a:t> </a:t>
            </a:r>
            <a:r>
              <a:rPr lang="en-US" dirty="0">
                <a:latin typeface="Cambria" panose="02040503050406030204" pitchFamily="18" charset="0"/>
                <a:ea typeface="Cambria" panose="02040503050406030204" pitchFamily="18" charset="0"/>
                <a:cs typeface="Arial MT"/>
              </a:rPr>
              <a:t>might</a:t>
            </a:r>
            <a:r>
              <a:rPr lang="en-US" spc="-20" dirty="0">
                <a:latin typeface="Cambria" panose="02040503050406030204" pitchFamily="18" charset="0"/>
                <a:ea typeface="Cambria" panose="02040503050406030204" pitchFamily="18" charset="0"/>
                <a:cs typeface="Arial MT"/>
              </a:rPr>
              <a:t> </a:t>
            </a:r>
            <a:r>
              <a:rPr lang="en-US" spc="-10" dirty="0">
                <a:latin typeface="Cambria" panose="02040503050406030204" pitchFamily="18" charset="0"/>
                <a:ea typeface="Cambria" panose="02040503050406030204" pitchFamily="18" charset="0"/>
                <a:cs typeface="Arial MT"/>
              </a:rPr>
              <a:t>diverge.</a:t>
            </a:r>
            <a:r>
              <a:rPr lang="en-US" dirty="0">
                <a:latin typeface="Cambria" panose="02040503050406030204" pitchFamily="18" charset="0"/>
                <a:ea typeface="Cambria" panose="02040503050406030204" pitchFamily="18" charset="0"/>
                <a:cs typeface="Arial MT"/>
              </a:rPr>
              <a:t>	</a:t>
            </a:r>
            <a:endParaRPr lang="en-IN" dirty="0">
              <a:latin typeface="Cambria" panose="02040503050406030204" pitchFamily="18" charset="0"/>
              <a:ea typeface="Cambria" panose="02040503050406030204" pitchFamily="18" charset="0"/>
            </a:endParaRPr>
          </a:p>
        </p:txBody>
      </p:sp>
      <p:pic>
        <p:nvPicPr>
          <p:cNvPr id="8" name="Picture 7"/>
          <p:cNvPicPr>
            <a:picLocks noChangeAspect="1"/>
          </p:cNvPicPr>
          <p:nvPr/>
        </p:nvPicPr>
        <p:blipFill>
          <a:blip r:embed="rId4"/>
          <a:stretch>
            <a:fillRect/>
          </a:stretch>
        </p:blipFill>
        <p:spPr>
          <a:xfrm>
            <a:off x="6172200" y="2587855"/>
            <a:ext cx="2743200" cy="1876425"/>
          </a:xfrm>
          <a:prstGeom prst="rect">
            <a:avLst/>
          </a:prstGeom>
        </p:spPr>
      </p:pic>
      <p:sp>
        <p:nvSpPr>
          <p:cNvPr id="9" name="Rectangle 8"/>
          <p:cNvSpPr/>
          <p:nvPr/>
        </p:nvSpPr>
        <p:spPr>
          <a:xfrm>
            <a:off x="6458219" y="4541062"/>
            <a:ext cx="2654791" cy="1779974"/>
          </a:xfrm>
          <a:prstGeom prst="rect">
            <a:avLst/>
          </a:prstGeom>
        </p:spPr>
        <p:txBody>
          <a:bodyPr wrap="square">
            <a:spAutoFit/>
          </a:bodyPr>
          <a:lstStyle/>
          <a:p>
            <a:pPr marL="12700">
              <a:lnSpc>
                <a:spcPct val="100000"/>
              </a:lnSpc>
              <a:spcBef>
                <a:spcPts val="100"/>
              </a:spcBef>
            </a:pPr>
            <a:r>
              <a:rPr lang="en-US" b="1" spc="-10" dirty="0">
                <a:latin typeface="Cambria" panose="02040503050406030204" pitchFamily="18" charset="0"/>
                <a:ea typeface="Cambria" panose="02040503050406030204" pitchFamily="18" charset="0"/>
                <a:cs typeface="Arial"/>
              </a:rPr>
              <a:t>Optimal </a:t>
            </a:r>
            <a:r>
              <a:rPr lang="en-US" spc="-30" dirty="0">
                <a:latin typeface="Cambria" panose="02040503050406030204" pitchFamily="18" charset="0"/>
                <a:ea typeface="Cambria" panose="02040503050406030204" pitchFamily="18" charset="0"/>
                <a:cs typeface="Arial MT"/>
                <a:sym typeface="Symbol" panose="05050102010706020507" pitchFamily="18" charset="2"/>
              </a:rPr>
              <a:t></a:t>
            </a:r>
          </a:p>
          <a:p>
            <a:pPr marL="12700">
              <a:lnSpc>
                <a:spcPct val="100000"/>
              </a:lnSpc>
              <a:spcBef>
                <a:spcPts val="100"/>
              </a:spcBef>
            </a:pPr>
            <a:endParaRPr lang="en-US" b="1" spc="-30" dirty="0">
              <a:latin typeface="Cambria" panose="02040503050406030204" pitchFamily="18" charset="0"/>
              <a:ea typeface="Cambria" panose="02040503050406030204" pitchFamily="18" charset="0"/>
              <a:cs typeface="Arial"/>
              <a:sym typeface="Symbol" panose="05050102010706020507" pitchFamily="18" charset="2"/>
            </a:endParaRPr>
          </a:p>
          <a:p>
            <a:pPr marL="12700">
              <a:lnSpc>
                <a:spcPct val="100000"/>
              </a:lnSpc>
              <a:spcBef>
                <a:spcPts val="100"/>
              </a:spcBef>
            </a:pPr>
            <a:r>
              <a:rPr lang="en-US" spc="-30" dirty="0">
                <a:latin typeface="Cambria" panose="02040503050406030204" pitchFamily="18" charset="0"/>
                <a:ea typeface="Cambria" panose="02040503050406030204" pitchFamily="18" charset="0"/>
                <a:cs typeface="Arial"/>
                <a:sym typeface="Symbol" panose="05050102010706020507" pitchFamily="18" charset="2"/>
              </a:rPr>
              <a:t>GD converges, </a:t>
            </a:r>
            <a:r>
              <a:rPr lang="en-IN" dirty="0">
                <a:latin typeface="Cambria" panose="02040503050406030204" pitchFamily="18" charset="0"/>
                <a:ea typeface="Cambria" panose="02040503050406030204" pitchFamily="18" charset="0"/>
              </a:rPr>
              <a:t>a suitable </a:t>
            </a:r>
            <a:r>
              <a:rPr lang="en-US" spc="-30" dirty="0">
                <a:latin typeface="Cambria" panose="02040503050406030204" pitchFamily="18" charset="0"/>
                <a:ea typeface="Cambria" panose="02040503050406030204" pitchFamily="18" charset="0"/>
                <a:cs typeface="Arial MT"/>
                <a:sym typeface="Symbol" panose="05050102010706020507" pitchFamily="18" charset="2"/>
              </a:rPr>
              <a:t> </a:t>
            </a:r>
            <a:r>
              <a:rPr lang="en-US" dirty="0">
                <a:latin typeface="Cambria" panose="02040503050406030204" pitchFamily="18" charset="0"/>
                <a:ea typeface="Cambria" panose="02040503050406030204" pitchFamily="18" charset="0"/>
              </a:rPr>
              <a:t>is often found only after multiple experiments</a:t>
            </a:r>
            <a:r>
              <a:rPr lang="en-US" dirty="0">
                <a:latin typeface="Cambria" panose="02040503050406030204" pitchFamily="18" charset="0"/>
                <a:ea typeface="Cambria" panose="02040503050406030204" pitchFamily="18" charset="0"/>
                <a:cs typeface="Arial MT"/>
              </a:rPr>
              <a:t>	</a:t>
            </a:r>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156952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Learning rate</a:t>
            </a:r>
            <a:endParaRPr lang="en-IN" dirty="0"/>
          </a:p>
        </p:txBody>
      </p:sp>
      <p:pic>
        <p:nvPicPr>
          <p:cNvPr id="1026" name="Picture 2" descr="https://cs231n.github.io/assets/nn3/learningrates.jpeg"/>
          <p:cNvPicPr>
            <a:picLocks noGrp="1" noChangeAspect="1" noChangeArrowheads="1"/>
          </p:cNvPicPr>
          <p:nvPr>
            <p:ph idx="10"/>
          </p:nvPr>
        </p:nvPicPr>
        <p:blipFill>
          <a:blip r:embed="rId3">
            <a:extLst>
              <a:ext uri="{28A0092B-C50C-407E-A947-70E740481C1C}">
                <a14:useLocalDpi xmlns:a14="http://schemas.microsoft.com/office/drawing/2010/main" val="0"/>
              </a:ext>
            </a:extLst>
          </a:blip>
          <a:srcRect/>
          <a:stretch>
            <a:fillRect/>
          </a:stretch>
        </p:blipFill>
        <p:spPr bwMode="auto">
          <a:xfrm>
            <a:off x="457200" y="1600200"/>
            <a:ext cx="4371975" cy="3943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95959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a:xfrm>
            <a:off x="0" y="1447800"/>
            <a:ext cx="8915400" cy="5562600"/>
          </a:xfrm>
        </p:spPr>
        <p:txBody>
          <a:bodyPr>
            <a:normAutofit/>
          </a:bodyPr>
          <a:lstStyle/>
          <a:p>
            <a:pPr marL="342900" indent="-342900">
              <a:buFont typeface="Arial" panose="020B0604020202020204" pitchFamily="34" charset="0"/>
              <a:buChar char="•"/>
            </a:pPr>
            <a:r>
              <a:rPr lang="en-US" dirty="0"/>
              <a:t>Tweak the learning rate</a:t>
            </a:r>
          </a:p>
          <a:p>
            <a:pPr marL="800100" lvl="1" indent="-342900">
              <a:buFont typeface="Arial" panose="020B0604020202020204" pitchFamily="34" charset="0"/>
              <a:buChar char="•"/>
            </a:pPr>
            <a:r>
              <a:rPr lang="en-US" dirty="0"/>
              <a:t>Gradually reduce the learning rate, then increase it and slowly reduce it, again, several times.</a:t>
            </a:r>
          </a:p>
          <a:p>
            <a:pPr marL="800100" lvl="1" indent="-342900">
              <a:buFont typeface="Arial" panose="020B0604020202020204" pitchFamily="34" charset="0"/>
              <a:buChar char="•"/>
            </a:pPr>
            <a:r>
              <a:rPr lang="en-US" dirty="0"/>
              <a:t> Increasing the learning rate reduces the stability of the algorithm, but gives the algorithm the ability to jump out of a local optimum</a:t>
            </a:r>
          </a:p>
          <a:p>
            <a:pPr marL="342900" indent="-342900">
              <a:buFont typeface="Arial" panose="020B0604020202020204" pitchFamily="34" charset="0"/>
              <a:buChar char="•"/>
            </a:pPr>
            <a:r>
              <a:rPr lang="en-US" kern="1200" dirty="0">
                <a:solidFill>
                  <a:schemeClr val="tx1"/>
                </a:solidFill>
              </a:rPr>
              <a:t>Another takeaway</a:t>
            </a:r>
          </a:p>
          <a:p>
            <a:pPr marL="800100" lvl="1" indent="-342900">
              <a:buFont typeface="Arial" panose="020B0604020202020204" pitchFamily="34" charset="0"/>
              <a:buChar char="•"/>
            </a:pPr>
            <a:r>
              <a:rPr lang="en-US" kern="1200" dirty="0">
                <a:solidFill>
                  <a:schemeClr val="tx1"/>
                </a:solidFill>
              </a:rPr>
              <a:t>Finding the global minimum is probably </a:t>
            </a:r>
            <a:r>
              <a:rPr lang="en-US" b="1" kern="1200" dirty="0">
                <a:solidFill>
                  <a:schemeClr val="tx1"/>
                </a:solidFill>
              </a:rPr>
              <a:t>not the best </a:t>
            </a:r>
            <a:r>
              <a:rPr lang="en-US" kern="1200" dirty="0">
                <a:solidFill>
                  <a:schemeClr val="tx1"/>
                </a:solidFill>
              </a:rPr>
              <a:t>as it would probably represent extreme overfitting on the training set.</a:t>
            </a:r>
          </a:p>
          <a:p>
            <a:pPr marL="800100" lvl="1" indent="-342900">
              <a:buFont typeface="Arial" panose="020B0604020202020204" pitchFamily="34" charset="0"/>
              <a:buChar char="•"/>
            </a:pPr>
            <a:r>
              <a:rPr lang="en-US" dirty="0"/>
              <a:t>Empirical evidence shows that generalization performance is same for local minima solution and global minimum solution</a:t>
            </a:r>
          </a:p>
          <a:p>
            <a:pPr lvl="1"/>
            <a:r>
              <a:rPr lang="en-US" kern="1200" dirty="0">
                <a:solidFill>
                  <a:schemeClr val="tx1"/>
                </a:solidFill>
              </a:rPr>
              <a:t> </a:t>
            </a:r>
            <a:endParaRPr lang="en-IN" dirty="0"/>
          </a:p>
        </p:txBody>
      </p:sp>
      <p:sp>
        <p:nvSpPr>
          <p:cNvPr id="3" name="Title 2"/>
          <p:cNvSpPr>
            <a:spLocks noGrp="1"/>
          </p:cNvSpPr>
          <p:nvPr>
            <p:ph type="title"/>
          </p:nvPr>
        </p:nvSpPr>
        <p:spPr/>
        <p:txBody>
          <a:bodyPr/>
          <a:lstStyle/>
          <a:p>
            <a:r>
              <a:rPr lang="en-US" dirty="0"/>
              <a:t>Local minima vs global minimum for DNN</a:t>
            </a:r>
            <a:endParaRPr lang="en-IN" dirty="0"/>
          </a:p>
        </p:txBody>
      </p:sp>
    </p:spTree>
    <p:extLst>
      <p:ext uri="{BB962C8B-B14F-4D97-AF65-F5344CB8AC3E}">
        <p14:creationId xmlns:p14="http://schemas.microsoft.com/office/powerpoint/2010/main" val="6091424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p:txBody>
          <a:bodyPr>
            <a:normAutofit/>
          </a:bodyPr>
          <a:lstStyle/>
          <a:p>
            <a:pPr marL="342900" indent="-342900">
              <a:buFont typeface="Arial" panose="020B0604020202020204" pitchFamily="34" charset="0"/>
              <a:buChar char="•"/>
            </a:pPr>
            <a:r>
              <a:rPr lang="en-US" dirty="0"/>
              <a:t>SGD  reduces computational cost at each iteration</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At each iteration of stochastic gradient descent, we uniformly sample an index </a:t>
            </a:r>
            <a:r>
              <a:rPr lang="en-US" i="1" dirty="0"/>
              <a:t>𝑖 </a:t>
            </a:r>
            <a:r>
              <a:rPr lang="en-US" dirty="0">
                <a:sym typeface="Symbol" panose="05050102010706020507" pitchFamily="18" charset="2"/>
              </a:rPr>
              <a:t></a:t>
            </a:r>
            <a:r>
              <a:rPr lang="en-US" dirty="0"/>
              <a:t> {1</a:t>
            </a:r>
            <a:r>
              <a:rPr lang="en-US" i="1" dirty="0"/>
              <a:t>, . . . , n}</a:t>
            </a:r>
            <a:r>
              <a:rPr lang="en-US" dirty="0"/>
              <a:t> for data examples at random</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compute the gradient                  to update </a:t>
            </a:r>
            <a:r>
              <a:rPr lang="en-US" b="1" dirty="0"/>
              <a:t>x</a:t>
            </a:r>
            <a:r>
              <a:rPr lang="en-US" dirty="0"/>
              <a:t>:</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computational cost for each iteration drops from O(n)  of the GD to the constant O(1), hence </a:t>
            </a:r>
            <a:r>
              <a:rPr lang="en-US" b="1" dirty="0">
                <a:solidFill>
                  <a:srgbClr val="00B0F0"/>
                </a:solidFill>
              </a:rPr>
              <a:t>it is computationally efficient</a:t>
            </a:r>
            <a:endParaRPr lang="en-IN" b="1" dirty="0">
              <a:solidFill>
                <a:srgbClr val="00B0F0"/>
              </a:solidFill>
            </a:endParaRPr>
          </a:p>
        </p:txBody>
      </p:sp>
      <p:sp>
        <p:nvSpPr>
          <p:cNvPr id="3" name="Title 2"/>
          <p:cNvSpPr>
            <a:spLocks noGrp="1"/>
          </p:cNvSpPr>
          <p:nvPr>
            <p:ph type="title"/>
          </p:nvPr>
        </p:nvSpPr>
        <p:spPr/>
        <p:txBody>
          <a:bodyPr/>
          <a:lstStyle/>
          <a:p>
            <a:r>
              <a:rPr lang="en-US" dirty="0"/>
              <a:t>Stochastic gradient descent</a:t>
            </a:r>
            <a:endParaRPr lang="en-IN" dirty="0"/>
          </a:p>
        </p:txBody>
      </p:sp>
      <p:pic>
        <p:nvPicPr>
          <p:cNvPr id="4" name="Picture 3"/>
          <p:cNvPicPr>
            <a:picLocks noChangeAspect="1"/>
          </p:cNvPicPr>
          <p:nvPr/>
        </p:nvPicPr>
        <p:blipFill>
          <a:blip r:embed="rId2"/>
          <a:stretch>
            <a:fillRect/>
          </a:stretch>
        </p:blipFill>
        <p:spPr>
          <a:xfrm>
            <a:off x="2133600" y="4129738"/>
            <a:ext cx="2362200" cy="684223"/>
          </a:xfrm>
          <a:prstGeom prst="rect">
            <a:avLst/>
          </a:prstGeom>
        </p:spPr>
      </p:pic>
      <p:pic>
        <p:nvPicPr>
          <p:cNvPr id="5" name="Picture 4"/>
          <p:cNvPicPr>
            <a:picLocks noChangeAspect="1"/>
          </p:cNvPicPr>
          <p:nvPr/>
        </p:nvPicPr>
        <p:blipFill>
          <a:blip r:embed="rId3"/>
          <a:stretch>
            <a:fillRect/>
          </a:stretch>
        </p:blipFill>
        <p:spPr>
          <a:xfrm>
            <a:off x="3650482" y="3445441"/>
            <a:ext cx="691838" cy="358273"/>
          </a:xfrm>
          <a:prstGeom prst="rect">
            <a:avLst/>
          </a:prstGeom>
        </p:spPr>
      </p:pic>
    </p:spTree>
    <p:extLst>
      <p:ext uri="{BB962C8B-B14F-4D97-AF65-F5344CB8AC3E}">
        <p14:creationId xmlns:p14="http://schemas.microsoft.com/office/powerpoint/2010/main" val="22694385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0"/>
          </p:nvPr>
        </p:nvPicPr>
        <p:blipFill>
          <a:blip r:embed="rId2"/>
          <a:stretch>
            <a:fillRect/>
          </a:stretch>
        </p:blipFill>
        <p:spPr>
          <a:xfrm>
            <a:off x="217868" y="1558141"/>
            <a:ext cx="3663158" cy="2546195"/>
          </a:xfrm>
          <a:prstGeom prst="rect">
            <a:avLst/>
          </a:prstGeom>
        </p:spPr>
      </p:pic>
      <p:sp>
        <p:nvSpPr>
          <p:cNvPr id="3" name="Title 2"/>
          <p:cNvSpPr>
            <a:spLocks noGrp="1"/>
          </p:cNvSpPr>
          <p:nvPr>
            <p:ph type="title"/>
          </p:nvPr>
        </p:nvSpPr>
        <p:spPr/>
        <p:txBody>
          <a:bodyPr/>
          <a:lstStyle/>
          <a:p>
            <a:r>
              <a:rPr lang="en-US" dirty="0"/>
              <a:t>Stochastic gradient descent</a:t>
            </a:r>
            <a:endParaRPr lang="en-IN" dirty="0"/>
          </a:p>
        </p:txBody>
      </p:sp>
      <p:sp>
        <p:nvSpPr>
          <p:cNvPr id="5" name="Rectangle 4"/>
          <p:cNvSpPr/>
          <p:nvPr/>
        </p:nvSpPr>
        <p:spPr>
          <a:xfrm>
            <a:off x="3884246" y="1257634"/>
            <a:ext cx="4953000" cy="4708981"/>
          </a:xfrm>
          <a:prstGeom prst="rect">
            <a:avLst/>
          </a:prstGeom>
        </p:spPr>
        <p:txBody>
          <a:bodyPr wrap="square">
            <a:spAutoFit/>
          </a:bodyPr>
          <a:lstStyle/>
          <a:p>
            <a:pPr marL="342900" indent="-342900" algn="l">
              <a:buFont typeface="Arial" panose="020B0604020202020204" pitchFamily="34" charset="0"/>
              <a:buChar char="•"/>
            </a:pPr>
            <a:r>
              <a:rPr lang="en-US" sz="2000" b="0" i="0" u="none" strike="noStrike" baseline="0" dirty="0">
                <a:latin typeface="Cambria" panose="02040503050406030204" pitchFamily="18" charset="0"/>
                <a:ea typeface="Cambria" panose="02040503050406030204" pitchFamily="18" charset="0"/>
              </a:rPr>
              <a:t>It may diverge near minimum</a:t>
            </a:r>
          </a:p>
          <a:p>
            <a:pPr marL="342900" indent="-342900" algn="l">
              <a:buFont typeface="Arial" panose="020B0604020202020204" pitchFamily="34" charset="0"/>
              <a:buChar char="•"/>
            </a:pPr>
            <a:endParaRPr lang="en-US" sz="2000" b="0" i="0" u="none" strike="noStrike" baseline="0" dirty="0">
              <a:latin typeface="Cambria" panose="02040503050406030204" pitchFamily="18" charset="0"/>
              <a:ea typeface="Cambria" panose="02040503050406030204" pitchFamily="18" charset="0"/>
            </a:endParaRPr>
          </a:p>
          <a:p>
            <a:pPr marL="342900" indent="-342900" algn="l">
              <a:buFont typeface="Arial" panose="020B0604020202020204" pitchFamily="34" charset="0"/>
              <a:buChar char="•"/>
            </a:pPr>
            <a:r>
              <a:rPr lang="en-US" sz="2000" b="0" i="0" u="none" strike="noStrike" baseline="0" dirty="0">
                <a:latin typeface="Cambria" panose="02040503050406030204" pitchFamily="18" charset="0"/>
                <a:ea typeface="Cambria" panose="02040503050406030204" pitchFamily="18" charset="0"/>
              </a:rPr>
              <a:t>This leaves us with the only alternative: change the learning rate </a:t>
            </a:r>
            <a:r>
              <a:rPr lang="en-US" sz="2000" spc="-10" dirty="0">
                <a:latin typeface="Cambria" panose="02040503050406030204" pitchFamily="18" charset="0"/>
                <a:ea typeface="Cambria" panose="02040503050406030204" pitchFamily="18" charset="0"/>
                <a:cs typeface="Arial"/>
                <a:sym typeface="Symbol" panose="05050102010706020507" pitchFamily="18" charset="2"/>
              </a:rPr>
              <a:t></a:t>
            </a:r>
          </a:p>
          <a:p>
            <a:pPr marL="342900" indent="-342900" algn="l">
              <a:buFont typeface="Arial" panose="020B0604020202020204" pitchFamily="34" charset="0"/>
              <a:buChar char="•"/>
            </a:pPr>
            <a:endParaRPr lang="en-US" sz="2000" spc="-10" dirty="0">
              <a:latin typeface="Cambria" panose="02040503050406030204" pitchFamily="18" charset="0"/>
              <a:ea typeface="Cambria" panose="02040503050406030204" pitchFamily="18" charset="0"/>
              <a:cs typeface="Arial"/>
              <a:sym typeface="Symbol" panose="05050102010706020507" pitchFamily="18" charset="2"/>
            </a:endParaRPr>
          </a:p>
          <a:p>
            <a:pPr marL="342900" indent="-342900" algn="l">
              <a:buFont typeface="Arial" panose="020B0604020202020204" pitchFamily="34" charset="0"/>
              <a:buChar char="•"/>
            </a:pPr>
            <a:r>
              <a:rPr lang="en-US" sz="2000" b="0" i="0" u="none" strike="noStrike" baseline="0" dirty="0">
                <a:latin typeface="Cambria" panose="02040503050406030204" pitchFamily="18" charset="0"/>
                <a:ea typeface="Cambria" panose="02040503050406030204" pitchFamily="18" charset="0"/>
              </a:rPr>
              <a:t> However, if we pick this too small, we will not make any meaningful progress initially</a:t>
            </a:r>
          </a:p>
          <a:p>
            <a:pPr marL="342900" indent="-342900" algn="l">
              <a:buFont typeface="Arial" panose="020B0604020202020204" pitchFamily="34" charset="0"/>
              <a:buChar char="•"/>
            </a:pPr>
            <a:endParaRPr lang="en-US" sz="2000" b="0" i="0" u="none" strike="noStrike" baseline="0" dirty="0">
              <a:latin typeface="Cambria" panose="02040503050406030204" pitchFamily="18" charset="0"/>
              <a:ea typeface="Cambria" panose="02040503050406030204" pitchFamily="18" charset="0"/>
            </a:endParaRPr>
          </a:p>
          <a:p>
            <a:pPr marL="342900" indent="-342900" algn="l">
              <a:buFont typeface="Arial" panose="020B0604020202020204" pitchFamily="34" charset="0"/>
              <a:buChar char="•"/>
            </a:pPr>
            <a:r>
              <a:rPr lang="en-US" sz="2000" b="0" i="0" u="none" strike="noStrike" baseline="0" dirty="0">
                <a:latin typeface="Cambria" panose="02040503050406030204" pitchFamily="18" charset="0"/>
                <a:ea typeface="Cambria" panose="02040503050406030204" pitchFamily="18" charset="0"/>
              </a:rPr>
              <a:t> On the other hand, if we pick it too large, we will not get a good solution</a:t>
            </a:r>
          </a:p>
          <a:p>
            <a:pPr marL="342900" indent="-342900" algn="l">
              <a:buFont typeface="Arial" panose="020B0604020202020204" pitchFamily="34" charset="0"/>
              <a:buChar char="•"/>
            </a:pPr>
            <a:endParaRPr lang="en-US" sz="2000" b="0" i="0" u="none" strike="noStrike" baseline="0" dirty="0">
              <a:latin typeface="Cambria" panose="02040503050406030204" pitchFamily="18" charset="0"/>
              <a:ea typeface="Cambria" panose="02040503050406030204" pitchFamily="18" charset="0"/>
            </a:endParaRPr>
          </a:p>
          <a:p>
            <a:pPr marL="342900" indent="-342900" algn="l">
              <a:buFont typeface="Arial" panose="020B0604020202020204" pitchFamily="34" charset="0"/>
              <a:buChar char="•"/>
            </a:pPr>
            <a:r>
              <a:rPr lang="en-US" sz="2000" b="0" i="0" u="none" strike="noStrike" baseline="0" dirty="0">
                <a:latin typeface="Cambria" panose="02040503050406030204" pitchFamily="18" charset="0"/>
                <a:ea typeface="Cambria" panose="02040503050406030204" pitchFamily="18" charset="0"/>
              </a:rPr>
              <a:t>The only way to resolve these conflicting goals is to reduce the learning rate </a:t>
            </a:r>
            <a:r>
              <a:rPr lang="en-US" sz="2000" b="0" i="1" u="none" strike="noStrike" baseline="0" dirty="0">
                <a:latin typeface="Cambria" panose="02040503050406030204" pitchFamily="18" charset="0"/>
                <a:ea typeface="Cambria" panose="02040503050406030204" pitchFamily="18" charset="0"/>
              </a:rPr>
              <a:t>dynamically </a:t>
            </a:r>
            <a:r>
              <a:rPr lang="en-US" sz="2000" b="0" i="0" u="none" strike="noStrike" baseline="0" dirty="0">
                <a:latin typeface="Cambria" panose="02040503050406030204" pitchFamily="18" charset="0"/>
                <a:ea typeface="Cambria" panose="02040503050406030204" pitchFamily="18" charset="0"/>
              </a:rPr>
              <a:t>as optimization </a:t>
            </a:r>
            <a:r>
              <a:rPr lang="en-IN" sz="2000" b="0" i="0" u="none" strike="noStrike" baseline="0" dirty="0">
                <a:latin typeface="Cambria" panose="02040503050406030204" pitchFamily="18" charset="0"/>
                <a:ea typeface="Cambria" panose="02040503050406030204" pitchFamily="18" charset="0"/>
              </a:rPr>
              <a:t>progresses</a:t>
            </a:r>
            <a:endParaRPr lang="en-IN"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3674159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a:xfrm>
            <a:off x="0" y="1451020"/>
            <a:ext cx="9144000" cy="5254580"/>
          </a:xfrm>
        </p:spPr>
        <p:txBody>
          <a:bodyPr>
            <a:noAutofit/>
          </a:bodyPr>
          <a:lstStyle/>
          <a:p>
            <a:pPr marL="355600" indent="-342900">
              <a:lnSpc>
                <a:spcPct val="100000"/>
              </a:lnSpc>
              <a:spcBef>
                <a:spcPts val="570"/>
              </a:spcBef>
              <a:buFont typeface="Arial" panose="020B0604020202020204" pitchFamily="34" charset="0"/>
              <a:buChar char="•"/>
              <a:tabLst>
                <a:tab pos="394335" algn="l"/>
              </a:tabLst>
            </a:pPr>
            <a:r>
              <a:rPr lang="en-US" sz="2000" dirty="0">
                <a:cs typeface="Arial MT"/>
              </a:rPr>
              <a:t>Replace</a:t>
            </a:r>
            <a:r>
              <a:rPr lang="en-US" sz="2000" spc="-95" dirty="0">
                <a:cs typeface="Arial MT"/>
              </a:rPr>
              <a:t> </a:t>
            </a:r>
            <a:r>
              <a:rPr lang="en-US" sz="2000" spc="-10" dirty="0">
                <a:cs typeface="Arial"/>
                <a:sym typeface="Symbol" panose="05050102010706020507" pitchFamily="18" charset="2"/>
              </a:rPr>
              <a:t> </a:t>
            </a:r>
            <a:r>
              <a:rPr lang="en-US" sz="2000" dirty="0">
                <a:cs typeface="Arial MT"/>
              </a:rPr>
              <a:t>with</a:t>
            </a:r>
            <a:r>
              <a:rPr lang="en-US" sz="2000" spc="-45" dirty="0">
                <a:cs typeface="Arial MT"/>
              </a:rPr>
              <a:t> </a:t>
            </a:r>
            <a:r>
              <a:rPr lang="en-US" sz="2000" spc="-10" dirty="0">
                <a:cs typeface="Arial MT"/>
              </a:rPr>
              <a:t>time-</a:t>
            </a:r>
            <a:r>
              <a:rPr lang="en-US" sz="2000" dirty="0">
                <a:cs typeface="Arial MT"/>
              </a:rPr>
              <a:t>dependent</a:t>
            </a:r>
            <a:r>
              <a:rPr lang="en-US" sz="2000" spc="-50" dirty="0">
                <a:cs typeface="Arial MT"/>
              </a:rPr>
              <a:t> </a:t>
            </a:r>
            <a:r>
              <a:rPr lang="en-US" sz="2000" dirty="0">
                <a:cs typeface="Arial MT"/>
              </a:rPr>
              <a:t>learning</a:t>
            </a:r>
            <a:r>
              <a:rPr lang="en-US" sz="2000" spc="-45" dirty="0">
                <a:cs typeface="Arial MT"/>
              </a:rPr>
              <a:t> </a:t>
            </a:r>
            <a:r>
              <a:rPr lang="en-US" sz="2000" dirty="0">
                <a:cs typeface="Arial MT"/>
              </a:rPr>
              <a:t>rate </a:t>
            </a:r>
            <a:r>
              <a:rPr lang="en-US" sz="2000" spc="-10" dirty="0">
                <a:cs typeface="Arial"/>
                <a:sym typeface="Symbol" panose="05050102010706020507" pitchFamily="18" charset="2"/>
              </a:rPr>
              <a:t>(t)</a:t>
            </a:r>
            <a:endParaRPr lang="en-US" sz="2000" dirty="0">
              <a:cs typeface="Arial MT"/>
            </a:endParaRPr>
          </a:p>
          <a:p>
            <a:pPr marL="843280" lvl="1" indent="-342900">
              <a:lnSpc>
                <a:spcPct val="100000"/>
              </a:lnSpc>
              <a:spcBef>
                <a:spcPts val="375"/>
              </a:spcBef>
              <a:buFont typeface="Arial" panose="020B0604020202020204" pitchFamily="34" charset="0"/>
              <a:buChar char="•"/>
              <a:tabLst>
                <a:tab pos="851535" algn="l"/>
              </a:tabLst>
            </a:pPr>
            <a:r>
              <a:rPr lang="en-US" sz="2000" dirty="0">
                <a:cs typeface="Arial MT"/>
              </a:rPr>
              <a:t>adds</a:t>
            </a:r>
            <a:r>
              <a:rPr lang="en-US" sz="2000" spc="-30" dirty="0">
                <a:cs typeface="Arial MT"/>
              </a:rPr>
              <a:t> </a:t>
            </a:r>
            <a:r>
              <a:rPr lang="en-US" sz="2000" dirty="0">
                <a:cs typeface="Arial MT"/>
              </a:rPr>
              <a:t>to</a:t>
            </a:r>
            <a:r>
              <a:rPr lang="en-US" sz="2000" spc="-30" dirty="0">
                <a:cs typeface="Arial MT"/>
              </a:rPr>
              <a:t> </a:t>
            </a:r>
            <a:r>
              <a:rPr lang="en-US" sz="2000" dirty="0">
                <a:cs typeface="Arial MT"/>
              </a:rPr>
              <a:t>the</a:t>
            </a:r>
            <a:r>
              <a:rPr lang="en-US" sz="2000" spc="-30" dirty="0">
                <a:cs typeface="Arial MT"/>
              </a:rPr>
              <a:t> </a:t>
            </a:r>
            <a:r>
              <a:rPr lang="en-US" sz="2000" dirty="0">
                <a:cs typeface="Arial MT"/>
              </a:rPr>
              <a:t>complexity</a:t>
            </a:r>
            <a:r>
              <a:rPr lang="en-US" sz="2000" spc="-30" dirty="0">
                <a:cs typeface="Arial MT"/>
              </a:rPr>
              <a:t> </a:t>
            </a:r>
            <a:r>
              <a:rPr lang="en-US" sz="2000" dirty="0">
                <a:cs typeface="Arial MT"/>
              </a:rPr>
              <a:t>of</a:t>
            </a:r>
            <a:r>
              <a:rPr lang="en-US" sz="2000" spc="-30" dirty="0">
                <a:cs typeface="Arial MT"/>
              </a:rPr>
              <a:t> </a:t>
            </a:r>
            <a:r>
              <a:rPr lang="en-US" sz="2000" dirty="0">
                <a:cs typeface="Arial MT"/>
              </a:rPr>
              <a:t>controlling</a:t>
            </a:r>
            <a:r>
              <a:rPr lang="en-US" sz="2000" spc="-30" dirty="0">
                <a:cs typeface="Arial MT"/>
              </a:rPr>
              <a:t> </a:t>
            </a:r>
            <a:r>
              <a:rPr lang="en-US" sz="2000" dirty="0">
                <a:cs typeface="Arial MT"/>
              </a:rPr>
              <a:t>convergence</a:t>
            </a:r>
            <a:r>
              <a:rPr lang="en-US" sz="2000" spc="-30" dirty="0">
                <a:cs typeface="Arial MT"/>
              </a:rPr>
              <a:t> </a:t>
            </a:r>
            <a:r>
              <a:rPr lang="en-US" sz="2000" dirty="0">
                <a:cs typeface="Arial MT"/>
              </a:rPr>
              <a:t>of</a:t>
            </a:r>
            <a:r>
              <a:rPr lang="en-US" sz="2000" spc="-30" dirty="0">
                <a:cs typeface="Arial MT"/>
              </a:rPr>
              <a:t> </a:t>
            </a:r>
            <a:r>
              <a:rPr lang="en-US" sz="2000" dirty="0">
                <a:cs typeface="Arial MT"/>
              </a:rPr>
              <a:t>an</a:t>
            </a:r>
            <a:r>
              <a:rPr lang="en-US" sz="2000" spc="-30" dirty="0">
                <a:cs typeface="Arial MT"/>
              </a:rPr>
              <a:t> </a:t>
            </a:r>
            <a:r>
              <a:rPr lang="en-US" sz="2000" dirty="0">
                <a:cs typeface="Arial MT"/>
              </a:rPr>
              <a:t>optimization</a:t>
            </a:r>
            <a:r>
              <a:rPr lang="en-US" sz="2000" spc="-30" dirty="0">
                <a:cs typeface="Arial MT"/>
              </a:rPr>
              <a:t> </a:t>
            </a:r>
            <a:r>
              <a:rPr lang="en-US" sz="2000" spc="-10" dirty="0">
                <a:cs typeface="Arial MT"/>
              </a:rPr>
              <a:t>algorithm.</a:t>
            </a:r>
            <a:endParaRPr lang="en-US" sz="2000" dirty="0">
              <a:cs typeface="Arial MT"/>
            </a:endParaRPr>
          </a:p>
          <a:p>
            <a:pPr marL="355600" indent="-342900">
              <a:lnSpc>
                <a:spcPct val="100000"/>
              </a:lnSpc>
              <a:spcBef>
                <a:spcPts val="270"/>
              </a:spcBef>
              <a:buFont typeface="Arial" panose="020B0604020202020204" pitchFamily="34" charset="0"/>
              <a:buChar char="•"/>
              <a:tabLst>
                <a:tab pos="394335" algn="l"/>
              </a:tabLst>
            </a:pPr>
            <a:endParaRPr lang="en-US" sz="2000" spc="-10" dirty="0">
              <a:cs typeface="Arial MT"/>
            </a:endParaRPr>
          </a:p>
          <a:p>
            <a:pPr marL="355600" indent="-342900">
              <a:lnSpc>
                <a:spcPct val="100000"/>
              </a:lnSpc>
              <a:spcBef>
                <a:spcPts val="270"/>
              </a:spcBef>
              <a:buFont typeface="Arial" panose="020B0604020202020204" pitchFamily="34" charset="0"/>
              <a:buChar char="•"/>
              <a:tabLst>
                <a:tab pos="394335" algn="l"/>
              </a:tabLst>
            </a:pPr>
            <a:endParaRPr lang="en-US" sz="2000" spc="-10" dirty="0">
              <a:cs typeface="Arial MT"/>
            </a:endParaRPr>
          </a:p>
          <a:p>
            <a:pPr marL="355600" indent="-342900">
              <a:lnSpc>
                <a:spcPct val="100000"/>
              </a:lnSpc>
              <a:spcBef>
                <a:spcPts val="270"/>
              </a:spcBef>
              <a:buFont typeface="Arial" panose="020B0604020202020204" pitchFamily="34" charset="0"/>
              <a:buChar char="•"/>
              <a:tabLst>
                <a:tab pos="394335" algn="l"/>
              </a:tabLst>
            </a:pPr>
            <a:endParaRPr lang="en-US" sz="2000" spc="-10" dirty="0">
              <a:cs typeface="Arial MT"/>
            </a:endParaRPr>
          </a:p>
          <a:p>
            <a:pPr marL="469900" indent="-457200">
              <a:lnSpc>
                <a:spcPct val="100000"/>
              </a:lnSpc>
              <a:spcBef>
                <a:spcPts val="100"/>
              </a:spcBef>
              <a:buFont typeface="+mj-lt"/>
              <a:buAutoNum type="arabicPeriod"/>
              <a:tabLst>
                <a:tab pos="431800" algn="l"/>
              </a:tabLst>
            </a:pPr>
            <a:endParaRPr lang="en-US" sz="2000" dirty="0">
              <a:cs typeface="Arial MT"/>
            </a:endParaRPr>
          </a:p>
          <a:p>
            <a:pPr marL="469900" indent="-457200">
              <a:lnSpc>
                <a:spcPct val="100000"/>
              </a:lnSpc>
              <a:spcBef>
                <a:spcPts val="100"/>
              </a:spcBef>
              <a:buFont typeface="+mj-lt"/>
              <a:buAutoNum type="arabicPeriod"/>
              <a:tabLst>
                <a:tab pos="431800" algn="l"/>
              </a:tabLst>
            </a:pPr>
            <a:r>
              <a:rPr lang="en-US" sz="2000" dirty="0">
                <a:cs typeface="Arial MT"/>
              </a:rPr>
              <a:t>Piecewise</a:t>
            </a:r>
            <a:r>
              <a:rPr lang="en-US" sz="2000" spc="-45" dirty="0">
                <a:cs typeface="Arial MT"/>
              </a:rPr>
              <a:t> </a:t>
            </a:r>
            <a:r>
              <a:rPr lang="en-US" sz="2000" spc="-10" dirty="0">
                <a:cs typeface="Arial MT"/>
              </a:rPr>
              <a:t>constant</a:t>
            </a:r>
            <a:endParaRPr lang="en-US" sz="2000" dirty="0">
              <a:cs typeface="Arial MT"/>
            </a:endParaRPr>
          </a:p>
          <a:p>
            <a:pPr marL="927100" lvl="1" indent="-457200">
              <a:lnSpc>
                <a:spcPct val="100000"/>
              </a:lnSpc>
              <a:buFont typeface="Arial" panose="020B0604020202020204" pitchFamily="34" charset="0"/>
              <a:buChar char="•"/>
              <a:tabLst>
                <a:tab pos="889000" algn="l"/>
              </a:tabLst>
            </a:pPr>
            <a:r>
              <a:rPr lang="en-US" sz="2000" dirty="0">
                <a:cs typeface="Arial MT"/>
              </a:rPr>
              <a:t>decrease</a:t>
            </a:r>
            <a:r>
              <a:rPr lang="en-US" sz="2000" spc="-25" dirty="0">
                <a:cs typeface="Arial MT"/>
              </a:rPr>
              <a:t> </a:t>
            </a:r>
            <a:r>
              <a:rPr lang="en-US" sz="2000" dirty="0">
                <a:cs typeface="Arial MT"/>
              </a:rPr>
              <a:t>the</a:t>
            </a:r>
            <a:r>
              <a:rPr lang="en-US" sz="2000" spc="-25" dirty="0">
                <a:cs typeface="Arial MT"/>
              </a:rPr>
              <a:t> </a:t>
            </a:r>
            <a:r>
              <a:rPr lang="en-US" sz="2000" dirty="0">
                <a:cs typeface="Arial MT"/>
              </a:rPr>
              <a:t>learning</a:t>
            </a:r>
            <a:r>
              <a:rPr lang="en-US" sz="2000" spc="-25" dirty="0">
                <a:cs typeface="Arial MT"/>
              </a:rPr>
              <a:t> </a:t>
            </a:r>
            <a:r>
              <a:rPr lang="en-US" sz="2000" dirty="0">
                <a:cs typeface="Arial MT"/>
              </a:rPr>
              <a:t>rate,</a:t>
            </a:r>
            <a:r>
              <a:rPr lang="en-US" sz="2000" spc="-25" dirty="0">
                <a:cs typeface="Arial MT"/>
              </a:rPr>
              <a:t> </a:t>
            </a:r>
            <a:r>
              <a:rPr lang="en-US" sz="2000" dirty="0">
                <a:cs typeface="Arial MT"/>
              </a:rPr>
              <a:t>e.g.,</a:t>
            </a:r>
            <a:r>
              <a:rPr lang="en-US" sz="2000" spc="-25" dirty="0">
                <a:cs typeface="Arial MT"/>
              </a:rPr>
              <a:t> </a:t>
            </a:r>
            <a:r>
              <a:rPr lang="en-US" sz="2000" dirty="0">
                <a:cs typeface="Arial MT"/>
              </a:rPr>
              <a:t>whenever</a:t>
            </a:r>
            <a:r>
              <a:rPr lang="en-US" sz="2000" spc="-25" dirty="0">
                <a:cs typeface="Arial MT"/>
              </a:rPr>
              <a:t> </a:t>
            </a:r>
            <a:r>
              <a:rPr lang="en-US" sz="2000" dirty="0">
                <a:cs typeface="Arial MT"/>
              </a:rPr>
              <a:t>progress</a:t>
            </a:r>
            <a:r>
              <a:rPr lang="en-US" sz="2000" spc="-25" dirty="0">
                <a:cs typeface="Arial MT"/>
              </a:rPr>
              <a:t> </a:t>
            </a:r>
            <a:r>
              <a:rPr lang="en-US" sz="2000" dirty="0">
                <a:cs typeface="Arial MT"/>
              </a:rPr>
              <a:t>in</a:t>
            </a:r>
            <a:r>
              <a:rPr lang="en-US" sz="2000" spc="-25" dirty="0">
                <a:cs typeface="Arial MT"/>
              </a:rPr>
              <a:t> </a:t>
            </a:r>
            <a:r>
              <a:rPr lang="en-US" sz="2000" dirty="0">
                <a:cs typeface="Arial MT"/>
              </a:rPr>
              <a:t>optimization</a:t>
            </a:r>
            <a:r>
              <a:rPr lang="en-US" sz="2000" spc="-25" dirty="0">
                <a:cs typeface="Arial MT"/>
              </a:rPr>
              <a:t> </a:t>
            </a:r>
            <a:r>
              <a:rPr lang="en-US" sz="2000" spc="-10" dirty="0">
                <a:cs typeface="Arial MT"/>
              </a:rPr>
              <a:t>stalls.</a:t>
            </a:r>
            <a:endParaRPr lang="en-US" sz="2000" dirty="0">
              <a:cs typeface="Arial MT"/>
            </a:endParaRPr>
          </a:p>
          <a:p>
            <a:pPr marL="927100" lvl="1" indent="-457200">
              <a:lnSpc>
                <a:spcPct val="100000"/>
              </a:lnSpc>
              <a:buFont typeface="Arial" panose="020B0604020202020204" pitchFamily="34" charset="0"/>
              <a:buChar char="•"/>
              <a:tabLst>
                <a:tab pos="889000" algn="l"/>
              </a:tabLst>
            </a:pPr>
            <a:r>
              <a:rPr lang="en-US" sz="2000" dirty="0">
                <a:cs typeface="Arial MT"/>
              </a:rPr>
              <a:t>This</a:t>
            </a:r>
            <a:r>
              <a:rPr lang="en-US" sz="2000" spc="-10" dirty="0">
                <a:cs typeface="Arial MT"/>
              </a:rPr>
              <a:t> </a:t>
            </a:r>
            <a:r>
              <a:rPr lang="en-US" sz="2000" dirty="0">
                <a:cs typeface="Arial MT"/>
              </a:rPr>
              <a:t>is</a:t>
            </a:r>
            <a:r>
              <a:rPr lang="en-US" sz="2000" spc="-10" dirty="0">
                <a:cs typeface="Arial MT"/>
              </a:rPr>
              <a:t> </a:t>
            </a:r>
            <a:r>
              <a:rPr lang="en-US" sz="2000" dirty="0">
                <a:cs typeface="Arial MT"/>
              </a:rPr>
              <a:t>a</a:t>
            </a:r>
            <a:r>
              <a:rPr lang="en-US" sz="2000" spc="-5" dirty="0">
                <a:cs typeface="Arial MT"/>
              </a:rPr>
              <a:t> </a:t>
            </a:r>
            <a:r>
              <a:rPr lang="en-US" sz="2000" dirty="0">
                <a:cs typeface="Arial MT"/>
              </a:rPr>
              <a:t>common</a:t>
            </a:r>
            <a:r>
              <a:rPr lang="en-US" sz="2000" spc="-10" dirty="0">
                <a:cs typeface="Arial MT"/>
              </a:rPr>
              <a:t> </a:t>
            </a:r>
            <a:r>
              <a:rPr lang="en-US" sz="2000" dirty="0">
                <a:cs typeface="Arial MT"/>
              </a:rPr>
              <a:t>strategy</a:t>
            </a:r>
            <a:r>
              <a:rPr lang="en-US" sz="2000" spc="-5" dirty="0">
                <a:cs typeface="Arial MT"/>
              </a:rPr>
              <a:t> </a:t>
            </a:r>
            <a:r>
              <a:rPr lang="en-US" sz="2000" dirty="0">
                <a:cs typeface="Arial MT"/>
              </a:rPr>
              <a:t>for</a:t>
            </a:r>
            <a:r>
              <a:rPr lang="en-US" sz="2000" spc="-10" dirty="0">
                <a:cs typeface="Arial MT"/>
              </a:rPr>
              <a:t> </a:t>
            </a:r>
            <a:r>
              <a:rPr lang="en-US" sz="2000" dirty="0">
                <a:cs typeface="Arial MT"/>
              </a:rPr>
              <a:t>training</a:t>
            </a:r>
            <a:r>
              <a:rPr lang="en-US" sz="2000" spc="-5" dirty="0">
                <a:cs typeface="Arial MT"/>
              </a:rPr>
              <a:t> </a:t>
            </a:r>
            <a:r>
              <a:rPr lang="en-US" sz="2000" dirty="0">
                <a:cs typeface="Arial MT"/>
              </a:rPr>
              <a:t>deep</a:t>
            </a:r>
            <a:r>
              <a:rPr lang="en-US" sz="2000" spc="-10" dirty="0">
                <a:cs typeface="Arial MT"/>
              </a:rPr>
              <a:t> networks.</a:t>
            </a:r>
            <a:r>
              <a:rPr lang="en-US" sz="2000" spc="-105" dirty="0">
                <a:cs typeface="Arial MT"/>
              </a:rPr>
              <a:t> </a:t>
            </a:r>
            <a:endParaRPr lang="en-US" sz="2000" dirty="0">
              <a:cs typeface="Arial MT"/>
            </a:endParaRPr>
          </a:p>
          <a:p>
            <a:pPr marL="469900" indent="-457200">
              <a:lnSpc>
                <a:spcPct val="100000"/>
              </a:lnSpc>
              <a:buFont typeface="+mj-lt"/>
              <a:buAutoNum type="arabicPeriod"/>
              <a:tabLst>
                <a:tab pos="431800" algn="l"/>
              </a:tabLst>
            </a:pPr>
            <a:endParaRPr lang="en-US" sz="2000" dirty="0">
              <a:cs typeface="Arial MT"/>
            </a:endParaRPr>
          </a:p>
          <a:p>
            <a:pPr marL="469900" indent="-457200">
              <a:lnSpc>
                <a:spcPct val="100000"/>
              </a:lnSpc>
              <a:buFont typeface="+mj-lt"/>
              <a:buAutoNum type="arabicPeriod"/>
              <a:tabLst>
                <a:tab pos="431800" algn="l"/>
              </a:tabLst>
            </a:pPr>
            <a:r>
              <a:rPr lang="en-US" sz="2000" dirty="0">
                <a:cs typeface="Arial MT"/>
              </a:rPr>
              <a:t>Exponential</a:t>
            </a:r>
            <a:r>
              <a:rPr lang="en-US" sz="2000" spc="-55" dirty="0">
                <a:cs typeface="Arial MT"/>
              </a:rPr>
              <a:t> </a:t>
            </a:r>
            <a:r>
              <a:rPr lang="en-US" sz="2000" spc="-10" dirty="0">
                <a:cs typeface="Arial MT"/>
              </a:rPr>
              <a:t>decay</a:t>
            </a:r>
            <a:endParaRPr lang="en-US" sz="2000" dirty="0">
              <a:cs typeface="Arial MT"/>
            </a:endParaRPr>
          </a:p>
          <a:p>
            <a:pPr marL="927100" lvl="1" indent="-457200">
              <a:lnSpc>
                <a:spcPct val="100000"/>
              </a:lnSpc>
              <a:buFont typeface="Arial" panose="020B0604020202020204" pitchFamily="34" charset="0"/>
              <a:buChar char="•"/>
              <a:tabLst>
                <a:tab pos="889000" algn="l"/>
              </a:tabLst>
            </a:pPr>
            <a:r>
              <a:rPr lang="en-US" sz="2000" dirty="0">
                <a:cs typeface="Arial MT"/>
              </a:rPr>
              <a:t>Leads</a:t>
            </a:r>
            <a:r>
              <a:rPr lang="en-US" sz="2000" spc="-30" dirty="0">
                <a:cs typeface="Arial MT"/>
              </a:rPr>
              <a:t> </a:t>
            </a:r>
            <a:r>
              <a:rPr lang="en-US" sz="2000" dirty="0">
                <a:cs typeface="Arial MT"/>
              </a:rPr>
              <a:t>to</a:t>
            </a:r>
            <a:r>
              <a:rPr lang="en-US" sz="2000" spc="-20" dirty="0">
                <a:cs typeface="Arial MT"/>
              </a:rPr>
              <a:t> </a:t>
            </a:r>
            <a:r>
              <a:rPr lang="en-US" sz="2000" dirty="0">
                <a:cs typeface="Arial MT"/>
              </a:rPr>
              <a:t>premature</a:t>
            </a:r>
            <a:r>
              <a:rPr lang="en-US" sz="2000" spc="-20" dirty="0">
                <a:cs typeface="Arial MT"/>
              </a:rPr>
              <a:t> </a:t>
            </a:r>
            <a:r>
              <a:rPr lang="en-US" sz="2000" dirty="0">
                <a:cs typeface="Arial MT"/>
              </a:rPr>
              <a:t>stopping</a:t>
            </a:r>
            <a:r>
              <a:rPr lang="en-US" sz="2000" spc="-20" dirty="0">
                <a:cs typeface="Arial MT"/>
              </a:rPr>
              <a:t> </a:t>
            </a:r>
            <a:r>
              <a:rPr lang="en-US" sz="2000" dirty="0">
                <a:cs typeface="Arial MT"/>
              </a:rPr>
              <a:t>before</a:t>
            </a:r>
            <a:r>
              <a:rPr lang="en-US" sz="2000" spc="-20" dirty="0">
                <a:cs typeface="Arial MT"/>
              </a:rPr>
              <a:t> </a:t>
            </a:r>
            <a:r>
              <a:rPr lang="en-US" sz="2000" dirty="0">
                <a:cs typeface="Arial MT"/>
              </a:rPr>
              <a:t>the</a:t>
            </a:r>
            <a:r>
              <a:rPr lang="en-US" sz="2000" spc="-20" dirty="0">
                <a:cs typeface="Arial MT"/>
              </a:rPr>
              <a:t> </a:t>
            </a:r>
            <a:r>
              <a:rPr lang="en-US" sz="2000" dirty="0">
                <a:cs typeface="Arial MT"/>
              </a:rPr>
              <a:t>algorithm</a:t>
            </a:r>
            <a:r>
              <a:rPr lang="en-US" sz="2000" spc="-20" dirty="0">
                <a:cs typeface="Arial MT"/>
              </a:rPr>
              <a:t> </a:t>
            </a:r>
            <a:r>
              <a:rPr lang="en-US" sz="2000" dirty="0">
                <a:cs typeface="Arial MT"/>
              </a:rPr>
              <a:t>has</a:t>
            </a:r>
            <a:r>
              <a:rPr lang="en-US" sz="2000" spc="-15" dirty="0">
                <a:cs typeface="Arial MT"/>
              </a:rPr>
              <a:t> </a:t>
            </a:r>
            <a:r>
              <a:rPr lang="en-US" sz="2000" spc="-10" dirty="0">
                <a:cs typeface="Arial MT"/>
              </a:rPr>
              <a:t>converged.</a:t>
            </a:r>
            <a:endParaRPr lang="en-US" sz="2000" dirty="0">
              <a:cs typeface="Arial MT"/>
            </a:endParaRPr>
          </a:p>
          <a:p>
            <a:pPr marL="469900" indent="-457200">
              <a:lnSpc>
                <a:spcPct val="100000"/>
              </a:lnSpc>
              <a:buFont typeface="+mj-lt"/>
              <a:buAutoNum type="arabicPeriod"/>
              <a:tabLst>
                <a:tab pos="431800" algn="l"/>
              </a:tabLst>
            </a:pPr>
            <a:endParaRPr lang="en-US" sz="2000" dirty="0">
              <a:cs typeface="Arial MT"/>
            </a:endParaRPr>
          </a:p>
          <a:p>
            <a:pPr marL="469900" indent="-457200">
              <a:lnSpc>
                <a:spcPct val="100000"/>
              </a:lnSpc>
              <a:buFont typeface="+mj-lt"/>
              <a:buAutoNum type="arabicPeriod"/>
              <a:tabLst>
                <a:tab pos="431800" algn="l"/>
              </a:tabLst>
            </a:pPr>
            <a:r>
              <a:rPr lang="en-US" sz="2000" dirty="0">
                <a:cs typeface="Arial MT"/>
              </a:rPr>
              <a:t>Polynomial</a:t>
            </a:r>
            <a:r>
              <a:rPr lang="en-US" sz="2000" spc="-30" dirty="0">
                <a:cs typeface="Arial MT"/>
              </a:rPr>
              <a:t> </a:t>
            </a:r>
            <a:r>
              <a:rPr lang="en-US" sz="2000" dirty="0">
                <a:cs typeface="Arial MT"/>
              </a:rPr>
              <a:t>decay</a:t>
            </a:r>
            <a:r>
              <a:rPr lang="en-US" sz="2000" spc="-20" dirty="0">
                <a:cs typeface="Arial MT"/>
              </a:rPr>
              <a:t> </a:t>
            </a:r>
            <a:r>
              <a:rPr lang="en-US" sz="2000" dirty="0">
                <a:cs typeface="Arial MT"/>
              </a:rPr>
              <a:t>with</a:t>
            </a:r>
            <a:r>
              <a:rPr lang="en-US" sz="2000" spc="-15" dirty="0">
                <a:cs typeface="Arial MT"/>
              </a:rPr>
              <a:t> </a:t>
            </a:r>
            <a:r>
              <a:rPr lang="en-US" sz="2000" spc="-775" dirty="0">
                <a:cs typeface="Arial MT"/>
              </a:rPr>
              <a:t>α</a:t>
            </a:r>
            <a:r>
              <a:rPr lang="en-US" sz="2000" spc="-5" dirty="0">
                <a:cs typeface="Arial MT"/>
              </a:rPr>
              <a:t> </a:t>
            </a:r>
            <a:r>
              <a:rPr lang="en-US" sz="2000" dirty="0">
                <a:cs typeface="Arial MT"/>
              </a:rPr>
              <a:t>=</a:t>
            </a:r>
            <a:r>
              <a:rPr lang="en-US" sz="2000" spc="-15" dirty="0">
                <a:cs typeface="Arial MT"/>
              </a:rPr>
              <a:t> </a:t>
            </a:r>
            <a:r>
              <a:rPr lang="en-US" sz="2000" spc="-20" dirty="0">
                <a:cs typeface="Arial MT"/>
              </a:rPr>
              <a:t>0.5</a:t>
            </a:r>
            <a:endParaRPr lang="en-US" sz="2000" dirty="0">
              <a:cs typeface="Arial MT"/>
            </a:endParaRPr>
          </a:p>
          <a:p>
            <a:pPr marL="355600" indent="-342900">
              <a:lnSpc>
                <a:spcPct val="100000"/>
              </a:lnSpc>
              <a:spcBef>
                <a:spcPts val="270"/>
              </a:spcBef>
              <a:buFont typeface="Arial" panose="020B0604020202020204" pitchFamily="34" charset="0"/>
              <a:buChar char="•"/>
              <a:tabLst>
                <a:tab pos="394335" algn="l"/>
              </a:tabLst>
            </a:pPr>
            <a:endParaRPr lang="en-US" sz="2000" dirty="0">
              <a:cs typeface="Arial MT"/>
            </a:endParaRPr>
          </a:p>
          <a:p>
            <a:pPr marL="342900" indent="-342900">
              <a:buFont typeface="Arial" panose="020B0604020202020204" pitchFamily="34" charset="0"/>
              <a:buChar char="•"/>
            </a:pPr>
            <a:endParaRPr lang="en-IN" sz="2000" dirty="0"/>
          </a:p>
        </p:txBody>
      </p:sp>
      <p:sp>
        <p:nvSpPr>
          <p:cNvPr id="3" name="Title 2"/>
          <p:cNvSpPr>
            <a:spLocks noGrp="1"/>
          </p:cNvSpPr>
          <p:nvPr>
            <p:ph type="title"/>
          </p:nvPr>
        </p:nvSpPr>
        <p:spPr/>
        <p:txBody>
          <a:bodyPr/>
          <a:lstStyle/>
          <a:p>
            <a:r>
              <a:rPr lang="en-US" dirty="0"/>
              <a:t>Dynamic learning rate</a:t>
            </a:r>
            <a:endParaRPr lang="en-IN" dirty="0"/>
          </a:p>
        </p:txBody>
      </p:sp>
      <p:pic>
        <p:nvPicPr>
          <p:cNvPr id="4" name="Picture 3"/>
          <p:cNvPicPr>
            <a:picLocks noChangeAspect="1"/>
          </p:cNvPicPr>
          <p:nvPr/>
        </p:nvPicPr>
        <p:blipFill>
          <a:blip r:embed="rId2"/>
          <a:stretch>
            <a:fillRect/>
          </a:stretch>
        </p:blipFill>
        <p:spPr>
          <a:xfrm>
            <a:off x="1524000" y="2438400"/>
            <a:ext cx="5033168" cy="1295400"/>
          </a:xfrm>
          <a:prstGeom prst="rect">
            <a:avLst/>
          </a:prstGeom>
        </p:spPr>
      </p:pic>
    </p:spTree>
    <p:extLst>
      <p:ext uri="{BB962C8B-B14F-4D97-AF65-F5344CB8AC3E}">
        <p14:creationId xmlns:p14="http://schemas.microsoft.com/office/powerpoint/2010/main" val="3750369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a:xfrm>
            <a:off x="228600" y="1545224"/>
            <a:ext cx="5410200" cy="4525963"/>
          </a:xfrm>
        </p:spPr>
        <p:txBody>
          <a:bodyPr>
            <a:normAutofit/>
          </a:bodyPr>
          <a:lstStyle/>
          <a:p>
            <a:pPr marL="355600" indent="-342900">
              <a:lnSpc>
                <a:spcPct val="100000"/>
              </a:lnSpc>
              <a:spcBef>
                <a:spcPts val="459"/>
              </a:spcBef>
              <a:buFont typeface="Arial" panose="020B0604020202020204" pitchFamily="34" charset="0"/>
              <a:buChar char="•"/>
              <a:tabLst>
                <a:tab pos="394335" algn="l"/>
              </a:tabLst>
            </a:pPr>
            <a:r>
              <a:rPr lang="en-US" spc="-25" dirty="0">
                <a:cs typeface="Arial MT"/>
              </a:rPr>
              <a:t>Variance</a:t>
            </a:r>
            <a:r>
              <a:rPr lang="en-US" spc="-40" dirty="0">
                <a:cs typeface="Arial MT"/>
              </a:rPr>
              <a:t> </a:t>
            </a:r>
            <a:r>
              <a:rPr lang="en-US" dirty="0">
                <a:cs typeface="Arial MT"/>
              </a:rPr>
              <a:t>in</a:t>
            </a:r>
            <a:r>
              <a:rPr lang="en-US" spc="-40" dirty="0">
                <a:cs typeface="Arial MT"/>
              </a:rPr>
              <a:t> </a:t>
            </a:r>
            <a:r>
              <a:rPr lang="en-US" dirty="0">
                <a:cs typeface="Arial MT"/>
              </a:rPr>
              <a:t>the</a:t>
            </a:r>
            <a:r>
              <a:rPr lang="en-US" spc="-40" dirty="0">
                <a:cs typeface="Arial MT"/>
              </a:rPr>
              <a:t> </a:t>
            </a:r>
            <a:r>
              <a:rPr lang="en-US" dirty="0">
                <a:cs typeface="Arial MT"/>
              </a:rPr>
              <a:t>parameters</a:t>
            </a:r>
            <a:r>
              <a:rPr lang="en-US" spc="-40" dirty="0">
                <a:cs typeface="Arial MT"/>
              </a:rPr>
              <a:t> </a:t>
            </a:r>
            <a:r>
              <a:rPr lang="en-US" dirty="0">
                <a:cs typeface="Arial MT"/>
              </a:rPr>
              <a:t>is</a:t>
            </a:r>
            <a:r>
              <a:rPr lang="en-US" spc="-40" dirty="0">
                <a:cs typeface="Arial MT"/>
              </a:rPr>
              <a:t> </a:t>
            </a:r>
            <a:r>
              <a:rPr lang="en-US" dirty="0">
                <a:cs typeface="Arial MT"/>
              </a:rPr>
              <a:t>significantly</a:t>
            </a:r>
            <a:r>
              <a:rPr lang="en-US" spc="-40" dirty="0">
                <a:cs typeface="Arial MT"/>
              </a:rPr>
              <a:t> </a:t>
            </a:r>
            <a:r>
              <a:rPr lang="en-US" spc="-10" dirty="0">
                <a:cs typeface="Arial MT"/>
              </a:rPr>
              <a:t>reduced. But,</a:t>
            </a:r>
            <a:endParaRPr lang="en-US" dirty="0">
              <a:cs typeface="Arial MT"/>
            </a:endParaRPr>
          </a:p>
          <a:p>
            <a:pPr marL="355600" indent="-342900">
              <a:lnSpc>
                <a:spcPct val="100000"/>
              </a:lnSpc>
              <a:spcBef>
                <a:spcPts val="359"/>
              </a:spcBef>
              <a:buFont typeface="Arial" panose="020B0604020202020204" pitchFamily="34" charset="0"/>
              <a:buChar char="•"/>
              <a:tabLst>
                <a:tab pos="394335" algn="l"/>
              </a:tabLst>
            </a:pPr>
            <a:r>
              <a:rPr lang="en-US" dirty="0">
                <a:cs typeface="Arial MT"/>
              </a:rPr>
              <a:t>The</a:t>
            </a:r>
            <a:r>
              <a:rPr lang="en-US" spc="-30" dirty="0">
                <a:cs typeface="Arial MT"/>
              </a:rPr>
              <a:t> </a:t>
            </a:r>
            <a:r>
              <a:rPr lang="en-US" dirty="0">
                <a:cs typeface="Arial MT"/>
              </a:rPr>
              <a:t>algorithm</a:t>
            </a:r>
            <a:r>
              <a:rPr lang="en-US" spc="-25" dirty="0">
                <a:cs typeface="Arial MT"/>
              </a:rPr>
              <a:t> </a:t>
            </a:r>
            <a:r>
              <a:rPr lang="en-US" dirty="0">
                <a:cs typeface="Arial MT"/>
              </a:rPr>
              <a:t>fails</a:t>
            </a:r>
            <a:r>
              <a:rPr lang="en-US" spc="-25" dirty="0">
                <a:cs typeface="Arial MT"/>
              </a:rPr>
              <a:t> </a:t>
            </a:r>
            <a:r>
              <a:rPr lang="en-US" dirty="0">
                <a:cs typeface="Arial MT"/>
              </a:rPr>
              <a:t>to</a:t>
            </a:r>
            <a:r>
              <a:rPr lang="en-US" spc="-25" dirty="0">
                <a:cs typeface="Arial MT"/>
              </a:rPr>
              <a:t> </a:t>
            </a:r>
            <a:r>
              <a:rPr lang="en-US" dirty="0">
                <a:cs typeface="Arial MT"/>
              </a:rPr>
              <a:t>converge</a:t>
            </a:r>
            <a:r>
              <a:rPr lang="en-US" spc="-25" dirty="0">
                <a:cs typeface="Arial MT"/>
              </a:rPr>
              <a:t> </a:t>
            </a:r>
            <a:r>
              <a:rPr lang="en-US" dirty="0">
                <a:cs typeface="Arial MT"/>
              </a:rPr>
              <a:t>at</a:t>
            </a:r>
            <a:r>
              <a:rPr lang="en-US" spc="-30" dirty="0">
                <a:cs typeface="Arial MT"/>
              </a:rPr>
              <a:t> </a:t>
            </a:r>
            <a:r>
              <a:rPr lang="en-US" spc="-20" dirty="0">
                <a:cs typeface="Arial MT"/>
              </a:rPr>
              <a:t>all.</a:t>
            </a:r>
          </a:p>
          <a:p>
            <a:pPr marL="355600" indent="-342900">
              <a:lnSpc>
                <a:spcPct val="100000"/>
              </a:lnSpc>
              <a:spcBef>
                <a:spcPts val="359"/>
              </a:spcBef>
              <a:buFont typeface="Arial" panose="020B0604020202020204" pitchFamily="34" charset="0"/>
              <a:buChar char="•"/>
              <a:tabLst>
                <a:tab pos="394335" algn="l"/>
              </a:tabLst>
            </a:pPr>
            <a:endParaRPr lang="en-US" spc="-20" dirty="0"/>
          </a:p>
          <a:p>
            <a:pPr marL="355600" indent="-342900">
              <a:lnSpc>
                <a:spcPct val="100000"/>
              </a:lnSpc>
              <a:spcBef>
                <a:spcPts val="359"/>
              </a:spcBef>
              <a:buFont typeface="Arial" panose="020B0604020202020204" pitchFamily="34" charset="0"/>
              <a:buChar char="•"/>
              <a:tabLst>
                <a:tab pos="394335" algn="l"/>
              </a:tabLst>
            </a:pPr>
            <a:endParaRPr lang="en-US" spc="-20" dirty="0"/>
          </a:p>
          <a:p>
            <a:pPr marL="355600" indent="-342900">
              <a:lnSpc>
                <a:spcPct val="100000"/>
              </a:lnSpc>
              <a:spcBef>
                <a:spcPts val="359"/>
              </a:spcBef>
              <a:buFont typeface="Arial" panose="020B0604020202020204" pitchFamily="34" charset="0"/>
              <a:buChar char="•"/>
              <a:tabLst>
                <a:tab pos="394335" algn="l"/>
              </a:tabLst>
            </a:pPr>
            <a:endParaRPr lang="en-US" spc="-20" dirty="0"/>
          </a:p>
          <a:p>
            <a:pPr marL="355600" indent="-342900">
              <a:lnSpc>
                <a:spcPct val="100000"/>
              </a:lnSpc>
              <a:spcBef>
                <a:spcPts val="359"/>
              </a:spcBef>
              <a:buFont typeface="Arial" panose="020B0604020202020204" pitchFamily="34" charset="0"/>
              <a:buChar char="•"/>
              <a:tabLst>
                <a:tab pos="394335" algn="l"/>
              </a:tabLst>
            </a:pPr>
            <a:endParaRPr lang="en-US" spc="-20" dirty="0"/>
          </a:p>
          <a:p>
            <a:pPr marL="355600" indent="-342900">
              <a:lnSpc>
                <a:spcPct val="100000"/>
              </a:lnSpc>
              <a:spcBef>
                <a:spcPts val="359"/>
              </a:spcBef>
              <a:buFont typeface="Arial" panose="020B0604020202020204" pitchFamily="34" charset="0"/>
              <a:buChar char="•"/>
              <a:tabLst>
                <a:tab pos="394335" algn="l"/>
              </a:tabLst>
            </a:pPr>
            <a:endParaRPr lang="en-US" spc="-20" dirty="0"/>
          </a:p>
          <a:p>
            <a:pPr marL="355600" indent="-342900">
              <a:lnSpc>
                <a:spcPct val="100000"/>
              </a:lnSpc>
              <a:spcBef>
                <a:spcPts val="359"/>
              </a:spcBef>
              <a:buFont typeface="Arial" panose="020B0604020202020204" pitchFamily="34" charset="0"/>
              <a:buChar char="•"/>
              <a:tabLst>
                <a:tab pos="394335" algn="l"/>
              </a:tabLst>
            </a:pPr>
            <a:endParaRPr lang="en-US" spc="-20" dirty="0"/>
          </a:p>
          <a:p>
            <a:pPr marL="342900" indent="-342900">
              <a:buFont typeface="Arial" panose="020B0604020202020204" pitchFamily="34" charset="0"/>
              <a:buChar char="•"/>
            </a:pPr>
            <a:r>
              <a:rPr lang="en-US" dirty="0"/>
              <a:t>Convergence gets better after only 50 steps.</a:t>
            </a:r>
            <a:endParaRPr lang="en-IN" dirty="0"/>
          </a:p>
        </p:txBody>
      </p:sp>
      <p:sp>
        <p:nvSpPr>
          <p:cNvPr id="3" name="Title 2"/>
          <p:cNvSpPr>
            <a:spLocks noGrp="1"/>
          </p:cNvSpPr>
          <p:nvPr>
            <p:ph type="title"/>
          </p:nvPr>
        </p:nvSpPr>
        <p:spPr/>
        <p:txBody>
          <a:bodyPr/>
          <a:lstStyle/>
          <a:p>
            <a:r>
              <a:rPr lang="en-US" dirty="0"/>
              <a:t>Dynamic learning rate</a:t>
            </a:r>
            <a:endParaRPr lang="en-IN" dirty="0"/>
          </a:p>
        </p:txBody>
      </p:sp>
      <p:pic>
        <p:nvPicPr>
          <p:cNvPr id="4" name="Picture 3"/>
          <p:cNvPicPr>
            <a:picLocks noChangeAspect="1"/>
          </p:cNvPicPr>
          <p:nvPr/>
        </p:nvPicPr>
        <p:blipFill>
          <a:blip r:embed="rId2"/>
          <a:stretch>
            <a:fillRect/>
          </a:stretch>
        </p:blipFill>
        <p:spPr>
          <a:xfrm>
            <a:off x="6001555" y="4674074"/>
            <a:ext cx="2867025" cy="1800225"/>
          </a:xfrm>
          <a:prstGeom prst="rect">
            <a:avLst/>
          </a:prstGeom>
        </p:spPr>
      </p:pic>
      <p:pic>
        <p:nvPicPr>
          <p:cNvPr id="5" name="Picture 4"/>
          <p:cNvPicPr>
            <a:picLocks noChangeAspect="1"/>
          </p:cNvPicPr>
          <p:nvPr/>
        </p:nvPicPr>
        <p:blipFill>
          <a:blip r:embed="rId3"/>
          <a:stretch>
            <a:fillRect/>
          </a:stretch>
        </p:blipFill>
        <p:spPr>
          <a:xfrm>
            <a:off x="5728276" y="1879789"/>
            <a:ext cx="2695575" cy="1924050"/>
          </a:xfrm>
          <a:prstGeom prst="rect">
            <a:avLst/>
          </a:prstGeom>
        </p:spPr>
      </p:pic>
      <p:sp>
        <p:nvSpPr>
          <p:cNvPr id="6" name="Rectangle 5"/>
          <p:cNvSpPr/>
          <p:nvPr/>
        </p:nvSpPr>
        <p:spPr>
          <a:xfrm>
            <a:off x="6001555" y="1446727"/>
            <a:ext cx="1987404" cy="369332"/>
          </a:xfrm>
          <a:prstGeom prst="rect">
            <a:avLst/>
          </a:prstGeom>
        </p:spPr>
        <p:txBody>
          <a:bodyPr wrap="none">
            <a:spAutoFit/>
          </a:bodyPr>
          <a:lstStyle/>
          <a:p>
            <a:pPr marL="12700">
              <a:lnSpc>
                <a:spcPct val="100000"/>
              </a:lnSpc>
              <a:tabLst>
                <a:tab pos="431800" algn="l"/>
              </a:tabLst>
            </a:pPr>
            <a:r>
              <a:rPr lang="en-US" dirty="0">
                <a:latin typeface="Cambria" panose="02040503050406030204" pitchFamily="18" charset="0"/>
                <a:ea typeface="Cambria" panose="02040503050406030204" pitchFamily="18" charset="0"/>
                <a:cs typeface="Arial MT"/>
              </a:rPr>
              <a:t>Exponential</a:t>
            </a:r>
            <a:r>
              <a:rPr lang="en-US" spc="-55" dirty="0">
                <a:latin typeface="Cambria" panose="02040503050406030204" pitchFamily="18" charset="0"/>
                <a:ea typeface="Cambria" panose="02040503050406030204" pitchFamily="18" charset="0"/>
                <a:cs typeface="Arial MT"/>
              </a:rPr>
              <a:t> </a:t>
            </a:r>
            <a:r>
              <a:rPr lang="en-US" spc="-10" dirty="0">
                <a:latin typeface="Cambria" panose="02040503050406030204" pitchFamily="18" charset="0"/>
                <a:ea typeface="Cambria" panose="02040503050406030204" pitchFamily="18" charset="0"/>
                <a:cs typeface="Arial MT"/>
              </a:rPr>
              <a:t>decay</a:t>
            </a:r>
            <a:endParaRPr lang="en-US" dirty="0">
              <a:latin typeface="Cambria" panose="02040503050406030204" pitchFamily="18" charset="0"/>
              <a:ea typeface="Cambria" panose="02040503050406030204" pitchFamily="18" charset="0"/>
              <a:cs typeface="Arial MT"/>
            </a:endParaRPr>
          </a:p>
        </p:txBody>
      </p:sp>
      <p:sp>
        <p:nvSpPr>
          <p:cNvPr id="7" name="Rectangle 6"/>
          <p:cNvSpPr/>
          <p:nvPr/>
        </p:nvSpPr>
        <p:spPr>
          <a:xfrm>
            <a:off x="6324120" y="4318804"/>
            <a:ext cx="1965603" cy="369332"/>
          </a:xfrm>
          <a:prstGeom prst="rect">
            <a:avLst/>
          </a:prstGeom>
        </p:spPr>
        <p:txBody>
          <a:bodyPr wrap="none">
            <a:spAutoFit/>
          </a:bodyPr>
          <a:lstStyle/>
          <a:p>
            <a:r>
              <a:rPr lang="en-US" dirty="0">
                <a:latin typeface="Cambria" panose="02040503050406030204" pitchFamily="18" charset="0"/>
                <a:ea typeface="Cambria" panose="02040503050406030204" pitchFamily="18" charset="0"/>
                <a:cs typeface="Arial MT"/>
              </a:rPr>
              <a:t>Polynomial</a:t>
            </a:r>
            <a:r>
              <a:rPr lang="en-US" spc="-30" dirty="0">
                <a:latin typeface="Cambria" panose="02040503050406030204" pitchFamily="18" charset="0"/>
                <a:ea typeface="Cambria" panose="02040503050406030204" pitchFamily="18" charset="0"/>
                <a:cs typeface="Arial MT"/>
              </a:rPr>
              <a:t> </a:t>
            </a:r>
            <a:r>
              <a:rPr lang="en-US" dirty="0">
                <a:latin typeface="Cambria" panose="02040503050406030204" pitchFamily="18" charset="0"/>
                <a:ea typeface="Cambria" panose="02040503050406030204" pitchFamily="18" charset="0"/>
                <a:cs typeface="Arial MT"/>
              </a:rPr>
              <a:t>decay</a:t>
            </a:r>
            <a:r>
              <a:rPr lang="en-US" spc="-20" dirty="0">
                <a:latin typeface="Cambria" panose="02040503050406030204" pitchFamily="18" charset="0"/>
                <a:ea typeface="Cambria" panose="02040503050406030204" pitchFamily="18" charset="0"/>
                <a:cs typeface="Arial MT"/>
              </a:rPr>
              <a:t> </a:t>
            </a:r>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4212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a:xfrm>
            <a:off x="3752" y="1447800"/>
            <a:ext cx="9140247" cy="5334000"/>
          </a:xfrm>
        </p:spPr>
        <p:txBody>
          <a:bodyPr>
            <a:noAutofit/>
          </a:bodyPr>
          <a:lstStyle/>
          <a:p>
            <a:pPr marL="342900" indent="-342900">
              <a:buFont typeface="Arial" panose="020B0604020202020204" pitchFamily="34" charset="0"/>
              <a:buChar char="•"/>
            </a:pPr>
            <a:r>
              <a:rPr lang="en-US" sz="2000" dirty="0"/>
              <a:t>GD is not particularly </a:t>
            </a:r>
            <a:r>
              <a:rPr lang="en-US" sz="2000" i="1" dirty="0"/>
              <a:t>data efficient </a:t>
            </a:r>
          </a:p>
          <a:p>
            <a:pPr marL="342900" indent="-342900">
              <a:buFont typeface="Arial" panose="020B0604020202020204" pitchFamily="34" charset="0"/>
              <a:buChar char="•"/>
            </a:pPr>
            <a:r>
              <a:rPr lang="en-US" sz="2000" dirty="0"/>
              <a:t>SGD is not particularly </a:t>
            </a:r>
            <a:r>
              <a:rPr lang="en-US" sz="2000" i="1" dirty="0"/>
              <a:t>computationally efficient </a:t>
            </a:r>
            <a:r>
              <a:rPr lang="en-US" sz="2000" dirty="0"/>
              <a:t>since CPUs and GPUs cannot exploit the full power of vectorization</a:t>
            </a:r>
          </a:p>
          <a:p>
            <a:pPr marL="342900" indent="-342900">
              <a:buFont typeface="Arial" panose="020B0604020202020204" pitchFamily="34" charset="0"/>
              <a:buChar char="•"/>
            </a:pPr>
            <a:r>
              <a:rPr lang="en-US" sz="2000" dirty="0"/>
              <a:t>Mini batch GD: read </a:t>
            </a:r>
            <a:r>
              <a:rPr lang="en-US" sz="2000" i="1" dirty="0"/>
              <a:t>mini batches </a:t>
            </a:r>
            <a:r>
              <a:rPr lang="en-US" sz="2000" dirty="0"/>
              <a:t>of data rather than single </a:t>
            </a:r>
            <a:r>
              <a:rPr lang="en-IN" sz="2000" dirty="0"/>
              <a:t>observations to update parameters</a:t>
            </a:r>
          </a:p>
          <a:p>
            <a:pPr marL="342900" indent="-342900">
              <a:buFont typeface="Arial" panose="020B0604020202020204" pitchFamily="34" charset="0"/>
              <a:buChar char="•"/>
            </a:pPr>
            <a:r>
              <a:rPr lang="en-US" sz="2000" dirty="0"/>
              <a:t>Weight update: </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IN" sz="2000" dirty="0"/>
          </a:p>
          <a:p>
            <a:pPr marL="342900" indent="-342900">
              <a:buFont typeface="Arial" panose="020B0604020202020204" pitchFamily="34" charset="0"/>
              <a:buChar char="•"/>
            </a:pPr>
            <a:r>
              <a:rPr lang="en-IN" sz="2000" dirty="0"/>
              <a:t>Pick a mini batch (which is hyper parameter) that  </a:t>
            </a:r>
            <a:r>
              <a:rPr lang="en-US" sz="2000" dirty="0"/>
              <a:t>is large enough to offer good computational efficiency while still fitting into the memory of </a:t>
            </a:r>
            <a:r>
              <a:rPr lang="en-IN" sz="2000" dirty="0"/>
              <a:t>a GPU.</a:t>
            </a:r>
          </a:p>
          <a:p>
            <a:pPr marL="342900" indent="-342900">
              <a:buFont typeface="Arial" panose="020B0604020202020204" pitchFamily="34" charset="0"/>
              <a:buChar char="•"/>
            </a:pPr>
            <a:r>
              <a:rPr lang="en-US" sz="2000" dirty="0"/>
              <a:t>For small training sets (e.g., &lt;2000), use GD</a:t>
            </a:r>
          </a:p>
          <a:p>
            <a:pPr marL="342900" indent="-342900">
              <a:buFont typeface="Arial" panose="020B0604020202020204" pitchFamily="34" charset="0"/>
              <a:buChar char="•"/>
            </a:pPr>
            <a:r>
              <a:rPr lang="en-US" sz="2000" dirty="0"/>
              <a:t> For larger sets, sizes between 64 to 512 (preferably powers of 2) are typical.</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IN" sz="2000" dirty="0"/>
          </a:p>
        </p:txBody>
      </p:sp>
      <p:sp>
        <p:nvSpPr>
          <p:cNvPr id="3" name="Title 2"/>
          <p:cNvSpPr>
            <a:spLocks noGrp="1"/>
          </p:cNvSpPr>
          <p:nvPr>
            <p:ph type="title"/>
          </p:nvPr>
        </p:nvSpPr>
        <p:spPr/>
        <p:txBody>
          <a:bodyPr/>
          <a:lstStyle/>
          <a:p>
            <a:r>
              <a:rPr lang="en-US" dirty="0"/>
              <a:t>Mini batch GD</a:t>
            </a:r>
            <a:endParaRPr lang="en-IN" dirty="0"/>
          </a:p>
        </p:txBody>
      </p:sp>
      <p:pic>
        <p:nvPicPr>
          <p:cNvPr id="5" name="Picture 4"/>
          <p:cNvPicPr>
            <a:picLocks noChangeAspect="1"/>
          </p:cNvPicPr>
          <p:nvPr/>
        </p:nvPicPr>
        <p:blipFill>
          <a:blip r:embed="rId2"/>
          <a:stretch>
            <a:fillRect/>
          </a:stretch>
        </p:blipFill>
        <p:spPr>
          <a:xfrm>
            <a:off x="3505200" y="3988386"/>
            <a:ext cx="2362200" cy="531495"/>
          </a:xfrm>
          <a:prstGeom prst="rect">
            <a:avLst/>
          </a:prstGeom>
        </p:spPr>
      </p:pic>
      <p:pic>
        <p:nvPicPr>
          <p:cNvPr id="6" name="Picture 5"/>
          <p:cNvPicPr>
            <a:picLocks noChangeAspect="1"/>
          </p:cNvPicPr>
          <p:nvPr/>
        </p:nvPicPr>
        <p:blipFill>
          <a:blip r:embed="rId3"/>
          <a:stretch>
            <a:fillRect/>
          </a:stretch>
        </p:blipFill>
        <p:spPr>
          <a:xfrm>
            <a:off x="3295100" y="2971800"/>
            <a:ext cx="3161201" cy="1053734"/>
          </a:xfrm>
          <a:prstGeom prst="rect">
            <a:avLst/>
          </a:prstGeom>
        </p:spPr>
      </p:pic>
    </p:spTree>
    <p:extLst>
      <p:ext uri="{BB962C8B-B14F-4D97-AF65-F5344CB8AC3E}">
        <p14:creationId xmlns:p14="http://schemas.microsoft.com/office/powerpoint/2010/main" val="38216069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p:txBody>
          <a:bodyPr>
            <a:normAutofit fontScale="92500" lnSpcReduction="10000"/>
          </a:bodyPr>
          <a:lstStyle/>
          <a:p>
            <a:pPr marL="457200" indent="-457200">
              <a:buFont typeface="+mj-lt"/>
              <a:buAutoNum type="arabicPeriod"/>
            </a:pPr>
            <a:r>
              <a:rPr lang="en-US" dirty="0"/>
              <a:t>Split the data into mini-batches, e.g., X</a:t>
            </a:r>
            <a:r>
              <a:rPr lang="en-US" baseline="30000" dirty="0"/>
              <a:t>(1)</a:t>
            </a:r>
            <a:r>
              <a:rPr lang="en-US" dirty="0"/>
              <a:t> through X</a:t>
            </a:r>
            <a:r>
              <a:rPr lang="en-US" baseline="30000" dirty="0"/>
              <a:t>(1000)</a:t>
            </a:r>
            <a:r>
              <a:rPr lang="en-US" dirty="0"/>
              <a:t>, X</a:t>
            </a:r>
            <a:r>
              <a:rPr lang="en-US" baseline="30000" dirty="0"/>
              <a:t>(1001)</a:t>
            </a:r>
            <a:r>
              <a:rPr lang="en-US" dirty="0"/>
              <a:t> through X</a:t>
            </a:r>
            <a:r>
              <a:rPr lang="en-US" baseline="30000" dirty="0"/>
              <a:t>(2000)</a:t>
            </a:r>
            <a:r>
              <a:rPr lang="en-US" dirty="0"/>
              <a:t>, and so on.</a:t>
            </a:r>
          </a:p>
          <a:p>
            <a:pPr marL="457200" indent="-457200">
              <a:buFont typeface="+mj-lt"/>
              <a:buAutoNum type="arabicPeriod"/>
            </a:pPr>
            <a:r>
              <a:rPr lang="en-US" dirty="0"/>
              <a:t>For each mini-batch, perform forward propagation using only the data in that mini-batch.</a:t>
            </a:r>
          </a:p>
          <a:p>
            <a:pPr marL="457200" indent="-457200">
              <a:buFont typeface="+mj-lt"/>
              <a:buAutoNum type="arabicPeriod"/>
            </a:pPr>
            <a:r>
              <a:rPr lang="en-US" dirty="0"/>
              <a:t>Compute the cost function for that mini-batch.</a:t>
            </a:r>
          </a:p>
          <a:p>
            <a:pPr marL="457200" indent="-457200">
              <a:buFont typeface="+mj-lt"/>
              <a:buAutoNum type="arabicPeriod"/>
            </a:pPr>
            <a:r>
              <a:rPr lang="en-US" dirty="0"/>
              <a:t>Implement backpropagation to compute gradients.</a:t>
            </a:r>
          </a:p>
          <a:p>
            <a:pPr marL="457200" indent="-457200">
              <a:buFont typeface="+mj-lt"/>
              <a:buAutoNum type="arabicPeriod"/>
            </a:pPr>
            <a:r>
              <a:rPr lang="en-US" dirty="0"/>
              <a:t>Update the weights and biases using the gradients.</a:t>
            </a:r>
          </a:p>
          <a:p>
            <a:pPr marL="914400" lvl="1" indent="-457200">
              <a:buFont typeface="+mj-lt"/>
              <a:buAutoNum type="arabicPeriod"/>
            </a:pPr>
            <a:r>
              <a:rPr lang="en-US" dirty="0"/>
              <a:t>Enables progress in gradient descent even when only partially through the training set.</a:t>
            </a:r>
          </a:p>
          <a:p>
            <a:pPr marL="914400" lvl="1" indent="-457200">
              <a:buFont typeface="+mj-lt"/>
              <a:buAutoNum type="arabicPeriod"/>
            </a:pPr>
            <a:r>
              <a:rPr lang="en-US" dirty="0"/>
              <a:t>With GD , cost should decrease every iteration.</a:t>
            </a:r>
          </a:p>
          <a:p>
            <a:pPr marL="914400" lvl="1" indent="-457200">
              <a:buFont typeface="+mj-lt"/>
              <a:buAutoNum type="arabicPeriod"/>
            </a:pPr>
            <a:r>
              <a:rPr lang="en-US" dirty="0"/>
              <a:t>For mini-batch GD, cost might not decrease every iteration due to different training batches.</a:t>
            </a:r>
          </a:p>
          <a:p>
            <a:pPr marL="914400" lvl="1" indent="-457200">
              <a:buFont typeface="+mj-lt"/>
              <a:buAutoNum type="arabicPeriod"/>
            </a:pPr>
            <a:r>
              <a:rPr lang="en-US" dirty="0"/>
              <a:t>Cost function J should generally trend downwards but may oscillate due to varying difficulty of mini-batches.</a:t>
            </a:r>
          </a:p>
          <a:p>
            <a:pPr marL="457200" indent="-457200">
              <a:buFont typeface="+mj-lt"/>
              <a:buAutoNum type="arabicPeriod"/>
            </a:pPr>
            <a:endParaRPr lang="en-IN" dirty="0"/>
          </a:p>
        </p:txBody>
      </p:sp>
      <p:sp>
        <p:nvSpPr>
          <p:cNvPr id="3" name="Title 2"/>
          <p:cNvSpPr>
            <a:spLocks noGrp="1"/>
          </p:cNvSpPr>
          <p:nvPr>
            <p:ph type="title"/>
          </p:nvPr>
        </p:nvSpPr>
        <p:spPr/>
        <p:txBody>
          <a:bodyPr/>
          <a:lstStyle/>
          <a:p>
            <a:r>
              <a:rPr lang="en-US" dirty="0"/>
              <a:t>Steps for mini batch GD</a:t>
            </a:r>
            <a:endParaRPr lang="en-IN" dirty="0"/>
          </a:p>
        </p:txBody>
      </p:sp>
    </p:spTree>
    <p:extLst>
      <p:ext uri="{BB962C8B-B14F-4D97-AF65-F5344CB8AC3E}">
        <p14:creationId xmlns:p14="http://schemas.microsoft.com/office/powerpoint/2010/main" val="41656562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GD vs SGD vs Mini batch GD</a:t>
            </a:r>
            <a:endParaRPr lang="en-IN" dirty="0"/>
          </a:p>
        </p:txBody>
      </p:sp>
      <p:pic>
        <p:nvPicPr>
          <p:cNvPr id="4" name="Picture 3"/>
          <p:cNvPicPr>
            <a:picLocks noChangeAspect="1"/>
          </p:cNvPicPr>
          <p:nvPr/>
        </p:nvPicPr>
        <p:blipFill>
          <a:blip r:embed="rId2"/>
          <a:stretch>
            <a:fillRect/>
          </a:stretch>
        </p:blipFill>
        <p:spPr>
          <a:xfrm>
            <a:off x="236113" y="2379665"/>
            <a:ext cx="3886201" cy="1798468"/>
          </a:xfrm>
          <a:prstGeom prst="rect">
            <a:avLst/>
          </a:prstGeom>
        </p:spPr>
      </p:pic>
      <p:pic>
        <p:nvPicPr>
          <p:cNvPr id="5" name="Picture 4"/>
          <p:cNvPicPr>
            <a:picLocks noChangeAspect="1"/>
          </p:cNvPicPr>
          <p:nvPr/>
        </p:nvPicPr>
        <p:blipFill>
          <a:blip r:embed="rId3"/>
          <a:stretch>
            <a:fillRect/>
          </a:stretch>
        </p:blipFill>
        <p:spPr>
          <a:xfrm>
            <a:off x="5121800" y="2379665"/>
            <a:ext cx="3620036" cy="1501286"/>
          </a:xfrm>
          <a:prstGeom prst="rect">
            <a:avLst/>
          </a:prstGeom>
        </p:spPr>
      </p:pic>
      <p:pic>
        <p:nvPicPr>
          <p:cNvPr id="6" name="Picture 5"/>
          <p:cNvPicPr>
            <a:picLocks noChangeAspect="1"/>
          </p:cNvPicPr>
          <p:nvPr/>
        </p:nvPicPr>
        <p:blipFill>
          <a:blip r:embed="rId4"/>
          <a:stretch>
            <a:fillRect/>
          </a:stretch>
        </p:blipFill>
        <p:spPr>
          <a:xfrm>
            <a:off x="381000" y="4897440"/>
            <a:ext cx="3581400" cy="1438771"/>
          </a:xfrm>
          <a:prstGeom prst="rect">
            <a:avLst/>
          </a:prstGeom>
        </p:spPr>
      </p:pic>
      <p:sp>
        <p:nvSpPr>
          <p:cNvPr id="7" name="TextBox 6"/>
          <p:cNvSpPr txBox="1"/>
          <p:nvPr/>
        </p:nvSpPr>
        <p:spPr>
          <a:xfrm>
            <a:off x="4976373" y="1380084"/>
            <a:ext cx="4352474" cy="646331"/>
          </a:xfrm>
          <a:prstGeom prst="rect">
            <a:avLst/>
          </a:prstGeom>
          <a:noFill/>
        </p:spPr>
        <p:txBody>
          <a:bodyPr wrap="none" rtlCol="0">
            <a:spAutoFit/>
          </a:bodyPr>
          <a:lstStyle/>
          <a:p>
            <a:r>
              <a:rPr lang="en-US" dirty="0">
                <a:latin typeface="Cambria" panose="02040503050406030204" pitchFamily="18" charset="0"/>
                <a:ea typeface="Cambria" panose="02040503050406030204" pitchFamily="18" charset="0"/>
              </a:rPr>
              <a:t>Gradient descent</a:t>
            </a:r>
          </a:p>
          <a:p>
            <a:r>
              <a:rPr lang="en-US" dirty="0">
                <a:latin typeface="Cambria" panose="02040503050406030204" pitchFamily="18" charset="0"/>
                <a:ea typeface="Cambria" panose="02040503050406030204" pitchFamily="18" charset="0"/>
              </a:rPr>
              <a:t>Takes consistent steps toward minimum.</a:t>
            </a:r>
            <a:endParaRPr lang="en-IN" dirty="0">
              <a:latin typeface="Cambria" panose="02040503050406030204" pitchFamily="18" charset="0"/>
              <a:ea typeface="Cambria" panose="02040503050406030204" pitchFamily="18" charset="0"/>
            </a:endParaRPr>
          </a:p>
        </p:txBody>
      </p:sp>
      <p:sp>
        <p:nvSpPr>
          <p:cNvPr id="8" name="TextBox 7"/>
          <p:cNvSpPr txBox="1"/>
          <p:nvPr/>
        </p:nvSpPr>
        <p:spPr>
          <a:xfrm>
            <a:off x="208208" y="1443456"/>
            <a:ext cx="4621955" cy="923330"/>
          </a:xfrm>
          <a:prstGeom prst="rect">
            <a:avLst/>
          </a:prstGeom>
          <a:noFill/>
        </p:spPr>
        <p:txBody>
          <a:bodyPr wrap="square" rtlCol="0">
            <a:spAutoFit/>
          </a:bodyPr>
          <a:lstStyle/>
          <a:p>
            <a:r>
              <a:rPr lang="en-US" dirty="0">
                <a:latin typeface="Cambria" panose="02040503050406030204" pitchFamily="18" charset="0"/>
                <a:ea typeface="Cambria" panose="02040503050406030204" pitchFamily="18" charset="0"/>
              </a:rPr>
              <a:t>Stochastic gradient descent</a:t>
            </a:r>
          </a:p>
          <a:p>
            <a:r>
              <a:rPr lang="en-US" dirty="0">
                <a:latin typeface="Cambria" panose="02040503050406030204" pitchFamily="18" charset="0"/>
                <a:ea typeface="Cambria" panose="02040503050406030204" pitchFamily="18" charset="0"/>
              </a:rPr>
              <a:t>Noisy, oscillates around the minimum </a:t>
            </a:r>
          </a:p>
          <a:p>
            <a:r>
              <a:rPr lang="en-US" dirty="0">
                <a:latin typeface="Cambria" panose="02040503050406030204" pitchFamily="18" charset="0"/>
                <a:ea typeface="Cambria" panose="02040503050406030204" pitchFamily="18" charset="0"/>
              </a:rPr>
              <a:t>but may not converge to it.</a:t>
            </a:r>
            <a:endParaRPr lang="en-IN" dirty="0">
              <a:latin typeface="Cambria" panose="02040503050406030204" pitchFamily="18" charset="0"/>
              <a:ea typeface="Cambria" panose="02040503050406030204" pitchFamily="18" charset="0"/>
            </a:endParaRPr>
          </a:p>
        </p:txBody>
      </p:sp>
      <p:sp>
        <p:nvSpPr>
          <p:cNvPr id="9" name="TextBox 8"/>
          <p:cNvSpPr txBox="1"/>
          <p:nvPr/>
        </p:nvSpPr>
        <p:spPr>
          <a:xfrm>
            <a:off x="424909" y="4292472"/>
            <a:ext cx="6538970" cy="646331"/>
          </a:xfrm>
          <a:prstGeom prst="rect">
            <a:avLst/>
          </a:prstGeom>
          <a:noFill/>
        </p:spPr>
        <p:txBody>
          <a:bodyPr wrap="none" rtlCol="0">
            <a:spAutoFit/>
          </a:bodyPr>
          <a:lstStyle/>
          <a:p>
            <a:r>
              <a:rPr lang="en-US" dirty="0">
                <a:latin typeface="Cambria" panose="02040503050406030204" pitchFamily="18" charset="0"/>
                <a:ea typeface="Cambria" panose="02040503050406030204" pitchFamily="18" charset="0"/>
              </a:rPr>
              <a:t>Mini batch gradient descent</a:t>
            </a:r>
          </a:p>
          <a:p>
            <a:r>
              <a:rPr lang="en-US" dirty="0">
                <a:latin typeface="Cambria" panose="02040503050406030204" pitchFamily="18" charset="0"/>
                <a:ea typeface="Cambria" panose="02040503050406030204" pitchFamily="18" charset="0"/>
              </a:rPr>
              <a:t>Noisy, oscillates around the minimum but may not converge to it.</a:t>
            </a:r>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2060080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GD vs SGD vs Mini batch GD</a:t>
            </a:r>
            <a:endParaRPr lang="en-IN" dirty="0"/>
          </a:p>
        </p:txBody>
      </p:sp>
      <p:pic>
        <p:nvPicPr>
          <p:cNvPr id="3074" name="Picture 2" descr="https://miro.medium.com/v2/resize:fit:700/1*R12QVNFn-46IPewAMxde2w.png"/>
          <p:cNvPicPr>
            <a:picLocks noGrp="1" noChangeAspect="1" noChangeArrowheads="1"/>
          </p:cNvPicPr>
          <p:nvPr>
            <p:ph idx="10"/>
          </p:nvPr>
        </p:nvPicPr>
        <p:blipFill>
          <a:blip r:embed="rId3">
            <a:extLst>
              <a:ext uri="{28A0092B-C50C-407E-A947-70E740481C1C}">
                <a14:useLocalDpi xmlns:a14="http://schemas.microsoft.com/office/drawing/2010/main" val="0"/>
              </a:ext>
            </a:extLst>
          </a:blip>
          <a:srcRect/>
          <a:stretch>
            <a:fillRect/>
          </a:stretch>
        </p:blipFill>
        <p:spPr bwMode="auto">
          <a:xfrm>
            <a:off x="197476" y="1524000"/>
            <a:ext cx="8610600" cy="2767692"/>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260796" y="5029200"/>
            <a:ext cx="8349803" cy="646331"/>
          </a:xfrm>
          <a:prstGeom prst="rect">
            <a:avLst/>
          </a:prstGeom>
        </p:spPr>
        <p:txBody>
          <a:bodyPr wrap="square">
            <a:spAutoFit/>
          </a:bodyPr>
          <a:lstStyle/>
          <a:p>
            <a:r>
              <a:rPr lang="en-US" b="0" i="1" dirty="0">
                <a:solidFill>
                  <a:srgbClr val="242424"/>
                </a:solidFill>
                <a:effectLst/>
                <a:latin typeface="source-serif-pro"/>
              </a:rPr>
              <a:t>GD is computationally heavy, converges to a “flat minima” but performs well on the test data.</a:t>
            </a:r>
            <a:endParaRPr lang="en-IN" dirty="0"/>
          </a:p>
        </p:txBody>
      </p:sp>
    </p:spTree>
    <p:extLst>
      <p:ext uri="{BB962C8B-B14F-4D97-AF65-F5344CB8AC3E}">
        <p14:creationId xmlns:p14="http://schemas.microsoft.com/office/powerpoint/2010/main" val="27901029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a:xfrm>
            <a:off x="228600" y="1302644"/>
            <a:ext cx="8610600" cy="4525963"/>
          </a:xfrm>
        </p:spPr>
        <p:txBody>
          <a:bodyPr>
            <a:normAutofit/>
          </a:bodyPr>
          <a:lstStyle/>
          <a:p>
            <a:pPr marL="342900" indent="-342900">
              <a:buFont typeface="Arial" panose="020B0604020202020204" pitchFamily="34" charset="0"/>
              <a:buChar char="•"/>
            </a:pPr>
            <a:r>
              <a:rPr lang="en-US" sz="2000" dirty="0"/>
              <a:t>The most critical challenge to optimizing deep networks is finding the correct trajectory to move in.</a:t>
            </a:r>
          </a:p>
          <a:p>
            <a:pPr marL="342900" indent="-342900">
              <a:buFont typeface="Arial" panose="020B0604020202020204" pitchFamily="34" charset="0"/>
              <a:buChar char="•"/>
            </a:pPr>
            <a:r>
              <a:rPr lang="en-US" sz="2000" dirty="0"/>
              <a:t>Gradient isn’t usually a very good indicator of the good trajectory. </a:t>
            </a:r>
          </a:p>
          <a:p>
            <a:pPr marL="342900" indent="-342900">
              <a:buFont typeface="Arial" panose="020B0604020202020204" pitchFamily="34" charset="0"/>
              <a:buChar char="•"/>
            </a:pPr>
            <a:r>
              <a:rPr lang="en-US" sz="2000" dirty="0"/>
              <a:t>when the contours are perfectly circular , gradient always point in the direction of the local minimum.</a:t>
            </a:r>
          </a:p>
          <a:p>
            <a:pPr marL="342900" indent="-342900">
              <a:buFont typeface="Arial" panose="020B0604020202020204" pitchFamily="34" charset="0"/>
              <a:buChar char="•"/>
            </a:pPr>
            <a:r>
              <a:rPr lang="en-US" sz="2000" dirty="0"/>
              <a:t> However, if the contours are extremely elliptical (as is usually the case for the error surfaces of deep networks), the gradient can be as inaccurate as 90 degrees away from the correct direction!</a:t>
            </a:r>
            <a:endParaRPr lang="en-IN" sz="2000" dirty="0"/>
          </a:p>
        </p:txBody>
      </p:sp>
      <p:sp>
        <p:nvSpPr>
          <p:cNvPr id="3" name="Title 2"/>
          <p:cNvSpPr>
            <a:spLocks noGrp="1"/>
          </p:cNvSpPr>
          <p:nvPr>
            <p:ph type="title"/>
          </p:nvPr>
        </p:nvSpPr>
        <p:spPr/>
        <p:txBody>
          <a:bodyPr/>
          <a:lstStyle/>
          <a:p>
            <a:r>
              <a:rPr lang="en-US" dirty="0"/>
              <a:t>Drawback of gradient based methods</a:t>
            </a:r>
            <a:endParaRPr lang="en-IN" dirty="0"/>
          </a:p>
        </p:txBody>
      </p:sp>
      <p:pic>
        <p:nvPicPr>
          <p:cNvPr id="3074" name="Picture 2" descr="https://www.oreilly.com/api/v2/epubs/9781491925607/files/assets/fodl_0406.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28800" y="3962400"/>
            <a:ext cx="4544892" cy="21930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05458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p:txBody>
          <a:bodyPr>
            <a:normAutofit/>
          </a:bodyPr>
          <a:lstStyle/>
          <a:p>
            <a:pPr marL="342900" indent="-342900">
              <a:buFont typeface="Arial" panose="020B0604020202020204" pitchFamily="34" charset="0"/>
              <a:buChar char="•"/>
            </a:pPr>
            <a:r>
              <a:rPr lang="en-US" dirty="0"/>
              <a:t>A critical point can only be a local minimum if it appears as a local minimum in every single one of the 𝑑 one-dimensional subspaces</a:t>
            </a:r>
          </a:p>
          <a:p>
            <a:pPr marL="342900" indent="-342900">
              <a:buFont typeface="Arial" panose="020B0604020202020204" pitchFamily="34" charset="0"/>
              <a:buChar char="•"/>
            </a:pPr>
            <a:r>
              <a:rPr lang="en-US" dirty="0"/>
              <a:t>As the dimensionality of our parameter space increases, local minima become exponentially more rare</a:t>
            </a:r>
          </a:p>
          <a:p>
            <a:pPr marL="342900" indent="-342900">
              <a:buFont typeface="Arial" panose="020B0604020202020204" pitchFamily="34" charset="0"/>
              <a:buChar char="•"/>
            </a:pPr>
            <a:r>
              <a:rPr lang="en-US" dirty="0"/>
              <a:t>As our function has more and more dimensions (i.e., we have more and more parameters in our model), saddle points are exponentially more likely than local minima</a:t>
            </a:r>
          </a:p>
        </p:txBody>
      </p:sp>
      <p:sp>
        <p:nvSpPr>
          <p:cNvPr id="3" name="Title 2"/>
          <p:cNvSpPr>
            <a:spLocks noGrp="1"/>
          </p:cNvSpPr>
          <p:nvPr>
            <p:ph type="title"/>
          </p:nvPr>
        </p:nvSpPr>
        <p:spPr/>
        <p:txBody>
          <a:bodyPr/>
          <a:lstStyle/>
          <a:p>
            <a:r>
              <a:rPr lang="en-US" dirty="0"/>
              <a:t>Error surface of DNN</a:t>
            </a:r>
            <a:endParaRPr lang="en-IN" dirty="0"/>
          </a:p>
        </p:txBody>
      </p:sp>
      <p:grpSp>
        <p:nvGrpSpPr>
          <p:cNvPr id="4" name="Group 3"/>
          <p:cNvGrpSpPr/>
          <p:nvPr/>
        </p:nvGrpSpPr>
        <p:grpSpPr>
          <a:xfrm>
            <a:off x="2971800" y="4876800"/>
            <a:ext cx="2527425" cy="1385642"/>
            <a:chOff x="2506358" y="3032470"/>
            <a:chExt cx="2807494" cy="1620434"/>
          </a:xfrm>
        </p:grpSpPr>
        <p:grpSp>
          <p:nvGrpSpPr>
            <p:cNvPr id="5" name="Group 4"/>
            <p:cNvGrpSpPr/>
            <p:nvPr/>
          </p:nvGrpSpPr>
          <p:grpSpPr>
            <a:xfrm>
              <a:off x="2506358" y="3032470"/>
              <a:ext cx="2807494" cy="1620434"/>
              <a:chOff x="2506358" y="3032470"/>
              <a:chExt cx="2807494" cy="1620434"/>
            </a:xfrm>
          </p:grpSpPr>
          <p:sp>
            <p:nvSpPr>
              <p:cNvPr id="7" name="Freeform: Shape 31">
                <a:extLst>
                  <a:ext uri="{FF2B5EF4-FFF2-40B4-BE49-F238E27FC236}">
                    <a16:creationId xmlns:a16="http://schemas.microsoft.com/office/drawing/2014/main" id="{CB0F32E9-5CF6-4360-BCE6-C0F6905C5BA1}"/>
                  </a:ext>
                </a:extLst>
              </p:cNvPr>
              <p:cNvSpPr/>
              <p:nvPr/>
            </p:nvSpPr>
            <p:spPr>
              <a:xfrm>
                <a:off x="2506358" y="3032470"/>
                <a:ext cx="2807494" cy="1620434"/>
              </a:xfrm>
              <a:custGeom>
                <a:avLst/>
                <a:gdLst>
                  <a:gd name="connsiteX0" fmla="*/ 0 w 2809875"/>
                  <a:gd name="connsiteY0" fmla="*/ 1815755 h 1815755"/>
                  <a:gd name="connsiteX1" fmla="*/ 257175 w 2809875"/>
                  <a:gd name="connsiteY1" fmla="*/ 587030 h 1815755"/>
                  <a:gd name="connsiteX2" fmla="*/ 695325 w 2809875"/>
                  <a:gd name="connsiteY2" fmla="*/ 1253780 h 1815755"/>
                  <a:gd name="connsiteX3" fmla="*/ 1343025 w 2809875"/>
                  <a:gd name="connsiteY3" fmla="*/ 491780 h 1815755"/>
                  <a:gd name="connsiteX4" fmla="*/ 1924050 w 2809875"/>
                  <a:gd name="connsiteY4" fmla="*/ 358430 h 1815755"/>
                  <a:gd name="connsiteX5" fmla="*/ 2200275 w 2809875"/>
                  <a:gd name="connsiteY5" fmla="*/ 6005 h 1815755"/>
                  <a:gd name="connsiteX6" fmla="*/ 2495550 w 2809875"/>
                  <a:gd name="connsiteY6" fmla="*/ 682280 h 1815755"/>
                  <a:gd name="connsiteX7" fmla="*/ 2809875 w 2809875"/>
                  <a:gd name="connsiteY7" fmla="*/ 244130 h 1815755"/>
                  <a:gd name="connsiteX8" fmla="*/ 2809875 w 2809875"/>
                  <a:gd name="connsiteY8" fmla="*/ 244130 h 1815755"/>
                  <a:gd name="connsiteX0" fmla="*/ 0 w 2809875"/>
                  <a:gd name="connsiteY0" fmla="*/ 1815755 h 1815755"/>
                  <a:gd name="connsiteX1" fmla="*/ 257175 w 2809875"/>
                  <a:gd name="connsiteY1" fmla="*/ 587030 h 1815755"/>
                  <a:gd name="connsiteX2" fmla="*/ 695325 w 2809875"/>
                  <a:gd name="connsiteY2" fmla="*/ 1253780 h 1815755"/>
                  <a:gd name="connsiteX3" fmla="*/ 1343025 w 2809875"/>
                  <a:gd name="connsiteY3" fmla="*/ 491780 h 1815755"/>
                  <a:gd name="connsiteX4" fmla="*/ 1859702 w 2809875"/>
                  <a:gd name="connsiteY4" fmla="*/ 358430 h 1815755"/>
                  <a:gd name="connsiteX5" fmla="*/ 2200275 w 2809875"/>
                  <a:gd name="connsiteY5" fmla="*/ 6005 h 1815755"/>
                  <a:gd name="connsiteX6" fmla="*/ 2495550 w 2809875"/>
                  <a:gd name="connsiteY6" fmla="*/ 682280 h 1815755"/>
                  <a:gd name="connsiteX7" fmla="*/ 2809875 w 2809875"/>
                  <a:gd name="connsiteY7" fmla="*/ 244130 h 1815755"/>
                  <a:gd name="connsiteX8" fmla="*/ 2809875 w 2809875"/>
                  <a:gd name="connsiteY8" fmla="*/ 244130 h 1815755"/>
                  <a:gd name="connsiteX0" fmla="*/ 0 w 2809875"/>
                  <a:gd name="connsiteY0" fmla="*/ 1814900 h 1814900"/>
                  <a:gd name="connsiteX1" fmla="*/ 257175 w 2809875"/>
                  <a:gd name="connsiteY1" fmla="*/ 586175 h 1814900"/>
                  <a:gd name="connsiteX2" fmla="*/ 695325 w 2809875"/>
                  <a:gd name="connsiteY2" fmla="*/ 1252925 h 1814900"/>
                  <a:gd name="connsiteX3" fmla="*/ 1343025 w 2809875"/>
                  <a:gd name="connsiteY3" fmla="*/ 490925 h 1814900"/>
                  <a:gd name="connsiteX4" fmla="*/ 1859702 w 2809875"/>
                  <a:gd name="connsiteY4" fmla="*/ 357575 h 1814900"/>
                  <a:gd name="connsiteX5" fmla="*/ 2200275 w 2809875"/>
                  <a:gd name="connsiteY5" fmla="*/ 5150 h 1814900"/>
                  <a:gd name="connsiteX6" fmla="*/ 2495550 w 2809875"/>
                  <a:gd name="connsiteY6" fmla="*/ 681425 h 1814900"/>
                  <a:gd name="connsiteX7" fmla="*/ 2809875 w 2809875"/>
                  <a:gd name="connsiteY7" fmla="*/ 243275 h 1814900"/>
                  <a:gd name="connsiteX8" fmla="*/ 2809875 w 2809875"/>
                  <a:gd name="connsiteY8" fmla="*/ 243275 h 1814900"/>
                  <a:gd name="connsiteX0" fmla="*/ 0 w 2809875"/>
                  <a:gd name="connsiteY0" fmla="*/ 2018483 h 2018483"/>
                  <a:gd name="connsiteX1" fmla="*/ 257175 w 2809875"/>
                  <a:gd name="connsiteY1" fmla="*/ 789758 h 2018483"/>
                  <a:gd name="connsiteX2" fmla="*/ 695325 w 2809875"/>
                  <a:gd name="connsiteY2" fmla="*/ 1456508 h 2018483"/>
                  <a:gd name="connsiteX3" fmla="*/ 1343025 w 2809875"/>
                  <a:gd name="connsiteY3" fmla="*/ 694508 h 2018483"/>
                  <a:gd name="connsiteX4" fmla="*/ 1859702 w 2809875"/>
                  <a:gd name="connsiteY4" fmla="*/ 561158 h 2018483"/>
                  <a:gd name="connsiteX5" fmla="*/ 2286073 w 2809875"/>
                  <a:gd name="connsiteY5" fmla="*/ 4090 h 2018483"/>
                  <a:gd name="connsiteX6" fmla="*/ 2495550 w 2809875"/>
                  <a:gd name="connsiteY6" fmla="*/ 885008 h 2018483"/>
                  <a:gd name="connsiteX7" fmla="*/ 2809875 w 2809875"/>
                  <a:gd name="connsiteY7" fmla="*/ 446858 h 2018483"/>
                  <a:gd name="connsiteX8" fmla="*/ 2809875 w 2809875"/>
                  <a:gd name="connsiteY8" fmla="*/ 446858 h 2018483"/>
                  <a:gd name="connsiteX0" fmla="*/ 0 w 2809875"/>
                  <a:gd name="connsiteY0" fmla="*/ 2017962 h 2017962"/>
                  <a:gd name="connsiteX1" fmla="*/ 257175 w 2809875"/>
                  <a:gd name="connsiteY1" fmla="*/ 789237 h 2017962"/>
                  <a:gd name="connsiteX2" fmla="*/ 695325 w 2809875"/>
                  <a:gd name="connsiteY2" fmla="*/ 1455987 h 2017962"/>
                  <a:gd name="connsiteX3" fmla="*/ 1343025 w 2809875"/>
                  <a:gd name="connsiteY3" fmla="*/ 693987 h 2017962"/>
                  <a:gd name="connsiteX4" fmla="*/ 1881151 w 2809875"/>
                  <a:gd name="connsiteY4" fmla="*/ 578432 h 2017962"/>
                  <a:gd name="connsiteX5" fmla="*/ 2286073 w 2809875"/>
                  <a:gd name="connsiteY5" fmla="*/ 3569 h 2017962"/>
                  <a:gd name="connsiteX6" fmla="*/ 2495550 w 2809875"/>
                  <a:gd name="connsiteY6" fmla="*/ 884487 h 2017962"/>
                  <a:gd name="connsiteX7" fmla="*/ 2809875 w 2809875"/>
                  <a:gd name="connsiteY7" fmla="*/ 446337 h 2017962"/>
                  <a:gd name="connsiteX8" fmla="*/ 2809875 w 2809875"/>
                  <a:gd name="connsiteY8" fmla="*/ 446337 h 2017962"/>
                  <a:gd name="connsiteX0" fmla="*/ 0 w 2809875"/>
                  <a:gd name="connsiteY0" fmla="*/ 2017513 h 2017513"/>
                  <a:gd name="connsiteX1" fmla="*/ 257175 w 2809875"/>
                  <a:gd name="connsiteY1" fmla="*/ 788788 h 2017513"/>
                  <a:gd name="connsiteX2" fmla="*/ 695325 w 2809875"/>
                  <a:gd name="connsiteY2" fmla="*/ 1455538 h 2017513"/>
                  <a:gd name="connsiteX3" fmla="*/ 1343025 w 2809875"/>
                  <a:gd name="connsiteY3" fmla="*/ 693538 h 2017513"/>
                  <a:gd name="connsiteX4" fmla="*/ 1881151 w 2809875"/>
                  <a:gd name="connsiteY4" fmla="*/ 577983 h 2017513"/>
                  <a:gd name="connsiteX5" fmla="*/ 2286073 w 2809875"/>
                  <a:gd name="connsiteY5" fmla="*/ 3120 h 2017513"/>
                  <a:gd name="connsiteX6" fmla="*/ 2495550 w 2809875"/>
                  <a:gd name="connsiteY6" fmla="*/ 884038 h 2017513"/>
                  <a:gd name="connsiteX7" fmla="*/ 2809875 w 2809875"/>
                  <a:gd name="connsiteY7" fmla="*/ 445888 h 2017513"/>
                  <a:gd name="connsiteX8" fmla="*/ 2809875 w 2809875"/>
                  <a:gd name="connsiteY8" fmla="*/ 445888 h 2017513"/>
                  <a:gd name="connsiteX0" fmla="*/ 0 w 2809875"/>
                  <a:gd name="connsiteY0" fmla="*/ 2018019 h 2018019"/>
                  <a:gd name="connsiteX1" fmla="*/ 257175 w 2809875"/>
                  <a:gd name="connsiteY1" fmla="*/ 789294 h 2018019"/>
                  <a:gd name="connsiteX2" fmla="*/ 695325 w 2809875"/>
                  <a:gd name="connsiteY2" fmla="*/ 1456044 h 2018019"/>
                  <a:gd name="connsiteX3" fmla="*/ 1357325 w 2809875"/>
                  <a:gd name="connsiteY3" fmla="*/ 747429 h 2018019"/>
                  <a:gd name="connsiteX4" fmla="*/ 1881151 w 2809875"/>
                  <a:gd name="connsiteY4" fmla="*/ 578489 h 2018019"/>
                  <a:gd name="connsiteX5" fmla="*/ 2286073 w 2809875"/>
                  <a:gd name="connsiteY5" fmla="*/ 3626 h 2018019"/>
                  <a:gd name="connsiteX6" fmla="*/ 2495550 w 2809875"/>
                  <a:gd name="connsiteY6" fmla="*/ 884544 h 2018019"/>
                  <a:gd name="connsiteX7" fmla="*/ 2809875 w 2809875"/>
                  <a:gd name="connsiteY7" fmla="*/ 446394 h 2018019"/>
                  <a:gd name="connsiteX8" fmla="*/ 2809875 w 2809875"/>
                  <a:gd name="connsiteY8" fmla="*/ 446394 h 2018019"/>
                  <a:gd name="connsiteX0" fmla="*/ 0 w 2809875"/>
                  <a:gd name="connsiteY0" fmla="*/ 2016895 h 2016895"/>
                  <a:gd name="connsiteX1" fmla="*/ 257175 w 2809875"/>
                  <a:gd name="connsiteY1" fmla="*/ 788170 h 2016895"/>
                  <a:gd name="connsiteX2" fmla="*/ 695325 w 2809875"/>
                  <a:gd name="connsiteY2" fmla="*/ 1454920 h 2016895"/>
                  <a:gd name="connsiteX3" fmla="*/ 1357325 w 2809875"/>
                  <a:gd name="connsiteY3" fmla="*/ 746305 h 2016895"/>
                  <a:gd name="connsiteX4" fmla="*/ 1881151 w 2809875"/>
                  <a:gd name="connsiteY4" fmla="*/ 621852 h 2016895"/>
                  <a:gd name="connsiteX5" fmla="*/ 2286073 w 2809875"/>
                  <a:gd name="connsiteY5" fmla="*/ 2502 h 2016895"/>
                  <a:gd name="connsiteX6" fmla="*/ 2495550 w 2809875"/>
                  <a:gd name="connsiteY6" fmla="*/ 883420 h 2016895"/>
                  <a:gd name="connsiteX7" fmla="*/ 2809875 w 2809875"/>
                  <a:gd name="connsiteY7" fmla="*/ 445270 h 2016895"/>
                  <a:gd name="connsiteX8" fmla="*/ 2809875 w 2809875"/>
                  <a:gd name="connsiteY8" fmla="*/ 445270 h 2016895"/>
                  <a:gd name="connsiteX0" fmla="*/ 0 w 2809875"/>
                  <a:gd name="connsiteY0" fmla="*/ 2016478 h 2016478"/>
                  <a:gd name="connsiteX1" fmla="*/ 257175 w 2809875"/>
                  <a:gd name="connsiteY1" fmla="*/ 787753 h 2016478"/>
                  <a:gd name="connsiteX2" fmla="*/ 695325 w 2809875"/>
                  <a:gd name="connsiteY2" fmla="*/ 1454503 h 2016478"/>
                  <a:gd name="connsiteX3" fmla="*/ 1357325 w 2809875"/>
                  <a:gd name="connsiteY3" fmla="*/ 745888 h 2016478"/>
                  <a:gd name="connsiteX4" fmla="*/ 1881151 w 2809875"/>
                  <a:gd name="connsiteY4" fmla="*/ 621435 h 2016478"/>
                  <a:gd name="connsiteX5" fmla="*/ 2286073 w 2809875"/>
                  <a:gd name="connsiteY5" fmla="*/ 2085 h 2016478"/>
                  <a:gd name="connsiteX6" fmla="*/ 2495550 w 2809875"/>
                  <a:gd name="connsiteY6" fmla="*/ 883003 h 2016478"/>
                  <a:gd name="connsiteX7" fmla="*/ 2809875 w 2809875"/>
                  <a:gd name="connsiteY7" fmla="*/ 444853 h 2016478"/>
                  <a:gd name="connsiteX8" fmla="*/ 2809875 w 2809875"/>
                  <a:gd name="connsiteY8" fmla="*/ 444853 h 2016478"/>
                  <a:gd name="connsiteX0" fmla="*/ 0 w 2809875"/>
                  <a:gd name="connsiteY0" fmla="*/ 2016920 h 2016920"/>
                  <a:gd name="connsiteX1" fmla="*/ 257175 w 2809875"/>
                  <a:gd name="connsiteY1" fmla="*/ 788195 h 2016920"/>
                  <a:gd name="connsiteX2" fmla="*/ 695325 w 2809875"/>
                  <a:gd name="connsiteY2" fmla="*/ 1454945 h 2016920"/>
                  <a:gd name="connsiteX3" fmla="*/ 1343025 w 2809875"/>
                  <a:gd name="connsiteY3" fmla="*/ 781920 h 2016920"/>
                  <a:gd name="connsiteX4" fmla="*/ 1881151 w 2809875"/>
                  <a:gd name="connsiteY4" fmla="*/ 621877 h 2016920"/>
                  <a:gd name="connsiteX5" fmla="*/ 2286073 w 2809875"/>
                  <a:gd name="connsiteY5" fmla="*/ 2527 h 2016920"/>
                  <a:gd name="connsiteX6" fmla="*/ 2495550 w 2809875"/>
                  <a:gd name="connsiteY6" fmla="*/ 883445 h 2016920"/>
                  <a:gd name="connsiteX7" fmla="*/ 2809875 w 2809875"/>
                  <a:gd name="connsiteY7" fmla="*/ 445295 h 2016920"/>
                  <a:gd name="connsiteX8" fmla="*/ 2809875 w 2809875"/>
                  <a:gd name="connsiteY8" fmla="*/ 445295 h 2016920"/>
                  <a:gd name="connsiteX0" fmla="*/ 0 w 2809875"/>
                  <a:gd name="connsiteY0" fmla="*/ 2016920 h 2016920"/>
                  <a:gd name="connsiteX1" fmla="*/ 257175 w 2809875"/>
                  <a:gd name="connsiteY1" fmla="*/ 788195 h 2016920"/>
                  <a:gd name="connsiteX2" fmla="*/ 695325 w 2809875"/>
                  <a:gd name="connsiteY2" fmla="*/ 1454945 h 2016920"/>
                  <a:gd name="connsiteX3" fmla="*/ 1343025 w 2809875"/>
                  <a:gd name="connsiteY3" fmla="*/ 781920 h 2016920"/>
                  <a:gd name="connsiteX4" fmla="*/ 1881151 w 2809875"/>
                  <a:gd name="connsiteY4" fmla="*/ 621877 h 2016920"/>
                  <a:gd name="connsiteX5" fmla="*/ 2286073 w 2809875"/>
                  <a:gd name="connsiteY5" fmla="*/ 2527 h 2016920"/>
                  <a:gd name="connsiteX6" fmla="*/ 2495550 w 2809875"/>
                  <a:gd name="connsiteY6" fmla="*/ 883445 h 2016920"/>
                  <a:gd name="connsiteX7" fmla="*/ 2809875 w 2809875"/>
                  <a:gd name="connsiteY7" fmla="*/ 445295 h 2016920"/>
                  <a:gd name="connsiteX8" fmla="*/ 2809875 w 2809875"/>
                  <a:gd name="connsiteY8" fmla="*/ 445295 h 2016920"/>
                  <a:gd name="connsiteX0" fmla="*/ 0 w 2809875"/>
                  <a:gd name="connsiteY0" fmla="*/ 2016889 h 2016889"/>
                  <a:gd name="connsiteX1" fmla="*/ 257175 w 2809875"/>
                  <a:gd name="connsiteY1" fmla="*/ 788164 h 2016889"/>
                  <a:gd name="connsiteX2" fmla="*/ 695325 w 2809875"/>
                  <a:gd name="connsiteY2" fmla="*/ 1454914 h 2016889"/>
                  <a:gd name="connsiteX3" fmla="*/ 1350175 w 2809875"/>
                  <a:gd name="connsiteY3" fmla="*/ 737402 h 2016889"/>
                  <a:gd name="connsiteX4" fmla="*/ 1881151 w 2809875"/>
                  <a:gd name="connsiteY4" fmla="*/ 621846 h 2016889"/>
                  <a:gd name="connsiteX5" fmla="*/ 2286073 w 2809875"/>
                  <a:gd name="connsiteY5" fmla="*/ 2496 h 2016889"/>
                  <a:gd name="connsiteX6" fmla="*/ 2495550 w 2809875"/>
                  <a:gd name="connsiteY6" fmla="*/ 883414 h 2016889"/>
                  <a:gd name="connsiteX7" fmla="*/ 2809875 w 2809875"/>
                  <a:gd name="connsiteY7" fmla="*/ 445264 h 2016889"/>
                  <a:gd name="connsiteX8" fmla="*/ 2809875 w 2809875"/>
                  <a:gd name="connsiteY8" fmla="*/ 445264 h 2016889"/>
                  <a:gd name="connsiteX0" fmla="*/ 0 w 2809875"/>
                  <a:gd name="connsiteY0" fmla="*/ 2016870 h 2016870"/>
                  <a:gd name="connsiteX1" fmla="*/ 257175 w 2809875"/>
                  <a:gd name="connsiteY1" fmla="*/ 788145 h 2016870"/>
                  <a:gd name="connsiteX2" fmla="*/ 695325 w 2809875"/>
                  <a:gd name="connsiteY2" fmla="*/ 1454895 h 2016870"/>
                  <a:gd name="connsiteX3" fmla="*/ 1350175 w 2809875"/>
                  <a:gd name="connsiteY3" fmla="*/ 710691 h 2016870"/>
                  <a:gd name="connsiteX4" fmla="*/ 1881151 w 2809875"/>
                  <a:gd name="connsiteY4" fmla="*/ 621827 h 2016870"/>
                  <a:gd name="connsiteX5" fmla="*/ 2286073 w 2809875"/>
                  <a:gd name="connsiteY5" fmla="*/ 2477 h 2016870"/>
                  <a:gd name="connsiteX6" fmla="*/ 2495550 w 2809875"/>
                  <a:gd name="connsiteY6" fmla="*/ 883395 h 2016870"/>
                  <a:gd name="connsiteX7" fmla="*/ 2809875 w 2809875"/>
                  <a:gd name="connsiteY7" fmla="*/ 445245 h 2016870"/>
                  <a:gd name="connsiteX8" fmla="*/ 2809875 w 2809875"/>
                  <a:gd name="connsiteY8" fmla="*/ 445245 h 2016870"/>
                  <a:gd name="connsiteX0" fmla="*/ 0 w 2809875"/>
                  <a:gd name="connsiteY0" fmla="*/ 2017980 h 2017980"/>
                  <a:gd name="connsiteX1" fmla="*/ 257175 w 2809875"/>
                  <a:gd name="connsiteY1" fmla="*/ 789255 h 2017980"/>
                  <a:gd name="connsiteX2" fmla="*/ 695325 w 2809875"/>
                  <a:gd name="connsiteY2" fmla="*/ 1456005 h 2017980"/>
                  <a:gd name="connsiteX3" fmla="*/ 1350175 w 2809875"/>
                  <a:gd name="connsiteY3" fmla="*/ 711801 h 2017980"/>
                  <a:gd name="connsiteX4" fmla="*/ 1881151 w 2809875"/>
                  <a:gd name="connsiteY4" fmla="*/ 578449 h 2017980"/>
                  <a:gd name="connsiteX5" fmla="*/ 2286073 w 2809875"/>
                  <a:gd name="connsiteY5" fmla="*/ 3587 h 2017980"/>
                  <a:gd name="connsiteX6" fmla="*/ 2495550 w 2809875"/>
                  <a:gd name="connsiteY6" fmla="*/ 884505 h 2017980"/>
                  <a:gd name="connsiteX7" fmla="*/ 2809875 w 2809875"/>
                  <a:gd name="connsiteY7" fmla="*/ 446355 h 2017980"/>
                  <a:gd name="connsiteX8" fmla="*/ 2809875 w 2809875"/>
                  <a:gd name="connsiteY8" fmla="*/ 446355 h 2017980"/>
                  <a:gd name="connsiteX0" fmla="*/ 0 w 2809875"/>
                  <a:gd name="connsiteY0" fmla="*/ 2017980 h 2017980"/>
                  <a:gd name="connsiteX1" fmla="*/ 257175 w 2809875"/>
                  <a:gd name="connsiteY1" fmla="*/ 789255 h 2017980"/>
                  <a:gd name="connsiteX2" fmla="*/ 695325 w 2809875"/>
                  <a:gd name="connsiteY2" fmla="*/ 1456005 h 2017980"/>
                  <a:gd name="connsiteX3" fmla="*/ 1350175 w 2809875"/>
                  <a:gd name="connsiteY3" fmla="*/ 711801 h 2017980"/>
                  <a:gd name="connsiteX4" fmla="*/ 1881151 w 2809875"/>
                  <a:gd name="connsiteY4" fmla="*/ 578449 h 2017980"/>
                  <a:gd name="connsiteX5" fmla="*/ 2286073 w 2809875"/>
                  <a:gd name="connsiteY5" fmla="*/ 3587 h 2017980"/>
                  <a:gd name="connsiteX6" fmla="*/ 2495550 w 2809875"/>
                  <a:gd name="connsiteY6" fmla="*/ 884505 h 2017980"/>
                  <a:gd name="connsiteX7" fmla="*/ 2809875 w 2809875"/>
                  <a:gd name="connsiteY7" fmla="*/ 446355 h 2017980"/>
                  <a:gd name="connsiteX8" fmla="*/ 2809875 w 2809875"/>
                  <a:gd name="connsiteY8" fmla="*/ 446355 h 2017980"/>
                  <a:gd name="connsiteX0" fmla="*/ 0 w 2809875"/>
                  <a:gd name="connsiteY0" fmla="*/ 2017401 h 2017401"/>
                  <a:gd name="connsiteX1" fmla="*/ 257175 w 2809875"/>
                  <a:gd name="connsiteY1" fmla="*/ 788676 h 2017401"/>
                  <a:gd name="connsiteX2" fmla="*/ 695325 w 2809875"/>
                  <a:gd name="connsiteY2" fmla="*/ 1455426 h 2017401"/>
                  <a:gd name="connsiteX3" fmla="*/ 1350175 w 2809875"/>
                  <a:gd name="connsiteY3" fmla="*/ 711222 h 2017401"/>
                  <a:gd name="connsiteX4" fmla="*/ 1881151 w 2809875"/>
                  <a:gd name="connsiteY4" fmla="*/ 577870 h 2017401"/>
                  <a:gd name="connsiteX5" fmla="*/ 2286073 w 2809875"/>
                  <a:gd name="connsiteY5" fmla="*/ 3008 h 2017401"/>
                  <a:gd name="connsiteX6" fmla="*/ 2495550 w 2809875"/>
                  <a:gd name="connsiteY6" fmla="*/ 883926 h 2017401"/>
                  <a:gd name="connsiteX7" fmla="*/ 2809875 w 2809875"/>
                  <a:gd name="connsiteY7" fmla="*/ 445776 h 2017401"/>
                  <a:gd name="connsiteX8" fmla="*/ 2809875 w 2809875"/>
                  <a:gd name="connsiteY8" fmla="*/ 445776 h 2017401"/>
                  <a:gd name="connsiteX0" fmla="*/ 0 w 2809875"/>
                  <a:gd name="connsiteY0" fmla="*/ 2018294 h 2018294"/>
                  <a:gd name="connsiteX1" fmla="*/ 257175 w 2809875"/>
                  <a:gd name="connsiteY1" fmla="*/ 789569 h 2018294"/>
                  <a:gd name="connsiteX2" fmla="*/ 695325 w 2809875"/>
                  <a:gd name="connsiteY2" fmla="*/ 1456319 h 2018294"/>
                  <a:gd name="connsiteX3" fmla="*/ 1350175 w 2809875"/>
                  <a:gd name="connsiteY3" fmla="*/ 712115 h 2018294"/>
                  <a:gd name="connsiteX4" fmla="*/ 1866852 w 2809875"/>
                  <a:gd name="connsiteY4" fmla="*/ 543173 h 2018294"/>
                  <a:gd name="connsiteX5" fmla="*/ 2286073 w 2809875"/>
                  <a:gd name="connsiteY5" fmla="*/ 3901 h 2018294"/>
                  <a:gd name="connsiteX6" fmla="*/ 2495550 w 2809875"/>
                  <a:gd name="connsiteY6" fmla="*/ 884819 h 2018294"/>
                  <a:gd name="connsiteX7" fmla="*/ 2809875 w 2809875"/>
                  <a:gd name="connsiteY7" fmla="*/ 446669 h 2018294"/>
                  <a:gd name="connsiteX8" fmla="*/ 2809875 w 2809875"/>
                  <a:gd name="connsiteY8" fmla="*/ 446669 h 2018294"/>
                  <a:gd name="connsiteX0" fmla="*/ 0 w 2809875"/>
                  <a:gd name="connsiteY0" fmla="*/ 2019244 h 2019244"/>
                  <a:gd name="connsiteX1" fmla="*/ 257175 w 2809875"/>
                  <a:gd name="connsiteY1" fmla="*/ 790519 h 2019244"/>
                  <a:gd name="connsiteX2" fmla="*/ 695325 w 2809875"/>
                  <a:gd name="connsiteY2" fmla="*/ 1457269 h 2019244"/>
                  <a:gd name="connsiteX3" fmla="*/ 1350175 w 2809875"/>
                  <a:gd name="connsiteY3" fmla="*/ 713065 h 2019244"/>
                  <a:gd name="connsiteX4" fmla="*/ 1866852 w 2809875"/>
                  <a:gd name="connsiteY4" fmla="*/ 544123 h 2019244"/>
                  <a:gd name="connsiteX5" fmla="*/ 2286073 w 2809875"/>
                  <a:gd name="connsiteY5" fmla="*/ 4851 h 2019244"/>
                  <a:gd name="connsiteX6" fmla="*/ 2495550 w 2809875"/>
                  <a:gd name="connsiteY6" fmla="*/ 885769 h 2019244"/>
                  <a:gd name="connsiteX7" fmla="*/ 2809875 w 2809875"/>
                  <a:gd name="connsiteY7" fmla="*/ 447619 h 2019244"/>
                  <a:gd name="connsiteX8" fmla="*/ 2809875 w 2809875"/>
                  <a:gd name="connsiteY8" fmla="*/ 447619 h 2019244"/>
                  <a:gd name="connsiteX0" fmla="*/ 0 w 2809875"/>
                  <a:gd name="connsiteY0" fmla="*/ 2018720 h 2018720"/>
                  <a:gd name="connsiteX1" fmla="*/ 257175 w 2809875"/>
                  <a:gd name="connsiteY1" fmla="*/ 789995 h 2018720"/>
                  <a:gd name="connsiteX2" fmla="*/ 695325 w 2809875"/>
                  <a:gd name="connsiteY2" fmla="*/ 1456745 h 2018720"/>
                  <a:gd name="connsiteX3" fmla="*/ 1350175 w 2809875"/>
                  <a:gd name="connsiteY3" fmla="*/ 712541 h 2018720"/>
                  <a:gd name="connsiteX4" fmla="*/ 1866852 w 2809875"/>
                  <a:gd name="connsiteY4" fmla="*/ 543599 h 2018720"/>
                  <a:gd name="connsiteX5" fmla="*/ 2286073 w 2809875"/>
                  <a:gd name="connsiteY5" fmla="*/ 4327 h 2018720"/>
                  <a:gd name="connsiteX6" fmla="*/ 2495550 w 2809875"/>
                  <a:gd name="connsiteY6" fmla="*/ 885245 h 2018720"/>
                  <a:gd name="connsiteX7" fmla="*/ 2809875 w 2809875"/>
                  <a:gd name="connsiteY7" fmla="*/ 447095 h 2018720"/>
                  <a:gd name="connsiteX8" fmla="*/ 2809875 w 2809875"/>
                  <a:gd name="connsiteY8" fmla="*/ 447095 h 2018720"/>
                  <a:gd name="connsiteX0" fmla="*/ 0 w 2809875"/>
                  <a:gd name="connsiteY0" fmla="*/ 2017992 h 2017992"/>
                  <a:gd name="connsiteX1" fmla="*/ 257175 w 2809875"/>
                  <a:gd name="connsiteY1" fmla="*/ 789267 h 2017992"/>
                  <a:gd name="connsiteX2" fmla="*/ 695325 w 2809875"/>
                  <a:gd name="connsiteY2" fmla="*/ 1456017 h 2017992"/>
                  <a:gd name="connsiteX3" fmla="*/ 1350175 w 2809875"/>
                  <a:gd name="connsiteY3" fmla="*/ 711813 h 2017992"/>
                  <a:gd name="connsiteX4" fmla="*/ 1866852 w 2809875"/>
                  <a:gd name="connsiteY4" fmla="*/ 542871 h 2017992"/>
                  <a:gd name="connsiteX5" fmla="*/ 2286073 w 2809875"/>
                  <a:gd name="connsiteY5" fmla="*/ 3599 h 2017992"/>
                  <a:gd name="connsiteX6" fmla="*/ 2495550 w 2809875"/>
                  <a:gd name="connsiteY6" fmla="*/ 884517 h 2017992"/>
                  <a:gd name="connsiteX7" fmla="*/ 2809875 w 2809875"/>
                  <a:gd name="connsiteY7" fmla="*/ 446367 h 2017992"/>
                  <a:gd name="connsiteX8" fmla="*/ 2809875 w 2809875"/>
                  <a:gd name="connsiteY8" fmla="*/ 446367 h 2017992"/>
                  <a:gd name="connsiteX0" fmla="*/ 0 w 2809875"/>
                  <a:gd name="connsiteY0" fmla="*/ 2018350 h 2018350"/>
                  <a:gd name="connsiteX1" fmla="*/ 257175 w 2809875"/>
                  <a:gd name="connsiteY1" fmla="*/ 789625 h 2018350"/>
                  <a:gd name="connsiteX2" fmla="*/ 695325 w 2809875"/>
                  <a:gd name="connsiteY2" fmla="*/ 1456375 h 2018350"/>
                  <a:gd name="connsiteX3" fmla="*/ 1350175 w 2809875"/>
                  <a:gd name="connsiteY3" fmla="*/ 712171 h 2018350"/>
                  <a:gd name="connsiteX4" fmla="*/ 1866852 w 2809875"/>
                  <a:gd name="connsiteY4" fmla="*/ 543229 h 2018350"/>
                  <a:gd name="connsiteX5" fmla="*/ 2286073 w 2809875"/>
                  <a:gd name="connsiteY5" fmla="*/ 3957 h 2018350"/>
                  <a:gd name="connsiteX6" fmla="*/ 2495550 w 2809875"/>
                  <a:gd name="connsiteY6" fmla="*/ 884875 h 2018350"/>
                  <a:gd name="connsiteX7" fmla="*/ 2809875 w 2809875"/>
                  <a:gd name="connsiteY7" fmla="*/ 446725 h 2018350"/>
                  <a:gd name="connsiteX8" fmla="*/ 2809875 w 2809875"/>
                  <a:gd name="connsiteY8" fmla="*/ 446725 h 2018350"/>
                  <a:gd name="connsiteX0" fmla="*/ 0 w 2809875"/>
                  <a:gd name="connsiteY0" fmla="*/ 2018241 h 2018241"/>
                  <a:gd name="connsiteX1" fmla="*/ 257175 w 2809875"/>
                  <a:gd name="connsiteY1" fmla="*/ 789516 h 2018241"/>
                  <a:gd name="connsiteX2" fmla="*/ 695325 w 2809875"/>
                  <a:gd name="connsiteY2" fmla="*/ 1456266 h 2018241"/>
                  <a:gd name="connsiteX3" fmla="*/ 1350175 w 2809875"/>
                  <a:gd name="connsiteY3" fmla="*/ 712062 h 2018241"/>
                  <a:gd name="connsiteX4" fmla="*/ 1866852 w 2809875"/>
                  <a:gd name="connsiteY4" fmla="*/ 543120 h 2018241"/>
                  <a:gd name="connsiteX5" fmla="*/ 2286073 w 2809875"/>
                  <a:gd name="connsiteY5" fmla="*/ 3848 h 2018241"/>
                  <a:gd name="connsiteX6" fmla="*/ 2495550 w 2809875"/>
                  <a:gd name="connsiteY6" fmla="*/ 884766 h 2018241"/>
                  <a:gd name="connsiteX7" fmla="*/ 2809875 w 2809875"/>
                  <a:gd name="connsiteY7" fmla="*/ 446616 h 2018241"/>
                  <a:gd name="connsiteX8" fmla="*/ 2809875 w 2809875"/>
                  <a:gd name="connsiteY8" fmla="*/ 446616 h 2018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09875" h="2018241">
                    <a:moveTo>
                      <a:pt x="0" y="2018241"/>
                    </a:moveTo>
                    <a:cubicBezTo>
                      <a:pt x="70644" y="1450709"/>
                      <a:pt x="141288" y="883178"/>
                      <a:pt x="257175" y="789516"/>
                    </a:cubicBezTo>
                    <a:cubicBezTo>
                      <a:pt x="373062" y="695854"/>
                      <a:pt x="513158" y="1469175"/>
                      <a:pt x="695325" y="1456266"/>
                    </a:cubicBezTo>
                    <a:cubicBezTo>
                      <a:pt x="877492" y="1443357"/>
                      <a:pt x="1154921" y="864253"/>
                      <a:pt x="1350175" y="712062"/>
                    </a:cubicBezTo>
                    <a:cubicBezTo>
                      <a:pt x="1545429" y="559871"/>
                      <a:pt x="1582173" y="545489"/>
                      <a:pt x="1866852" y="543120"/>
                    </a:cubicBezTo>
                    <a:cubicBezTo>
                      <a:pt x="2151531" y="540751"/>
                      <a:pt x="2181290" y="-53093"/>
                      <a:pt x="2286073" y="3848"/>
                    </a:cubicBezTo>
                    <a:cubicBezTo>
                      <a:pt x="2390856" y="60789"/>
                      <a:pt x="2408250" y="810971"/>
                      <a:pt x="2495550" y="884766"/>
                    </a:cubicBezTo>
                    <a:cubicBezTo>
                      <a:pt x="2582850" y="958561"/>
                      <a:pt x="2809875" y="446616"/>
                      <a:pt x="2809875" y="446616"/>
                    </a:cubicBezTo>
                    <a:lnTo>
                      <a:pt x="2809875" y="446616"/>
                    </a:lnTo>
                  </a:path>
                </a:pathLst>
              </a:custGeom>
              <a:noFill/>
              <a:ln w="28575">
                <a:solidFill>
                  <a:srgbClr val="B806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 name="Straight Connector 7">
                <a:extLst>
                  <a:ext uri="{FF2B5EF4-FFF2-40B4-BE49-F238E27FC236}">
                    <a16:creationId xmlns:a16="http://schemas.microsoft.com/office/drawing/2014/main" id="{1C2270C5-C3FA-4CA4-A227-BA97C9C489A0}"/>
                  </a:ext>
                </a:extLst>
              </p:cNvPr>
              <p:cNvCxnSpPr>
                <a:cxnSpLocks/>
              </p:cNvCxnSpPr>
              <p:nvPr/>
            </p:nvCxnSpPr>
            <p:spPr>
              <a:xfrm>
                <a:off x="2633083" y="3657610"/>
                <a:ext cx="331887" cy="0"/>
              </a:xfrm>
              <a:prstGeom prst="line">
                <a:avLst/>
              </a:prstGeom>
              <a:ln w="28575">
                <a:solidFill>
                  <a:srgbClr val="00B050"/>
                </a:solidFill>
                <a:prstDash val="soli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ED168BE3-C6A6-4EA6-8AFC-D206AD70B5E2}"/>
                  </a:ext>
                </a:extLst>
              </p:cNvPr>
              <p:cNvCxnSpPr>
                <a:cxnSpLocks/>
              </p:cNvCxnSpPr>
              <p:nvPr/>
            </p:nvCxnSpPr>
            <p:spPr>
              <a:xfrm>
                <a:off x="3018845" y="4214822"/>
                <a:ext cx="331887" cy="0"/>
              </a:xfrm>
              <a:prstGeom prst="line">
                <a:avLst/>
              </a:prstGeom>
              <a:ln w="28575">
                <a:solidFill>
                  <a:srgbClr val="00B050"/>
                </a:solidFill>
                <a:prstDash val="soli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F098B6D-6278-47A4-BF58-6D1203F28AA1}"/>
                  </a:ext>
                </a:extLst>
              </p:cNvPr>
              <p:cNvCxnSpPr>
                <a:cxnSpLocks/>
              </p:cNvCxnSpPr>
              <p:nvPr/>
            </p:nvCxnSpPr>
            <p:spPr>
              <a:xfrm>
                <a:off x="4063695" y="3464729"/>
                <a:ext cx="585788" cy="0"/>
              </a:xfrm>
              <a:prstGeom prst="line">
                <a:avLst/>
              </a:prstGeom>
              <a:ln w="28575">
                <a:solidFill>
                  <a:srgbClr val="00B050"/>
                </a:solidFill>
                <a:prstDash val="soli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7D33764-3FB5-4266-90C8-277C2B402E32}"/>
                  </a:ext>
                </a:extLst>
              </p:cNvPr>
              <p:cNvCxnSpPr>
                <a:cxnSpLocks/>
              </p:cNvCxnSpPr>
              <p:nvPr/>
            </p:nvCxnSpPr>
            <p:spPr>
              <a:xfrm>
                <a:off x="4528039" y="3032678"/>
                <a:ext cx="485775" cy="0"/>
              </a:xfrm>
              <a:prstGeom prst="line">
                <a:avLst/>
              </a:prstGeom>
              <a:ln w="28575">
                <a:solidFill>
                  <a:srgbClr val="00B050"/>
                </a:solidFill>
                <a:prstDash val="solid"/>
              </a:ln>
            </p:spPr>
            <p:style>
              <a:lnRef idx="1">
                <a:schemeClr val="accent1"/>
              </a:lnRef>
              <a:fillRef idx="0">
                <a:schemeClr val="accent1"/>
              </a:fillRef>
              <a:effectRef idx="0">
                <a:schemeClr val="accent1"/>
              </a:effectRef>
              <a:fontRef idx="minor">
                <a:schemeClr val="tx1"/>
              </a:fontRef>
            </p:style>
          </p:cxnSp>
        </p:grpSp>
        <p:cxnSp>
          <p:nvCxnSpPr>
            <p:cNvPr id="6" name="Straight Connector 5">
              <a:extLst>
                <a:ext uri="{FF2B5EF4-FFF2-40B4-BE49-F238E27FC236}">
                  <a16:creationId xmlns:a16="http://schemas.microsoft.com/office/drawing/2014/main" id="{A404D6DF-45BB-4B9E-8CBE-B0C17B2662CE}"/>
                </a:ext>
              </a:extLst>
            </p:cNvPr>
            <p:cNvCxnSpPr>
              <a:cxnSpLocks/>
            </p:cNvCxnSpPr>
            <p:nvPr/>
          </p:nvCxnSpPr>
          <p:spPr>
            <a:xfrm>
              <a:off x="4847870" y="3750479"/>
              <a:ext cx="331887" cy="0"/>
            </a:xfrm>
            <a:prstGeom prst="line">
              <a:avLst/>
            </a:prstGeom>
            <a:ln w="28575">
              <a:solidFill>
                <a:srgbClr val="00B050"/>
              </a:solidFill>
              <a:prstDash val="soli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544115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a:xfrm>
            <a:off x="0" y="1371600"/>
            <a:ext cx="9144000" cy="5007976"/>
          </a:xfrm>
        </p:spPr>
        <p:txBody>
          <a:bodyPr>
            <a:normAutofit/>
          </a:bodyPr>
          <a:lstStyle/>
          <a:p>
            <a:pPr marL="342900" indent="-342900">
              <a:buFont typeface="Arial" panose="020B0604020202020204" pitchFamily="34" charset="0"/>
              <a:buChar char="•"/>
            </a:pPr>
            <a:r>
              <a:rPr lang="en-US" sz="2000" dirty="0"/>
              <a:t>Technique used to calculate the moving average of a time series, where more recent data points are given higher weights, and older data points are given lower weights.</a:t>
            </a:r>
          </a:p>
          <a:p>
            <a:pPr marL="342900" indent="-342900">
              <a:buFont typeface="Arial" panose="020B0604020202020204" pitchFamily="34" charset="0"/>
              <a:buChar char="•"/>
            </a:pPr>
            <a:r>
              <a:rPr lang="en-US" sz="2000" dirty="0"/>
              <a:t>The weights decline exponentially as the data points get older, hence the name “exponentially weighted”</a:t>
            </a:r>
          </a:p>
          <a:p>
            <a:pPr marL="342900" indent="-342900">
              <a:buFont typeface="Arial" panose="020B0604020202020204" pitchFamily="34" charset="0"/>
              <a:buChar char="•"/>
            </a:pPr>
            <a:r>
              <a:rPr lang="en-US" sz="2000" dirty="0"/>
              <a:t>Applied in various optimization algorithms in deep learning, such as Gradient Descent with Momentum, </a:t>
            </a:r>
            <a:r>
              <a:rPr lang="en-US" sz="2000" dirty="0" err="1"/>
              <a:t>RMSprop</a:t>
            </a:r>
            <a:r>
              <a:rPr lang="en-US" sz="2000" dirty="0"/>
              <a:t>, and Adam</a:t>
            </a:r>
          </a:p>
          <a:p>
            <a:pPr marL="342900" indent="-342900">
              <a:buFont typeface="Arial" panose="020B0604020202020204" pitchFamily="34" charset="0"/>
              <a:buChar char="•"/>
            </a:pPr>
            <a:r>
              <a:rPr lang="en-US" sz="2000" dirty="0"/>
              <a:t>The EWA is calculated using the following formula:</a:t>
            </a:r>
          </a:p>
          <a:p>
            <a:pPr marL="342900" indent="-342900">
              <a:buFont typeface="Arial" panose="020B0604020202020204" pitchFamily="34" charset="0"/>
              <a:buChar char="•"/>
            </a:pPr>
            <a:endParaRPr lang="en-US" sz="2000" dirty="0"/>
          </a:p>
          <a:p>
            <a:r>
              <a:rPr lang="en-US" sz="2000" dirty="0"/>
              <a:t>                   </a:t>
            </a:r>
            <a:r>
              <a:rPr lang="en-US" sz="2000" dirty="0" err="1"/>
              <a:t>V</a:t>
            </a:r>
            <a:r>
              <a:rPr lang="en-US" sz="2000" baseline="-25000" dirty="0" err="1"/>
              <a:t>t</a:t>
            </a:r>
            <a:r>
              <a:rPr lang="en-US" sz="2000" baseline="-25000" dirty="0"/>
              <a:t> </a:t>
            </a:r>
            <a:r>
              <a:rPr lang="en-US" sz="2000" dirty="0"/>
              <a:t>= β ∗ (V</a:t>
            </a:r>
            <a:r>
              <a:rPr lang="en-US" sz="2000" baseline="-25000" dirty="0"/>
              <a:t>t</a:t>
            </a:r>
            <a:r>
              <a:rPr lang="en-US" sz="2000" dirty="0"/>
              <a:t>−1)+(1−β) ∗ </a:t>
            </a:r>
            <a:r>
              <a:rPr lang="en-US" sz="2000" dirty="0" err="1"/>
              <a:t>NewSample</a:t>
            </a:r>
            <a:endParaRPr lang="en-US" sz="2000" dirty="0"/>
          </a:p>
          <a:p>
            <a:endParaRPr lang="en-US" sz="2000" dirty="0"/>
          </a:p>
          <a:p>
            <a:pPr lvl="1"/>
            <a:r>
              <a:rPr lang="en-US" sz="2000" dirty="0" err="1"/>
              <a:t>V</a:t>
            </a:r>
            <a:r>
              <a:rPr lang="en-US" sz="2000" baseline="-25000" dirty="0" err="1"/>
              <a:t>t</a:t>
            </a:r>
            <a:r>
              <a:rPr lang="en-US" sz="2000" dirty="0"/>
              <a:t> =  weighted average at time t </a:t>
            </a:r>
          </a:p>
          <a:p>
            <a:pPr lvl="1"/>
            <a:r>
              <a:rPr lang="en-US" sz="2000" dirty="0"/>
              <a:t>β =  coefficient of momentum, parameter that determines weight given to previous values (between 0 and 1)</a:t>
            </a:r>
          </a:p>
          <a:p>
            <a:pPr lvl="1"/>
            <a:r>
              <a:rPr lang="en-US" sz="2000" dirty="0"/>
              <a:t> </a:t>
            </a:r>
            <a:r>
              <a:rPr lang="en-US" sz="2000" dirty="0" err="1"/>
              <a:t>NewSample</a:t>
            </a:r>
            <a:r>
              <a:rPr lang="en-US" sz="2000" dirty="0"/>
              <a:t> is t= he new data point at time t </a:t>
            </a:r>
          </a:p>
          <a:p>
            <a:pPr marL="342900" indent="-342900">
              <a:buFont typeface="Arial" panose="020B0604020202020204" pitchFamily="34" charset="0"/>
              <a:buChar char="•"/>
            </a:pPr>
            <a:endParaRPr lang="en-IN" sz="2000" dirty="0"/>
          </a:p>
        </p:txBody>
      </p:sp>
      <p:sp>
        <p:nvSpPr>
          <p:cNvPr id="3" name="Title 2"/>
          <p:cNvSpPr>
            <a:spLocks noGrp="1"/>
          </p:cNvSpPr>
          <p:nvPr>
            <p:ph type="title"/>
          </p:nvPr>
        </p:nvSpPr>
        <p:spPr/>
        <p:txBody>
          <a:bodyPr/>
          <a:lstStyle/>
          <a:p>
            <a:r>
              <a:rPr lang="en-US" dirty="0"/>
              <a:t>Exponentially Weighted Averages (EWA)</a:t>
            </a:r>
            <a:endParaRPr lang="en-IN" dirty="0"/>
          </a:p>
        </p:txBody>
      </p:sp>
    </p:spTree>
    <p:extLst>
      <p:ext uri="{BB962C8B-B14F-4D97-AF65-F5344CB8AC3E}">
        <p14:creationId xmlns:p14="http://schemas.microsoft.com/office/powerpoint/2010/main" val="25965274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0"/>
          </p:nvPr>
        </p:nvPicPr>
        <p:blipFill>
          <a:blip r:embed="rId2"/>
          <a:stretch>
            <a:fillRect/>
          </a:stretch>
        </p:blipFill>
        <p:spPr>
          <a:xfrm>
            <a:off x="685800" y="1524000"/>
            <a:ext cx="6736900" cy="4876800"/>
          </a:xfrm>
          <a:prstGeom prst="rect">
            <a:avLst/>
          </a:prstGeom>
        </p:spPr>
      </p:pic>
      <p:sp>
        <p:nvSpPr>
          <p:cNvPr id="3" name="Title 2"/>
          <p:cNvSpPr>
            <a:spLocks noGrp="1"/>
          </p:cNvSpPr>
          <p:nvPr>
            <p:ph type="title"/>
          </p:nvPr>
        </p:nvSpPr>
        <p:spPr/>
        <p:txBody>
          <a:bodyPr/>
          <a:lstStyle/>
          <a:p>
            <a:r>
              <a:rPr lang="en-US" dirty="0"/>
              <a:t>EWA</a:t>
            </a:r>
            <a:endParaRPr lang="en-IN" dirty="0"/>
          </a:p>
        </p:txBody>
      </p:sp>
    </p:spTree>
    <p:extLst>
      <p:ext uri="{BB962C8B-B14F-4D97-AF65-F5344CB8AC3E}">
        <p14:creationId xmlns:p14="http://schemas.microsoft.com/office/powerpoint/2010/main" val="32001617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0"/>
          </p:nvPr>
        </p:nvPicPr>
        <p:blipFill>
          <a:blip r:embed="rId2"/>
          <a:stretch>
            <a:fillRect/>
          </a:stretch>
        </p:blipFill>
        <p:spPr>
          <a:xfrm>
            <a:off x="649827" y="1395288"/>
            <a:ext cx="4903248" cy="3557588"/>
          </a:xfrm>
          <a:prstGeom prst="rect">
            <a:avLst/>
          </a:prstGeom>
        </p:spPr>
      </p:pic>
      <p:sp>
        <p:nvSpPr>
          <p:cNvPr id="3" name="Title 2"/>
          <p:cNvSpPr>
            <a:spLocks noGrp="1"/>
          </p:cNvSpPr>
          <p:nvPr>
            <p:ph type="title"/>
          </p:nvPr>
        </p:nvSpPr>
        <p:spPr/>
        <p:txBody>
          <a:bodyPr/>
          <a:lstStyle/>
          <a:p>
            <a:r>
              <a:rPr lang="en-US" dirty="0"/>
              <a:t>EWA</a:t>
            </a:r>
            <a:endParaRPr lang="en-IN" dirty="0"/>
          </a:p>
        </p:txBody>
      </p:sp>
      <p:pic>
        <p:nvPicPr>
          <p:cNvPr id="5" name="Picture 4" descr="https://miro.medium.com/v2/resize:fit:330/1*IwkNmsust3jLC3Aerekznw.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87093" y="4133600"/>
            <a:ext cx="3143250" cy="199072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https://miro.medium.com/v2/resize:fit:170/0*7PpE2WbTj_U3Gd1a.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00800" y="1661800"/>
            <a:ext cx="1715836" cy="787266"/>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5838551" y="2666250"/>
            <a:ext cx="3168596" cy="1015663"/>
          </a:xfrm>
          <a:prstGeom prst="rect">
            <a:avLst/>
          </a:prstGeom>
        </p:spPr>
        <p:txBody>
          <a:bodyPr wrap="square">
            <a:spAutoFit/>
          </a:bodyPr>
          <a:lstStyle/>
          <a:p>
            <a:r>
              <a:rPr lang="en-US" sz="2000" i="1" dirty="0">
                <a:solidFill>
                  <a:srgbClr val="242424"/>
                </a:solidFill>
                <a:latin typeface="Cambria" panose="02040503050406030204" pitchFamily="18" charset="0"/>
                <a:ea typeface="Cambria" panose="02040503050406030204" pitchFamily="18" charset="0"/>
                <a:sym typeface="Symbol" panose="05050102010706020507" pitchFamily="18" charset="2"/>
              </a:rPr>
              <a:t>n</a:t>
            </a:r>
            <a:r>
              <a:rPr lang="en-US" sz="2000" i="1" baseline="-25000" dirty="0">
                <a:solidFill>
                  <a:srgbClr val="242424"/>
                </a:solidFill>
                <a:latin typeface="Cambria" panose="02040503050406030204" pitchFamily="18" charset="0"/>
                <a:ea typeface="Cambria" panose="02040503050406030204" pitchFamily="18" charset="0"/>
                <a:sym typeface="Symbol" panose="05050102010706020507" pitchFamily="18" charset="2"/>
              </a:rPr>
              <a:t>  </a:t>
            </a:r>
            <a:r>
              <a:rPr lang="en-US" sz="2000" b="0" i="0" dirty="0">
                <a:solidFill>
                  <a:srgbClr val="242424"/>
                </a:solidFill>
                <a:effectLst/>
                <a:latin typeface="Cambria" panose="02040503050406030204" pitchFamily="18" charset="0"/>
                <a:ea typeface="Cambria" panose="02040503050406030204" pitchFamily="18" charset="0"/>
              </a:rPr>
              <a:t>as the numbers of observations used to adapt your EWA.</a:t>
            </a:r>
            <a:endParaRPr lang="en-IN" sz="2000" dirty="0">
              <a:latin typeface="Cambria" panose="02040503050406030204" pitchFamily="18" charset="0"/>
              <a:ea typeface="Cambria" panose="02040503050406030204" pitchFamily="18" charset="0"/>
            </a:endParaRPr>
          </a:p>
        </p:txBody>
      </p:sp>
      <p:sp>
        <p:nvSpPr>
          <p:cNvPr id="8" name="Rectangle 7"/>
          <p:cNvSpPr/>
          <p:nvPr/>
        </p:nvSpPr>
        <p:spPr>
          <a:xfrm>
            <a:off x="4800600" y="816313"/>
            <a:ext cx="3844322" cy="369332"/>
          </a:xfrm>
          <a:prstGeom prst="rect">
            <a:avLst/>
          </a:prstGeom>
          <a:ln>
            <a:solidFill>
              <a:srgbClr val="FF0000"/>
            </a:solidFill>
          </a:ln>
        </p:spPr>
        <p:txBody>
          <a:bodyPr wrap="none">
            <a:spAutoFit/>
          </a:bodyPr>
          <a:lstStyle/>
          <a:p>
            <a:r>
              <a:rPr lang="en-US" dirty="0"/>
              <a:t> </a:t>
            </a:r>
            <a:r>
              <a:rPr lang="en-US" dirty="0" err="1"/>
              <a:t>V</a:t>
            </a:r>
            <a:r>
              <a:rPr lang="en-US" baseline="-25000" dirty="0" err="1"/>
              <a:t>t</a:t>
            </a:r>
            <a:r>
              <a:rPr lang="en-US" baseline="-25000" dirty="0"/>
              <a:t> </a:t>
            </a:r>
            <a:r>
              <a:rPr lang="en-US" dirty="0"/>
              <a:t>= β ∗ (V</a:t>
            </a:r>
            <a:r>
              <a:rPr lang="en-US" baseline="-25000" dirty="0"/>
              <a:t>t</a:t>
            </a:r>
            <a:r>
              <a:rPr lang="en-US" dirty="0"/>
              <a:t>−1)+(1−β) ∗ </a:t>
            </a:r>
            <a:r>
              <a:rPr lang="en-US" dirty="0" err="1"/>
              <a:t>NewSample</a:t>
            </a:r>
            <a:endParaRPr lang="en-IN" dirty="0"/>
          </a:p>
        </p:txBody>
      </p:sp>
    </p:spTree>
    <p:extLst>
      <p:ext uri="{BB962C8B-B14F-4D97-AF65-F5344CB8AC3E}">
        <p14:creationId xmlns:p14="http://schemas.microsoft.com/office/powerpoint/2010/main" val="1005442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Gradient Descent with Momentum</a:t>
            </a:r>
          </a:p>
        </p:txBody>
      </p:sp>
      <mc:AlternateContent xmlns:mc="http://schemas.openxmlformats.org/markup-compatibility/2006" xmlns:a14="http://schemas.microsoft.com/office/drawing/2010/main">
        <mc:Choice Requires="a14">
          <p:sp>
            <p:nvSpPr>
              <p:cNvPr id="3" name="Content Placeholder 2"/>
              <p:cNvSpPr>
                <a:spLocks noGrp="1"/>
              </p:cNvSpPr>
              <p:nvPr>
                <p:ph idx="4294967295"/>
              </p:nvPr>
            </p:nvSpPr>
            <p:spPr>
              <a:xfrm>
                <a:off x="241515" y="1371601"/>
                <a:ext cx="8750085" cy="3810000"/>
              </a:xfrm>
              <a:prstGeom prst="rect">
                <a:avLst/>
              </a:prstGeom>
            </p:spPr>
            <p:txBody>
              <a:bodyPr>
                <a:normAutofit/>
              </a:bodyPr>
              <a:lstStyle/>
              <a:p>
                <a:pPr marL="342900" indent="-342900">
                  <a:spcAft>
                    <a:spcPts val="1200"/>
                  </a:spcAft>
                  <a:buFont typeface="Arial" panose="020B0604020202020204" pitchFamily="34" charset="0"/>
                  <a:buChar char="•"/>
                </a:pPr>
                <a:r>
                  <a:rPr lang="en-US" dirty="0">
                    <a:cs typeface="Arial MT"/>
                  </a:rPr>
                  <a:t>Added</a:t>
                </a:r>
                <a:r>
                  <a:rPr lang="en-US" spc="-25" dirty="0">
                    <a:cs typeface="Arial MT"/>
                  </a:rPr>
                  <a:t> </a:t>
                </a:r>
                <a:r>
                  <a:rPr lang="en-US" dirty="0">
                    <a:cs typeface="Arial MT"/>
                  </a:rPr>
                  <a:t>a</a:t>
                </a:r>
                <a:r>
                  <a:rPr lang="en-US" spc="-20" dirty="0">
                    <a:cs typeface="Arial MT"/>
                  </a:rPr>
                  <a:t> </a:t>
                </a:r>
                <a:r>
                  <a:rPr lang="en-US" dirty="0">
                    <a:cs typeface="Arial MT"/>
                  </a:rPr>
                  <a:t>mechanism</a:t>
                </a:r>
                <a:r>
                  <a:rPr lang="en-US" spc="-20" dirty="0">
                    <a:cs typeface="Arial MT"/>
                  </a:rPr>
                  <a:t> in GD </a:t>
                </a:r>
                <a:r>
                  <a:rPr lang="en-US" dirty="0">
                    <a:cs typeface="Arial MT"/>
                  </a:rPr>
                  <a:t>for</a:t>
                </a:r>
                <a:r>
                  <a:rPr lang="en-US" spc="-20" dirty="0">
                    <a:cs typeface="Arial MT"/>
                  </a:rPr>
                  <a:t> </a:t>
                </a:r>
                <a:r>
                  <a:rPr lang="en-US" b="1" dirty="0">
                    <a:cs typeface="Arial MT"/>
                  </a:rPr>
                  <a:t>aggregating</a:t>
                </a:r>
                <a:r>
                  <a:rPr lang="en-US" b="1" spc="-20" dirty="0">
                    <a:cs typeface="Arial MT"/>
                  </a:rPr>
                  <a:t> </a:t>
                </a:r>
                <a:r>
                  <a:rPr lang="en-US" b="1" dirty="0">
                    <a:cs typeface="Arial MT"/>
                  </a:rPr>
                  <a:t>a</a:t>
                </a:r>
                <a:r>
                  <a:rPr lang="en-US" b="1" spc="-20" dirty="0">
                    <a:cs typeface="Arial MT"/>
                  </a:rPr>
                  <a:t> </a:t>
                </a:r>
                <a:r>
                  <a:rPr lang="en-US" b="1" dirty="0">
                    <a:cs typeface="Arial MT"/>
                  </a:rPr>
                  <a:t>history</a:t>
                </a:r>
                <a:r>
                  <a:rPr lang="en-US" b="1" spc="-20" dirty="0">
                    <a:cs typeface="Arial MT"/>
                  </a:rPr>
                  <a:t> </a:t>
                </a:r>
                <a:r>
                  <a:rPr lang="en-US" b="1" dirty="0">
                    <a:cs typeface="Arial MT"/>
                  </a:rPr>
                  <a:t>of</a:t>
                </a:r>
                <a:r>
                  <a:rPr lang="en-US" b="1" spc="-20" dirty="0">
                    <a:cs typeface="Arial MT"/>
                  </a:rPr>
                  <a:t> </a:t>
                </a:r>
                <a:r>
                  <a:rPr lang="en-US" b="1" dirty="0">
                    <a:cs typeface="Arial MT"/>
                  </a:rPr>
                  <a:t>past</a:t>
                </a:r>
                <a:r>
                  <a:rPr lang="en-US" b="1" spc="-20" dirty="0">
                    <a:cs typeface="Arial MT"/>
                  </a:rPr>
                  <a:t> </a:t>
                </a:r>
                <a:r>
                  <a:rPr lang="en-US" b="1" dirty="0">
                    <a:cs typeface="Arial MT"/>
                  </a:rPr>
                  <a:t>gradients</a:t>
                </a:r>
                <a:r>
                  <a:rPr lang="en-US" b="1" spc="-25" dirty="0">
                    <a:cs typeface="Arial MT"/>
                  </a:rPr>
                  <a:t> </a:t>
                </a:r>
                <a:r>
                  <a:rPr lang="en-US" b="1" dirty="0">
                    <a:cs typeface="Arial MT"/>
                  </a:rPr>
                  <a:t>to</a:t>
                </a:r>
                <a:r>
                  <a:rPr lang="en-US" b="1" spc="-20" dirty="0">
                    <a:cs typeface="Arial MT"/>
                  </a:rPr>
                  <a:t> </a:t>
                </a:r>
                <a:r>
                  <a:rPr lang="en-US" b="1" spc="-10" dirty="0">
                    <a:cs typeface="Arial MT"/>
                  </a:rPr>
                  <a:t>accelerate convergence</a:t>
                </a:r>
                <a:endParaRPr lang="en-US" b="1" dirty="0"/>
              </a:p>
              <a:p>
                <a:pPr marL="342900" indent="-342900">
                  <a:spcAft>
                    <a:spcPts val="1200"/>
                  </a:spcAft>
                  <a:buFont typeface="Arial" panose="020B0604020202020204" pitchFamily="34" charset="0"/>
                  <a:buChar char="•"/>
                </a:pPr>
                <a:r>
                  <a:rPr lang="en-US" dirty="0"/>
                  <a:t>Taking knowledge from previous steps about where we should be heading. We are introducing a new </a:t>
                </a:r>
                <a:r>
                  <a:rPr lang="en-US" dirty="0" err="1"/>
                  <a:t>hyperparameter</a:t>
                </a:r>
                <a:r>
                  <a:rPr lang="en-US" dirty="0"/>
                  <a:t>  </a:t>
                </a:r>
                <a:r>
                  <a:rPr lang="en-US" dirty="0">
                    <a:sym typeface="Symbol" panose="05050102010706020507" pitchFamily="18" charset="2"/>
                  </a:rPr>
                  <a:t></a:t>
                </a:r>
                <a:endParaRPr lang="en-US" dirty="0"/>
              </a:p>
              <a:p>
                <a:pPr marL="342900" indent="-342900">
                  <a:buFont typeface="Arial" panose="020B0604020202020204" pitchFamily="34" charset="0"/>
                  <a:buChar char="•"/>
                </a:pPr>
                <a:r>
                  <a:rPr lang="en-US" dirty="0"/>
                  <a:t>The term </a:t>
                </a:r>
                <a:r>
                  <a:rPr lang="en-US" dirty="0" err="1"/>
                  <a:t>v</a:t>
                </a:r>
                <a:r>
                  <a:rPr lang="en-US" baseline="-25000" dirty="0" err="1"/>
                  <a:t>t</a:t>
                </a:r>
                <a:r>
                  <a:rPr lang="en-US" baseline="-25000" dirty="0"/>
                  <a:t> </a:t>
                </a:r>
                <a:r>
                  <a:rPr lang="en-US" dirty="0"/>
                  <a:t>is called momentum</a:t>
                </a:r>
              </a:p>
              <a:p>
                <a:pPr marL="342900" indent="-342900">
                  <a:buFont typeface="Arial" panose="020B0604020202020204" pitchFamily="34" charset="0"/>
                  <a:buChar char="•"/>
                </a:pPr>
                <a:r>
                  <a:rPr lang="en-US" dirty="0"/>
                  <a:t>This term accumulates the gradients from the past several steps</a:t>
                </a:r>
              </a:p>
              <a:p>
                <a:pPr marL="342900" indent="-342900">
                  <a:buFont typeface="Arial" panose="020B0604020202020204" pitchFamily="34" charset="0"/>
                  <a:buChar char="•"/>
                </a:pPr>
                <a:r>
                  <a:rPr lang="en-US" dirty="0"/>
                  <a:t>This method updates the parameters </a:t>
                </a:r>
                <a14:m>
                  <m:oMath xmlns:m="http://schemas.openxmlformats.org/officeDocument/2006/math">
                    <m:r>
                      <a:rPr lang="en-US" b="0" i="1" smtClean="0">
                        <a:latin typeface="Cambria Math" panose="02040503050406030204" pitchFamily="18" charset="0"/>
                      </a:rPr>
                      <m:t>𝑤</m:t>
                    </m:r>
                  </m:oMath>
                </a14:m>
                <a:r>
                  <a:rPr lang="en-US" dirty="0"/>
                  <a:t> in the direction of the weighted average of the past gradients</a:t>
                </a:r>
              </a:p>
            </p:txBody>
          </p:sp>
        </mc:Choice>
        <mc:Fallback xmlns="">
          <p:sp>
            <p:nvSpPr>
              <p:cNvPr id="3" name="Content Placeholder 2"/>
              <p:cNvSpPr>
                <a:spLocks noGrp="1" noRot="1" noChangeAspect="1" noMove="1" noResize="1" noEditPoints="1" noAdjustHandles="1" noChangeArrowheads="1" noChangeShapeType="1" noTextEdit="1"/>
              </p:cNvSpPr>
              <p:nvPr>
                <p:ph idx="4294967295"/>
              </p:nvPr>
            </p:nvSpPr>
            <p:spPr>
              <a:xfrm>
                <a:off x="241515" y="1371601"/>
                <a:ext cx="8750085" cy="3810000"/>
              </a:xfrm>
              <a:prstGeom prst="rect">
                <a:avLst/>
              </a:prstGeom>
              <a:blipFill rotWithShape="0">
                <a:blip r:embed="rId3"/>
                <a:stretch>
                  <a:fillRect l="-976" t="-1280" r="-1185" b="-48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1447800" y="5334002"/>
                <a:ext cx="3254900" cy="721288"/>
              </a:xfrm>
              <a:prstGeom prst="rect">
                <a:avLst/>
              </a:prstGeom>
              <a:ln>
                <a:solidFill>
                  <a:srgbClr val="FF0000"/>
                </a:solidFill>
              </a:ln>
            </p:spPr>
            <p:txBody>
              <a:bodyPr wrap="square">
                <a:spAutoFit/>
              </a:bodyPr>
              <a:lstStyle/>
              <a:p>
                <a:pPr algn="l"/>
                <a14:m>
                  <m:oMathPara xmlns:m="http://schemas.openxmlformats.org/officeDocument/2006/math">
                    <m:oMathParaPr>
                      <m:jc m:val="left"/>
                    </m:oMathParaPr>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𝑡</m:t>
                          </m:r>
                          <m:r>
                            <a:rPr lang="en-US" sz="2000" b="0" i="1" smtClean="0">
                              <a:latin typeface="Cambria Math" panose="02040503050406030204" pitchFamily="18" charset="0"/>
                            </a:rPr>
                            <m:t> ← </m:t>
                          </m:r>
                        </m:sub>
                      </m:sSub>
                      <m:r>
                        <a:rPr lang="en-US" sz="2000" i="1" smtClean="0">
                          <a:latin typeface="Cambria Math" panose="02040503050406030204" pitchFamily="18" charset="0"/>
                          <a:ea typeface="Cambria Math" panose="02040503050406030204" pitchFamily="18" charset="0"/>
                        </a:rPr>
                        <m:t>𝛽</m:t>
                      </m:r>
                      <m:sSub>
                        <m:sSubPr>
                          <m:ctrlPr>
                            <a:rPr lang="en-US" sz="200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𝑣</m:t>
                          </m:r>
                        </m:e>
                        <m:sub>
                          <m:r>
                            <a:rPr lang="en-US" sz="2000" b="0" i="1" smtClean="0">
                              <a:latin typeface="Cambria Math" panose="02040503050406030204" pitchFamily="18" charset="0"/>
                              <a:ea typeface="Cambria Math" panose="02040503050406030204" pitchFamily="18" charset="0"/>
                            </a:rPr>
                            <m:t>𝑡</m:t>
                          </m:r>
                          <m:r>
                            <a:rPr lang="en-US" sz="2000" b="0" i="1" smtClean="0">
                              <a:latin typeface="Cambria Math" panose="02040503050406030204" pitchFamily="18" charset="0"/>
                              <a:ea typeface="Cambria Math" panose="02040503050406030204" pitchFamily="18" charset="0"/>
                            </a:rPr>
                            <m:t>−1</m:t>
                          </m:r>
                        </m:sub>
                      </m:sSub>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𝑔</m:t>
                          </m:r>
                        </m:e>
                        <m:sub>
                          <m:r>
                            <a:rPr lang="en-US" sz="2000" b="0" i="1" smtClean="0">
                              <a:latin typeface="Cambria Math" panose="02040503050406030204" pitchFamily="18" charset="0"/>
                              <a:ea typeface="Cambria Math" panose="02040503050406030204" pitchFamily="18" charset="0"/>
                            </a:rPr>
                            <m:t>𝑡</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𝑡</m:t>
                          </m:r>
                          <m:r>
                            <a:rPr lang="en-US" sz="2000" b="0" i="1" smtClean="0">
                              <a:latin typeface="Cambria Math" panose="02040503050406030204" pitchFamily="18" charset="0"/>
                              <a:ea typeface="Cambria Math" panose="02040503050406030204" pitchFamily="18" charset="0"/>
                            </a:rPr>
                            <m:t>−1</m:t>
                          </m:r>
                        </m:sub>
                      </m:sSub>
                    </m:oMath>
                  </m:oMathPara>
                </a14:m>
                <a:endParaRPr lang="en-US" sz="2000" dirty="0"/>
              </a:p>
              <a:p>
                <a:pPr algn="l"/>
                <a14:m>
                  <m:oMathPara xmlns:m="http://schemas.openxmlformats.org/officeDocument/2006/math">
                    <m:oMathParaPr>
                      <m:jc m:val="left"/>
                    </m:oMathParaPr>
                    <m:oMath xmlns:m="http://schemas.openxmlformats.org/officeDocument/2006/math">
                      <m:sSub>
                        <m:sSubPr>
                          <m:ctrlPr>
                            <a:rPr lang="en-US" sz="2000" i="1">
                              <a:latin typeface="Cambria Math" panose="02040503050406030204" pitchFamily="18" charset="0"/>
                            </a:rPr>
                          </m:ctrlPr>
                        </m:sSubPr>
                        <m:e>
                          <m:r>
                            <a:rPr lang="en-US" sz="2000" b="0" i="1" smtClean="0">
                              <a:latin typeface="Cambria Math" panose="02040503050406030204" pitchFamily="18" charset="0"/>
                            </a:rPr>
                            <m:t>𝑤</m:t>
                          </m:r>
                        </m:e>
                        <m:sub>
                          <m:r>
                            <a:rPr lang="en-US" sz="2000" i="1">
                              <a:latin typeface="Cambria Math" panose="02040503050406030204" pitchFamily="18" charset="0"/>
                            </a:rPr>
                            <m:t>𝑡</m:t>
                          </m:r>
                          <m:r>
                            <a:rPr lang="en-US" sz="2000" i="1">
                              <a:latin typeface="Cambria Math" panose="02040503050406030204" pitchFamily="18" charset="0"/>
                            </a:rPr>
                            <m:t> ← </m:t>
                          </m:r>
                        </m:sub>
                      </m:sSub>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𝑤</m:t>
                          </m:r>
                        </m:e>
                        <m:sub>
                          <m:r>
                            <a:rPr lang="en-US" sz="2000" b="0" i="1" smtClean="0">
                              <a:latin typeface="Cambria Math" panose="02040503050406030204" pitchFamily="18" charset="0"/>
                            </a:rPr>
                            <m:t>𝑡</m:t>
                          </m:r>
                          <m:r>
                            <a:rPr lang="en-US" sz="2000" b="0" i="1" smtClean="0">
                              <a:latin typeface="Cambria Math" panose="02040503050406030204" pitchFamily="18" charset="0"/>
                            </a:rPr>
                            <m:t>−1</m:t>
                          </m:r>
                        </m:sub>
                      </m:sSub>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sym typeface="Symbol" panose="05050102010706020507" pitchFamily="18" charset="2"/>
                        </a:rPr>
                        <m:t> </m:t>
                      </m:r>
                      <m:sSub>
                        <m:sSubPr>
                          <m:ctrlPr>
                            <a:rPr lang="en-US" sz="2000" i="1">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𝑣</m:t>
                          </m:r>
                        </m:e>
                        <m:sub>
                          <m:r>
                            <a:rPr lang="en-US" sz="2000" i="1">
                              <a:latin typeface="Cambria Math" panose="02040503050406030204" pitchFamily="18" charset="0"/>
                              <a:ea typeface="Cambria Math" panose="02040503050406030204" pitchFamily="18" charset="0"/>
                            </a:rPr>
                            <m:t>𝑡</m:t>
                          </m:r>
                        </m:sub>
                      </m:sSub>
                    </m:oMath>
                  </m:oMathPara>
                </a14:m>
                <a:endParaRPr lang="en-US" sz="2000" dirty="0"/>
              </a:p>
            </p:txBody>
          </p:sp>
        </mc:Choice>
        <mc:Fallback xmlns="">
          <p:sp>
            <p:nvSpPr>
              <p:cNvPr id="8" name="Rectangle 7"/>
              <p:cNvSpPr>
                <a:spLocks noRot="1" noChangeAspect="1" noMove="1" noResize="1" noEditPoints="1" noAdjustHandles="1" noChangeArrowheads="1" noChangeShapeType="1" noTextEdit="1"/>
              </p:cNvSpPr>
              <p:nvPr/>
            </p:nvSpPr>
            <p:spPr>
              <a:xfrm>
                <a:off x="1447800" y="5334002"/>
                <a:ext cx="3254900" cy="721288"/>
              </a:xfrm>
              <a:prstGeom prst="rect">
                <a:avLst/>
              </a:prstGeom>
              <a:blipFill rotWithShape="0">
                <a:blip r:embed="rId4"/>
                <a:stretch>
                  <a:fillRect b="-4167"/>
                </a:stretch>
              </a:blipFill>
              <a:ln>
                <a:solidFill>
                  <a:srgbClr val="FF0000"/>
                </a:solidFill>
              </a:ln>
            </p:spPr>
            <p:txBody>
              <a:bodyPr/>
              <a:lstStyle/>
              <a:p>
                <a:r>
                  <a:rPr lang="en-IN">
                    <a:noFill/>
                  </a:rPr>
                  <a:t> </a:t>
                </a:r>
              </a:p>
            </p:txBody>
          </p:sp>
        </mc:Fallback>
      </mc:AlternateContent>
      <p:sp>
        <p:nvSpPr>
          <p:cNvPr id="5" name="Rectangle 4"/>
          <p:cNvSpPr/>
          <p:nvPr/>
        </p:nvSpPr>
        <p:spPr>
          <a:xfrm>
            <a:off x="5029200" y="869202"/>
            <a:ext cx="3844322" cy="369332"/>
          </a:xfrm>
          <a:prstGeom prst="rect">
            <a:avLst/>
          </a:prstGeom>
          <a:ln>
            <a:solidFill>
              <a:srgbClr val="FF0000"/>
            </a:solidFill>
          </a:ln>
        </p:spPr>
        <p:txBody>
          <a:bodyPr wrap="none">
            <a:spAutoFit/>
          </a:bodyPr>
          <a:lstStyle/>
          <a:p>
            <a:r>
              <a:rPr lang="en-US" dirty="0"/>
              <a:t> </a:t>
            </a:r>
            <a:r>
              <a:rPr lang="en-US" dirty="0" err="1"/>
              <a:t>V</a:t>
            </a:r>
            <a:r>
              <a:rPr lang="en-US" baseline="-25000" dirty="0" err="1"/>
              <a:t>t</a:t>
            </a:r>
            <a:r>
              <a:rPr lang="en-US" baseline="-25000" dirty="0"/>
              <a:t> </a:t>
            </a:r>
            <a:r>
              <a:rPr lang="en-US" dirty="0"/>
              <a:t>= β ∗ (V</a:t>
            </a:r>
            <a:r>
              <a:rPr lang="en-US" baseline="-25000" dirty="0"/>
              <a:t>t</a:t>
            </a:r>
            <a:r>
              <a:rPr lang="en-US" dirty="0"/>
              <a:t>−1)+(1−β) ∗ </a:t>
            </a:r>
            <a:r>
              <a:rPr lang="en-US" dirty="0" err="1"/>
              <a:t>NewSample</a:t>
            </a:r>
            <a:endParaRPr lang="en-IN" dirty="0"/>
          </a:p>
        </p:txBody>
      </p:sp>
    </p:spTree>
    <p:extLst>
      <p:ext uri="{BB962C8B-B14F-4D97-AF65-F5344CB8AC3E}">
        <p14:creationId xmlns:p14="http://schemas.microsoft.com/office/powerpoint/2010/main" val="21416900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Gradient Descent with Momentum</a:t>
            </a:r>
            <a:endParaRPr lang="en-IN" dirty="0"/>
          </a:p>
        </p:txBody>
      </p:sp>
      <p:pic>
        <p:nvPicPr>
          <p:cNvPr id="1026" name="Picture 2" descr="https://miro.medium.com/v2/resize:fit:640/0*DrfR0iK_MR6AcVmn.jpeg"/>
          <p:cNvPicPr>
            <a:picLocks noGrp="1" noChangeAspect="1" noChangeArrowheads="1"/>
          </p:cNvPicPr>
          <p:nvPr>
            <p:ph idx="10"/>
          </p:nvPr>
        </p:nvPicPr>
        <p:blipFill>
          <a:blip r:embed="rId3">
            <a:extLst>
              <a:ext uri="{28A0092B-C50C-407E-A947-70E740481C1C}">
                <a14:useLocalDpi xmlns:a14="http://schemas.microsoft.com/office/drawing/2010/main" val="0"/>
              </a:ext>
            </a:extLst>
          </a:blip>
          <a:srcRect/>
          <a:stretch>
            <a:fillRect/>
          </a:stretch>
        </p:blipFill>
        <p:spPr bwMode="auto">
          <a:xfrm>
            <a:off x="685800" y="1524000"/>
            <a:ext cx="6480124" cy="45259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70473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Gradient Descent with Momentum</a:t>
            </a:r>
            <a:endParaRPr lang="en-IN" dirty="0"/>
          </a:p>
        </p:txBody>
      </p:sp>
      <p:pic>
        <p:nvPicPr>
          <p:cNvPr id="2050" name="Picture 2" descr="https://miro.medium.com/v2/resize:fit:640/0*Q4w2B1jKSCXRt0qI.jpg"/>
          <p:cNvPicPr>
            <a:picLocks noGrp="1" noChangeAspect="1" noChangeArrowheads="1"/>
          </p:cNvPicPr>
          <p:nvPr>
            <p:ph idx="10"/>
          </p:nvPr>
        </p:nvPicPr>
        <p:blipFill>
          <a:blip r:embed="rId3">
            <a:extLst>
              <a:ext uri="{28A0092B-C50C-407E-A947-70E740481C1C}">
                <a14:useLocalDpi xmlns:a14="http://schemas.microsoft.com/office/drawing/2010/main" val="0"/>
              </a:ext>
            </a:extLst>
          </a:blip>
          <a:srcRect/>
          <a:stretch>
            <a:fillRect/>
          </a:stretch>
        </p:blipFill>
        <p:spPr bwMode="auto">
          <a:xfrm>
            <a:off x="469900" y="1889919"/>
            <a:ext cx="8128000" cy="3835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70971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28256" y="370023"/>
            <a:ext cx="4085665" cy="608851"/>
          </a:xfrm>
          <a:prstGeom prst="rect">
            <a:avLst/>
          </a:prstGeom>
        </p:spPr>
        <p:txBody>
          <a:bodyPr vert="horz" wrap="square" lIns="0" tIns="11206" rIns="0" bIns="0" rtlCol="0" anchor="ctr">
            <a:spAutoFit/>
          </a:bodyPr>
          <a:lstStyle/>
          <a:p>
            <a:pPr marL="11206">
              <a:spcBef>
                <a:spcPts val="88"/>
              </a:spcBef>
            </a:pPr>
            <a:r>
              <a:rPr sz="3883" spc="-4" dirty="0"/>
              <a:t>Momentum</a:t>
            </a:r>
            <a:r>
              <a:rPr sz="3883" spc="-66" dirty="0"/>
              <a:t> </a:t>
            </a:r>
            <a:r>
              <a:rPr sz="3883" spc="-13" dirty="0"/>
              <a:t>Update</a:t>
            </a:r>
            <a:endParaRPr sz="3883" dirty="0"/>
          </a:p>
        </p:txBody>
      </p:sp>
      <p:sp>
        <p:nvSpPr>
          <p:cNvPr id="26" name="object 26"/>
          <p:cNvSpPr/>
          <p:nvPr/>
        </p:nvSpPr>
        <p:spPr>
          <a:xfrm>
            <a:off x="909893" y="1635859"/>
            <a:ext cx="3284442" cy="1724847"/>
          </a:xfrm>
          <a:prstGeom prst="rect">
            <a:avLst/>
          </a:prstGeom>
          <a:blipFill>
            <a:blip r:embed="rId2" cstate="print"/>
            <a:stretch>
              <a:fillRect/>
            </a:stretch>
          </a:blipFill>
        </p:spPr>
        <p:txBody>
          <a:bodyPr wrap="square" lIns="0" tIns="0" rIns="0" bIns="0" rtlCol="0"/>
          <a:lstStyle/>
          <a:p>
            <a:endParaRPr/>
          </a:p>
        </p:txBody>
      </p:sp>
      <p:sp>
        <p:nvSpPr>
          <p:cNvPr id="27" name="object 27"/>
          <p:cNvSpPr/>
          <p:nvPr/>
        </p:nvSpPr>
        <p:spPr>
          <a:xfrm>
            <a:off x="5017646" y="1769574"/>
            <a:ext cx="3626920" cy="1857533"/>
          </a:xfrm>
          <a:prstGeom prst="rect">
            <a:avLst/>
          </a:prstGeom>
          <a:blipFill>
            <a:blip r:embed="rId3" cstate="print"/>
            <a:stretch>
              <a:fillRect/>
            </a:stretch>
          </a:blipFill>
        </p:spPr>
        <p:txBody>
          <a:bodyPr wrap="square" lIns="0" tIns="0" rIns="0" bIns="0" rtlCol="0"/>
          <a:lstStyle/>
          <a:p>
            <a:endParaRPr/>
          </a:p>
        </p:txBody>
      </p:sp>
      <p:sp>
        <p:nvSpPr>
          <p:cNvPr id="28" name="object 28"/>
          <p:cNvSpPr txBox="1"/>
          <p:nvPr/>
        </p:nvSpPr>
        <p:spPr>
          <a:xfrm>
            <a:off x="1084696" y="1450482"/>
            <a:ext cx="7865900" cy="319092"/>
          </a:xfrm>
          <a:prstGeom prst="rect">
            <a:avLst/>
          </a:prstGeom>
        </p:spPr>
        <p:txBody>
          <a:bodyPr vert="horz" wrap="square" lIns="0" tIns="11206" rIns="0" bIns="0" rtlCol="0">
            <a:spAutoFit/>
          </a:bodyPr>
          <a:lstStyle/>
          <a:p>
            <a:pPr marL="11206">
              <a:spcBef>
                <a:spcPts val="88"/>
              </a:spcBef>
              <a:tabLst>
                <a:tab pos="3777144" algn="l"/>
              </a:tabLst>
            </a:pPr>
            <a:r>
              <a:rPr sz="2000" spc="-4" dirty="0">
                <a:latin typeface="Cambria" panose="02040503050406030204" pitchFamily="18" charset="0"/>
                <a:ea typeface="Cambria" panose="02040503050406030204" pitchFamily="18" charset="0"/>
                <a:cs typeface="Calibri"/>
              </a:rPr>
              <a:t>Plain</a:t>
            </a:r>
            <a:r>
              <a:rPr sz="2000" spc="18" dirty="0">
                <a:latin typeface="Cambria" panose="02040503050406030204" pitchFamily="18" charset="0"/>
                <a:ea typeface="Cambria" panose="02040503050406030204" pitchFamily="18" charset="0"/>
                <a:cs typeface="Calibri"/>
              </a:rPr>
              <a:t> </a:t>
            </a:r>
            <a:r>
              <a:rPr sz="2000" spc="-9" dirty="0">
                <a:latin typeface="Cambria" panose="02040503050406030204" pitchFamily="18" charset="0"/>
                <a:ea typeface="Cambria" panose="02040503050406030204" pitchFamily="18" charset="0"/>
                <a:cs typeface="Calibri"/>
              </a:rPr>
              <a:t>gradient</a:t>
            </a:r>
            <a:r>
              <a:rPr sz="2000" spc="22" dirty="0">
                <a:latin typeface="Cambria" panose="02040503050406030204" pitchFamily="18" charset="0"/>
                <a:ea typeface="Cambria" panose="02040503050406030204" pitchFamily="18" charset="0"/>
                <a:cs typeface="Calibri"/>
              </a:rPr>
              <a:t> </a:t>
            </a:r>
            <a:r>
              <a:rPr lang="en-US" sz="2000" spc="22" dirty="0">
                <a:latin typeface="Cambria" panose="02040503050406030204" pitchFamily="18" charset="0"/>
                <a:ea typeface="Cambria" panose="02040503050406030204" pitchFamily="18" charset="0"/>
                <a:cs typeface="Calibri"/>
              </a:rPr>
              <a:t>                                                        </a:t>
            </a:r>
            <a:r>
              <a:rPr sz="2000" spc="-9" dirty="0">
                <a:latin typeface="Cambria" panose="02040503050406030204" pitchFamily="18" charset="0"/>
                <a:ea typeface="Cambria" panose="02040503050406030204" pitchFamily="18" charset="0"/>
                <a:cs typeface="Calibri"/>
              </a:rPr>
              <a:t>update</a:t>
            </a:r>
            <a:r>
              <a:rPr lang="en-US" sz="2000" spc="-9" dirty="0">
                <a:latin typeface="Cambria" panose="02040503050406030204" pitchFamily="18" charset="0"/>
                <a:ea typeface="Cambria" panose="02040503050406030204" pitchFamily="18" charset="0"/>
                <a:cs typeface="Calibri"/>
              </a:rPr>
              <a:t> </a:t>
            </a:r>
            <a:r>
              <a:rPr sz="2000" spc="-4" dirty="0">
                <a:latin typeface="Cambria" panose="02040503050406030204" pitchFamily="18" charset="0"/>
                <a:ea typeface="Cambria" panose="02040503050406030204" pitchFamily="18" charset="0"/>
                <a:cs typeface="Calibri"/>
              </a:rPr>
              <a:t>With</a:t>
            </a:r>
            <a:r>
              <a:rPr lang="en-US" sz="2000" spc="-4" dirty="0">
                <a:latin typeface="Cambria" panose="02040503050406030204" pitchFamily="18" charset="0"/>
                <a:ea typeface="Cambria" panose="02040503050406030204" pitchFamily="18" charset="0"/>
                <a:cs typeface="Calibri"/>
              </a:rPr>
              <a:t> </a:t>
            </a:r>
            <a:r>
              <a:rPr sz="2000" spc="-4" dirty="0">
                <a:latin typeface="Cambria" panose="02040503050406030204" pitchFamily="18" charset="0"/>
                <a:ea typeface="Cambria" panose="02040503050406030204" pitchFamily="18" charset="0"/>
                <a:cs typeface="Calibri"/>
              </a:rPr>
              <a:t>momentum</a:t>
            </a:r>
            <a:endParaRPr sz="2000" dirty="0">
              <a:latin typeface="Cambria" panose="02040503050406030204" pitchFamily="18" charset="0"/>
              <a:ea typeface="Cambria" panose="02040503050406030204" pitchFamily="18" charset="0"/>
              <a:cs typeface="Calibri"/>
            </a:endParaRPr>
          </a:p>
        </p:txBody>
      </p:sp>
      <p:sp>
        <p:nvSpPr>
          <p:cNvPr id="30" name="Rectangle 29"/>
          <p:cNvSpPr/>
          <p:nvPr/>
        </p:nvSpPr>
        <p:spPr>
          <a:xfrm>
            <a:off x="28414" y="3687901"/>
            <a:ext cx="8922182" cy="3170099"/>
          </a:xfrm>
          <a:prstGeom prst="rect">
            <a:avLst/>
          </a:prstGeom>
        </p:spPr>
        <p:txBody>
          <a:bodyPr wrap="square">
            <a:spAutoFit/>
          </a:bodyPr>
          <a:lstStyle/>
          <a:p>
            <a:pPr marL="342900" indent="-342900">
              <a:buFont typeface="Arial" panose="020B0604020202020204" pitchFamily="34" charset="0"/>
              <a:buChar char="•"/>
            </a:pPr>
            <a:r>
              <a:rPr lang="en-US" sz="2000" dirty="0">
                <a:latin typeface="Cambria" panose="02040503050406030204" pitchFamily="18" charset="0"/>
                <a:ea typeface="Cambria" panose="02040503050406030204" pitchFamily="18" charset="0"/>
              </a:rPr>
              <a:t>Momentum averages out the oscillations</a:t>
            </a:r>
          </a:p>
          <a:p>
            <a:pPr marL="342900" indent="-342900">
              <a:buFont typeface="Arial" panose="020B0604020202020204" pitchFamily="34" charset="0"/>
              <a:buChar char="•"/>
            </a:pPr>
            <a:endParaRPr lang="en-US" sz="2000" dirty="0">
              <a:latin typeface="Cambria" panose="02040503050406030204" pitchFamily="18" charset="0"/>
              <a:ea typeface="Cambria" panose="02040503050406030204" pitchFamily="18" charset="0"/>
            </a:endParaRPr>
          </a:p>
          <a:p>
            <a:pPr marL="342900" indent="-342900">
              <a:buFont typeface="Arial" panose="020B0604020202020204" pitchFamily="34" charset="0"/>
              <a:buChar char="•"/>
            </a:pPr>
            <a:r>
              <a:rPr lang="en-US" sz="2000" dirty="0">
                <a:latin typeface="Cambria" panose="02040503050406030204" pitchFamily="18" charset="0"/>
                <a:ea typeface="Cambria" panose="02040503050406030204" pitchFamily="18" charset="0"/>
              </a:rPr>
              <a:t>In a vertical direction, oscillations are reduced because positive and negative numbers average out, Reduces updates for dimensions whose gradients change directions</a:t>
            </a:r>
          </a:p>
          <a:p>
            <a:pPr marL="342900" indent="-342900">
              <a:buFont typeface="Arial" panose="020B0604020202020204" pitchFamily="34" charset="0"/>
              <a:buChar char="•"/>
            </a:pPr>
            <a:endParaRPr lang="en-US" sz="2000" dirty="0">
              <a:latin typeface="Cambria" panose="02040503050406030204" pitchFamily="18" charset="0"/>
              <a:ea typeface="Cambria" panose="02040503050406030204" pitchFamily="18" charset="0"/>
            </a:endParaRPr>
          </a:p>
          <a:p>
            <a:pPr marL="342900" indent="-342900">
              <a:buFont typeface="Arial" panose="020B0604020202020204" pitchFamily="34" charset="0"/>
              <a:buChar char="•"/>
            </a:pPr>
            <a:r>
              <a:rPr lang="en-US" sz="2000" dirty="0">
                <a:latin typeface="Cambria" panose="02040503050406030204" pitchFamily="18" charset="0"/>
                <a:ea typeface="Cambria" panose="02040503050406030204" pitchFamily="18" charset="0"/>
              </a:rPr>
              <a:t>In a horizontal direction, the movement remains aggressive, which speeds up the descent, Increases updates for dimensions whose gradients point in the same directions.</a:t>
            </a:r>
          </a:p>
          <a:p>
            <a:pPr marL="342900" indent="-342900">
              <a:buFont typeface="Arial" panose="020B0604020202020204" pitchFamily="34" charset="0"/>
              <a:buChar char="•"/>
            </a:pPr>
            <a:endParaRPr lang="en-US"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5495746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Gradient Descent with Momentum</a:t>
            </a:r>
            <a:endParaRPr lang="en-IN" dirty="0"/>
          </a:p>
        </p:txBody>
      </p:sp>
      <p:pic>
        <p:nvPicPr>
          <p:cNvPr id="6" name="Picture 5"/>
          <p:cNvPicPr>
            <a:picLocks noChangeAspect="1"/>
          </p:cNvPicPr>
          <p:nvPr/>
        </p:nvPicPr>
        <p:blipFill>
          <a:blip r:embed="rId2"/>
          <a:stretch>
            <a:fillRect/>
          </a:stretch>
        </p:blipFill>
        <p:spPr>
          <a:xfrm>
            <a:off x="214952" y="2209800"/>
            <a:ext cx="8105775" cy="3070369"/>
          </a:xfrm>
          <a:prstGeom prst="rect">
            <a:avLst/>
          </a:prstGeom>
        </p:spPr>
      </p:pic>
      <mc:AlternateContent xmlns:mc="http://schemas.openxmlformats.org/markup-compatibility/2006" xmlns:a14="http://schemas.microsoft.com/office/drawing/2010/main">
        <mc:Choice Requires="a14">
          <p:sp>
            <p:nvSpPr>
              <p:cNvPr id="4" name="Rectangle 3"/>
              <p:cNvSpPr/>
              <p:nvPr/>
            </p:nvSpPr>
            <p:spPr>
              <a:xfrm>
                <a:off x="5029337" y="4494318"/>
                <a:ext cx="3254900" cy="721288"/>
              </a:xfrm>
              <a:prstGeom prst="rect">
                <a:avLst/>
              </a:prstGeom>
              <a:ln>
                <a:solidFill>
                  <a:srgbClr val="FF0000"/>
                </a:solidFill>
              </a:ln>
            </p:spPr>
            <p:txBody>
              <a:bodyPr wrap="square">
                <a:spAutoFit/>
              </a:bodyPr>
              <a:lstStyle/>
              <a:p>
                <a:pPr algn="l"/>
                <a14:m>
                  <m:oMathPara xmlns:m="http://schemas.openxmlformats.org/officeDocument/2006/math">
                    <m:oMathParaPr>
                      <m:jc m:val="left"/>
                    </m:oMathParaPr>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𝑡</m:t>
                          </m:r>
                          <m:r>
                            <a:rPr lang="en-US" sz="2000" b="0" i="1" smtClean="0">
                              <a:latin typeface="Cambria Math" panose="02040503050406030204" pitchFamily="18" charset="0"/>
                            </a:rPr>
                            <m:t> ← </m:t>
                          </m:r>
                        </m:sub>
                      </m:sSub>
                      <m:r>
                        <a:rPr lang="en-US" sz="2000" i="1" smtClean="0">
                          <a:latin typeface="Cambria Math" panose="02040503050406030204" pitchFamily="18" charset="0"/>
                          <a:ea typeface="Cambria Math" panose="02040503050406030204" pitchFamily="18" charset="0"/>
                        </a:rPr>
                        <m:t>𝛽</m:t>
                      </m:r>
                      <m:sSub>
                        <m:sSubPr>
                          <m:ctrlPr>
                            <a:rPr lang="en-US" sz="200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𝑣</m:t>
                          </m:r>
                        </m:e>
                        <m:sub>
                          <m:r>
                            <a:rPr lang="en-US" sz="2000" b="0" i="1" smtClean="0">
                              <a:latin typeface="Cambria Math" panose="02040503050406030204" pitchFamily="18" charset="0"/>
                              <a:ea typeface="Cambria Math" panose="02040503050406030204" pitchFamily="18" charset="0"/>
                            </a:rPr>
                            <m:t>𝑡</m:t>
                          </m:r>
                          <m:r>
                            <a:rPr lang="en-US" sz="2000" b="0" i="1" smtClean="0">
                              <a:latin typeface="Cambria Math" panose="02040503050406030204" pitchFamily="18" charset="0"/>
                              <a:ea typeface="Cambria Math" panose="02040503050406030204" pitchFamily="18" charset="0"/>
                            </a:rPr>
                            <m:t>−1</m:t>
                          </m:r>
                        </m:sub>
                      </m:sSub>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𝑔</m:t>
                          </m:r>
                        </m:e>
                        <m:sub>
                          <m:r>
                            <a:rPr lang="en-US" sz="2000" b="0" i="1" smtClean="0">
                              <a:latin typeface="Cambria Math" panose="02040503050406030204" pitchFamily="18" charset="0"/>
                              <a:ea typeface="Cambria Math" panose="02040503050406030204" pitchFamily="18" charset="0"/>
                            </a:rPr>
                            <m:t>𝑡</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𝑡</m:t>
                          </m:r>
                          <m:r>
                            <a:rPr lang="en-US" sz="2000" b="0" i="1" smtClean="0">
                              <a:latin typeface="Cambria Math" panose="02040503050406030204" pitchFamily="18" charset="0"/>
                              <a:ea typeface="Cambria Math" panose="02040503050406030204" pitchFamily="18" charset="0"/>
                            </a:rPr>
                            <m:t>−1</m:t>
                          </m:r>
                        </m:sub>
                      </m:sSub>
                    </m:oMath>
                  </m:oMathPara>
                </a14:m>
                <a:endParaRPr lang="en-US" sz="2000" dirty="0"/>
              </a:p>
              <a:p>
                <a:pPr algn="l"/>
                <a14:m>
                  <m:oMathPara xmlns:m="http://schemas.openxmlformats.org/officeDocument/2006/math">
                    <m:oMathParaPr>
                      <m:jc m:val="left"/>
                    </m:oMathParaPr>
                    <m:oMath xmlns:m="http://schemas.openxmlformats.org/officeDocument/2006/math">
                      <m:sSub>
                        <m:sSubPr>
                          <m:ctrlPr>
                            <a:rPr lang="en-US" sz="2000" i="1">
                              <a:latin typeface="Cambria Math" panose="02040503050406030204" pitchFamily="18" charset="0"/>
                            </a:rPr>
                          </m:ctrlPr>
                        </m:sSubPr>
                        <m:e>
                          <m:r>
                            <a:rPr lang="en-US" sz="2000" b="0" i="1" smtClean="0">
                              <a:latin typeface="Cambria Math" panose="02040503050406030204" pitchFamily="18" charset="0"/>
                            </a:rPr>
                            <m:t>𝑤</m:t>
                          </m:r>
                        </m:e>
                        <m:sub>
                          <m:r>
                            <a:rPr lang="en-US" sz="2000" i="1">
                              <a:latin typeface="Cambria Math" panose="02040503050406030204" pitchFamily="18" charset="0"/>
                            </a:rPr>
                            <m:t>𝑡</m:t>
                          </m:r>
                          <m:r>
                            <a:rPr lang="en-US" sz="2000" i="1">
                              <a:latin typeface="Cambria Math" panose="02040503050406030204" pitchFamily="18" charset="0"/>
                            </a:rPr>
                            <m:t> ← </m:t>
                          </m:r>
                        </m:sub>
                      </m:sSub>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𝑤</m:t>
                          </m:r>
                        </m:e>
                        <m:sub>
                          <m:r>
                            <a:rPr lang="en-US" sz="2000" b="0" i="1" smtClean="0">
                              <a:latin typeface="Cambria Math" panose="02040503050406030204" pitchFamily="18" charset="0"/>
                            </a:rPr>
                            <m:t>𝑡</m:t>
                          </m:r>
                          <m:r>
                            <a:rPr lang="en-US" sz="2000" b="0" i="1" smtClean="0">
                              <a:latin typeface="Cambria Math" panose="02040503050406030204" pitchFamily="18" charset="0"/>
                            </a:rPr>
                            <m:t>−1</m:t>
                          </m:r>
                        </m:sub>
                      </m:sSub>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sym typeface="Symbol" panose="05050102010706020507" pitchFamily="18" charset="2"/>
                        </a:rPr>
                        <m:t> </m:t>
                      </m:r>
                      <m:sSub>
                        <m:sSubPr>
                          <m:ctrlPr>
                            <a:rPr lang="en-US" sz="2000" i="1">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𝑣</m:t>
                          </m:r>
                        </m:e>
                        <m:sub>
                          <m:r>
                            <a:rPr lang="en-US" sz="2000" i="1">
                              <a:latin typeface="Cambria Math" panose="02040503050406030204" pitchFamily="18" charset="0"/>
                              <a:ea typeface="Cambria Math" panose="02040503050406030204" pitchFamily="18" charset="0"/>
                            </a:rPr>
                            <m:t>𝑡</m:t>
                          </m:r>
                        </m:sub>
                      </m:sSub>
                    </m:oMath>
                  </m:oMathPara>
                </a14:m>
                <a:endParaRPr lang="en-US" sz="2000" dirty="0"/>
              </a:p>
            </p:txBody>
          </p:sp>
        </mc:Choice>
        <mc:Fallback xmlns="">
          <p:sp>
            <p:nvSpPr>
              <p:cNvPr id="4" name="Rectangle 3"/>
              <p:cNvSpPr>
                <a:spLocks noRot="1" noChangeAspect="1" noMove="1" noResize="1" noEditPoints="1" noAdjustHandles="1" noChangeArrowheads="1" noChangeShapeType="1" noTextEdit="1"/>
              </p:cNvSpPr>
              <p:nvPr/>
            </p:nvSpPr>
            <p:spPr>
              <a:xfrm>
                <a:off x="5029337" y="4494318"/>
                <a:ext cx="3254900" cy="721288"/>
              </a:xfrm>
              <a:prstGeom prst="rect">
                <a:avLst/>
              </a:prstGeom>
              <a:blipFill rotWithShape="0">
                <a:blip r:embed="rId3"/>
                <a:stretch>
                  <a:fillRect b="-3306"/>
                </a:stretch>
              </a:blipFill>
              <a:ln>
                <a:solidFill>
                  <a:srgbClr val="FF0000"/>
                </a:solidFill>
              </a:ln>
            </p:spPr>
            <p:txBody>
              <a:bodyPr/>
              <a:lstStyle/>
              <a:p>
                <a:r>
                  <a:rPr lang="en-IN">
                    <a:noFill/>
                  </a:rPr>
                  <a:t> </a:t>
                </a:r>
              </a:p>
            </p:txBody>
          </p:sp>
        </mc:Fallback>
      </mc:AlternateContent>
    </p:spTree>
    <p:extLst>
      <p:ext uri="{BB962C8B-B14F-4D97-AF65-F5344CB8AC3E}">
        <p14:creationId xmlns:p14="http://schemas.microsoft.com/office/powerpoint/2010/main" val="25114784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p:txBody>
          <a:bodyPr/>
          <a:lstStyle/>
          <a:p>
            <a:pPr marL="354965" marR="793750" indent="-342900">
              <a:lnSpc>
                <a:spcPct val="114999"/>
              </a:lnSpc>
              <a:spcBef>
                <a:spcPts val="100"/>
              </a:spcBef>
              <a:buFont typeface="Arial" panose="020B0604020202020204" pitchFamily="34" charset="0"/>
              <a:buChar char="•"/>
              <a:tabLst>
                <a:tab pos="394335" algn="l"/>
              </a:tabLst>
            </a:pPr>
            <a:r>
              <a:rPr lang="en-US" dirty="0">
                <a:cs typeface="Arial MT"/>
              </a:rPr>
              <a:t>Momentum</a:t>
            </a:r>
            <a:r>
              <a:rPr lang="en-US" spc="-35" dirty="0">
                <a:cs typeface="Arial MT"/>
              </a:rPr>
              <a:t> </a:t>
            </a:r>
            <a:r>
              <a:rPr lang="en-US" dirty="0">
                <a:cs typeface="Arial MT"/>
              </a:rPr>
              <a:t>replaces</a:t>
            </a:r>
            <a:r>
              <a:rPr lang="en-US" spc="-30" dirty="0">
                <a:cs typeface="Arial MT"/>
              </a:rPr>
              <a:t> </a:t>
            </a:r>
            <a:r>
              <a:rPr lang="en-US" dirty="0">
                <a:cs typeface="Arial MT"/>
              </a:rPr>
              <a:t>gradients</a:t>
            </a:r>
            <a:r>
              <a:rPr lang="en-US" spc="-35" dirty="0">
                <a:cs typeface="Arial MT"/>
              </a:rPr>
              <a:t> </a:t>
            </a:r>
            <a:r>
              <a:rPr lang="en-US" dirty="0">
                <a:cs typeface="Arial MT"/>
              </a:rPr>
              <a:t>with</a:t>
            </a:r>
            <a:r>
              <a:rPr lang="en-US" spc="-30" dirty="0">
                <a:cs typeface="Arial MT"/>
              </a:rPr>
              <a:t> </a:t>
            </a:r>
            <a:r>
              <a:rPr lang="en-US" dirty="0">
                <a:cs typeface="Arial MT"/>
              </a:rPr>
              <a:t>a</a:t>
            </a:r>
            <a:r>
              <a:rPr lang="en-US" spc="-30" dirty="0">
                <a:cs typeface="Arial MT"/>
              </a:rPr>
              <a:t> </a:t>
            </a:r>
            <a:r>
              <a:rPr lang="en-US" dirty="0">
                <a:cs typeface="Arial MT"/>
              </a:rPr>
              <a:t>leaky</a:t>
            </a:r>
            <a:r>
              <a:rPr lang="en-US" spc="-35" dirty="0">
                <a:cs typeface="Arial MT"/>
              </a:rPr>
              <a:t> </a:t>
            </a:r>
            <a:r>
              <a:rPr lang="en-US" dirty="0">
                <a:cs typeface="Arial MT"/>
              </a:rPr>
              <a:t>average</a:t>
            </a:r>
            <a:r>
              <a:rPr lang="en-US" spc="-30" dirty="0">
                <a:cs typeface="Arial MT"/>
              </a:rPr>
              <a:t> </a:t>
            </a:r>
            <a:r>
              <a:rPr lang="en-US" dirty="0">
                <a:cs typeface="Arial MT"/>
              </a:rPr>
              <a:t>over</a:t>
            </a:r>
            <a:r>
              <a:rPr lang="en-US" spc="-30" dirty="0">
                <a:cs typeface="Arial MT"/>
              </a:rPr>
              <a:t> </a:t>
            </a:r>
            <a:r>
              <a:rPr lang="en-US" spc="-20" dirty="0">
                <a:cs typeface="Arial MT"/>
              </a:rPr>
              <a:t>past </a:t>
            </a:r>
            <a:r>
              <a:rPr lang="en-US" dirty="0">
                <a:cs typeface="Arial MT"/>
              </a:rPr>
              <a:t>gradients.</a:t>
            </a:r>
            <a:r>
              <a:rPr lang="en-US" spc="-75" dirty="0">
                <a:cs typeface="Arial MT"/>
              </a:rPr>
              <a:t> </a:t>
            </a:r>
            <a:r>
              <a:rPr lang="en-US" dirty="0">
                <a:cs typeface="Arial MT"/>
              </a:rPr>
              <a:t>This</a:t>
            </a:r>
            <a:r>
              <a:rPr lang="en-US" spc="-40" dirty="0">
                <a:cs typeface="Arial MT"/>
              </a:rPr>
              <a:t> </a:t>
            </a:r>
            <a:r>
              <a:rPr lang="en-US" dirty="0">
                <a:cs typeface="Arial MT"/>
              </a:rPr>
              <a:t>accelerates</a:t>
            </a:r>
            <a:r>
              <a:rPr lang="en-US" spc="-35" dirty="0">
                <a:cs typeface="Arial MT"/>
              </a:rPr>
              <a:t> </a:t>
            </a:r>
            <a:r>
              <a:rPr lang="en-US" dirty="0">
                <a:cs typeface="Arial MT"/>
              </a:rPr>
              <a:t>convergence</a:t>
            </a:r>
            <a:r>
              <a:rPr lang="en-US" spc="-40" dirty="0">
                <a:cs typeface="Arial MT"/>
              </a:rPr>
              <a:t> </a:t>
            </a:r>
            <a:r>
              <a:rPr lang="en-US" spc="-10" dirty="0">
                <a:cs typeface="Arial MT"/>
              </a:rPr>
              <a:t>significantly.</a:t>
            </a:r>
            <a:endParaRPr lang="en-US" dirty="0">
              <a:cs typeface="Arial MT"/>
            </a:endParaRPr>
          </a:p>
          <a:p>
            <a:pPr marL="354965" marR="5080" indent="-342900">
              <a:lnSpc>
                <a:spcPct val="114999"/>
              </a:lnSpc>
              <a:buFont typeface="Arial" panose="020B0604020202020204" pitchFamily="34" charset="0"/>
              <a:buChar char="•"/>
              <a:tabLst>
                <a:tab pos="394335" algn="l"/>
              </a:tabLst>
            </a:pPr>
            <a:r>
              <a:rPr lang="en-US" dirty="0">
                <a:cs typeface="Arial MT"/>
              </a:rPr>
              <a:t>Momentum</a:t>
            </a:r>
            <a:r>
              <a:rPr lang="en-US" spc="-30" dirty="0">
                <a:cs typeface="Arial MT"/>
              </a:rPr>
              <a:t> </a:t>
            </a:r>
            <a:r>
              <a:rPr lang="en-US" dirty="0">
                <a:cs typeface="Arial MT"/>
              </a:rPr>
              <a:t>prevents</a:t>
            </a:r>
            <a:r>
              <a:rPr lang="en-US" spc="-25" dirty="0">
                <a:cs typeface="Arial MT"/>
              </a:rPr>
              <a:t> </a:t>
            </a:r>
            <a:r>
              <a:rPr lang="en-US" dirty="0">
                <a:cs typeface="Arial MT"/>
              </a:rPr>
              <a:t>stalling</a:t>
            </a:r>
            <a:r>
              <a:rPr lang="en-US" spc="-25" dirty="0">
                <a:cs typeface="Arial MT"/>
              </a:rPr>
              <a:t> </a:t>
            </a:r>
            <a:r>
              <a:rPr lang="en-US" dirty="0">
                <a:cs typeface="Arial MT"/>
              </a:rPr>
              <a:t>of</a:t>
            </a:r>
            <a:r>
              <a:rPr lang="en-US" spc="-25" dirty="0">
                <a:cs typeface="Arial MT"/>
              </a:rPr>
              <a:t> </a:t>
            </a:r>
            <a:r>
              <a:rPr lang="en-US" dirty="0">
                <a:cs typeface="Arial MT"/>
              </a:rPr>
              <a:t>the</a:t>
            </a:r>
            <a:r>
              <a:rPr lang="en-US" spc="-25" dirty="0">
                <a:cs typeface="Arial MT"/>
              </a:rPr>
              <a:t> </a:t>
            </a:r>
            <a:r>
              <a:rPr lang="en-US" spc="-10" dirty="0">
                <a:cs typeface="Arial MT"/>
              </a:rPr>
              <a:t>optimization</a:t>
            </a:r>
            <a:r>
              <a:rPr lang="en-US" spc="-25" dirty="0">
                <a:cs typeface="Arial MT"/>
              </a:rPr>
              <a:t> </a:t>
            </a:r>
            <a:r>
              <a:rPr lang="en-US" dirty="0">
                <a:cs typeface="Arial MT"/>
              </a:rPr>
              <a:t>process</a:t>
            </a:r>
            <a:r>
              <a:rPr lang="en-US" spc="-25" dirty="0">
                <a:cs typeface="Arial MT"/>
              </a:rPr>
              <a:t> </a:t>
            </a:r>
            <a:r>
              <a:rPr lang="en-US" dirty="0">
                <a:cs typeface="Arial MT"/>
              </a:rPr>
              <a:t>that</a:t>
            </a:r>
            <a:r>
              <a:rPr lang="en-US" spc="-25" dirty="0">
                <a:cs typeface="Arial MT"/>
              </a:rPr>
              <a:t> </a:t>
            </a:r>
            <a:r>
              <a:rPr lang="en-US" dirty="0">
                <a:cs typeface="Arial MT"/>
              </a:rPr>
              <a:t>is</a:t>
            </a:r>
            <a:r>
              <a:rPr lang="en-US" spc="-25" dirty="0">
                <a:cs typeface="Arial MT"/>
              </a:rPr>
              <a:t> </a:t>
            </a:r>
            <a:r>
              <a:rPr lang="en-US" spc="-20" dirty="0">
                <a:cs typeface="Arial MT"/>
              </a:rPr>
              <a:t>much </a:t>
            </a:r>
            <a:r>
              <a:rPr lang="en-US" dirty="0">
                <a:cs typeface="Arial MT"/>
              </a:rPr>
              <a:t>more</a:t>
            </a:r>
            <a:r>
              <a:rPr lang="en-US" spc="-20" dirty="0">
                <a:cs typeface="Arial MT"/>
              </a:rPr>
              <a:t> </a:t>
            </a:r>
            <a:r>
              <a:rPr lang="en-US" dirty="0">
                <a:cs typeface="Arial MT"/>
              </a:rPr>
              <a:t>likely</a:t>
            </a:r>
            <a:r>
              <a:rPr lang="en-US" spc="-20" dirty="0">
                <a:cs typeface="Arial MT"/>
              </a:rPr>
              <a:t> </a:t>
            </a:r>
            <a:r>
              <a:rPr lang="en-US" dirty="0">
                <a:cs typeface="Arial MT"/>
              </a:rPr>
              <a:t>to</a:t>
            </a:r>
            <a:r>
              <a:rPr lang="en-US" spc="-20" dirty="0">
                <a:cs typeface="Arial MT"/>
              </a:rPr>
              <a:t> </a:t>
            </a:r>
            <a:r>
              <a:rPr lang="en-US" dirty="0">
                <a:cs typeface="Arial MT"/>
              </a:rPr>
              <a:t>occur</a:t>
            </a:r>
            <a:r>
              <a:rPr lang="en-US" spc="-20" dirty="0">
                <a:cs typeface="Arial MT"/>
              </a:rPr>
              <a:t> </a:t>
            </a:r>
            <a:r>
              <a:rPr lang="en-US" dirty="0">
                <a:cs typeface="Arial MT"/>
              </a:rPr>
              <a:t>for</a:t>
            </a:r>
            <a:r>
              <a:rPr lang="en-US" spc="-20" dirty="0">
                <a:cs typeface="Arial MT"/>
              </a:rPr>
              <a:t> </a:t>
            </a:r>
            <a:r>
              <a:rPr lang="en-US" dirty="0">
                <a:cs typeface="Arial MT"/>
              </a:rPr>
              <a:t>stochastic</a:t>
            </a:r>
            <a:r>
              <a:rPr lang="en-US" spc="-20" dirty="0">
                <a:cs typeface="Arial MT"/>
              </a:rPr>
              <a:t> </a:t>
            </a:r>
            <a:r>
              <a:rPr lang="en-US" dirty="0">
                <a:cs typeface="Arial MT"/>
              </a:rPr>
              <a:t>gradient</a:t>
            </a:r>
            <a:r>
              <a:rPr lang="en-US" spc="-15" dirty="0">
                <a:cs typeface="Arial MT"/>
              </a:rPr>
              <a:t> </a:t>
            </a:r>
            <a:r>
              <a:rPr lang="en-US" spc="-10" dirty="0">
                <a:cs typeface="Arial MT"/>
              </a:rPr>
              <a:t>descent.</a:t>
            </a:r>
            <a:endParaRPr lang="en-US" dirty="0">
              <a:cs typeface="Arial MT"/>
            </a:endParaRPr>
          </a:p>
          <a:p>
            <a:pPr marL="354965" marR="858519" indent="-342900">
              <a:lnSpc>
                <a:spcPct val="114999"/>
              </a:lnSpc>
              <a:buFont typeface="Arial" panose="020B0604020202020204" pitchFamily="34" charset="0"/>
              <a:buChar char="•"/>
              <a:tabLst>
                <a:tab pos="394335" algn="l"/>
              </a:tabLst>
            </a:pPr>
            <a:r>
              <a:rPr lang="en-US" dirty="0">
                <a:cs typeface="Arial MT"/>
              </a:rPr>
              <a:t>The</a:t>
            </a:r>
            <a:r>
              <a:rPr lang="en-US" spc="-50" dirty="0">
                <a:cs typeface="Arial MT"/>
              </a:rPr>
              <a:t> </a:t>
            </a:r>
            <a:r>
              <a:rPr lang="en-US" dirty="0">
                <a:cs typeface="Arial MT"/>
              </a:rPr>
              <a:t>effective</a:t>
            </a:r>
            <a:r>
              <a:rPr lang="en-US" spc="-25" dirty="0">
                <a:cs typeface="Arial MT"/>
              </a:rPr>
              <a:t> </a:t>
            </a:r>
            <a:r>
              <a:rPr lang="en-US" dirty="0">
                <a:cs typeface="Arial MT"/>
              </a:rPr>
              <a:t>number</a:t>
            </a:r>
            <a:r>
              <a:rPr lang="en-US" spc="-25" dirty="0">
                <a:cs typeface="Arial MT"/>
              </a:rPr>
              <a:t> </a:t>
            </a:r>
            <a:r>
              <a:rPr lang="en-US" dirty="0">
                <a:cs typeface="Arial MT"/>
              </a:rPr>
              <a:t>of</a:t>
            </a:r>
            <a:r>
              <a:rPr lang="en-US" spc="-25" dirty="0">
                <a:cs typeface="Arial MT"/>
              </a:rPr>
              <a:t> </a:t>
            </a:r>
            <a:r>
              <a:rPr lang="en-US" dirty="0">
                <a:cs typeface="Arial MT"/>
              </a:rPr>
              <a:t>gradients</a:t>
            </a:r>
            <a:r>
              <a:rPr lang="en-US" spc="-25" dirty="0">
                <a:cs typeface="Arial MT"/>
              </a:rPr>
              <a:t> </a:t>
            </a:r>
            <a:r>
              <a:rPr lang="en-US" dirty="0">
                <a:cs typeface="Arial MT"/>
              </a:rPr>
              <a:t>is</a:t>
            </a:r>
            <a:r>
              <a:rPr lang="en-US" spc="-25" dirty="0">
                <a:cs typeface="Arial MT"/>
              </a:rPr>
              <a:t> </a:t>
            </a:r>
            <a:r>
              <a:rPr lang="en-US" dirty="0">
                <a:cs typeface="Arial MT"/>
              </a:rPr>
              <a:t>given</a:t>
            </a:r>
            <a:r>
              <a:rPr lang="en-US" spc="-25" dirty="0">
                <a:cs typeface="Arial MT"/>
              </a:rPr>
              <a:t> </a:t>
            </a:r>
            <a:r>
              <a:rPr lang="en-US" dirty="0">
                <a:cs typeface="Arial MT"/>
              </a:rPr>
              <a:t>by</a:t>
            </a:r>
            <a:r>
              <a:rPr lang="en-US" spc="-25" dirty="0">
                <a:cs typeface="Arial MT"/>
              </a:rPr>
              <a:t> </a:t>
            </a:r>
            <a:r>
              <a:rPr lang="en-US" dirty="0">
                <a:cs typeface="Arial MT"/>
              </a:rPr>
              <a:t>1/</a:t>
            </a:r>
            <a:r>
              <a:rPr lang="en-US" spc="-25" dirty="0">
                <a:cs typeface="Arial MT"/>
              </a:rPr>
              <a:t> </a:t>
            </a:r>
            <a:r>
              <a:rPr lang="en-US" spc="-440" dirty="0">
                <a:cs typeface="Arial MT"/>
              </a:rPr>
              <a:t>(1−β</a:t>
            </a:r>
            <a:r>
              <a:rPr lang="en-US" spc="-5" dirty="0">
                <a:cs typeface="Arial MT"/>
              </a:rPr>
              <a:t> </a:t>
            </a:r>
            <a:r>
              <a:rPr lang="en-US" dirty="0">
                <a:cs typeface="Arial MT"/>
              </a:rPr>
              <a:t>)</a:t>
            </a:r>
            <a:r>
              <a:rPr lang="en-US" spc="-25" dirty="0">
                <a:cs typeface="Arial MT"/>
              </a:rPr>
              <a:t> </a:t>
            </a:r>
            <a:r>
              <a:rPr lang="en-US" dirty="0">
                <a:cs typeface="Arial MT"/>
              </a:rPr>
              <a:t>due</a:t>
            </a:r>
            <a:r>
              <a:rPr lang="en-US" spc="-25" dirty="0">
                <a:cs typeface="Arial MT"/>
              </a:rPr>
              <a:t> to </a:t>
            </a:r>
            <a:r>
              <a:rPr lang="en-US" dirty="0" err="1">
                <a:cs typeface="Arial MT"/>
              </a:rPr>
              <a:t>exponentiated</a:t>
            </a:r>
            <a:r>
              <a:rPr lang="en-US" spc="-45" dirty="0">
                <a:cs typeface="Arial MT"/>
              </a:rPr>
              <a:t> </a:t>
            </a:r>
            <a:r>
              <a:rPr lang="en-US" spc="-10" dirty="0" err="1">
                <a:cs typeface="Arial MT"/>
              </a:rPr>
              <a:t>downweighting</a:t>
            </a:r>
            <a:r>
              <a:rPr lang="en-US" spc="-40" dirty="0">
                <a:cs typeface="Arial MT"/>
              </a:rPr>
              <a:t> </a:t>
            </a:r>
            <a:r>
              <a:rPr lang="en-US" dirty="0">
                <a:cs typeface="Arial MT"/>
              </a:rPr>
              <a:t>of</a:t>
            </a:r>
            <a:r>
              <a:rPr lang="en-US" spc="-40" dirty="0">
                <a:cs typeface="Arial MT"/>
              </a:rPr>
              <a:t> </a:t>
            </a:r>
            <a:r>
              <a:rPr lang="en-US" dirty="0">
                <a:cs typeface="Arial MT"/>
              </a:rPr>
              <a:t>past</a:t>
            </a:r>
            <a:r>
              <a:rPr lang="en-US" spc="-40" dirty="0">
                <a:cs typeface="Arial MT"/>
              </a:rPr>
              <a:t> </a:t>
            </a:r>
            <a:r>
              <a:rPr lang="en-US" spc="-10" dirty="0">
                <a:cs typeface="Arial MT"/>
              </a:rPr>
              <a:t>data.</a:t>
            </a:r>
            <a:endParaRPr lang="en-US" dirty="0">
              <a:cs typeface="Arial MT"/>
            </a:endParaRPr>
          </a:p>
          <a:p>
            <a:pPr marL="354965" marR="132080" indent="-342900">
              <a:lnSpc>
                <a:spcPct val="114999"/>
              </a:lnSpc>
              <a:buFont typeface="Arial" panose="020B0604020202020204" pitchFamily="34" charset="0"/>
              <a:buChar char="•"/>
              <a:tabLst>
                <a:tab pos="394335" algn="l"/>
              </a:tabLst>
            </a:pPr>
            <a:r>
              <a:rPr lang="en-US" dirty="0">
                <a:cs typeface="Arial MT"/>
              </a:rPr>
              <a:t>Implementation</a:t>
            </a:r>
            <a:r>
              <a:rPr lang="en-US" spc="-35" dirty="0">
                <a:cs typeface="Arial MT"/>
              </a:rPr>
              <a:t> </a:t>
            </a:r>
            <a:r>
              <a:rPr lang="en-US" dirty="0">
                <a:cs typeface="Arial MT"/>
              </a:rPr>
              <a:t>is</a:t>
            </a:r>
            <a:r>
              <a:rPr lang="en-US" spc="-30" dirty="0">
                <a:cs typeface="Arial MT"/>
              </a:rPr>
              <a:t> </a:t>
            </a:r>
            <a:r>
              <a:rPr lang="en-US" dirty="0">
                <a:cs typeface="Arial MT"/>
              </a:rPr>
              <a:t>quite</a:t>
            </a:r>
            <a:r>
              <a:rPr lang="en-US" spc="-30" dirty="0">
                <a:cs typeface="Arial MT"/>
              </a:rPr>
              <a:t> </a:t>
            </a:r>
            <a:r>
              <a:rPr lang="en-US" dirty="0">
                <a:cs typeface="Arial MT"/>
              </a:rPr>
              <a:t>straightforward</a:t>
            </a:r>
            <a:r>
              <a:rPr lang="en-US" spc="-30" dirty="0">
                <a:cs typeface="Arial MT"/>
              </a:rPr>
              <a:t> </a:t>
            </a:r>
            <a:r>
              <a:rPr lang="en-US" dirty="0">
                <a:cs typeface="Arial MT"/>
              </a:rPr>
              <a:t>but</a:t>
            </a:r>
            <a:r>
              <a:rPr lang="en-US" spc="-30" dirty="0">
                <a:cs typeface="Arial MT"/>
              </a:rPr>
              <a:t> </a:t>
            </a:r>
            <a:r>
              <a:rPr lang="en-US" dirty="0">
                <a:cs typeface="Arial MT"/>
              </a:rPr>
              <a:t>it</a:t>
            </a:r>
            <a:r>
              <a:rPr lang="en-US" spc="-30" dirty="0">
                <a:cs typeface="Arial MT"/>
              </a:rPr>
              <a:t> </a:t>
            </a:r>
            <a:r>
              <a:rPr lang="en-US" dirty="0">
                <a:cs typeface="Arial MT"/>
              </a:rPr>
              <a:t>requires</a:t>
            </a:r>
            <a:r>
              <a:rPr lang="en-US" spc="-30" dirty="0">
                <a:cs typeface="Arial MT"/>
              </a:rPr>
              <a:t> </a:t>
            </a:r>
            <a:r>
              <a:rPr lang="en-US" dirty="0">
                <a:cs typeface="Arial MT"/>
              </a:rPr>
              <a:t>us</a:t>
            </a:r>
            <a:r>
              <a:rPr lang="en-US" spc="-30" dirty="0">
                <a:cs typeface="Arial MT"/>
              </a:rPr>
              <a:t> </a:t>
            </a:r>
            <a:r>
              <a:rPr lang="en-US" dirty="0">
                <a:cs typeface="Arial MT"/>
              </a:rPr>
              <a:t>to</a:t>
            </a:r>
            <a:r>
              <a:rPr lang="en-US" spc="-30" dirty="0">
                <a:cs typeface="Arial MT"/>
              </a:rPr>
              <a:t> </a:t>
            </a:r>
            <a:r>
              <a:rPr lang="en-US" dirty="0">
                <a:cs typeface="Arial MT"/>
              </a:rPr>
              <a:t>store</a:t>
            </a:r>
            <a:r>
              <a:rPr lang="en-US" spc="-30" dirty="0">
                <a:cs typeface="Arial MT"/>
              </a:rPr>
              <a:t> </a:t>
            </a:r>
            <a:r>
              <a:rPr lang="en-US" spc="-25" dirty="0">
                <a:cs typeface="Arial MT"/>
              </a:rPr>
              <a:t>an </a:t>
            </a:r>
            <a:r>
              <a:rPr lang="en-US" dirty="0">
                <a:cs typeface="Arial MT"/>
              </a:rPr>
              <a:t>additional</a:t>
            </a:r>
            <a:r>
              <a:rPr lang="en-US" spc="-45" dirty="0">
                <a:cs typeface="Arial MT"/>
              </a:rPr>
              <a:t> </a:t>
            </a:r>
            <a:r>
              <a:rPr lang="en-US" dirty="0">
                <a:cs typeface="Arial MT"/>
              </a:rPr>
              <a:t>state</a:t>
            </a:r>
            <a:r>
              <a:rPr lang="en-US" spc="-45" dirty="0">
                <a:cs typeface="Arial MT"/>
              </a:rPr>
              <a:t> </a:t>
            </a:r>
            <a:r>
              <a:rPr lang="en-US" dirty="0">
                <a:cs typeface="Arial MT"/>
              </a:rPr>
              <a:t>vector</a:t>
            </a:r>
            <a:r>
              <a:rPr lang="en-US" spc="-40" dirty="0">
                <a:cs typeface="Arial MT"/>
              </a:rPr>
              <a:t> </a:t>
            </a:r>
            <a:r>
              <a:rPr lang="en-US" dirty="0">
                <a:cs typeface="Arial MT"/>
              </a:rPr>
              <a:t>(momentum</a:t>
            </a:r>
            <a:r>
              <a:rPr lang="en-US" spc="-45" dirty="0">
                <a:cs typeface="Arial MT"/>
              </a:rPr>
              <a:t> </a:t>
            </a:r>
            <a:r>
              <a:rPr lang="en-US" spc="-25" dirty="0">
                <a:cs typeface="Arial MT"/>
              </a:rPr>
              <a:t>v).</a:t>
            </a:r>
            <a:endParaRPr lang="en-US" dirty="0">
              <a:cs typeface="Arial MT"/>
            </a:endParaRPr>
          </a:p>
          <a:p>
            <a:pPr marL="342900" indent="-342900">
              <a:buFont typeface="Arial" panose="020B0604020202020204" pitchFamily="34" charset="0"/>
              <a:buChar char="•"/>
            </a:pPr>
            <a:endParaRPr lang="en-IN" dirty="0"/>
          </a:p>
        </p:txBody>
      </p:sp>
      <p:sp>
        <p:nvSpPr>
          <p:cNvPr id="3" name="Title 2"/>
          <p:cNvSpPr>
            <a:spLocks noGrp="1"/>
          </p:cNvSpPr>
          <p:nvPr>
            <p:ph type="title"/>
          </p:nvPr>
        </p:nvSpPr>
        <p:spPr/>
        <p:txBody>
          <a:bodyPr/>
          <a:lstStyle/>
          <a:p>
            <a:r>
              <a:rPr lang="en-US" dirty="0"/>
              <a:t>Gradient Descent with Momentum</a:t>
            </a:r>
            <a:endParaRPr lang="en-IN" dirty="0"/>
          </a:p>
        </p:txBody>
      </p:sp>
    </p:spTree>
    <p:extLst>
      <p:ext uri="{BB962C8B-B14F-4D97-AF65-F5344CB8AC3E}">
        <p14:creationId xmlns:p14="http://schemas.microsoft.com/office/powerpoint/2010/main" val="402555112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Gradient Descent with Momentum</a:t>
            </a:r>
          </a:p>
        </p:txBody>
      </p:sp>
      <p:sp>
        <p:nvSpPr>
          <p:cNvPr id="3" name="Content Placeholder 2"/>
          <p:cNvSpPr>
            <a:spLocks noGrp="1"/>
          </p:cNvSpPr>
          <p:nvPr>
            <p:ph idx="4294967295"/>
          </p:nvPr>
        </p:nvSpPr>
        <p:spPr>
          <a:xfrm>
            <a:off x="378594" y="1844827"/>
            <a:ext cx="8456704" cy="4736177"/>
          </a:xfrm>
          <a:prstGeom prst="rect">
            <a:avLst/>
          </a:prstGeom>
        </p:spPr>
        <p:txBody>
          <a:bodyPr/>
          <a:lstStyle/>
          <a:p>
            <a:r>
              <a:rPr lang="en-US" b="1" i="1" dirty="0">
                <a:solidFill>
                  <a:srgbClr val="0070C0"/>
                </a:solidFill>
              </a:rPr>
              <a:t>Gradient descent with momentum </a:t>
            </a:r>
            <a:r>
              <a:rPr lang="en-US" dirty="0"/>
              <a:t>uses the momentum of the gradient for parameter optimization</a:t>
            </a:r>
          </a:p>
        </p:txBody>
      </p:sp>
      <p:cxnSp>
        <p:nvCxnSpPr>
          <p:cNvPr id="5" name="直線接點 51"/>
          <p:cNvCxnSpPr/>
          <p:nvPr/>
        </p:nvCxnSpPr>
        <p:spPr>
          <a:xfrm>
            <a:off x="6976196" y="4893039"/>
            <a:ext cx="0" cy="1165073"/>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6" name="直線接點 58"/>
          <p:cNvCxnSpPr/>
          <p:nvPr/>
        </p:nvCxnSpPr>
        <p:spPr>
          <a:xfrm>
            <a:off x="3537124" y="4893039"/>
            <a:ext cx="0" cy="1175614"/>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7" name="直線接點 40"/>
          <p:cNvCxnSpPr/>
          <p:nvPr/>
        </p:nvCxnSpPr>
        <p:spPr>
          <a:xfrm>
            <a:off x="5387894" y="5534725"/>
            <a:ext cx="0" cy="533928"/>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8" name="手繪多邊形 3"/>
          <p:cNvSpPr/>
          <p:nvPr/>
        </p:nvSpPr>
        <p:spPr>
          <a:xfrm>
            <a:off x="1605239" y="2956184"/>
            <a:ext cx="6842485" cy="3713177"/>
          </a:xfrm>
          <a:custGeom>
            <a:avLst/>
            <a:gdLst>
              <a:gd name="connsiteX0" fmla="*/ 0 w 7754816"/>
              <a:gd name="connsiteY0" fmla="*/ 0 h 4208267"/>
              <a:gd name="connsiteX1" fmla="*/ 1019908 w 7754816"/>
              <a:gd name="connsiteY1" fmla="*/ 2356339 h 4208267"/>
              <a:gd name="connsiteX2" fmla="*/ 3499339 w 7754816"/>
              <a:gd name="connsiteY2" fmla="*/ 2760785 h 4208267"/>
              <a:gd name="connsiteX3" fmla="*/ 4783016 w 7754816"/>
              <a:gd name="connsiteY3" fmla="*/ 3130062 h 4208267"/>
              <a:gd name="connsiteX4" fmla="*/ 5820508 w 7754816"/>
              <a:gd name="connsiteY4" fmla="*/ 26025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019908 w 7754816"/>
              <a:gd name="connsiteY1" fmla="*/ 2356339 h 4208267"/>
              <a:gd name="connsiteX2" fmla="*/ 3499339 w 7754816"/>
              <a:gd name="connsiteY2" fmla="*/ 2760785 h 4208267"/>
              <a:gd name="connsiteX3" fmla="*/ 4245987 w 7754816"/>
              <a:gd name="connsiteY3" fmla="*/ 3072005 h 4208267"/>
              <a:gd name="connsiteX4" fmla="*/ 5820508 w 7754816"/>
              <a:gd name="connsiteY4" fmla="*/ 26025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019908 w 7754816"/>
              <a:gd name="connsiteY1" fmla="*/ 2356339 h 4208267"/>
              <a:gd name="connsiteX2" fmla="*/ 3499339 w 7754816"/>
              <a:gd name="connsiteY2" fmla="*/ 2760785 h 4208267"/>
              <a:gd name="connsiteX3" fmla="*/ 4245987 w 7754816"/>
              <a:gd name="connsiteY3" fmla="*/ 3072005 h 4208267"/>
              <a:gd name="connsiteX4" fmla="*/ 5820508 w 7754816"/>
              <a:gd name="connsiteY4" fmla="*/ 26025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019908 w 7754816"/>
              <a:gd name="connsiteY1" fmla="*/ 2356339 h 4208267"/>
              <a:gd name="connsiteX2" fmla="*/ 3296139 w 7754816"/>
              <a:gd name="connsiteY2" fmla="*/ 2804328 h 4208267"/>
              <a:gd name="connsiteX3" fmla="*/ 4245987 w 7754816"/>
              <a:gd name="connsiteY3" fmla="*/ 3072005 h 4208267"/>
              <a:gd name="connsiteX4" fmla="*/ 5820508 w 7754816"/>
              <a:gd name="connsiteY4" fmla="*/ 26025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019908 w 7754816"/>
              <a:gd name="connsiteY1" fmla="*/ 2356339 h 4208267"/>
              <a:gd name="connsiteX2" fmla="*/ 3296139 w 7754816"/>
              <a:gd name="connsiteY2" fmla="*/ 2804328 h 4208267"/>
              <a:gd name="connsiteX3" fmla="*/ 4245987 w 7754816"/>
              <a:gd name="connsiteY3" fmla="*/ 3072005 h 4208267"/>
              <a:gd name="connsiteX4" fmla="*/ 5820508 w 7754816"/>
              <a:gd name="connsiteY4" fmla="*/ 26025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019908 w 7754816"/>
              <a:gd name="connsiteY1" fmla="*/ 2356339 h 4208267"/>
              <a:gd name="connsiteX2" fmla="*/ 3296139 w 7754816"/>
              <a:gd name="connsiteY2" fmla="*/ 2804328 h 4208267"/>
              <a:gd name="connsiteX3" fmla="*/ 4304044 w 7754816"/>
              <a:gd name="connsiteY3" fmla="*/ 3202633 h 4208267"/>
              <a:gd name="connsiteX4" fmla="*/ 5820508 w 7754816"/>
              <a:gd name="connsiteY4" fmla="*/ 2602523 h 4208267"/>
              <a:gd name="connsiteX5" fmla="*/ 6664570 w 7754816"/>
              <a:gd name="connsiteY5" fmla="*/ 2391508 h 4208267"/>
              <a:gd name="connsiteX6" fmla="*/ 7561385 w 7754816"/>
              <a:gd name="connsiteY6" fmla="*/ 3991708 h 4208267"/>
              <a:gd name="connsiteX7" fmla="*/ 7754816 w 7754816"/>
              <a:gd name="connsiteY7" fmla="*/ 4149970 h 4208267"/>
              <a:gd name="connsiteX0" fmla="*/ 0 w 7754816"/>
              <a:gd name="connsiteY0" fmla="*/ 0 h 4208267"/>
              <a:gd name="connsiteX1" fmla="*/ 1019908 w 7754816"/>
              <a:gd name="connsiteY1" fmla="*/ 2356339 h 4208267"/>
              <a:gd name="connsiteX2" fmla="*/ 3296139 w 7754816"/>
              <a:gd name="connsiteY2" fmla="*/ 2804328 h 4208267"/>
              <a:gd name="connsiteX3" fmla="*/ 4304044 w 7754816"/>
              <a:gd name="connsiteY3" fmla="*/ 3202633 h 4208267"/>
              <a:gd name="connsiteX4" fmla="*/ 5820508 w 7754816"/>
              <a:gd name="connsiteY4" fmla="*/ 2602523 h 4208267"/>
              <a:gd name="connsiteX5" fmla="*/ 6664570 w 7754816"/>
              <a:gd name="connsiteY5" fmla="*/ 2391508 h 4208267"/>
              <a:gd name="connsiteX6" fmla="*/ 7561385 w 7754816"/>
              <a:gd name="connsiteY6" fmla="*/ 3991708 h 4208267"/>
              <a:gd name="connsiteX7" fmla="*/ 7754816 w 7754816"/>
              <a:gd name="connsiteY7" fmla="*/ 4149970 h 4208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54816" h="4208267">
                <a:moveTo>
                  <a:pt x="0" y="0"/>
                </a:moveTo>
                <a:cubicBezTo>
                  <a:pt x="218342" y="948104"/>
                  <a:pt x="470552" y="1888951"/>
                  <a:pt x="1019908" y="2356339"/>
                </a:cubicBezTo>
                <a:cubicBezTo>
                  <a:pt x="1569264" y="2823727"/>
                  <a:pt x="2748783" y="2663279"/>
                  <a:pt x="3296139" y="2804328"/>
                </a:cubicBezTo>
                <a:cubicBezTo>
                  <a:pt x="3843495" y="2945377"/>
                  <a:pt x="3781716" y="3192725"/>
                  <a:pt x="4304044" y="3202633"/>
                </a:cubicBezTo>
                <a:cubicBezTo>
                  <a:pt x="4826372" y="3212541"/>
                  <a:pt x="5427087" y="2737711"/>
                  <a:pt x="5820508" y="2602523"/>
                </a:cubicBezTo>
                <a:cubicBezTo>
                  <a:pt x="6213929" y="2467335"/>
                  <a:pt x="6374424" y="2159977"/>
                  <a:pt x="6664570" y="2391508"/>
                </a:cubicBezTo>
                <a:cubicBezTo>
                  <a:pt x="6954716" y="2623039"/>
                  <a:pt x="7379677" y="3698631"/>
                  <a:pt x="7561385" y="3991708"/>
                </a:cubicBezTo>
                <a:cubicBezTo>
                  <a:pt x="7743093" y="4284785"/>
                  <a:pt x="7748954" y="4217377"/>
                  <a:pt x="7754816" y="4149970"/>
                </a:cubicBezTo>
              </a:path>
            </a:pathLst>
          </a:custGeom>
          <a:noFill/>
          <a:ln w="63500">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9" name="直線單箭頭接點 6"/>
          <p:cNvCxnSpPr/>
          <p:nvPr/>
        </p:nvCxnSpPr>
        <p:spPr>
          <a:xfrm>
            <a:off x="1344057" y="6081957"/>
            <a:ext cx="7103668"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線單箭頭接點 7"/>
          <p:cNvCxnSpPr/>
          <p:nvPr/>
        </p:nvCxnSpPr>
        <p:spPr>
          <a:xfrm flipV="1">
            <a:off x="1344056" y="2983975"/>
            <a:ext cx="0" cy="309798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橢圓 14"/>
          <p:cNvSpPr/>
          <p:nvPr/>
        </p:nvSpPr>
        <p:spPr>
          <a:xfrm>
            <a:off x="5113204" y="5255441"/>
            <a:ext cx="558570" cy="558570"/>
          </a:xfrm>
          <a:prstGeom prst="ellipse">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橢圓 17"/>
          <p:cNvSpPr/>
          <p:nvPr/>
        </p:nvSpPr>
        <p:spPr>
          <a:xfrm>
            <a:off x="1697939" y="2983976"/>
            <a:ext cx="558570" cy="558570"/>
          </a:xfrm>
          <a:prstGeom prst="ellipse">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文字方塊 29"/>
          <p:cNvSpPr txBox="1"/>
          <p:nvPr/>
        </p:nvSpPr>
        <p:spPr>
          <a:xfrm>
            <a:off x="3052926" y="2795474"/>
            <a:ext cx="5610889" cy="744178"/>
          </a:xfrm>
          <a:prstGeom prst="rect">
            <a:avLst/>
          </a:prstGeom>
          <a:noFill/>
        </p:spPr>
        <p:txBody>
          <a:bodyPr wrap="square" rtlCol="0">
            <a:spAutoFit/>
          </a:bodyPr>
          <a:lstStyle/>
          <a:p>
            <a:r>
              <a:rPr lang="en-US" altLang="zh-TW" sz="2118" dirty="0"/>
              <a:t>Movement = Negative of Gradient + Momentum </a:t>
            </a:r>
            <a:endParaRPr lang="zh-TW" altLang="en-US" sz="2118" dirty="0"/>
          </a:p>
        </p:txBody>
      </p:sp>
      <p:cxnSp>
        <p:nvCxnSpPr>
          <p:cNvPr id="15" name="直線單箭頭接點 33"/>
          <p:cNvCxnSpPr/>
          <p:nvPr/>
        </p:nvCxnSpPr>
        <p:spPr>
          <a:xfrm flipV="1">
            <a:off x="2075239" y="6226233"/>
            <a:ext cx="522094" cy="0"/>
          </a:xfrm>
          <a:prstGeom prst="straightConnector1">
            <a:avLst/>
          </a:prstGeom>
          <a:ln w="635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單箭頭接點 34"/>
          <p:cNvCxnSpPr/>
          <p:nvPr/>
        </p:nvCxnSpPr>
        <p:spPr>
          <a:xfrm>
            <a:off x="2075238" y="5943629"/>
            <a:ext cx="546175" cy="0"/>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橢圓 54"/>
          <p:cNvSpPr/>
          <p:nvPr/>
        </p:nvSpPr>
        <p:spPr>
          <a:xfrm>
            <a:off x="6689171" y="4541722"/>
            <a:ext cx="558570" cy="558570"/>
          </a:xfrm>
          <a:prstGeom prst="ellipse">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18" name="直線單箭頭接點 57"/>
          <p:cNvCxnSpPr/>
          <p:nvPr/>
        </p:nvCxnSpPr>
        <p:spPr>
          <a:xfrm flipH="1">
            <a:off x="6538623" y="5926860"/>
            <a:ext cx="405108" cy="0"/>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線單箭頭接點 63"/>
          <p:cNvCxnSpPr/>
          <p:nvPr/>
        </p:nvCxnSpPr>
        <p:spPr>
          <a:xfrm>
            <a:off x="7037286" y="6210882"/>
            <a:ext cx="302389" cy="3704"/>
          </a:xfrm>
          <a:prstGeom prst="straightConnector1">
            <a:avLst/>
          </a:prstGeom>
          <a:ln w="635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0" name="文字方塊 67"/>
          <p:cNvSpPr txBox="1"/>
          <p:nvPr/>
        </p:nvSpPr>
        <p:spPr>
          <a:xfrm>
            <a:off x="4635537" y="6222193"/>
            <a:ext cx="1690328" cy="418256"/>
          </a:xfrm>
          <a:prstGeom prst="rect">
            <a:avLst/>
          </a:prstGeom>
          <a:noFill/>
        </p:spPr>
        <p:txBody>
          <a:bodyPr wrap="square" rtlCol="0">
            <a:spAutoFit/>
          </a:bodyPr>
          <a:lstStyle/>
          <a:p>
            <a:pPr algn="ctr"/>
            <a:r>
              <a:rPr lang="en-US" altLang="zh-TW" sz="2118" dirty="0">
                <a:solidFill>
                  <a:srgbClr val="FF0000"/>
                </a:solidFill>
              </a:rPr>
              <a:t>Gradient = 0</a:t>
            </a:r>
            <a:endParaRPr lang="zh-TW" altLang="en-US" sz="2118" dirty="0">
              <a:solidFill>
                <a:srgbClr val="FF0000"/>
              </a:solidFill>
            </a:endParaRPr>
          </a:p>
        </p:txBody>
      </p:sp>
      <p:sp>
        <p:nvSpPr>
          <p:cNvPr id="21" name="橢圓 36"/>
          <p:cNvSpPr/>
          <p:nvPr/>
        </p:nvSpPr>
        <p:spPr>
          <a:xfrm>
            <a:off x="3244871" y="4753263"/>
            <a:ext cx="558570" cy="558570"/>
          </a:xfrm>
          <a:prstGeom prst="ellipse">
            <a:avLst/>
          </a:prstGeom>
          <a:solidFill>
            <a:schemeClr val="accent3">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2" name="直線單箭頭接點 37"/>
          <p:cNvCxnSpPr/>
          <p:nvPr/>
        </p:nvCxnSpPr>
        <p:spPr>
          <a:xfrm>
            <a:off x="3657107" y="5929259"/>
            <a:ext cx="299850" cy="0"/>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線單箭頭接點 38"/>
          <p:cNvCxnSpPr/>
          <p:nvPr/>
        </p:nvCxnSpPr>
        <p:spPr>
          <a:xfrm flipV="1">
            <a:off x="3956957" y="5926860"/>
            <a:ext cx="748635" cy="13849"/>
          </a:xfrm>
          <a:prstGeom prst="straightConnector1">
            <a:avLst/>
          </a:prstGeom>
          <a:ln w="63500">
            <a:solidFill>
              <a:srgbClr val="00B050"/>
            </a:solidFill>
            <a:prstDash val="sysDot"/>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 name="直線單箭頭接點 39"/>
          <p:cNvCxnSpPr/>
          <p:nvPr/>
        </p:nvCxnSpPr>
        <p:spPr>
          <a:xfrm>
            <a:off x="5503412" y="6239388"/>
            <a:ext cx="685805" cy="0"/>
          </a:xfrm>
          <a:prstGeom prst="straightConnector1">
            <a:avLst/>
          </a:prstGeom>
          <a:ln w="635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接點 42"/>
          <p:cNvCxnSpPr/>
          <p:nvPr/>
        </p:nvCxnSpPr>
        <p:spPr>
          <a:xfrm>
            <a:off x="1960319" y="3502392"/>
            <a:ext cx="0" cy="2681286"/>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26" name="橢圓 45"/>
          <p:cNvSpPr/>
          <p:nvPr/>
        </p:nvSpPr>
        <p:spPr>
          <a:xfrm>
            <a:off x="1884548" y="5991220"/>
            <a:ext cx="190691" cy="19069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橢圓 46"/>
          <p:cNvSpPr/>
          <p:nvPr/>
        </p:nvSpPr>
        <p:spPr>
          <a:xfrm>
            <a:off x="3441779" y="5990925"/>
            <a:ext cx="190691" cy="19069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橢圓 48"/>
          <p:cNvSpPr/>
          <p:nvPr/>
        </p:nvSpPr>
        <p:spPr>
          <a:xfrm>
            <a:off x="5312721" y="6006182"/>
            <a:ext cx="190691" cy="19069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橢圓 49"/>
          <p:cNvSpPr/>
          <p:nvPr/>
        </p:nvSpPr>
        <p:spPr>
          <a:xfrm>
            <a:off x="6889092" y="5974749"/>
            <a:ext cx="190691" cy="19069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30" name="群組 77"/>
          <p:cNvGrpSpPr/>
          <p:nvPr/>
        </p:nvGrpSpPr>
        <p:grpSpPr>
          <a:xfrm>
            <a:off x="3913573" y="3628993"/>
            <a:ext cx="3501605" cy="1214240"/>
            <a:chOff x="4244734" y="2308754"/>
            <a:chExt cx="3968486" cy="1376139"/>
          </a:xfrm>
        </p:grpSpPr>
        <p:cxnSp>
          <p:nvCxnSpPr>
            <p:cNvPr id="31" name="直線單箭頭接點 27"/>
            <p:cNvCxnSpPr/>
            <p:nvPr/>
          </p:nvCxnSpPr>
          <p:spPr>
            <a:xfrm>
              <a:off x="4257783" y="3482737"/>
              <a:ext cx="690196" cy="0"/>
            </a:xfrm>
            <a:prstGeom prst="straightConnector1">
              <a:avLst/>
            </a:prstGeom>
            <a:ln w="635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線單箭頭接點 28"/>
            <p:cNvCxnSpPr/>
            <p:nvPr/>
          </p:nvCxnSpPr>
          <p:spPr>
            <a:xfrm>
              <a:off x="4244734" y="2561247"/>
              <a:ext cx="690196" cy="0"/>
            </a:xfrm>
            <a:prstGeom prst="straightConnector1">
              <a:avLst/>
            </a:prstGeom>
            <a:ln w="635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文字方塊 30"/>
            <p:cNvSpPr txBox="1"/>
            <p:nvPr/>
          </p:nvSpPr>
          <p:spPr>
            <a:xfrm>
              <a:off x="4947979" y="2308754"/>
              <a:ext cx="3265241" cy="474024"/>
            </a:xfrm>
            <a:prstGeom prst="rect">
              <a:avLst/>
            </a:prstGeom>
            <a:noFill/>
          </p:spPr>
          <p:txBody>
            <a:bodyPr wrap="square" rtlCol="0">
              <a:spAutoFit/>
            </a:bodyPr>
            <a:lstStyle/>
            <a:p>
              <a:r>
                <a:rPr lang="en-US" altLang="zh-TW" sz="2118" dirty="0"/>
                <a:t>Negative of Gradient</a:t>
              </a:r>
              <a:endParaRPr lang="zh-TW" altLang="en-US" sz="2118" dirty="0"/>
            </a:p>
          </p:txBody>
        </p:sp>
        <p:cxnSp>
          <p:nvCxnSpPr>
            <p:cNvPr id="34" name="直線單箭頭接點 31"/>
            <p:cNvCxnSpPr/>
            <p:nvPr/>
          </p:nvCxnSpPr>
          <p:spPr>
            <a:xfrm>
              <a:off x="4257783" y="3038871"/>
              <a:ext cx="690196" cy="0"/>
            </a:xfrm>
            <a:prstGeom prst="straightConnector1">
              <a:avLst/>
            </a:prstGeom>
            <a:ln w="63500">
              <a:solidFill>
                <a:srgbClr val="00B050"/>
              </a:solidFill>
              <a:prstDash val="sysDot"/>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5" name="文字方塊 32"/>
            <p:cNvSpPr txBox="1"/>
            <p:nvPr/>
          </p:nvSpPr>
          <p:spPr>
            <a:xfrm>
              <a:off x="4955188" y="2754441"/>
              <a:ext cx="2561545" cy="474024"/>
            </a:xfrm>
            <a:prstGeom prst="rect">
              <a:avLst/>
            </a:prstGeom>
            <a:noFill/>
          </p:spPr>
          <p:txBody>
            <a:bodyPr wrap="square" rtlCol="0">
              <a:spAutoFit/>
            </a:bodyPr>
            <a:lstStyle/>
            <a:p>
              <a:r>
                <a:rPr lang="en-US" altLang="zh-TW" sz="2118" dirty="0"/>
                <a:t>Momentum</a:t>
              </a:r>
              <a:endParaRPr lang="zh-TW" altLang="en-US" sz="2118" dirty="0"/>
            </a:p>
          </p:txBody>
        </p:sp>
        <p:sp>
          <p:nvSpPr>
            <p:cNvPr id="36" name="文字方塊 53"/>
            <p:cNvSpPr txBox="1"/>
            <p:nvPr/>
          </p:nvSpPr>
          <p:spPr>
            <a:xfrm>
              <a:off x="4947979" y="3210869"/>
              <a:ext cx="2561545" cy="474024"/>
            </a:xfrm>
            <a:prstGeom prst="rect">
              <a:avLst/>
            </a:prstGeom>
            <a:noFill/>
          </p:spPr>
          <p:txBody>
            <a:bodyPr wrap="square" rtlCol="0">
              <a:spAutoFit/>
            </a:bodyPr>
            <a:lstStyle/>
            <a:p>
              <a:r>
                <a:rPr lang="en-US" altLang="zh-TW" sz="2118" dirty="0"/>
                <a:t>Real Movement</a:t>
              </a:r>
              <a:endParaRPr lang="zh-TW" altLang="en-US" sz="2118" dirty="0"/>
            </a:p>
          </p:txBody>
        </p:sp>
      </p:grpSp>
      <p:cxnSp>
        <p:nvCxnSpPr>
          <p:cNvPr id="37" name="直線單箭頭接點 61"/>
          <p:cNvCxnSpPr/>
          <p:nvPr/>
        </p:nvCxnSpPr>
        <p:spPr>
          <a:xfrm>
            <a:off x="5503412" y="5967872"/>
            <a:ext cx="685805" cy="0"/>
          </a:xfrm>
          <a:prstGeom prst="straightConnector1">
            <a:avLst/>
          </a:prstGeom>
          <a:ln w="63500">
            <a:solidFill>
              <a:srgbClr val="00B050"/>
            </a:solidFill>
            <a:prstDash val="sysDot"/>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8" name="直線單箭頭接點 66"/>
          <p:cNvCxnSpPr/>
          <p:nvPr/>
        </p:nvCxnSpPr>
        <p:spPr>
          <a:xfrm>
            <a:off x="7016047" y="5924291"/>
            <a:ext cx="575668" cy="9881"/>
          </a:xfrm>
          <a:prstGeom prst="straightConnector1">
            <a:avLst/>
          </a:prstGeom>
          <a:ln w="63500">
            <a:solidFill>
              <a:srgbClr val="00B050"/>
            </a:solidFill>
            <a:prstDash val="sysDot"/>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9" name="直線單箭頭接點 68"/>
          <p:cNvCxnSpPr/>
          <p:nvPr/>
        </p:nvCxnSpPr>
        <p:spPr>
          <a:xfrm>
            <a:off x="3684244" y="6230420"/>
            <a:ext cx="1021348" cy="0"/>
          </a:xfrm>
          <a:prstGeom prst="straightConnector1">
            <a:avLst/>
          </a:prstGeom>
          <a:ln w="63500">
            <a:solidFill>
              <a:srgbClr val="0070C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0" name="文字方塊 9"/>
              <p:cNvSpPr txBox="1"/>
              <p:nvPr/>
            </p:nvSpPr>
            <p:spPr>
              <a:xfrm>
                <a:off x="359319" y="2600614"/>
                <a:ext cx="1378833" cy="418256"/>
              </a:xfrm>
              <a:prstGeom prst="rect">
                <a:avLst/>
              </a:prstGeom>
              <a:noFill/>
            </p:spPr>
            <p:txBody>
              <a:bodyPr wrap="square" rtlCol="0">
                <a:spAutoFit/>
              </a:bodyPr>
              <a:lstStyle/>
              <a:p>
                <a:pPr algn="ctr"/>
                <a:r>
                  <a:rPr lang="en-US" altLang="zh-TW" sz="2118" dirty="0"/>
                  <a:t>cost</a:t>
                </a:r>
                <a:r>
                  <a:rPr lang="en-US" altLang="zh-TW" sz="2118" dirty="0">
                    <a:ea typeface="Cambria Math" panose="02040503050406030204" pitchFamily="18" charset="0"/>
                  </a:rPr>
                  <a:t> </a:t>
                </a:r>
                <a14:m>
                  <m:oMath xmlns:m="http://schemas.openxmlformats.org/officeDocument/2006/math">
                    <m:r>
                      <a:rPr lang="en-US" altLang="zh-TW" sz="2118" i="1">
                        <a:latin typeface="Cambria Math" panose="02040503050406030204" pitchFamily="18" charset="0"/>
                        <a:ea typeface="Cambria Math" panose="02040503050406030204" pitchFamily="18" charset="0"/>
                      </a:rPr>
                      <m:t>ℒ</m:t>
                    </m:r>
                    <m:d>
                      <m:dPr>
                        <m:ctrlPr>
                          <a:rPr lang="en-US" altLang="zh-TW" sz="2118" i="1">
                            <a:latin typeface="Cambria Math" panose="02040503050406030204" pitchFamily="18" charset="0"/>
                          </a:rPr>
                        </m:ctrlPr>
                      </m:dPr>
                      <m:e>
                        <m:r>
                          <a:rPr lang="zh-TW" altLang="en-US" sz="2118" i="1">
                            <a:latin typeface="Cambria Math" panose="02040503050406030204" pitchFamily="18" charset="0"/>
                          </a:rPr>
                          <m:t>𝜃</m:t>
                        </m:r>
                      </m:e>
                    </m:d>
                  </m:oMath>
                </a14:m>
                <a:endParaRPr lang="zh-TW" altLang="en-US" sz="2118" dirty="0"/>
              </a:p>
            </p:txBody>
          </p:sp>
        </mc:Choice>
        <mc:Fallback xmlns="">
          <p:sp>
            <p:nvSpPr>
              <p:cNvPr id="40" name="文字方塊 9"/>
              <p:cNvSpPr txBox="1">
                <a:spLocks noRot="1" noChangeAspect="1" noMove="1" noResize="1" noEditPoints="1" noAdjustHandles="1" noChangeArrowheads="1" noChangeShapeType="1" noTextEdit="1"/>
              </p:cNvSpPr>
              <p:nvPr/>
            </p:nvSpPr>
            <p:spPr>
              <a:xfrm>
                <a:off x="254828" y="2947362"/>
                <a:ext cx="1562677" cy="461665"/>
              </a:xfrm>
              <a:prstGeom prst="rect">
                <a:avLst/>
              </a:prstGeom>
              <a:blipFill>
                <a:blip r:embed="rId2"/>
                <a:stretch>
                  <a:fillRect l="-391" t="-10526" b="-289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文字方塊 9"/>
              <p:cNvSpPr txBox="1"/>
              <p:nvPr/>
            </p:nvSpPr>
            <p:spPr>
              <a:xfrm>
                <a:off x="8314504" y="5789587"/>
                <a:ext cx="647703" cy="418256"/>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zh-TW" altLang="en-US" sz="2118" i="1">
                          <a:latin typeface="Cambria Math" panose="02040503050406030204" pitchFamily="18" charset="0"/>
                        </a:rPr>
                        <m:t>𝜃</m:t>
                      </m:r>
                    </m:oMath>
                  </m:oMathPara>
                </a14:m>
                <a:endParaRPr lang="zh-TW" altLang="en-US" sz="2118" dirty="0"/>
              </a:p>
            </p:txBody>
          </p:sp>
        </mc:Choice>
        <mc:Fallback xmlns="">
          <p:sp>
            <p:nvSpPr>
              <p:cNvPr id="41" name="文字方塊 9"/>
              <p:cNvSpPr txBox="1">
                <a:spLocks noRot="1" noChangeAspect="1" noMove="1" noResize="1" noEditPoints="1" noAdjustHandles="1" noChangeArrowheads="1" noChangeShapeType="1" noTextEdit="1"/>
              </p:cNvSpPr>
              <p:nvPr/>
            </p:nvSpPr>
            <p:spPr>
              <a:xfrm>
                <a:off x="9270704" y="6561532"/>
                <a:ext cx="734063" cy="461665"/>
              </a:xfrm>
              <a:prstGeom prst="rect">
                <a:avLst/>
              </a:prstGeom>
              <a:blipFill>
                <a:blip r:embed="rId3"/>
                <a:stretch>
                  <a:fillRect/>
                </a:stretch>
              </a:blipFill>
            </p:spPr>
            <p:txBody>
              <a:bodyPr/>
              <a:lstStyle/>
              <a:p>
                <a:r>
                  <a:rPr lang="en-US">
                    <a:noFill/>
                  </a:rPr>
                  <a:t> </a:t>
                </a:r>
              </a:p>
            </p:txBody>
          </p:sp>
        </mc:Fallback>
      </mc:AlternateContent>
      <p:sp>
        <p:nvSpPr>
          <p:cNvPr id="42" name="TextBox 41">
            <a:extLst>
              <a:ext uri="{FF2B5EF4-FFF2-40B4-BE49-F238E27FC236}">
                <a16:creationId xmlns:a16="http://schemas.microsoft.com/office/drawing/2014/main" id="{255E30D0-33FB-401B-96C0-284048D88915}"/>
              </a:ext>
            </a:extLst>
          </p:cNvPr>
          <p:cNvSpPr txBox="1"/>
          <p:nvPr/>
        </p:nvSpPr>
        <p:spPr>
          <a:xfrm>
            <a:off x="1522250" y="6640746"/>
            <a:ext cx="6099501" cy="228076"/>
          </a:xfrm>
          <a:prstGeom prst="rect">
            <a:avLst/>
          </a:prstGeom>
          <a:noFill/>
        </p:spPr>
        <p:txBody>
          <a:bodyPr wrap="square" rtlCol="0">
            <a:spAutoFit/>
          </a:bodyPr>
          <a:lstStyle/>
          <a:p>
            <a:pPr algn="ctr"/>
            <a:r>
              <a:rPr lang="en-US" sz="882" dirty="0"/>
              <a:t>Slide credit: Hung-</a:t>
            </a:r>
            <a:r>
              <a:rPr lang="en-US" sz="882" dirty="0" err="1"/>
              <a:t>yi</a:t>
            </a:r>
            <a:r>
              <a:rPr lang="en-US" sz="882" dirty="0"/>
              <a:t> Lee – Deep Learning Tutorial</a:t>
            </a:r>
          </a:p>
        </p:txBody>
      </p:sp>
    </p:spTree>
    <p:extLst>
      <p:ext uri="{BB962C8B-B14F-4D97-AF65-F5344CB8AC3E}">
        <p14:creationId xmlns:p14="http://schemas.microsoft.com/office/powerpoint/2010/main" val="4215890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9"/>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5"/>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7"/>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8"/>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38"/>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7" grpId="0" animBg="1"/>
      <p:bldP spid="20" grpId="0"/>
      <p:bldP spid="21" grpId="0" animBg="1"/>
      <p:bldP spid="26" grpId="0" animBg="1"/>
      <p:bldP spid="27" grpId="0" animBg="1"/>
      <p:bldP spid="28" grpId="0" animBg="1"/>
      <p:bldP spid="29"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Solved problem SGD  and SGD + momentum</a:t>
            </a:r>
            <a:endParaRPr lang="en-IN" dirty="0"/>
          </a:p>
        </p:txBody>
      </p:sp>
      <p:sp>
        <p:nvSpPr>
          <p:cNvPr id="6" name="Content Placeholder 5"/>
          <p:cNvSpPr>
            <a:spLocks noGrp="1"/>
          </p:cNvSpPr>
          <p:nvPr>
            <p:ph idx="10"/>
          </p:nvPr>
        </p:nvSpPr>
        <p:spPr>
          <a:xfrm>
            <a:off x="228600" y="1371600"/>
            <a:ext cx="8610600" cy="4525963"/>
          </a:xfrm>
        </p:spPr>
        <p:txBody>
          <a:bodyPr/>
          <a:lstStyle/>
          <a:p>
            <a:r>
              <a:rPr lang="en-US" dirty="0"/>
              <a:t>Consider the following loss function, with initial value of W</a:t>
            </a:r>
            <a:r>
              <a:rPr lang="en-US" baseline="30000" dirty="0"/>
              <a:t>{0} </a:t>
            </a:r>
            <a:r>
              <a:rPr lang="en-US" dirty="0"/>
              <a:t>= -2.8,  and learning rate </a:t>
            </a:r>
            <a:r>
              <a:rPr lang="en-US" dirty="0">
                <a:sym typeface="Symbol" panose="05050102010706020507" pitchFamily="18" charset="2"/>
              </a:rPr>
              <a:t> = 0.05 and =0.7. Use SGD and SGD +momentum to find the updated value of W</a:t>
            </a:r>
            <a:r>
              <a:rPr lang="en-US" baseline="30000" dirty="0">
                <a:sym typeface="Symbol" panose="05050102010706020507" pitchFamily="18" charset="2"/>
              </a:rPr>
              <a:t>{1} </a:t>
            </a:r>
            <a:r>
              <a:rPr lang="en-US" dirty="0">
                <a:sym typeface="Symbol" panose="05050102010706020507" pitchFamily="18" charset="2"/>
              </a:rPr>
              <a:t>after the first iteration.</a:t>
            </a:r>
          </a:p>
          <a:p>
            <a:endParaRPr lang="en-US" dirty="0">
              <a:sym typeface="Symbol" panose="05050102010706020507" pitchFamily="18" charset="2"/>
            </a:endParaRPr>
          </a:p>
          <a:p>
            <a:endParaRPr lang="en-US" dirty="0">
              <a:sym typeface="Symbol" panose="05050102010706020507" pitchFamily="18" charset="2"/>
            </a:endParaRPr>
          </a:p>
          <a:p>
            <a:endParaRPr lang="en-US" dirty="0">
              <a:sym typeface="Symbol" panose="05050102010706020507" pitchFamily="18" charset="2"/>
            </a:endParaRPr>
          </a:p>
          <a:p>
            <a:endParaRPr lang="en-US" dirty="0">
              <a:sym typeface="Symbol" panose="05050102010706020507" pitchFamily="18" charset="2"/>
            </a:endParaRPr>
          </a:p>
          <a:p>
            <a:r>
              <a:rPr lang="en-US" dirty="0">
                <a:sym typeface="Symbol" panose="05050102010706020507" pitchFamily="18" charset="2"/>
              </a:rPr>
              <a:t>Answer</a:t>
            </a:r>
          </a:p>
          <a:p>
            <a:r>
              <a:rPr lang="en-US" dirty="0">
                <a:sym typeface="Symbol" panose="05050102010706020507" pitchFamily="18" charset="2"/>
              </a:rPr>
              <a:t>                     SGD                                                   </a:t>
            </a:r>
            <a:r>
              <a:rPr lang="en-US" dirty="0" err="1">
                <a:sym typeface="Symbol" panose="05050102010706020507" pitchFamily="18" charset="2"/>
              </a:rPr>
              <a:t>SGD</a:t>
            </a:r>
            <a:r>
              <a:rPr lang="en-US" dirty="0">
                <a:sym typeface="Symbol" panose="05050102010706020507" pitchFamily="18" charset="2"/>
              </a:rPr>
              <a:t> +momentum </a:t>
            </a:r>
            <a:endParaRPr lang="en-IN" dirty="0"/>
          </a:p>
        </p:txBody>
      </p:sp>
      <mc:AlternateContent xmlns:mc="http://schemas.openxmlformats.org/markup-compatibility/2006" xmlns:a14="http://schemas.microsoft.com/office/drawing/2010/main">
        <mc:Choice Requires="a14">
          <p:sp>
            <p:nvSpPr>
              <p:cNvPr id="8" name="TextBox 7"/>
              <p:cNvSpPr txBox="1"/>
              <p:nvPr/>
            </p:nvSpPr>
            <p:spPr>
              <a:xfrm>
                <a:off x="685800" y="2895600"/>
                <a:ext cx="643990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𝐿</m:t>
                      </m:r>
                      <m:r>
                        <a:rPr lang="en-US" sz="2400" b="0" i="1" smtClean="0">
                          <a:latin typeface="Cambria Math" panose="02040503050406030204" pitchFamily="18" charset="0"/>
                        </a:rPr>
                        <m:t>(</m:t>
                      </m:r>
                      <m:r>
                        <a:rPr lang="en-US" sz="2400" b="0" i="1" smtClean="0">
                          <a:latin typeface="Cambria Math" panose="02040503050406030204" pitchFamily="18" charset="0"/>
                        </a:rPr>
                        <m:t>𝑤</m:t>
                      </m:r>
                      <m:r>
                        <a:rPr lang="en-US" sz="2400" b="0" i="1" smtClean="0">
                          <a:latin typeface="Cambria Math" panose="02040503050406030204" pitchFamily="18" charset="0"/>
                        </a:rPr>
                        <m:t>)=</m:t>
                      </m:r>
                      <m:r>
                        <a:rPr lang="en-US" sz="2400" b="0" i="0" smtClean="0">
                          <a:latin typeface="Cambria Math" panose="02040503050406030204" pitchFamily="18" charset="0"/>
                        </a:rPr>
                        <m:t>0.3∗</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𝑤</m:t>
                          </m:r>
                        </m:e>
                        <m:sup>
                          <m:r>
                            <a:rPr lang="en-US" sz="2400" b="0" i="1" smtClean="0">
                              <a:latin typeface="Cambria Math" panose="02040503050406030204" pitchFamily="18" charset="0"/>
                            </a:rPr>
                            <m:t>4</m:t>
                          </m:r>
                        </m:sup>
                      </m:sSup>
                      <m:r>
                        <a:rPr lang="en-US" sz="2400" b="0" i="1" smtClean="0">
                          <a:latin typeface="Cambria Math" panose="02040503050406030204" pitchFamily="18" charset="0"/>
                        </a:rPr>
                        <m:t> −0.1∗ </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𝑤</m:t>
                          </m:r>
                        </m:e>
                        <m:sup>
                          <m:r>
                            <a:rPr lang="en-US" sz="2400" b="0" i="1" smtClean="0">
                              <a:latin typeface="Cambria Math" panose="02040503050406030204" pitchFamily="18" charset="0"/>
                            </a:rPr>
                            <m:t>3</m:t>
                          </m:r>
                        </m:sup>
                      </m:sSup>
                      <m:r>
                        <a:rPr lang="en-US" sz="2400" b="0" i="1" smtClean="0">
                          <a:latin typeface="Cambria Math" panose="02040503050406030204" pitchFamily="18" charset="0"/>
                        </a:rPr>
                        <m:t> −2∗</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𝑤</m:t>
                          </m:r>
                        </m:e>
                        <m:sup>
                          <m:r>
                            <a:rPr lang="en-US" sz="2400" b="0" i="1" smtClean="0">
                              <a:latin typeface="Cambria Math" panose="02040503050406030204" pitchFamily="18" charset="0"/>
                            </a:rPr>
                            <m:t>2</m:t>
                          </m:r>
                        </m:sup>
                      </m:sSup>
                      <m:r>
                        <a:rPr lang="en-US" sz="2400" b="0" i="1" smtClean="0">
                          <a:latin typeface="Cambria Math" panose="02040503050406030204" pitchFamily="18" charset="0"/>
                        </a:rPr>
                        <m:t> −0.8∗</m:t>
                      </m:r>
                      <m:r>
                        <a:rPr lang="en-US" sz="2400" b="0" i="1" smtClean="0">
                          <a:latin typeface="Cambria Math" panose="02040503050406030204" pitchFamily="18" charset="0"/>
                        </a:rPr>
                        <m:t>𝑤</m:t>
                      </m:r>
                    </m:oMath>
                  </m:oMathPara>
                </a14:m>
                <a:endParaRPr lang="en-IN" sz="2400" dirty="0"/>
              </a:p>
            </p:txBody>
          </p:sp>
        </mc:Choice>
        <mc:Fallback xmlns="">
          <p:sp>
            <p:nvSpPr>
              <p:cNvPr id="8" name="TextBox 7"/>
              <p:cNvSpPr txBox="1">
                <a:spLocks noRot="1" noChangeAspect="1" noMove="1" noResize="1" noEditPoints="1" noAdjustHandles="1" noChangeArrowheads="1" noChangeShapeType="1" noTextEdit="1"/>
              </p:cNvSpPr>
              <p:nvPr/>
            </p:nvSpPr>
            <p:spPr>
              <a:xfrm>
                <a:off x="685800" y="2895600"/>
                <a:ext cx="6439904" cy="369332"/>
              </a:xfrm>
              <a:prstGeom prst="rect">
                <a:avLst/>
              </a:prstGeom>
              <a:blipFill rotWithShape="0">
                <a:blip r:embed="rId2"/>
                <a:stretch>
                  <a:fillRect l="-568" b="-36066"/>
                </a:stretch>
              </a:blipFill>
            </p:spPr>
            <p:txBody>
              <a:bodyPr/>
              <a:lstStyle/>
              <a:p>
                <a:r>
                  <a:rPr lang="en-IN">
                    <a:noFill/>
                  </a:rPr>
                  <a:t> </a:t>
                </a:r>
              </a:p>
            </p:txBody>
          </p:sp>
        </mc:Fallback>
      </mc:AlternateContent>
      <p:graphicFrame>
        <p:nvGraphicFramePr>
          <p:cNvPr id="2" name="Table 1"/>
          <p:cNvGraphicFramePr>
            <a:graphicFrameLocks noGrp="1"/>
          </p:cNvGraphicFramePr>
          <p:nvPr>
            <p:extLst>
              <p:ext uri="{D42A27DB-BD31-4B8C-83A1-F6EECF244321}">
                <p14:modId xmlns:p14="http://schemas.microsoft.com/office/powerpoint/2010/main" val="1757330299"/>
              </p:ext>
            </p:extLst>
          </p:nvPr>
        </p:nvGraphicFramePr>
        <p:xfrm>
          <a:off x="228600" y="4706318"/>
          <a:ext cx="3615747" cy="1214106"/>
        </p:xfrm>
        <a:graphic>
          <a:graphicData uri="http://schemas.openxmlformats.org/drawingml/2006/table">
            <a:tbl>
              <a:tblPr firstRow="1" bandRow="1">
                <a:tableStyleId>{5C22544A-7EE6-4342-B048-85BDC9FD1C3A}</a:tableStyleId>
              </a:tblPr>
              <a:tblGrid>
                <a:gridCol w="1205249">
                  <a:extLst>
                    <a:ext uri="{9D8B030D-6E8A-4147-A177-3AD203B41FA5}">
                      <a16:colId xmlns:a16="http://schemas.microsoft.com/office/drawing/2014/main" val="20000"/>
                    </a:ext>
                  </a:extLst>
                </a:gridCol>
                <a:gridCol w="1205249">
                  <a:extLst>
                    <a:ext uri="{9D8B030D-6E8A-4147-A177-3AD203B41FA5}">
                      <a16:colId xmlns:a16="http://schemas.microsoft.com/office/drawing/2014/main" val="20001"/>
                    </a:ext>
                  </a:extLst>
                </a:gridCol>
                <a:gridCol w="1205249">
                  <a:extLst>
                    <a:ext uri="{9D8B030D-6E8A-4147-A177-3AD203B41FA5}">
                      <a16:colId xmlns:a16="http://schemas.microsoft.com/office/drawing/2014/main" val="20002"/>
                    </a:ext>
                  </a:extLst>
                </a:gridCol>
              </a:tblGrid>
              <a:tr h="444538">
                <a:tc>
                  <a:txBody>
                    <a:bodyPr/>
                    <a:lstStyle/>
                    <a:p>
                      <a:pPr algn="ctr"/>
                      <a:r>
                        <a:rPr lang="en-IN" dirty="0">
                          <a:effectLst/>
                        </a:rPr>
                        <a:t>Iteration</a:t>
                      </a:r>
                    </a:p>
                  </a:txBody>
                  <a:tcPr anchor="ctr"/>
                </a:tc>
                <a:tc>
                  <a:txBody>
                    <a:bodyPr/>
                    <a:lstStyle/>
                    <a:p>
                      <a:pPr algn="ctr"/>
                      <a:r>
                        <a:rPr lang="en-IN">
                          <a:effectLst/>
                        </a:rPr>
                        <a:t>𝑔𝑖</a:t>
                      </a:r>
                    </a:p>
                  </a:txBody>
                  <a:tcPr anchor="ctr"/>
                </a:tc>
                <a:tc>
                  <a:txBody>
                    <a:bodyPr/>
                    <a:lstStyle/>
                    <a:p>
                      <a:pPr algn="ctr"/>
                      <a:r>
                        <a:rPr lang="en-IN" dirty="0">
                          <a:effectLst/>
                        </a:rPr>
                        <a:t>w𝑖</a:t>
                      </a:r>
                    </a:p>
                  </a:txBody>
                  <a:tcPr anchor="ctr"/>
                </a:tc>
                <a:extLst>
                  <a:ext uri="{0D108BD9-81ED-4DB2-BD59-A6C34878D82A}">
                    <a16:rowId xmlns:a16="http://schemas.microsoft.com/office/drawing/2014/main" val="10000"/>
                  </a:ext>
                </a:extLst>
              </a:tr>
              <a:tr h="384784">
                <a:tc>
                  <a:txBody>
                    <a:bodyPr/>
                    <a:lstStyle/>
                    <a:p>
                      <a:r>
                        <a:rPr lang="en-IN">
                          <a:effectLst/>
                        </a:rPr>
                        <a:t>1</a:t>
                      </a:r>
                    </a:p>
                  </a:txBody>
                  <a:tcPr anchor="ctr"/>
                </a:tc>
                <a:tc>
                  <a:txBody>
                    <a:bodyPr/>
                    <a:lstStyle/>
                    <a:p>
                      <a:r>
                        <a:rPr lang="en-IN" dirty="0">
                          <a:effectLst/>
                        </a:rPr>
                        <a:t>-18.2943</a:t>
                      </a:r>
                    </a:p>
                  </a:txBody>
                  <a:tcPr anchor="ctr"/>
                </a:tc>
                <a:tc>
                  <a:txBody>
                    <a:bodyPr/>
                    <a:lstStyle/>
                    <a:p>
                      <a:r>
                        <a:rPr lang="en-IN" dirty="0">
                          <a:effectLst/>
                        </a:rPr>
                        <a:t>-1.88527</a:t>
                      </a:r>
                    </a:p>
                  </a:txBody>
                  <a:tcPr anchor="ctr"/>
                </a:tc>
                <a:extLst>
                  <a:ext uri="{0D108BD9-81ED-4DB2-BD59-A6C34878D82A}">
                    <a16:rowId xmlns:a16="http://schemas.microsoft.com/office/drawing/2014/main" val="10001"/>
                  </a:ext>
                </a:extLst>
              </a:tr>
              <a:tr h="384784">
                <a:tc>
                  <a:txBody>
                    <a:bodyPr/>
                    <a:lstStyle/>
                    <a:p>
                      <a:r>
                        <a:rPr lang="en-IN">
                          <a:effectLst/>
                        </a:rPr>
                        <a:t>2</a:t>
                      </a:r>
                    </a:p>
                  </a:txBody>
                  <a:tcPr anchor="ctr"/>
                </a:tc>
                <a:tc>
                  <a:txBody>
                    <a:bodyPr/>
                    <a:lstStyle/>
                    <a:p>
                      <a:r>
                        <a:rPr lang="en-IN" dirty="0">
                          <a:effectLst/>
                        </a:rPr>
                        <a:t>-2.36614</a:t>
                      </a:r>
                    </a:p>
                  </a:txBody>
                  <a:tcPr anchor="ctr"/>
                </a:tc>
                <a:tc>
                  <a:txBody>
                    <a:bodyPr/>
                    <a:lstStyle/>
                    <a:p>
                      <a:r>
                        <a:rPr lang="en-IN" dirty="0">
                          <a:effectLst/>
                        </a:rPr>
                        <a:t>-1.76697</a:t>
                      </a:r>
                    </a:p>
                  </a:txBody>
                  <a:tcPr anchor="ctr"/>
                </a:tc>
                <a:extLst>
                  <a:ext uri="{0D108BD9-81ED-4DB2-BD59-A6C34878D82A}">
                    <a16:rowId xmlns:a16="http://schemas.microsoft.com/office/drawing/2014/main" val="10002"/>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1871565015"/>
              </p:ext>
            </p:extLst>
          </p:nvPr>
        </p:nvGraphicFramePr>
        <p:xfrm>
          <a:off x="4528213" y="4685846"/>
          <a:ext cx="4457700" cy="1154352"/>
        </p:xfrm>
        <a:graphic>
          <a:graphicData uri="http://schemas.openxmlformats.org/drawingml/2006/table">
            <a:tbl>
              <a:tblPr firstRow="1" bandRow="1">
                <a:tableStyleId>{5C22544A-7EE6-4342-B048-85BDC9FD1C3A}</a:tableStyleId>
              </a:tblPr>
              <a:tblGrid>
                <a:gridCol w="1114425">
                  <a:extLst>
                    <a:ext uri="{9D8B030D-6E8A-4147-A177-3AD203B41FA5}">
                      <a16:colId xmlns:a16="http://schemas.microsoft.com/office/drawing/2014/main" val="20000"/>
                    </a:ext>
                  </a:extLst>
                </a:gridCol>
                <a:gridCol w="1114425">
                  <a:extLst>
                    <a:ext uri="{9D8B030D-6E8A-4147-A177-3AD203B41FA5}">
                      <a16:colId xmlns:a16="http://schemas.microsoft.com/office/drawing/2014/main" val="20001"/>
                    </a:ext>
                  </a:extLst>
                </a:gridCol>
                <a:gridCol w="1114425">
                  <a:extLst>
                    <a:ext uri="{9D8B030D-6E8A-4147-A177-3AD203B41FA5}">
                      <a16:colId xmlns:a16="http://schemas.microsoft.com/office/drawing/2014/main" val="20002"/>
                    </a:ext>
                  </a:extLst>
                </a:gridCol>
                <a:gridCol w="1114425">
                  <a:extLst>
                    <a:ext uri="{9D8B030D-6E8A-4147-A177-3AD203B41FA5}">
                      <a16:colId xmlns:a16="http://schemas.microsoft.com/office/drawing/2014/main" val="20003"/>
                    </a:ext>
                  </a:extLst>
                </a:gridCol>
              </a:tblGrid>
              <a:tr h="384784">
                <a:tc>
                  <a:txBody>
                    <a:bodyPr/>
                    <a:lstStyle/>
                    <a:p>
                      <a:pPr algn="ctr"/>
                      <a:r>
                        <a:rPr lang="en-IN" dirty="0">
                          <a:effectLst/>
                        </a:rPr>
                        <a:t>Iteration</a:t>
                      </a:r>
                    </a:p>
                  </a:txBody>
                  <a:tcPr anchor="ctr"/>
                </a:tc>
                <a:tc>
                  <a:txBody>
                    <a:bodyPr/>
                    <a:lstStyle/>
                    <a:p>
                      <a:pPr algn="ctr"/>
                      <a:r>
                        <a:rPr lang="en-IN">
                          <a:effectLst/>
                        </a:rPr>
                        <a:t>𝑔𝑖</a:t>
                      </a:r>
                    </a:p>
                  </a:txBody>
                  <a:tcPr anchor="ctr"/>
                </a:tc>
                <a:tc>
                  <a:txBody>
                    <a:bodyPr/>
                    <a:lstStyle/>
                    <a:p>
                      <a:pPr algn="ctr"/>
                      <a:r>
                        <a:rPr lang="en-IN" dirty="0">
                          <a:effectLst/>
                        </a:rPr>
                        <a:t>v𝑖</a:t>
                      </a:r>
                    </a:p>
                  </a:txBody>
                  <a:tcPr anchor="ctr"/>
                </a:tc>
                <a:tc>
                  <a:txBody>
                    <a:bodyPr/>
                    <a:lstStyle/>
                    <a:p>
                      <a:pPr algn="ctr"/>
                      <a:r>
                        <a:rPr lang="en-IN" dirty="0">
                          <a:effectLst/>
                        </a:rPr>
                        <a:t>w𝑖</a:t>
                      </a:r>
                    </a:p>
                  </a:txBody>
                  <a:tcPr anchor="ctr"/>
                </a:tc>
                <a:extLst>
                  <a:ext uri="{0D108BD9-81ED-4DB2-BD59-A6C34878D82A}">
                    <a16:rowId xmlns:a16="http://schemas.microsoft.com/office/drawing/2014/main" val="10000"/>
                  </a:ext>
                </a:extLst>
              </a:tr>
              <a:tr h="384784">
                <a:tc>
                  <a:txBody>
                    <a:bodyPr/>
                    <a:lstStyle/>
                    <a:p>
                      <a:r>
                        <a:rPr lang="en-IN">
                          <a:effectLst/>
                        </a:rPr>
                        <a:t>1</a:t>
                      </a:r>
                    </a:p>
                  </a:txBody>
                  <a:tcPr anchor="ctr"/>
                </a:tc>
                <a:tc>
                  <a:txBody>
                    <a:bodyPr/>
                    <a:lstStyle/>
                    <a:p>
                      <a:r>
                        <a:rPr lang="en-IN" dirty="0">
                          <a:effectLst/>
                        </a:rPr>
                        <a:t>-18.294</a:t>
                      </a:r>
                    </a:p>
                  </a:txBody>
                  <a:tcPr anchor="ctr"/>
                </a:tc>
                <a:tc>
                  <a:txBody>
                    <a:bodyPr/>
                    <a:lstStyle/>
                    <a:p>
                      <a:r>
                        <a:rPr lang="en-IN">
                          <a:effectLst/>
                        </a:rPr>
                        <a:t>0</a:t>
                      </a:r>
                    </a:p>
                  </a:txBody>
                  <a:tcPr anchor="ctr"/>
                </a:tc>
                <a:tc>
                  <a:txBody>
                    <a:bodyPr/>
                    <a:lstStyle/>
                    <a:p>
                      <a:r>
                        <a:rPr lang="en-IN" dirty="0">
                          <a:effectLst/>
                        </a:rPr>
                        <a:t>-1.88527</a:t>
                      </a:r>
                    </a:p>
                  </a:txBody>
                  <a:tcPr anchor="ctr"/>
                </a:tc>
                <a:extLst>
                  <a:ext uri="{0D108BD9-81ED-4DB2-BD59-A6C34878D82A}">
                    <a16:rowId xmlns:a16="http://schemas.microsoft.com/office/drawing/2014/main" val="10001"/>
                  </a:ext>
                </a:extLst>
              </a:tr>
              <a:tr h="384784">
                <a:tc>
                  <a:txBody>
                    <a:bodyPr/>
                    <a:lstStyle/>
                    <a:p>
                      <a:r>
                        <a:rPr lang="en-IN">
                          <a:effectLst/>
                        </a:rPr>
                        <a:t>2</a:t>
                      </a:r>
                    </a:p>
                  </a:txBody>
                  <a:tcPr anchor="ctr"/>
                </a:tc>
                <a:tc>
                  <a:txBody>
                    <a:bodyPr/>
                    <a:lstStyle/>
                    <a:p>
                      <a:r>
                        <a:rPr lang="en-IN" dirty="0">
                          <a:effectLst/>
                        </a:rPr>
                        <a:t>-2.3661</a:t>
                      </a:r>
                    </a:p>
                  </a:txBody>
                  <a:tcPr anchor="ctr"/>
                </a:tc>
                <a:tc>
                  <a:txBody>
                    <a:bodyPr/>
                    <a:lstStyle/>
                    <a:p>
                      <a:r>
                        <a:rPr lang="en-IN" dirty="0">
                          <a:effectLst/>
                        </a:rPr>
                        <a:t>-15.172</a:t>
                      </a:r>
                    </a:p>
                  </a:txBody>
                  <a:tcPr anchor="ctr"/>
                </a:tc>
                <a:tc>
                  <a:txBody>
                    <a:bodyPr/>
                    <a:lstStyle/>
                    <a:p>
                      <a:r>
                        <a:rPr lang="en-IN" dirty="0">
                          <a:effectLst/>
                        </a:rPr>
                        <a:t>-1.126</a:t>
                      </a:r>
                    </a:p>
                  </a:txBody>
                  <a:tcPr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651186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722070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a:xfrm>
            <a:off x="0" y="1219200"/>
            <a:ext cx="8937171" cy="4525963"/>
          </a:xfrm>
        </p:spPr>
        <p:txBody>
          <a:bodyPr>
            <a:normAutofit/>
          </a:bodyPr>
          <a:lstStyle/>
          <a:p>
            <a:pPr marL="355600" indent="-342900">
              <a:lnSpc>
                <a:spcPct val="100000"/>
              </a:lnSpc>
              <a:spcBef>
                <a:spcPts val="459"/>
              </a:spcBef>
              <a:buFont typeface="Arial" panose="020B0604020202020204" pitchFamily="34" charset="0"/>
              <a:buChar char="•"/>
              <a:tabLst>
                <a:tab pos="394335" algn="l"/>
                <a:tab pos="1494790" algn="l"/>
              </a:tabLst>
            </a:pPr>
            <a:r>
              <a:rPr lang="en-US" sz="2000" dirty="0">
                <a:cs typeface="Arial MT"/>
              </a:rPr>
              <a:t>In GD same LR for all parameters and iteration.</a:t>
            </a:r>
          </a:p>
          <a:p>
            <a:pPr marL="355600" indent="-342900">
              <a:lnSpc>
                <a:spcPct val="100000"/>
              </a:lnSpc>
              <a:spcBef>
                <a:spcPts val="459"/>
              </a:spcBef>
              <a:buFont typeface="Arial" panose="020B0604020202020204" pitchFamily="34" charset="0"/>
              <a:buChar char="•"/>
              <a:tabLst>
                <a:tab pos="394335" algn="l"/>
                <a:tab pos="1494790" algn="l"/>
              </a:tabLst>
            </a:pPr>
            <a:r>
              <a:rPr lang="en-US" sz="2000" dirty="0">
                <a:cs typeface="Arial MT"/>
              </a:rPr>
              <a:t>What happens to features</a:t>
            </a:r>
            <a:r>
              <a:rPr lang="en-US" sz="2000" spc="-15" dirty="0">
                <a:cs typeface="Arial MT"/>
              </a:rPr>
              <a:t> </a:t>
            </a:r>
            <a:r>
              <a:rPr lang="en-US" sz="2000" dirty="0">
                <a:cs typeface="Arial MT"/>
              </a:rPr>
              <a:t>that</a:t>
            </a:r>
            <a:r>
              <a:rPr lang="en-US" sz="2000" spc="-15" dirty="0">
                <a:cs typeface="Arial MT"/>
              </a:rPr>
              <a:t> </a:t>
            </a:r>
            <a:r>
              <a:rPr lang="en-US" sz="2000" dirty="0">
                <a:cs typeface="Arial MT"/>
              </a:rPr>
              <a:t>occur</a:t>
            </a:r>
            <a:r>
              <a:rPr lang="en-US" sz="2000" spc="-15" dirty="0">
                <a:cs typeface="Arial MT"/>
              </a:rPr>
              <a:t> </a:t>
            </a:r>
            <a:r>
              <a:rPr lang="en-US" sz="2000" dirty="0">
                <a:cs typeface="Arial MT"/>
              </a:rPr>
              <a:t>infrequently</a:t>
            </a:r>
            <a:r>
              <a:rPr lang="en-US" sz="2000" spc="-15" dirty="0">
                <a:cs typeface="Arial MT"/>
              </a:rPr>
              <a:t> </a:t>
            </a:r>
            <a:r>
              <a:rPr lang="en-US" sz="2000" dirty="0">
                <a:cs typeface="Arial MT"/>
              </a:rPr>
              <a:t>(sparse</a:t>
            </a:r>
            <a:r>
              <a:rPr lang="en-US" sz="2000" spc="-10" dirty="0">
                <a:cs typeface="Arial MT"/>
              </a:rPr>
              <a:t> features) </a:t>
            </a:r>
            <a:r>
              <a:rPr lang="en-US" sz="2000" spc="-10" dirty="0" err="1">
                <a:cs typeface="Arial MT"/>
              </a:rPr>
              <a:t>e.g</a:t>
            </a:r>
            <a:r>
              <a:rPr lang="en-US" sz="2000" spc="-10" dirty="0">
                <a:cs typeface="Arial MT"/>
              </a:rPr>
              <a:t> w is sparse, b is not (as x</a:t>
            </a:r>
            <a:r>
              <a:rPr lang="en-US" sz="2000" spc="-10" baseline="-25000" dirty="0">
                <a:cs typeface="Arial MT"/>
              </a:rPr>
              <a:t>0 </a:t>
            </a:r>
            <a:r>
              <a:rPr lang="en-US" sz="2000" spc="-10" dirty="0">
                <a:cs typeface="Arial MT"/>
              </a:rPr>
              <a:t>is always 1) </a:t>
            </a:r>
            <a:r>
              <a:rPr lang="en-US" sz="2000" spc="-10" dirty="0" err="1">
                <a:cs typeface="Arial MT"/>
              </a:rPr>
              <a:t>e.g</a:t>
            </a:r>
            <a:r>
              <a:rPr lang="en-US" sz="2000" spc="-10" dirty="0">
                <a:cs typeface="Arial MT"/>
              </a:rPr>
              <a:t>:</a:t>
            </a:r>
            <a:endParaRPr lang="en-US" sz="2000" spc="-10" baseline="-25000" dirty="0">
              <a:cs typeface="Arial MT"/>
            </a:endParaRPr>
          </a:p>
          <a:p>
            <a:pPr marL="355600" indent="-342900">
              <a:lnSpc>
                <a:spcPct val="100000"/>
              </a:lnSpc>
              <a:spcBef>
                <a:spcPts val="459"/>
              </a:spcBef>
              <a:buFont typeface="Arial" panose="020B0604020202020204" pitchFamily="34" charset="0"/>
              <a:buChar char="•"/>
              <a:tabLst>
                <a:tab pos="394335" algn="l"/>
                <a:tab pos="1494790" algn="l"/>
              </a:tabLst>
            </a:pPr>
            <a:endParaRPr lang="en-US" sz="2000" spc="-10" dirty="0">
              <a:cs typeface="Arial MT"/>
            </a:endParaRPr>
          </a:p>
          <a:p>
            <a:pPr marL="355600" indent="-342900">
              <a:lnSpc>
                <a:spcPct val="100000"/>
              </a:lnSpc>
              <a:spcBef>
                <a:spcPts val="459"/>
              </a:spcBef>
              <a:buFont typeface="Arial" panose="020B0604020202020204" pitchFamily="34" charset="0"/>
              <a:buChar char="•"/>
              <a:tabLst>
                <a:tab pos="394335" algn="l"/>
                <a:tab pos="1494790" algn="l"/>
              </a:tabLst>
            </a:pPr>
            <a:endParaRPr lang="en-US" sz="2000" spc="-10" dirty="0">
              <a:cs typeface="Arial MT"/>
            </a:endParaRPr>
          </a:p>
          <a:p>
            <a:pPr marL="342900" indent="-342900">
              <a:buFont typeface="Arial" panose="020B0604020202020204" pitchFamily="34" charset="0"/>
              <a:buChar char="•"/>
            </a:pPr>
            <a:r>
              <a:rPr lang="en-US" sz="2000" kern="1200" dirty="0">
                <a:solidFill>
                  <a:schemeClr val="tx1"/>
                </a:solidFill>
              </a:rPr>
              <a:t>Parameters associated with infrequent features only receive meaningful updates whenever these features occur</a:t>
            </a:r>
          </a:p>
        </p:txBody>
      </p:sp>
      <p:sp>
        <p:nvSpPr>
          <p:cNvPr id="3" name="Title 2"/>
          <p:cNvSpPr>
            <a:spLocks noGrp="1"/>
          </p:cNvSpPr>
          <p:nvPr>
            <p:ph type="title"/>
          </p:nvPr>
        </p:nvSpPr>
        <p:spPr/>
        <p:txBody>
          <a:bodyPr/>
          <a:lstStyle/>
          <a:p>
            <a:r>
              <a:rPr lang="en-IN" dirty="0" err="1"/>
              <a:t>Adagrad</a:t>
            </a:r>
            <a:r>
              <a:rPr lang="en-IN" dirty="0"/>
              <a:t> - motivation</a:t>
            </a:r>
          </a:p>
        </p:txBody>
      </p:sp>
      <p:pic>
        <p:nvPicPr>
          <p:cNvPr id="5" name="Picture 4"/>
          <p:cNvPicPr>
            <a:picLocks noChangeAspect="1"/>
          </p:cNvPicPr>
          <p:nvPr/>
        </p:nvPicPr>
        <p:blipFill>
          <a:blip r:embed="rId3"/>
          <a:stretch>
            <a:fillRect/>
          </a:stretch>
        </p:blipFill>
        <p:spPr>
          <a:xfrm>
            <a:off x="1302451" y="2292513"/>
            <a:ext cx="6195526" cy="609600"/>
          </a:xfrm>
          <a:prstGeom prst="rect">
            <a:avLst/>
          </a:prstGeom>
        </p:spPr>
      </p:pic>
      <p:grpSp>
        <p:nvGrpSpPr>
          <p:cNvPr id="23" name="Group 22"/>
          <p:cNvGrpSpPr/>
          <p:nvPr/>
        </p:nvGrpSpPr>
        <p:grpSpPr>
          <a:xfrm>
            <a:off x="960568" y="3733800"/>
            <a:ext cx="7399962" cy="2329695"/>
            <a:chOff x="1334074" y="3843241"/>
            <a:chExt cx="7399962" cy="2329695"/>
          </a:xfrm>
        </p:grpSpPr>
        <p:pic>
          <p:nvPicPr>
            <p:cNvPr id="8" name="Picture 7"/>
            <p:cNvPicPr>
              <a:picLocks noChangeAspect="1"/>
            </p:cNvPicPr>
            <p:nvPr/>
          </p:nvPicPr>
          <p:blipFill>
            <a:blip r:embed="rId4"/>
            <a:stretch>
              <a:fillRect/>
            </a:stretch>
          </p:blipFill>
          <p:spPr>
            <a:xfrm>
              <a:off x="1905000" y="4343400"/>
              <a:ext cx="6829036" cy="1206543"/>
            </a:xfrm>
            <a:prstGeom prst="rect">
              <a:avLst/>
            </a:prstGeom>
          </p:spPr>
        </p:pic>
        <p:cxnSp>
          <p:nvCxnSpPr>
            <p:cNvPr id="12" name="Straight Arrow Connector 11"/>
            <p:cNvCxnSpPr/>
            <p:nvPr/>
          </p:nvCxnSpPr>
          <p:spPr>
            <a:xfrm flipV="1">
              <a:off x="1701865" y="3909334"/>
              <a:ext cx="0" cy="183583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 name="Straight Arrow Connector 17"/>
            <p:cNvCxnSpPr/>
            <p:nvPr/>
          </p:nvCxnSpPr>
          <p:spPr>
            <a:xfrm flipV="1">
              <a:off x="1701865" y="5668963"/>
              <a:ext cx="6687642" cy="9761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1" name="TextBox 20"/>
            <p:cNvSpPr txBox="1"/>
            <p:nvPr/>
          </p:nvSpPr>
          <p:spPr>
            <a:xfrm>
              <a:off x="1334074" y="3843241"/>
              <a:ext cx="312906" cy="369332"/>
            </a:xfrm>
            <a:prstGeom prst="rect">
              <a:avLst/>
            </a:prstGeom>
            <a:noFill/>
          </p:spPr>
          <p:txBody>
            <a:bodyPr wrap="none" rtlCol="0">
              <a:spAutoFit/>
            </a:bodyPr>
            <a:lstStyle/>
            <a:p>
              <a:r>
                <a:rPr lang="en-US" dirty="0"/>
                <a:t>b</a:t>
              </a:r>
              <a:endParaRPr lang="en-IN" dirty="0"/>
            </a:p>
          </p:txBody>
        </p:sp>
        <p:sp>
          <p:nvSpPr>
            <p:cNvPr id="22" name="TextBox 21"/>
            <p:cNvSpPr txBox="1"/>
            <p:nvPr/>
          </p:nvSpPr>
          <p:spPr>
            <a:xfrm>
              <a:off x="8071762" y="5803604"/>
              <a:ext cx="402674" cy="369332"/>
            </a:xfrm>
            <a:prstGeom prst="rect">
              <a:avLst/>
            </a:prstGeom>
            <a:noFill/>
          </p:spPr>
          <p:txBody>
            <a:bodyPr wrap="none" rtlCol="0">
              <a:spAutoFit/>
            </a:bodyPr>
            <a:lstStyle/>
            <a:p>
              <a:r>
                <a:rPr lang="en-US" dirty="0"/>
                <a:t>W</a:t>
              </a:r>
              <a:endParaRPr lang="en-IN" dirty="0"/>
            </a:p>
          </p:txBody>
        </p:sp>
      </p:grpSp>
    </p:spTree>
    <p:extLst>
      <p:ext uri="{BB962C8B-B14F-4D97-AF65-F5344CB8AC3E}">
        <p14:creationId xmlns:p14="http://schemas.microsoft.com/office/powerpoint/2010/main" val="5213447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a:xfrm>
            <a:off x="76200" y="1482485"/>
            <a:ext cx="9067800" cy="5146915"/>
          </a:xfrm>
        </p:spPr>
        <p:txBody>
          <a:bodyPr>
            <a:noAutofit/>
          </a:bodyPr>
          <a:lstStyle/>
          <a:p>
            <a:pPr marL="342900" indent="-342900">
              <a:buFont typeface="Arial" panose="020B0604020202020204" pitchFamily="34" charset="0"/>
              <a:buChar char="•"/>
            </a:pPr>
            <a:r>
              <a:rPr lang="en-US" sz="2000" dirty="0"/>
              <a:t>Decay the learning rate for parameters in proportion to their update history</a:t>
            </a:r>
            <a:endParaRPr lang="en-US" sz="2000" dirty="0">
              <a:cs typeface="Arial MT"/>
            </a:endParaRPr>
          </a:p>
          <a:p>
            <a:pPr marL="342900" indent="-342900">
              <a:buFont typeface="Arial" panose="020B0604020202020204" pitchFamily="34" charset="0"/>
              <a:buChar char="•"/>
            </a:pPr>
            <a:r>
              <a:rPr lang="en-US" sz="2000" dirty="0"/>
              <a:t>An individual learning rate per parameter(feature)</a:t>
            </a:r>
          </a:p>
          <a:p>
            <a:pPr marL="342900" indent="-342900">
              <a:buFont typeface="Arial" panose="020B0604020202020204" pitchFamily="34" charset="0"/>
              <a:buChar char="•"/>
            </a:pPr>
            <a:r>
              <a:rPr lang="en-US" sz="2000" dirty="0"/>
              <a:t>Accumulating past squared gradients in </a:t>
            </a:r>
            <a:r>
              <a:rPr lang="en-US" sz="2000" b="1" dirty="0" err="1"/>
              <a:t>s</a:t>
            </a:r>
            <a:r>
              <a:rPr lang="en-US" sz="2000" b="1" baseline="-25000" dirty="0" err="1"/>
              <a:t>t</a:t>
            </a:r>
            <a:endParaRPr lang="en-US" sz="2000" b="1" baseline="-25000" dirty="0"/>
          </a:p>
          <a:p>
            <a:pPr marL="342900" indent="-342900">
              <a:buFont typeface="Arial" panose="020B0604020202020204" pitchFamily="34" charset="0"/>
              <a:buChar char="•"/>
            </a:pPr>
            <a:endParaRPr lang="en-US" sz="2000" b="1" baseline="-25000" dirty="0"/>
          </a:p>
          <a:p>
            <a:pPr marL="342900" indent="-342900">
              <a:buFont typeface="Arial" panose="020B0604020202020204" pitchFamily="34" charset="0"/>
              <a:buChar char="•"/>
            </a:pPr>
            <a:endParaRPr lang="en-US" sz="2000" b="1" baseline="-25000" dirty="0"/>
          </a:p>
          <a:p>
            <a:pPr marL="342900" indent="-342900">
              <a:buFont typeface="Arial" panose="020B0604020202020204" pitchFamily="34" charset="0"/>
              <a:buChar char="•"/>
            </a:pPr>
            <a:endParaRPr lang="en-US" sz="2000" b="1" baseline="-25000" dirty="0"/>
          </a:p>
          <a:p>
            <a:endParaRPr lang="en-US" sz="2000" b="1" baseline="-25000" dirty="0"/>
          </a:p>
          <a:p>
            <a:pPr marL="342900" indent="-342900">
              <a:buFont typeface="Arial" panose="020B0604020202020204" pitchFamily="34" charset="0"/>
              <a:buChar char="•"/>
            </a:pPr>
            <a:endParaRPr lang="en-US" sz="2000" b="1" baseline="-25000" dirty="0"/>
          </a:p>
          <a:p>
            <a:pPr marL="342900" indent="-342900">
              <a:buFont typeface="Arial" panose="020B0604020202020204" pitchFamily="34" charset="0"/>
              <a:buChar char="•"/>
            </a:pPr>
            <a:endParaRPr lang="en-US" sz="2000" b="1" baseline="-25000" dirty="0"/>
          </a:p>
          <a:p>
            <a:pPr marL="342900" indent="-342900">
              <a:buFont typeface="Arial" panose="020B0604020202020204" pitchFamily="34" charset="0"/>
              <a:buChar char="•"/>
            </a:pPr>
            <a:endParaRPr lang="en-US" sz="2000" b="1" baseline="-25000" dirty="0"/>
          </a:p>
          <a:p>
            <a:pPr marL="342900" indent="-342900">
              <a:buFont typeface="Arial" panose="020B0604020202020204" pitchFamily="34" charset="0"/>
              <a:buChar char="•"/>
            </a:pPr>
            <a:endParaRPr lang="en-US" sz="2000" b="1" baseline="-25000" dirty="0"/>
          </a:p>
          <a:p>
            <a:pPr marL="342900" indent="-342900">
              <a:buFont typeface="Arial" panose="020B0604020202020204" pitchFamily="34" charset="0"/>
              <a:buChar char="•"/>
            </a:pPr>
            <a:endParaRPr lang="en-US" sz="2000" dirty="0">
              <a:solidFill>
                <a:srgbClr val="15171A"/>
              </a:solidFill>
            </a:endParaRPr>
          </a:p>
          <a:p>
            <a:pPr marL="342900" indent="-342900">
              <a:buFont typeface="Arial" panose="020B0604020202020204" pitchFamily="34" charset="0"/>
              <a:buChar char="•"/>
            </a:pPr>
            <a:r>
              <a:rPr lang="en-US" sz="2000" dirty="0">
                <a:solidFill>
                  <a:srgbClr val="15171A"/>
                </a:solidFill>
              </a:rPr>
              <a:t>ϵ is a smoothing term that avoids division by zero</a:t>
            </a:r>
          </a:p>
          <a:p>
            <a:pPr marL="342900" indent="-342900" algn="just">
              <a:buFont typeface="Arial" panose="020B0604020202020204" pitchFamily="34" charset="0"/>
              <a:buChar char="•"/>
            </a:pPr>
            <a:r>
              <a:rPr lang="en-IN" sz="2000" dirty="0">
                <a:cs typeface="Arial MT"/>
              </a:rPr>
              <a:t>Initialize</a:t>
            </a:r>
            <a:r>
              <a:rPr lang="en-IN" sz="2000" spc="-50" dirty="0">
                <a:cs typeface="Arial MT"/>
              </a:rPr>
              <a:t> </a:t>
            </a:r>
            <a:r>
              <a:rPr lang="en-IN" sz="2000" dirty="0">
                <a:cs typeface="Arial MT"/>
              </a:rPr>
              <a:t>s</a:t>
            </a:r>
            <a:r>
              <a:rPr lang="en-IN" sz="2000" baseline="-25000" dirty="0">
                <a:cs typeface="Arial MT"/>
              </a:rPr>
              <a:t>0</a:t>
            </a:r>
            <a:r>
              <a:rPr lang="en-IN" sz="2000" spc="-45" dirty="0">
                <a:cs typeface="Arial MT"/>
              </a:rPr>
              <a:t> </a:t>
            </a:r>
            <a:r>
              <a:rPr lang="en-IN" sz="2000" dirty="0">
                <a:cs typeface="Arial MT"/>
              </a:rPr>
              <a:t>=</a:t>
            </a:r>
            <a:r>
              <a:rPr lang="en-IN" sz="2000" spc="-45" dirty="0">
                <a:cs typeface="Arial MT"/>
              </a:rPr>
              <a:t> </a:t>
            </a:r>
            <a:r>
              <a:rPr lang="en-IN" sz="2000" spc="-25" dirty="0">
                <a:cs typeface="Arial MT"/>
              </a:rPr>
              <a:t>0</a:t>
            </a:r>
          </a:p>
          <a:p>
            <a:pPr marL="342900" indent="-342900" algn="just">
              <a:buFont typeface="Arial" panose="020B0604020202020204" pitchFamily="34" charset="0"/>
              <a:buChar char="•"/>
            </a:pPr>
            <a:r>
              <a:rPr lang="en-US" sz="2000" dirty="0" err="1"/>
              <a:t>Adagrad's</a:t>
            </a:r>
            <a:r>
              <a:rPr lang="en-US" sz="2000" dirty="0"/>
              <a:t> main benefits is that it eliminates the need to manually tune the learning rate.</a:t>
            </a:r>
          </a:p>
          <a:p>
            <a:pPr marL="342900" indent="-342900" algn="just">
              <a:buFont typeface="Arial" panose="020B0604020202020204" pitchFamily="34" charset="0"/>
              <a:buChar char="•"/>
            </a:pPr>
            <a:r>
              <a:rPr lang="en-US" sz="2000" dirty="0"/>
              <a:t> Most implementations use a default value of 0.01 and leave it at that</a:t>
            </a:r>
          </a:p>
          <a:p>
            <a:pPr marL="342900" indent="-342900" algn="just">
              <a:buFont typeface="Arial" panose="020B0604020202020204" pitchFamily="34" charset="0"/>
              <a:buChar char="•"/>
            </a:pPr>
            <a:r>
              <a:rPr lang="en-US" sz="2000" dirty="0"/>
              <a:t>Application: In natural language processing and image recognition applications</a:t>
            </a:r>
            <a:endParaRPr lang="en-IN" sz="2000" dirty="0"/>
          </a:p>
          <a:p>
            <a:pPr marL="342900" indent="-342900" algn="just">
              <a:buFont typeface="Arial" panose="020B0604020202020204" pitchFamily="34" charset="0"/>
              <a:buChar char="•"/>
            </a:pPr>
            <a:endParaRPr lang="en-IN" sz="2000" dirty="0">
              <a:cs typeface="Arial MT"/>
            </a:endParaRPr>
          </a:p>
          <a:p>
            <a:pPr marL="342900" indent="-342900">
              <a:buFont typeface="Arial" panose="020B0604020202020204" pitchFamily="34" charset="0"/>
              <a:buChar char="•"/>
            </a:pPr>
            <a:endParaRPr lang="en-US" sz="2000" baseline="-25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IN" sz="2000" dirty="0"/>
          </a:p>
        </p:txBody>
      </p:sp>
      <p:sp>
        <p:nvSpPr>
          <p:cNvPr id="3" name="Title 2"/>
          <p:cNvSpPr>
            <a:spLocks noGrp="1"/>
          </p:cNvSpPr>
          <p:nvPr>
            <p:ph type="title"/>
          </p:nvPr>
        </p:nvSpPr>
        <p:spPr/>
        <p:txBody>
          <a:bodyPr/>
          <a:lstStyle/>
          <a:p>
            <a:r>
              <a:rPr lang="en-IN" dirty="0" err="1"/>
              <a:t>Adagrad</a:t>
            </a:r>
            <a:endParaRPr lang="en-IN" dirty="0"/>
          </a:p>
        </p:txBody>
      </p:sp>
      <p:pic>
        <p:nvPicPr>
          <p:cNvPr id="4" name="Picture 3"/>
          <p:cNvPicPr>
            <a:picLocks noChangeAspect="1"/>
          </p:cNvPicPr>
          <p:nvPr/>
        </p:nvPicPr>
        <p:blipFill>
          <a:blip r:embed="rId2"/>
          <a:stretch>
            <a:fillRect/>
          </a:stretch>
        </p:blipFill>
        <p:spPr>
          <a:xfrm>
            <a:off x="1329844" y="2514600"/>
            <a:ext cx="3464365" cy="1821638"/>
          </a:xfrm>
          <a:prstGeom prst="rect">
            <a:avLst/>
          </a:prstGeom>
        </p:spPr>
      </p:pic>
      <p:sp>
        <p:nvSpPr>
          <p:cNvPr id="7" name="Rectangle 6"/>
          <p:cNvSpPr/>
          <p:nvPr/>
        </p:nvSpPr>
        <p:spPr>
          <a:xfrm>
            <a:off x="4849579" y="2971800"/>
            <a:ext cx="2396547" cy="584775"/>
          </a:xfrm>
          <a:prstGeom prst="rect">
            <a:avLst/>
          </a:prstGeom>
        </p:spPr>
        <p:txBody>
          <a:bodyPr wrap="square">
            <a:spAutoFit/>
          </a:bodyPr>
          <a:lstStyle/>
          <a:p>
            <a:r>
              <a:rPr lang="en-US" sz="2400" b="1" baseline="-25000" dirty="0">
                <a:solidFill>
                  <a:srgbClr val="C00000"/>
                </a:solidFill>
                <a:latin typeface="Cambria" panose="02040503050406030204" pitchFamily="18" charset="0"/>
                <a:ea typeface="Cambria" panose="02040503050406030204" pitchFamily="18" charset="0"/>
              </a:rPr>
              <a:t>Accumulate the history</a:t>
            </a:r>
          </a:p>
          <a:p>
            <a:endParaRPr lang="en-US" sz="2400" b="1" baseline="-25000" dirty="0">
              <a:solidFill>
                <a:srgbClr val="C00000"/>
              </a:solidFill>
              <a:latin typeface="Cambria" panose="02040503050406030204" pitchFamily="18" charset="0"/>
              <a:ea typeface="Cambria" panose="02040503050406030204" pitchFamily="18" charset="0"/>
            </a:endParaRPr>
          </a:p>
        </p:txBody>
      </p:sp>
      <p:cxnSp>
        <p:nvCxnSpPr>
          <p:cNvPr id="9" name="Straight Arrow Connector 8"/>
          <p:cNvCxnSpPr/>
          <p:nvPr/>
        </p:nvCxnSpPr>
        <p:spPr>
          <a:xfrm flipH="1">
            <a:off x="3577404" y="3200400"/>
            <a:ext cx="1142800" cy="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99848942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err="1"/>
              <a:t>Adagrad</a:t>
            </a:r>
            <a:endParaRPr lang="en-IN" dirty="0"/>
          </a:p>
        </p:txBody>
      </p:sp>
      <p:sp>
        <p:nvSpPr>
          <p:cNvPr id="7" name="Content Placeholder 6"/>
          <p:cNvSpPr>
            <a:spLocks noGrp="1"/>
          </p:cNvSpPr>
          <p:nvPr>
            <p:ph idx="10"/>
          </p:nvPr>
        </p:nvSpPr>
        <p:spPr>
          <a:xfrm>
            <a:off x="228600" y="1545224"/>
            <a:ext cx="3810000" cy="4525963"/>
          </a:xfrm>
        </p:spPr>
        <p:txBody>
          <a:bodyPr/>
          <a:lstStyle/>
          <a:p>
            <a:pPr marL="342900" indent="-342900">
              <a:buFont typeface="Arial" panose="020B0604020202020204" pitchFamily="34" charset="0"/>
              <a:buChar char="•"/>
            </a:pPr>
            <a:r>
              <a:rPr lang="en-US" sz="2000" dirty="0"/>
              <a:t>It adapts the learning rate to the parameters</a:t>
            </a:r>
          </a:p>
          <a:p>
            <a:pPr marL="800100" lvl="1" indent="-342900">
              <a:buFont typeface="Arial" panose="020B0604020202020204" pitchFamily="34" charset="0"/>
              <a:buChar char="•"/>
            </a:pPr>
            <a:r>
              <a:rPr lang="en-US" sz="2000" dirty="0"/>
              <a:t>smaller updates (i.e. low learning rates) for parameters associated with frequently occurring features</a:t>
            </a:r>
          </a:p>
          <a:p>
            <a:pPr marL="800100" lvl="1" indent="-342900">
              <a:buFont typeface="Arial" panose="020B0604020202020204" pitchFamily="34" charset="0"/>
              <a:buChar char="•"/>
            </a:pPr>
            <a:r>
              <a:rPr lang="en-US" sz="2000" dirty="0"/>
              <a:t>larger updates (i.e. high learning rates) for parameters associated with infrequent features</a:t>
            </a:r>
          </a:p>
          <a:p>
            <a:endParaRPr lang="en-IN" dirty="0"/>
          </a:p>
        </p:txBody>
      </p:sp>
      <p:pic>
        <p:nvPicPr>
          <p:cNvPr id="8" name="Picture 7"/>
          <p:cNvPicPr>
            <a:picLocks noChangeAspect="1"/>
          </p:cNvPicPr>
          <p:nvPr/>
        </p:nvPicPr>
        <p:blipFill>
          <a:blip r:embed="rId2"/>
          <a:stretch>
            <a:fillRect/>
          </a:stretch>
        </p:blipFill>
        <p:spPr>
          <a:xfrm>
            <a:off x="4488543" y="1545224"/>
            <a:ext cx="4622800" cy="4073946"/>
          </a:xfrm>
          <a:prstGeom prst="rect">
            <a:avLst/>
          </a:prstGeom>
        </p:spPr>
      </p:pic>
    </p:spTree>
    <p:extLst>
      <p:ext uri="{BB962C8B-B14F-4D97-AF65-F5344CB8AC3E}">
        <p14:creationId xmlns:p14="http://schemas.microsoft.com/office/powerpoint/2010/main" val="33780748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p:txBody>
          <a:bodyPr>
            <a:normAutofit/>
          </a:bodyPr>
          <a:lstStyle/>
          <a:p>
            <a:pPr marL="342900" indent="-342900">
              <a:buFont typeface="Arial" panose="020B0604020202020204" pitchFamily="34" charset="0"/>
              <a:buChar char="•"/>
            </a:pPr>
            <a:r>
              <a:rPr lang="en-US" dirty="0"/>
              <a:t>AdaGrad decays the learning rate very aggressively (as the denominator grows). </a:t>
            </a:r>
          </a:p>
          <a:p>
            <a:pPr marL="342900" indent="-342900">
              <a:buFont typeface="Arial" panose="020B0604020202020204" pitchFamily="34" charset="0"/>
              <a:buChar char="•"/>
            </a:pPr>
            <a:r>
              <a:rPr lang="en-US" dirty="0"/>
              <a:t>As a result, after a while, the frequent parameters will start receiving very small updates because of the decayed learning rate. </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As a result, the algorithm may experience sluggish convergence or even premature stalling</a:t>
            </a:r>
          </a:p>
          <a:p>
            <a:pPr marL="342900" indent="-342900">
              <a:buFont typeface="Arial" panose="020B0604020202020204" pitchFamily="34" charset="0"/>
              <a:buChar char="•"/>
            </a:pPr>
            <a:r>
              <a:rPr lang="en-US" dirty="0"/>
              <a:t>To avoid this why not decay the denominator and prevent its rapid growth</a:t>
            </a:r>
          </a:p>
        </p:txBody>
      </p:sp>
      <p:sp>
        <p:nvSpPr>
          <p:cNvPr id="3" name="Title 2"/>
          <p:cNvSpPr>
            <a:spLocks noGrp="1"/>
          </p:cNvSpPr>
          <p:nvPr>
            <p:ph type="title"/>
          </p:nvPr>
        </p:nvSpPr>
        <p:spPr/>
        <p:txBody>
          <a:bodyPr/>
          <a:lstStyle/>
          <a:p>
            <a:r>
              <a:rPr lang="en-US" dirty="0"/>
              <a:t>Drawback of </a:t>
            </a:r>
            <a:r>
              <a:rPr lang="en-US" dirty="0" err="1"/>
              <a:t>AdaGrad</a:t>
            </a:r>
            <a:endParaRPr lang="en-IN" dirty="0"/>
          </a:p>
        </p:txBody>
      </p:sp>
      <p:pic>
        <p:nvPicPr>
          <p:cNvPr id="5" name="Picture 4"/>
          <p:cNvPicPr>
            <a:picLocks noChangeAspect="1"/>
          </p:cNvPicPr>
          <p:nvPr/>
        </p:nvPicPr>
        <p:blipFill>
          <a:blip r:embed="rId2"/>
          <a:stretch>
            <a:fillRect/>
          </a:stretch>
        </p:blipFill>
        <p:spPr>
          <a:xfrm>
            <a:off x="2971800" y="3276600"/>
            <a:ext cx="2105025" cy="819150"/>
          </a:xfrm>
          <a:prstGeom prst="rect">
            <a:avLst/>
          </a:prstGeom>
          <a:ln>
            <a:solidFill>
              <a:srgbClr val="C00000"/>
            </a:solidFill>
          </a:ln>
        </p:spPr>
      </p:pic>
    </p:spTree>
    <p:extLst>
      <p:ext uri="{BB962C8B-B14F-4D97-AF65-F5344CB8AC3E}">
        <p14:creationId xmlns:p14="http://schemas.microsoft.com/office/powerpoint/2010/main" val="15822610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0"/>
              </p:nvPr>
            </p:nvSpPr>
            <p:spPr>
              <a:xfrm>
                <a:off x="72788" y="1295400"/>
                <a:ext cx="9071212" cy="5410200"/>
              </a:xfrm>
            </p:spPr>
            <p:txBody>
              <a:bodyPr>
                <a:noAutofit/>
              </a:bodyPr>
              <a:lstStyle/>
              <a:p>
                <a:pPr marL="342900" indent="-342900">
                  <a:buFont typeface="Arial" panose="020B0604020202020204" pitchFamily="34" charset="0"/>
                  <a:buChar char="•"/>
                </a:pPr>
                <a:r>
                  <a:rPr lang="en-US" sz="2000" dirty="0"/>
                  <a:t>The issue : </a:t>
                </a:r>
              </a:p>
              <a:p>
                <a:pPr marL="800100" lvl="1" indent="-342900">
                  <a:buFont typeface="Arial" panose="020B0604020202020204" pitchFamily="34" charset="0"/>
                  <a:buChar char="•"/>
                </a:pPr>
                <a:r>
                  <a:rPr lang="en-US" sz="2000" dirty="0"/>
                  <a:t> </a:t>
                </a:r>
                <a:r>
                  <a:rPr lang="en-US" sz="2000" dirty="0" err="1"/>
                  <a:t>Adagrad</a:t>
                </a:r>
                <a:r>
                  <a:rPr lang="en-US" sz="2000" dirty="0"/>
                  <a:t> accumulates the squares of the gradient </a:t>
                </a:r>
                <a:r>
                  <a:rPr lang="en-US" sz="2000" b="1" dirty="0" err="1"/>
                  <a:t>g</a:t>
                </a:r>
                <a:r>
                  <a:rPr lang="en-US" sz="2000" b="1" baseline="-25000" dirty="0" err="1"/>
                  <a:t>t</a:t>
                </a:r>
                <a:r>
                  <a:rPr lang="en-US" sz="2000" i="1" dirty="0"/>
                  <a:t> </a:t>
                </a:r>
                <a:r>
                  <a:rPr lang="en-US" sz="2000" dirty="0"/>
                  <a:t>into a state vector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𝑠</m:t>
                        </m:r>
                      </m:e>
                      <m:sub>
                        <m:r>
                          <a:rPr lang="en-US" sz="2000" i="1">
                            <a:latin typeface="Cambria Math" panose="02040503050406030204" pitchFamily="18" charset="0"/>
                          </a:rPr>
                          <m:t>𝑡</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𝑠</m:t>
                        </m:r>
                      </m:e>
                      <m:sub>
                        <m:r>
                          <a:rPr lang="en-US" sz="2000" i="1">
                            <a:latin typeface="Cambria Math" panose="02040503050406030204" pitchFamily="18" charset="0"/>
                          </a:rPr>
                          <m:t>𝑡</m:t>
                        </m:r>
                        <m:r>
                          <a:rPr lang="en-US" sz="2000" i="1">
                            <a:latin typeface="Cambria Math" panose="02040503050406030204" pitchFamily="18" charset="0"/>
                          </a:rPr>
                          <m:t>−1</m:t>
                        </m:r>
                      </m:sub>
                    </m:sSub>
                    <m:r>
                      <a:rPr lang="en-US" sz="2000" i="1">
                        <a:latin typeface="Cambria Math" panose="02040503050406030204" pitchFamily="18" charset="0"/>
                      </a:rPr>
                      <m:t>+</m:t>
                    </m:r>
                    <m:sSubSup>
                      <m:sSubSupPr>
                        <m:ctrlPr>
                          <a:rPr lang="en-US" sz="2000" i="1">
                            <a:latin typeface="Cambria Math" panose="02040503050406030204" pitchFamily="18" charset="0"/>
                          </a:rPr>
                        </m:ctrlPr>
                      </m:sSubSupPr>
                      <m:e>
                        <m:r>
                          <a:rPr lang="en-US" sz="2000" i="1">
                            <a:latin typeface="Cambria Math" panose="02040503050406030204" pitchFamily="18" charset="0"/>
                          </a:rPr>
                          <m:t>𝑔</m:t>
                        </m:r>
                      </m:e>
                      <m:sub>
                        <m:r>
                          <a:rPr lang="en-US" sz="2000" i="1">
                            <a:latin typeface="Cambria Math" panose="02040503050406030204" pitchFamily="18" charset="0"/>
                          </a:rPr>
                          <m:t>𝑡</m:t>
                        </m:r>
                      </m:sub>
                      <m:sup>
                        <m:r>
                          <a:rPr lang="en-US" sz="2000" i="1">
                            <a:latin typeface="Cambria Math" panose="02040503050406030204" pitchFamily="18" charset="0"/>
                          </a:rPr>
                          <m:t>2</m:t>
                        </m:r>
                      </m:sup>
                    </m:sSubSup>
                  </m:oMath>
                </a14:m>
                <a:endParaRPr lang="en-IN" sz="2000" dirty="0"/>
              </a:p>
              <a:p>
                <a:pPr marL="800100" lvl="1" indent="-342900">
                  <a:buFont typeface="Arial" panose="020B0604020202020204" pitchFamily="34" charset="0"/>
                  <a:buChar char="•"/>
                </a:pPr>
                <a:r>
                  <a:rPr lang="en-IN" sz="2000" dirty="0"/>
                  <a:t>As a result </a:t>
                </a:r>
                <a:r>
                  <a:rPr lang="en-IN" sz="2000" b="1" dirty="0" err="1"/>
                  <a:t>s</a:t>
                </a:r>
                <a:r>
                  <a:rPr lang="en-IN" sz="2000" b="1" baseline="-25000" dirty="0" err="1"/>
                  <a:t>t</a:t>
                </a:r>
                <a:r>
                  <a:rPr lang="en-IN" sz="2000" b="1" baseline="-25000" dirty="0"/>
                  <a:t> </a:t>
                </a:r>
                <a:r>
                  <a:rPr lang="en-US" sz="2000" dirty="0"/>
                  <a:t>keeps on growing without bound due to the lack of normalization</a:t>
                </a:r>
                <a:endParaRPr lang="en-IN" sz="2000" dirty="0"/>
              </a:p>
              <a:p>
                <a:endParaRPr lang="en-US" sz="2000" dirty="0"/>
              </a:p>
              <a:p>
                <a:endParaRPr lang="en-US" sz="2000" dirty="0"/>
              </a:p>
              <a:p>
                <a:pPr marL="342900" indent="-342900">
                  <a:buFont typeface="Arial" panose="020B0604020202020204" pitchFamily="34" charset="0"/>
                  <a:buChar char="•"/>
                </a:pPr>
                <a:r>
                  <a:rPr lang="en-US" sz="2000" dirty="0"/>
                  <a:t>Use a leaky average in the same way we used in the momentum method </a:t>
                </a:r>
              </a:p>
              <a:p>
                <a:endParaRPr lang="en-US" sz="2000" dirty="0"/>
              </a:p>
              <a:p>
                <a:endParaRPr lang="en-US" sz="2000" dirty="0"/>
              </a:p>
              <a:p>
                <a:endParaRPr lang="en-US" sz="2000" dirty="0"/>
              </a:p>
              <a:p>
                <a:endParaRPr lang="en-US" sz="2000" dirty="0"/>
              </a:p>
              <a:p>
                <a:pPr marL="2781299" lvl="6">
                  <a:spcBef>
                    <a:spcPts val="459"/>
                  </a:spcBef>
                  <a:tabLst>
                    <a:tab pos="419734" algn="l"/>
                  </a:tabLst>
                </a:pPr>
                <a:r>
                  <a:rPr lang="en-US" sz="2000" dirty="0">
                    <a:latin typeface="Cambria" panose="02040503050406030204" pitchFamily="18" charset="0"/>
                    <a:ea typeface="Cambria" panose="02040503050406030204" pitchFamily="18" charset="0"/>
                    <a:cs typeface="Arial MT"/>
                  </a:rPr>
                  <a:t>Parameter</a:t>
                </a:r>
                <a:r>
                  <a:rPr lang="en-US" sz="2000" spc="-25" dirty="0">
                    <a:latin typeface="Cambria" panose="02040503050406030204" pitchFamily="18" charset="0"/>
                    <a:ea typeface="Cambria" panose="02040503050406030204" pitchFamily="18" charset="0"/>
                    <a:cs typeface="Arial MT"/>
                  </a:rPr>
                  <a:t> </a:t>
                </a:r>
                <a:r>
                  <a:rPr lang="en-US" sz="2000" spc="-25" dirty="0">
                    <a:latin typeface="Cambria" panose="02040503050406030204" pitchFamily="18" charset="0"/>
                    <a:ea typeface="Cambria" panose="02040503050406030204" pitchFamily="18" charset="0"/>
                    <a:cs typeface="Arial MT"/>
                    <a:sym typeface="Symbol" panose="05050102010706020507" pitchFamily="18" charset="2"/>
                  </a:rPr>
                  <a:t> </a:t>
                </a:r>
                <a:r>
                  <a:rPr lang="en-US" sz="2000" dirty="0">
                    <a:latin typeface="Cambria" panose="02040503050406030204" pitchFamily="18" charset="0"/>
                    <a:ea typeface="Cambria" panose="02040503050406030204" pitchFamily="18" charset="0"/>
                    <a:cs typeface="Arial MT"/>
                  </a:rPr>
                  <a:t>&gt;</a:t>
                </a:r>
                <a:r>
                  <a:rPr lang="en-US" sz="2000" spc="-10" dirty="0">
                    <a:latin typeface="Cambria" panose="02040503050406030204" pitchFamily="18" charset="0"/>
                    <a:ea typeface="Cambria" panose="02040503050406030204" pitchFamily="18" charset="0"/>
                    <a:cs typeface="Arial MT"/>
                  </a:rPr>
                  <a:t> </a:t>
                </a:r>
                <a:r>
                  <a:rPr lang="en-US" sz="2000" spc="-25" dirty="0">
                    <a:latin typeface="Cambria" panose="02040503050406030204" pitchFamily="18" charset="0"/>
                    <a:ea typeface="Cambria" panose="02040503050406030204" pitchFamily="18" charset="0"/>
                    <a:cs typeface="Arial MT"/>
                  </a:rPr>
                  <a:t>0</a:t>
                </a:r>
              </a:p>
              <a:p>
                <a:pPr marL="2781299" lvl="6">
                  <a:spcBef>
                    <a:spcPts val="459"/>
                  </a:spcBef>
                  <a:tabLst>
                    <a:tab pos="419734" algn="l"/>
                  </a:tabLst>
                </a:pPr>
                <a:r>
                  <a:rPr lang="en-US" sz="2000" dirty="0">
                    <a:latin typeface="Cambria" panose="02040503050406030204" pitchFamily="18" charset="0"/>
                    <a:ea typeface="Cambria" panose="02040503050406030204" pitchFamily="18" charset="0"/>
                  </a:rPr>
                  <a:t>The constant </a:t>
                </a:r>
                <a:r>
                  <a:rPr lang="en-US" sz="2000" i="1" dirty="0">
                    <a:latin typeface="Cambria" panose="02040503050406030204" pitchFamily="18" charset="0"/>
                    <a:ea typeface="Cambria" panose="02040503050406030204" pitchFamily="18" charset="0"/>
                  </a:rPr>
                  <a:t>𝜖 &gt; </a:t>
                </a:r>
                <a:r>
                  <a:rPr lang="en-US" sz="2000" dirty="0">
                    <a:latin typeface="Cambria" panose="02040503050406030204" pitchFamily="18" charset="0"/>
                    <a:ea typeface="Cambria" panose="02040503050406030204" pitchFamily="18" charset="0"/>
                  </a:rPr>
                  <a:t>0 is typically set to 10</a:t>
                </a:r>
                <a:r>
                  <a:rPr lang="en-US" sz="2000" baseline="30000" dirty="0">
                    <a:latin typeface="Cambria" panose="02040503050406030204" pitchFamily="18" charset="0"/>
                    <a:ea typeface="Cambria" panose="02040503050406030204" pitchFamily="18" charset="0"/>
                  </a:rPr>
                  <a:t>-6</a:t>
                </a:r>
              </a:p>
              <a:p>
                <a:pPr marL="495299" indent="-457200">
                  <a:spcBef>
                    <a:spcPts val="459"/>
                  </a:spcBef>
                  <a:buFont typeface="Arial" panose="020B0604020202020204" pitchFamily="34" charset="0"/>
                  <a:buChar char="•"/>
                  <a:tabLst>
                    <a:tab pos="419734" algn="l"/>
                  </a:tabLst>
                </a:pPr>
                <a:r>
                  <a:rPr lang="en-US" sz="2000" b="1" dirty="0">
                    <a:solidFill>
                      <a:srgbClr val="00B0F0"/>
                    </a:solidFill>
                  </a:rPr>
                  <a:t>Faster convergence compared to </a:t>
                </a:r>
                <a:r>
                  <a:rPr lang="en-US" sz="2000" b="1" dirty="0" err="1">
                    <a:solidFill>
                      <a:srgbClr val="00B0F0"/>
                    </a:solidFill>
                  </a:rPr>
                  <a:t>AdaGrad</a:t>
                </a:r>
                <a:endParaRPr lang="en-US" sz="2000" b="1" dirty="0">
                  <a:solidFill>
                    <a:srgbClr val="00B0F0"/>
                  </a:solidFill>
                </a:endParaRPr>
              </a:p>
              <a:p>
                <a:pPr marL="495299" indent="-457200">
                  <a:spcBef>
                    <a:spcPts val="459"/>
                  </a:spcBef>
                  <a:buFont typeface="Arial" panose="020B0604020202020204" pitchFamily="34" charset="0"/>
                  <a:buChar char="•"/>
                  <a:tabLst>
                    <a:tab pos="419734" algn="l"/>
                  </a:tabLst>
                </a:pPr>
                <a:r>
                  <a:rPr lang="en-US" sz="2000" dirty="0"/>
                  <a:t>works well on big and redundant datasets</a:t>
                </a:r>
                <a:endParaRPr lang="en-US" sz="2000" b="1" dirty="0">
                  <a:solidFill>
                    <a:srgbClr val="00B0F0"/>
                  </a:solidFill>
                </a:endParaRPr>
              </a:p>
              <a:p>
                <a:pPr marL="2781299" lvl="6">
                  <a:spcBef>
                    <a:spcPts val="459"/>
                  </a:spcBef>
                  <a:tabLst>
                    <a:tab pos="419734" algn="l"/>
                  </a:tabLst>
                </a:pPr>
                <a:endParaRPr lang="en-US" sz="2000" baseline="30000" dirty="0">
                  <a:latin typeface="Cambria" panose="02040503050406030204" pitchFamily="18" charset="0"/>
                  <a:ea typeface="Cambria" panose="02040503050406030204" pitchFamily="18" charset="0"/>
                  <a:cs typeface="Arial MT"/>
                </a:endParaRPr>
              </a:p>
              <a:p>
                <a:endParaRPr lang="en-US" sz="2000" dirty="0"/>
              </a:p>
              <a:p>
                <a:endParaRPr lang="en-US" sz="2000" i="1" dirty="0"/>
              </a:p>
            </p:txBody>
          </p:sp>
        </mc:Choice>
        <mc:Fallback xmlns="">
          <p:sp>
            <p:nvSpPr>
              <p:cNvPr id="2" name="Content Placeholder 1"/>
              <p:cNvSpPr>
                <a:spLocks noGrp="1" noRot="1" noChangeAspect="1" noMove="1" noResize="1" noEditPoints="1" noAdjustHandles="1" noChangeArrowheads="1" noChangeShapeType="1" noTextEdit="1"/>
              </p:cNvSpPr>
              <p:nvPr>
                <p:ph idx="10"/>
              </p:nvPr>
            </p:nvSpPr>
            <p:spPr>
              <a:xfrm>
                <a:off x="72788" y="1295400"/>
                <a:ext cx="9071212" cy="5410200"/>
              </a:xfrm>
              <a:blipFill rotWithShape="0">
                <a:blip r:embed="rId3"/>
                <a:stretch>
                  <a:fillRect l="-605" t="-676"/>
                </a:stretch>
              </a:blipFill>
            </p:spPr>
            <p:txBody>
              <a:bodyPr/>
              <a:lstStyle/>
              <a:p>
                <a:r>
                  <a:rPr lang="en-IN">
                    <a:noFill/>
                  </a:rPr>
                  <a:t> </a:t>
                </a:r>
              </a:p>
            </p:txBody>
          </p:sp>
        </mc:Fallback>
      </mc:AlternateContent>
      <p:sp>
        <p:nvSpPr>
          <p:cNvPr id="3" name="Title 2"/>
          <p:cNvSpPr>
            <a:spLocks noGrp="1"/>
          </p:cNvSpPr>
          <p:nvPr>
            <p:ph type="title"/>
          </p:nvPr>
        </p:nvSpPr>
        <p:spPr/>
        <p:txBody>
          <a:bodyPr/>
          <a:lstStyle/>
          <a:p>
            <a:r>
              <a:rPr lang="en-US" dirty="0" err="1"/>
              <a:t>RMSProp</a:t>
            </a:r>
            <a:endParaRPr lang="en-IN" dirty="0"/>
          </a:p>
        </p:txBody>
      </p:sp>
      <p:pic>
        <p:nvPicPr>
          <p:cNvPr id="4" name="Picture 3"/>
          <p:cNvPicPr>
            <a:picLocks noChangeAspect="1"/>
          </p:cNvPicPr>
          <p:nvPr/>
        </p:nvPicPr>
        <p:blipFill>
          <a:blip r:embed="rId4"/>
          <a:stretch>
            <a:fillRect/>
          </a:stretch>
        </p:blipFill>
        <p:spPr>
          <a:xfrm>
            <a:off x="2667000" y="3886200"/>
            <a:ext cx="2859195" cy="1045724"/>
          </a:xfrm>
          <a:prstGeom prst="rect">
            <a:avLst/>
          </a:prstGeom>
          <a:ln>
            <a:solidFill>
              <a:srgbClr val="C00000"/>
            </a:solidFill>
          </a:ln>
        </p:spPr>
      </p:pic>
      <p:pic>
        <p:nvPicPr>
          <p:cNvPr id="5" name="Picture 4"/>
          <p:cNvPicPr>
            <a:picLocks noChangeAspect="1"/>
          </p:cNvPicPr>
          <p:nvPr/>
        </p:nvPicPr>
        <p:blipFill>
          <a:blip r:embed="rId5"/>
          <a:stretch>
            <a:fillRect/>
          </a:stretch>
        </p:blipFill>
        <p:spPr>
          <a:xfrm>
            <a:off x="3256540" y="2621793"/>
            <a:ext cx="2105025" cy="819150"/>
          </a:xfrm>
          <a:prstGeom prst="rect">
            <a:avLst/>
          </a:prstGeom>
          <a:ln>
            <a:solidFill>
              <a:srgbClr val="C00000"/>
            </a:solidFill>
          </a:ln>
        </p:spPr>
      </p:pic>
    </p:spTree>
    <p:extLst>
      <p:ext uri="{BB962C8B-B14F-4D97-AF65-F5344CB8AC3E}">
        <p14:creationId xmlns:p14="http://schemas.microsoft.com/office/powerpoint/2010/main" val="23121280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0"/>
          </p:nvPr>
        </p:nvSpPr>
        <p:spPr>
          <a:xfrm>
            <a:off x="228600" y="1447800"/>
            <a:ext cx="8610600" cy="5105400"/>
          </a:xfrm>
        </p:spPr>
        <p:txBody>
          <a:bodyPr>
            <a:noAutofit/>
          </a:bodyPr>
          <a:lstStyle/>
          <a:p>
            <a:pPr marL="452755" indent="-440055">
              <a:spcBef>
                <a:spcPts val="270"/>
              </a:spcBef>
              <a:buAutoNum type="arabicPeriod"/>
              <a:tabLst>
                <a:tab pos="452755" algn="l"/>
              </a:tabLst>
            </a:pPr>
            <a:r>
              <a:rPr lang="en-US" sz="2000" dirty="0">
                <a:cs typeface="Arial MT"/>
              </a:rPr>
              <a:t>Stochastic</a:t>
            </a:r>
            <a:r>
              <a:rPr lang="en-US" sz="2000" spc="-25" dirty="0">
                <a:cs typeface="Arial MT"/>
              </a:rPr>
              <a:t> </a:t>
            </a:r>
            <a:r>
              <a:rPr lang="en-US" sz="2000" dirty="0">
                <a:cs typeface="Arial MT"/>
              </a:rPr>
              <a:t>gradient</a:t>
            </a:r>
            <a:r>
              <a:rPr lang="en-US" sz="2000" spc="-20" dirty="0">
                <a:cs typeface="Arial MT"/>
              </a:rPr>
              <a:t> </a:t>
            </a:r>
            <a:r>
              <a:rPr lang="en-US" sz="2000" spc="-10" dirty="0">
                <a:cs typeface="Arial MT"/>
              </a:rPr>
              <a:t>descent</a:t>
            </a:r>
            <a:endParaRPr lang="en-US" sz="2000" dirty="0">
              <a:cs typeface="Arial MT"/>
            </a:endParaRPr>
          </a:p>
          <a:p>
            <a:pPr marL="909955" marR="193675" lvl="1" indent="-351790">
              <a:lnSpc>
                <a:spcPct val="105000"/>
              </a:lnSpc>
              <a:spcBef>
                <a:spcPts val="40"/>
              </a:spcBef>
              <a:buChar char="○"/>
              <a:tabLst>
                <a:tab pos="909955" algn="l"/>
              </a:tabLst>
            </a:pPr>
            <a:r>
              <a:rPr lang="en-US" sz="2000" dirty="0">
                <a:cs typeface="Arial MT"/>
              </a:rPr>
              <a:t>more</a:t>
            </a:r>
            <a:r>
              <a:rPr lang="en-US" sz="2000" spc="-50" dirty="0">
                <a:cs typeface="Arial MT"/>
              </a:rPr>
              <a:t> compute </a:t>
            </a:r>
            <a:r>
              <a:rPr lang="en-US" sz="2000" spc="-10" dirty="0">
                <a:cs typeface="Arial MT"/>
              </a:rPr>
              <a:t>effective</a:t>
            </a:r>
            <a:r>
              <a:rPr lang="en-US" sz="2000" spc="-45" dirty="0">
                <a:cs typeface="Arial MT"/>
              </a:rPr>
              <a:t> </a:t>
            </a:r>
            <a:r>
              <a:rPr lang="en-US" sz="2000" dirty="0">
                <a:cs typeface="Arial MT"/>
              </a:rPr>
              <a:t>than</a:t>
            </a:r>
            <a:r>
              <a:rPr lang="en-US" sz="2000" spc="-45" dirty="0">
                <a:cs typeface="Arial MT"/>
              </a:rPr>
              <a:t> </a:t>
            </a:r>
            <a:r>
              <a:rPr lang="en-US" sz="2000" dirty="0">
                <a:cs typeface="Arial MT"/>
              </a:rPr>
              <a:t>Gradient</a:t>
            </a:r>
            <a:r>
              <a:rPr lang="en-US" sz="2000" spc="-50" dirty="0">
                <a:cs typeface="Arial MT"/>
              </a:rPr>
              <a:t> </a:t>
            </a:r>
            <a:r>
              <a:rPr lang="en-US" sz="2000" dirty="0">
                <a:cs typeface="Arial MT"/>
              </a:rPr>
              <a:t>Descent</a:t>
            </a:r>
            <a:r>
              <a:rPr lang="en-US" sz="2000" spc="-45" dirty="0">
                <a:cs typeface="Arial MT"/>
              </a:rPr>
              <a:t> </a:t>
            </a:r>
            <a:r>
              <a:rPr lang="en-US" sz="2000" dirty="0">
                <a:cs typeface="Arial MT"/>
              </a:rPr>
              <a:t>when</a:t>
            </a:r>
            <a:r>
              <a:rPr lang="en-US" sz="2000" spc="-45" dirty="0">
                <a:cs typeface="Arial MT"/>
              </a:rPr>
              <a:t> </a:t>
            </a:r>
            <a:r>
              <a:rPr lang="en-US" sz="2000" dirty="0">
                <a:cs typeface="Arial MT"/>
              </a:rPr>
              <a:t>solving</a:t>
            </a:r>
            <a:r>
              <a:rPr lang="en-US" sz="2000" spc="-45" dirty="0">
                <a:cs typeface="Arial MT"/>
              </a:rPr>
              <a:t> </a:t>
            </a:r>
            <a:r>
              <a:rPr lang="en-US" sz="2000" dirty="0">
                <a:cs typeface="Arial MT"/>
              </a:rPr>
              <a:t>optimization</a:t>
            </a:r>
            <a:r>
              <a:rPr lang="en-US" sz="2000" spc="-50" dirty="0">
                <a:cs typeface="Arial MT"/>
              </a:rPr>
              <a:t> </a:t>
            </a:r>
            <a:r>
              <a:rPr lang="en-US" sz="2000" dirty="0">
                <a:cs typeface="Arial MT"/>
              </a:rPr>
              <a:t>problems</a:t>
            </a:r>
          </a:p>
          <a:p>
            <a:pPr marL="909955" marR="193675" lvl="1" indent="-351790">
              <a:lnSpc>
                <a:spcPct val="105000"/>
              </a:lnSpc>
              <a:spcBef>
                <a:spcPts val="40"/>
              </a:spcBef>
              <a:buChar char="○"/>
              <a:tabLst>
                <a:tab pos="909955" algn="l"/>
              </a:tabLst>
            </a:pPr>
            <a:r>
              <a:rPr lang="en-US" sz="2000" dirty="0">
                <a:cs typeface="Arial MT"/>
              </a:rPr>
              <a:t>Mini batch</a:t>
            </a:r>
            <a:r>
              <a:rPr lang="en-US" sz="2000" spc="-60" dirty="0">
                <a:cs typeface="Arial MT"/>
              </a:rPr>
              <a:t> </a:t>
            </a:r>
            <a:r>
              <a:rPr lang="en-US" sz="2000" dirty="0">
                <a:cs typeface="Arial MT"/>
              </a:rPr>
              <a:t>Stochastic</a:t>
            </a:r>
            <a:r>
              <a:rPr lang="en-US" sz="2000" spc="-60" dirty="0">
                <a:cs typeface="Arial MT"/>
              </a:rPr>
              <a:t> </a:t>
            </a:r>
            <a:r>
              <a:rPr lang="en-US" sz="2000" dirty="0">
                <a:cs typeface="Arial MT"/>
              </a:rPr>
              <a:t>gradient</a:t>
            </a:r>
            <a:r>
              <a:rPr lang="en-US" sz="2000" spc="-60" dirty="0">
                <a:cs typeface="Arial MT"/>
              </a:rPr>
              <a:t> </a:t>
            </a:r>
            <a:r>
              <a:rPr lang="en-US" sz="2000" spc="-10" dirty="0">
                <a:cs typeface="Arial MT"/>
              </a:rPr>
              <a:t>descent </a:t>
            </a:r>
            <a:r>
              <a:rPr lang="en-US" sz="2000" dirty="0">
                <a:cs typeface="Arial MT"/>
              </a:rPr>
              <a:t>affords</a:t>
            </a:r>
            <a:r>
              <a:rPr lang="en-US" sz="2000" spc="-50" dirty="0">
                <a:cs typeface="Arial MT"/>
              </a:rPr>
              <a:t> </a:t>
            </a:r>
            <a:r>
              <a:rPr lang="en-US" sz="2000" dirty="0">
                <a:cs typeface="Arial MT"/>
              </a:rPr>
              <a:t>significant</a:t>
            </a:r>
            <a:r>
              <a:rPr lang="en-US" sz="2000" spc="-50" dirty="0">
                <a:cs typeface="Arial MT"/>
              </a:rPr>
              <a:t> </a:t>
            </a:r>
            <a:r>
              <a:rPr lang="en-US" sz="2000" dirty="0">
                <a:cs typeface="Arial MT"/>
              </a:rPr>
              <a:t>additional</a:t>
            </a:r>
            <a:r>
              <a:rPr lang="en-US" sz="2000" spc="-45" dirty="0">
                <a:cs typeface="Arial MT"/>
              </a:rPr>
              <a:t> </a:t>
            </a:r>
            <a:r>
              <a:rPr lang="en-US" sz="2000" dirty="0">
                <a:cs typeface="Arial MT"/>
              </a:rPr>
              <a:t>efficiency</a:t>
            </a:r>
            <a:r>
              <a:rPr lang="en-US" sz="2000" spc="-50" dirty="0">
                <a:cs typeface="Arial MT"/>
              </a:rPr>
              <a:t> </a:t>
            </a:r>
            <a:r>
              <a:rPr lang="en-US" sz="2000" dirty="0">
                <a:cs typeface="Arial MT"/>
              </a:rPr>
              <a:t>arising</a:t>
            </a:r>
            <a:r>
              <a:rPr lang="en-US" sz="2000" spc="-45" dirty="0">
                <a:cs typeface="Arial MT"/>
              </a:rPr>
              <a:t> </a:t>
            </a:r>
            <a:r>
              <a:rPr lang="en-US" sz="2000" dirty="0">
                <a:cs typeface="Arial MT"/>
              </a:rPr>
              <a:t>from</a:t>
            </a:r>
            <a:r>
              <a:rPr lang="en-US" sz="2000" spc="-50" dirty="0">
                <a:cs typeface="Arial MT"/>
              </a:rPr>
              <a:t> </a:t>
            </a:r>
            <a:r>
              <a:rPr lang="en-US" sz="2000" dirty="0">
                <a:cs typeface="Arial MT"/>
              </a:rPr>
              <a:t>vectorization,</a:t>
            </a:r>
            <a:r>
              <a:rPr lang="en-US" sz="2000" spc="-45" dirty="0">
                <a:cs typeface="Arial MT"/>
              </a:rPr>
              <a:t> </a:t>
            </a:r>
            <a:r>
              <a:rPr lang="en-US" sz="2000" dirty="0">
                <a:cs typeface="Arial MT"/>
              </a:rPr>
              <a:t>using</a:t>
            </a:r>
            <a:r>
              <a:rPr lang="en-US" sz="2000" spc="-50" dirty="0">
                <a:cs typeface="Arial MT"/>
              </a:rPr>
              <a:t> </a:t>
            </a:r>
            <a:r>
              <a:rPr lang="en-US" sz="2000" dirty="0">
                <a:cs typeface="Arial MT"/>
              </a:rPr>
              <a:t>larger</a:t>
            </a:r>
            <a:r>
              <a:rPr lang="en-US" sz="2000" spc="-45" dirty="0">
                <a:cs typeface="Arial MT"/>
              </a:rPr>
              <a:t> </a:t>
            </a:r>
            <a:r>
              <a:rPr lang="en-US" sz="2000" spc="-20" dirty="0">
                <a:cs typeface="Arial MT"/>
              </a:rPr>
              <a:t>sets </a:t>
            </a:r>
            <a:r>
              <a:rPr lang="en-US" sz="2000" dirty="0">
                <a:cs typeface="Arial MT"/>
              </a:rPr>
              <a:t>of</a:t>
            </a:r>
            <a:r>
              <a:rPr lang="en-US" sz="2000" spc="-25" dirty="0">
                <a:cs typeface="Arial MT"/>
              </a:rPr>
              <a:t> </a:t>
            </a:r>
            <a:r>
              <a:rPr lang="en-US" sz="2000" dirty="0">
                <a:cs typeface="Arial MT"/>
              </a:rPr>
              <a:t>observations</a:t>
            </a:r>
            <a:r>
              <a:rPr lang="en-US" sz="2000" spc="-20" dirty="0">
                <a:cs typeface="Arial MT"/>
              </a:rPr>
              <a:t> </a:t>
            </a:r>
            <a:r>
              <a:rPr lang="en-US" sz="2000" dirty="0">
                <a:cs typeface="Arial MT"/>
              </a:rPr>
              <a:t>in</a:t>
            </a:r>
            <a:r>
              <a:rPr lang="en-US" sz="2000" spc="-20" dirty="0">
                <a:cs typeface="Arial MT"/>
              </a:rPr>
              <a:t> </a:t>
            </a:r>
            <a:r>
              <a:rPr lang="en-US" sz="2000" dirty="0">
                <a:cs typeface="Arial MT"/>
              </a:rPr>
              <a:t>one</a:t>
            </a:r>
            <a:r>
              <a:rPr lang="en-US" sz="2000" spc="-25" dirty="0">
                <a:cs typeface="Arial MT"/>
              </a:rPr>
              <a:t> </a:t>
            </a:r>
            <a:r>
              <a:rPr lang="en-US" sz="2000" dirty="0">
                <a:cs typeface="Arial MT"/>
              </a:rPr>
              <a:t>mini batch.</a:t>
            </a:r>
            <a:r>
              <a:rPr lang="en-US" sz="2000" spc="-50" dirty="0">
                <a:cs typeface="Arial MT"/>
              </a:rPr>
              <a:t> </a:t>
            </a:r>
          </a:p>
          <a:p>
            <a:pPr marL="909955" marR="193675" lvl="1" indent="-351790">
              <a:lnSpc>
                <a:spcPct val="105000"/>
              </a:lnSpc>
              <a:spcBef>
                <a:spcPts val="40"/>
              </a:spcBef>
              <a:buChar char="○"/>
              <a:tabLst>
                <a:tab pos="909955" algn="l"/>
              </a:tabLst>
            </a:pPr>
            <a:r>
              <a:rPr lang="en-US" sz="2000" dirty="0">
                <a:cs typeface="Arial MT"/>
              </a:rPr>
              <a:t>This</a:t>
            </a:r>
            <a:r>
              <a:rPr lang="en-US" sz="2000" spc="-20" dirty="0">
                <a:cs typeface="Arial MT"/>
              </a:rPr>
              <a:t> </a:t>
            </a:r>
            <a:r>
              <a:rPr lang="en-US" sz="2000" dirty="0">
                <a:cs typeface="Arial MT"/>
              </a:rPr>
              <a:t>is</a:t>
            </a:r>
            <a:r>
              <a:rPr lang="en-US" sz="2000" spc="-25" dirty="0">
                <a:cs typeface="Arial MT"/>
              </a:rPr>
              <a:t> </a:t>
            </a:r>
            <a:r>
              <a:rPr lang="en-US" sz="2000" dirty="0">
                <a:cs typeface="Arial MT"/>
              </a:rPr>
              <a:t>the</a:t>
            </a:r>
            <a:r>
              <a:rPr lang="en-US" sz="2000" spc="-20" dirty="0">
                <a:cs typeface="Arial MT"/>
              </a:rPr>
              <a:t> </a:t>
            </a:r>
            <a:r>
              <a:rPr lang="en-US" sz="2000" dirty="0">
                <a:cs typeface="Arial MT"/>
              </a:rPr>
              <a:t>key</a:t>
            </a:r>
            <a:r>
              <a:rPr lang="en-US" sz="2000" spc="-20" dirty="0">
                <a:cs typeface="Arial MT"/>
              </a:rPr>
              <a:t> </a:t>
            </a:r>
            <a:r>
              <a:rPr lang="en-US" sz="2000" dirty="0">
                <a:cs typeface="Arial MT"/>
              </a:rPr>
              <a:t>to</a:t>
            </a:r>
            <a:r>
              <a:rPr lang="en-US" sz="2000" spc="-25" dirty="0">
                <a:cs typeface="Arial MT"/>
              </a:rPr>
              <a:t> </a:t>
            </a:r>
            <a:r>
              <a:rPr lang="en-US" sz="2000" dirty="0">
                <a:cs typeface="Arial MT"/>
              </a:rPr>
              <a:t>efficient</a:t>
            </a:r>
            <a:r>
              <a:rPr lang="en-US" sz="2000" spc="-20" dirty="0">
                <a:cs typeface="Arial MT"/>
              </a:rPr>
              <a:t> </a:t>
            </a:r>
            <a:r>
              <a:rPr lang="en-US" sz="2000" spc="-10" dirty="0">
                <a:cs typeface="Arial MT"/>
              </a:rPr>
              <a:t>multi-</a:t>
            </a:r>
            <a:r>
              <a:rPr lang="en-US" sz="2000" spc="-10" dirty="0" err="1">
                <a:cs typeface="Arial MT"/>
              </a:rPr>
              <a:t>machine,multi</a:t>
            </a:r>
            <a:r>
              <a:rPr lang="en-US" sz="2000" spc="-10" dirty="0">
                <a:cs typeface="Arial MT"/>
              </a:rPr>
              <a:t>-</a:t>
            </a:r>
            <a:r>
              <a:rPr lang="en-US" sz="2000" dirty="0">
                <a:cs typeface="Arial MT"/>
              </a:rPr>
              <a:t>GPU</a:t>
            </a:r>
            <a:r>
              <a:rPr lang="en-US" sz="2000" spc="-30" dirty="0">
                <a:cs typeface="Arial MT"/>
              </a:rPr>
              <a:t> </a:t>
            </a:r>
            <a:r>
              <a:rPr lang="en-US" sz="2000" dirty="0">
                <a:cs typeface="Arial MT"/>
              </a:rPr>
              <a:t>and</a:t>
            </a:r>
            <a:r>
              <a:rPr lang="en-US" sz="2000" spc="-20" dirty="0">
                <a:cs typeface="Arial MT"/>
              </a:rPr>
              <a:t> </a:t>
            </a:r>
            <a:r>
              <a:rPr lang="en-US" sz="2000" dirty="0">
                <a:cs typeface="Arial MT"/>
              </a:rPr>
              <a:t>overall</a:t>
            </a:r>
            <a:r>
              <a:rPr lang="en-US" sz="2000" spc="-20" dirty="0">
                <a:cs typeface="Arial MT"/>
              </a:rPr>
              <a:t> </a:t>
            </a:r>
            <a:r>
              <a:rPr lang="en-US" sz="2000" dirty="0">
                <a:cs typeface="Arial MT"/>
              </a:rPr>
              <a:t>parallel</a:t>
            </a:r>
            <a:r>
              <a:rPr lang="en-US" sz="2000" spc="-15" dirty="0">
                <a:cs typeface="Arial MT"/>
              </a:rPr>
              <a:t> </a:t>
            </a:r>
            <a:r>
              <a:rPr lang="en-US" sz="2000" spc="-10" dirty="0">
                <a:cs typeface="Arial MT"/>
              </a:rPr>
              <a:t>processing.</a:t>
            </a:r>
            <a:endParaRPr lang="en-US" sz="2000" dirty="0">
              <a:cs typeface="Arial MT"/>
            </a:endParaRPr>
          </a:p>
          <a:p>
            <a:pPr marL="452755" indent="-440055">
              <a:spcBef>
                <a:spcPts val="270"/>
              </a:spcBef>
              <a:buAutoNum type="arabicPeriod"/>
              <a:tabLst>
                <a:tab pos="452755" algn="l"/>
              </a:tabLst>
            </a:pPr>
            <a:r>
              <a:rPr lang="en-US" sz="2000" dirty="0">
                <a:cs typeface="Arial MT"/>
              </a:rPr>
              <a:t>Momentum</a:t>
            </a:r>
          </a:p>
          <a:p>
            <a:pPr marL="909955" marR="467995" lvl="1" indent="-351790">
              <a:lnSpc>
                <a:spcPct val="105000"/>
              </a:lnSpc>
              <a:spcBef>
                <a:spcPts val="40"/>
              </a:spcBef>
              <a:buChar char="○"/>
              <a:tabLst>
                <a:tab pos="909955" algn="l"/>
              </a:tabLst>
            </a:pPr>
            <a:r>
              <a:rPr lang="en-US" sz="2000" dirty="0">
                <a:cs typeface="Arial MT"/>
              </a:rPr>
              <a:t>added</a:t>
            </a:r>
            <a:r>
              <a:rPr lang="en-US" sz="2000" spc="-25" dirty="0">
                <a:cs typeface="Arial MT"/>
              </a:rPr>
              <a:t> </a:t>
            </a:r>
            <a:r>
              <a:rPr lang="en-US" sz="2000" dirty="0">
                <a:cs typeface="Arial MT"/>
              </a:rPr>
              <a:t>a</a:t>
            </a:r>
            <a:r>
              <a:rPr lang="en-US" sz="2000" spc="-20" dirty="0">
                <a:cs typeface="Arial MT"/>
              </a:rPr>
              <a:t> </a:t>
            </a:r>
            <a:r>
              <a:rPr lang="en-US" sz="2000" dirty="0">
                <a:cs typeface="Arial MT"/>
              </a:rPr>
              <a:t>mechanism</a:t>
            </a:r>
            <a:r>
              <a:rPr lang="en-US" sz="2000" spc="-20" dirty="0">
                <a:cs typeface="Arial MT"/>
              </a:rPr>
              <a:t> </a:t>
            </a:r>
            <a:r>
              <a:rPr lang="en-US" sz="2000" dirty="0">
                <a:cs typeface="Arial MT"/>
              </a:rPr>
              <a:t>for</a:t>
            </a:r>
            <a:r>
              <a:rPr lang="en-US" sz="2000" spc="-20" dirty="0">
                <a:cs typeface="Arial MT"/>
              </a:rPr>
              <a:t> </a:t>
            </a:r>
            <a:r>
              <a:rPr lang="en-US" sz="2000" dirty="0">
                <a:cs typeface="Arial MT"/>
              </a:rPr>
              <a:t>aggregating</a:t>
            </a:r>
            <a:r>
              <a:rPr lang="en-US" sz="2000" spc="-20" dirty="0">
                <a:cs typeface="Arial MT"/>
              </a:rPr>
              <a:t> </a:t>
            </a:r>
            <a:r>
              <a:rPr lang="en-US" sz="2000" dirty="0">
                <a:cs typeface="Arial MT"/>
              </a:rPr>
              <a:t>a</a:t>
            </a:r>
            <a:r>
              <a:rPr lang="en-US" sz="2000" spc="-20" dirty="0">
                <a:cs typeface="Arial MT"/>
              </a:rPr>
              <a:t> </a:t>
            </a:r>
            <a:r>
              <a:rPr lang="en-US" sz="2000" dirty="0">
                <a:cs typeface="Arial MT"/>
              </a:rPr>
              <a:t>history</a:t>
            </a:r>
            <a:r>
              <a:rPr lang="en-US" sz="2000" spc="-20" dirty="0">
                <a:cs typeface="Arial MT"/>
              </a:rPr>
              <a:t> </a:t>
            </a:r>
            <a:r>
              <a:rPr lang="en-US" sz="2000" dirty="0">
                <a:cs typeface="Arial MT"/>
              </a:rPr>
              <a:t>of</a:t>
            </a:r>
            <a:r>
              <a:rPr lang="en-US" sz="2000" spc="-20" dirty="0">
                <a:cs typeface="Arial MT"/>
              </a:rPr>
              <a:t> </a:t>
            </a:r>
            <a:r>
              <a:rPr lang="en-US" sz="2000" dirty="0">
                <a:cs typeface="Arial MT"/>
              </a:rPr>
              <a:t>past</a:t>
            </a:r>
            <a:r>
              <a:rPr lang="en-US" sz="2000" spc="-20" dirty="0">
                <a:cs typeface="Arial MT"/>
              </a:rPr>
              <a:t> </a:t>
            </a:r>
            <a:r>
              <a:rPr lang="en-US" sz="2000" dirty="0">
                <a:cs typeface="Arial MT"/>
              </a:rPr>
              <a:t>gradients</a:t>
            </a:r>
            <a:r>
              <a:rPr lang="en-US" sz="2000" spc="-25" dirty="0">
                <a:cs typeface="Arial MT"/>
              </a:rPr>
              <a:t> </a:t>
            </a:r>
            <a:r>
              <a:rPr lang="en-US" sz="2000" dirty="0">
                <a:cs typeface="Arial MT"/>
              </a:rPr>
              <a:t>to</a:t>
            </a:r>
            <a:r>
              <a:rPr lang="en-US" sz="2000" spc="-20" dirty="0">
                <a:cs typeface="Arial MT"/>
              </a:rPr>
              <a:t> </a:t>
            </a:r>
            <a:r>
              <a:rPr lang="en-US" sz="2000" spc="-10" dirty="0">
                <a:cs typeface="Arial MT"/>
              </a:rPr>
              <a:t>accelerate convergence.</a:t>
            </a:r>
            <a:endParaRPr lang="en-US" sz="2000" dirty="0">
              <a:cs typeface="Arial MT"/>
            </a:endParaRPr>
          </a:p>
          <a:p>
            <a:pPr marL="452755" indent="-440055">
              <a:spcBef>
                <a:spcPts val="270"/>
              </a:spcBef>
              <a:buAutoNum type="arabicPeriod"/>
              <a:tabLst>
                <a:tab pos="452755" algn="l"/>
              </a:tabLst>
            </a:pPr>
            <a:r>
              <a:rPr lang="en-US" sz="2000" dirty="0" err="1">
                <a:cs typeface="Arial MT"/>
              </a:rPr>
              <a:t>Adagrad</a:t>
            </a:r>
            <a:endParaRPr lang="en-US" sz="2000" dirty="0">
              <a:cs typeface="Arial MT"/>
            </a:endParaRPr>
          </a:p>
          <a:p>
            <a:pPr marL="909955" lvl="1" indent="-351155">
              <a:spcBef>
                <a:spcPts val="135"/>
              </a:spcBef>
              <a:buChar char="○"/>
              <a:tabLst>
                <a:tab pos="909955" algn="l"/>
              </a:tabLst>
            </a:pPr>
            <a:r>
              <a:rPr lang="en-US" sz="2000" dirty="0">
                <a:cs typeface="Arial MT"/>
              </a:rPr>
              <a:t>used</a:t>
            </a:r>
            <a:r>
              <a:rPr lang="en-US" sz="2000" spc="-30" dirty="0">
                <a:cs typeface="Arial MT"/>
              </a:rPr>
              <a:t> </a:t>
            </a:r>
            <a:r>
              <a:rPr lang="en-US" sz="2000" spc="-10" dirty="0">
                <a:cs typeface="Arial MT"/>
              </a:rPr>
              <a:t>per-</a:t>
            </a:r>
            <a:r>
              <a:rPr lang="en-US" sz="2000" dirty="0">
                <a:cs typeface="Arial MT"/>
              </a:rPr>
              <a:t>coordinate</a:t>
            </a:r>
            <a:r>
              <a:rPr lang="en-US" sz="2000" spc="-30" dirty="0">
                <a:cs typeface="Arial MT"/>
              </a:rPr>
              <a:t> </a:t>
            </a:r>
            <a:r>
              <a:rPr lang="en-US" sz="2000" dirty="0">
                <a:cs typeface="Arial MT"/>
              </a:rPr>
              <a:t>scaling</a:t>
            </a:r>
            <a:r>
              <a:rPr lang="en-US" sz="2000" spc="-30" dirty="0">
                <a:cs typeface="Arial MT"/>
              </a:rPr>
              <a:t> </a:t>
            </a:r>
            <a:r>
              <a:rPr lang="en-US" sz="2000" dirty="0">
                <a:cs typeface="Arial MT"/>
              </a:rPr>
              <a:t>to</a:t>
            </a:r>
            <a:r>
              <a:rPr lang="en-US" sz="2000" spc="-25" dirty="0">
                <a:cs typeface="Arial MT"/>
              </a:rPr>
              <a:t> </a:t>
            </a:r>
            <a:r>
              <a:rPr lang="en-US" sz="2000" dirty="0">
                <a:cs typeface="Arial MT"/>
              </a:rPr>
              <a:t>allow</a:t>
            </a:r>
            <a:r>
              <a:rPr lang="en-US" sz="2000" spc="-30" dirty="0">
                <a:cs typeface="Arial MT"/>
              </a:rPr>
              <a:t> </a:t>
            </a:r>
            <a:r>
              <a:rPr lang="en-US" sz="2000" dirty="0">
                <a:cs typeface="Arial MT"/>
              </a:rPr>
              <a:t>for</a:t>
            </a:r>
            <a:r>
              <a:rPr lang="en-US" sz="2000" spc="-30" dirty="0">
                <a:cs typeface="Arial MT"/>
              </a:rPr>
              <a:t> </a:t>
            </a:r>
            <a:r>
              <a:rPr lang="en-US" sz="2000" dirty="0">
                <a:cs typeface="Arial MT"/>
              </a:rPr>
              <a:t>a</a:t>
            </a:r>
            <a:r>
              <a:rPr lang="en-US" sz="2000" spc="-25" dirty="0">
                <a:cs typeface="Arial MT"/>
              </a:rPr>
              <a:t> </a:t>
            </a:r>
            <a:r>
              <a:rPr lang="en-US" sz="2000" dirty="0">
                <a:cs typeface="Arial MT"/>
              </a:rPr>
              <a:t>computationally</a:t>
            </a:r>
            <a:r>
              <a:rPr lang="en-US" sz="2000" spc="-30" dirty="0">
                <a:cs typeface="Arial MT"/>
              </a:rPr>
              <a:t> </a:t>
            </a:r>
            <a:r>
              <a:rPr lang="en-US" sz="2000" dirty="0">
                <a:cs typeface="Arial MT"/>
              </a:rPr>
              <a:t>efficient</a:t>
            </a:r>
            <a:r>
              <a:rPr lang="en-US" sz="2000" spc="-30" dirty="0">
                <a:cs typeface="Arial MT"/>
              </a:rPr>
              <a:t> </a:t>
            </a:r>
            <a:r>
              <a:rPr lang="en-US" sz="2000" spc="-10" dirty="0">
                <a:cs typeface="Arial MT"/>
              </a:rPr>
              <a:t>preconditioner.</a:t>
            </a:r>
            <a:endParaRPr lang="en-US" sz="2000" dirty="0">
              <a:cs typeface="Arial MT"/>
            </a:endParaRPr>
          </a:p>
          <a:p>
            <a:pPr marL="452755" indent="-440055">
              <a:spcBef>
                <a:spcPts val="270"/>
              </a:spcBef>
              <a:buAutoNum type="arabicPeriod"/>
              <a:tabLst>
                <a:tab pos="452755" algn="l"/>
              </a:tabLst>
            </a:pPr>
            <a:r>
              <a:rPr lang="en-US" sz="2000" dirty="0" err="1">
                <a:cs typeface="Arial MT"/>
              </a:rPr>
              <a:t>RMSProp</a:t>
            </a:r>
            <a:endParaRPr lang="en-US" sz="2000" dirty="0">
              <a:cs typeface="Arial MT"/>
            </a:endParaRPr>
          </a:p>
          <a:p>
            <a:pPr marL="909955" lvl="1" indent="-351155">
              <a:spcBef>
                <a:spcPts val="135"/>
              </a:spcBef>
              <a:buChar char="○"/>
              <a:tabLst>
                <a:tab pos="909955" algn="l"/>
              </a:tabLst>
            </a:pPr>
            <a:r>
              <a:rPr lang="en-US" sz="2000" dirty="0">
                <a:cs typeface="Arial MT"/>
              </a:rPr>
              <a:t>leaky average + dynamic learning rate</a:t>
            </a:r>
          </a:p>
          <a:p>
            <a:endParaRPr lang="en-IN" sz="2000" dirty="0"/>
          </a:p>
        </p:txBody>
      </p:sp>
      <p:sp>
        <p:nvSpPr>
          <p:cNvPr id="2" name="object 2"/>
          <p:cNvSpPr txBox="1">
            <a:spLocks noGrp="1"/>
          </p:cNvSpPr>
          <p:nvPr>
            <p:ph type="title"/>
          </p:nvPr>
        </p:nvSpPr>
        <p:spPr>
          <a:prstGeom prst="rect">
            <a:avLst/>
          </a:prstGeom>
        </p:spPr>
        <p:txBody>
          <a:bodyPr vert="horz" wrap="square" lIns="0" tIns="15240" rIns="0" bIns="0" rtlCol="0" anchor="ctr">
            <a:spAutoFit/>
          </a:bodyPr>
          <a:lstStyle/>
          <a:p>
            <a:pPr marL="12700">
              <a:spcBef>
                <a:spcPts val="120"/>
              </a:spcBef>
            </a:pPr>
            <a:r>
              <a:rPr dirty="0"/>
              <a:t>Review of</a:t>
            </a:r>
            <a:r>
              <a:rPr spc="5" dirty="0"/>
              <a:t> </a:t>
            </a:r>
            <a:r>
              <a:rPr dirty="0"/>
              <a:t>techniques</a:t>
            </a:r>
            <a:r>
              <a:rPr spc="5" dirty="0"/>
              <a:t> </a:t>
            </a:r>
            <a:r>
              <a:rPr dirty="0"/>
              <a:t>learned so</a:t>
            </a:r>
            <a:r>
              <a:rPr spc="5" dirty="0"/>
              <a:t> </a:t>
            </a:r>
            <a:r>
              <a:rPr spc="-25" dirty="0"/>
              <a:t>far</a:t>
            </a:r>
          </a:p>
        </p:txBody>
      </p:sp>
    </p:spTree>
    <p:extLst>
      <p:ext uri="{BB962C8B-B14F-4D97-AF65-F5344CB8AC3E}">
        <p14:creationId xmlns:p14="http://schemas.microsoft.com/office/powerpoint/2010/main" val="37723432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0"/>
          </p:nvPr>
        </p:nvSpPr>
        <p:spPr/>
        <p:txBody>
          <a:bodyPr/>
          <a:lstStyle/>
          <a:p>
            <a:pPr marL="354965" marR="476250" indent="-342900">
              <a:lnSpc>
                <a:spcPct val="114999"/>
              </a:lnSpc>
              <a:spcBef>
                <a:spcPts val="100"/>
              </a:spcBef>
              <a:buFont typeface="Arial" panose="020B0604020202020204" pitchFamily="34" charset="0"/>
              <a:buChar char="•"/>
              <a:tabLst>
                <a:tab pos="394335" algn="l"/>
              </a:tabLst>
            </a:pPr>
            <a:r>
              <a:rPr lang="en-US" dirty="0">
                <a:cs typeface="Arial MT"/>
              </a:rPr>
              <a:t>Adam</a:t>
            </a:r>
            <a:r>
              <a:rPr lang="en-US" spc="-50" dirty="0">
                <a:cs typeface="Arial MT"/>
              </a:rPr>
              <a:t> </a:t>
            </a:r>
            <a:r>
              <a:rPr lang="en-US" dirty="0">
                <a:cs typeface="Arial MT"/>
              </a:rPr>
              <a:t>combines</a:t>
            </a:r>
            <a:r>
              <a:rPr lang="en-US" spc="-50" dirty="0">
                <a:cs typeface="Arial MT"/>
              </a:rPr>
              <a:t> </a:t>
            </a:r>
            <a:r>
              <a:rPr lang="en-US" dirty="0">
                <a:cs typeface="Arial MT"/>
              </a:rPr>
              <a:t>all</a:t>
            </a:r>
            <a:r>
              <a:rPr lang="en-US" spc="-50" dirty="0">
                <a:cs typeface="Arial MT"/>
              </a:rPr>
              <a:t> </a:t>
            </a:r>
            <a:r>
              <a:rPr lang="en-US" dirty="0">
                <a:cs typeface="Arial MT"/>
              </a:rPr>
              <a:t>these</a:t>
            </a:r>
            <a:r>
              <a:rPr lang="en-US" spc="-50" dirty="0">
                <a:cs typeface="Arial MT"/>
              </a:rPr>
              <a:t> </a:t>
            </a:r>
            <a:r>
              <a:rPr lang="en-US" dirty="0">
                <a:cs typeface="Arial MT"/>
              </a:rPr>
              <a:t>techniques</a:t>
            </a:r>
            <a:r>
              <a:rPr lang="en-US" spc="-50" dirty="0">
                <a:cs typeface="Arial MT"/>
              </a:rPr>
              <a:t> </a:t>
            </a:r>
            <a:r>
              <a:rPr lang="en-US" dirty="0">
                <a:cs typeface="Arial MT"/>
              </a:rPr>
              <a:t>into</a:t>
            </a:r>
            <a:r>
              <a:rPr lang="en-US" spc="-50" dirty="0">
                <a:cs typeface="Arial MT"/>
              </a:rPr>
              <a:t> </a:t>
            </a:r>
            <a:r>
              <a:rPr lang="en-US" dirty="0">
                <a:cs typeface="Arial MT"/>
              </a:rPr>
              <a:t>one</a:t>
            </a:r>
            <a:r>
              <a:rPr lang="en-US" spc="-50" dirty="0">
                <a:cs typeface="Arial MT"/>
              </a:rPr>
              <a:t> </a:t>
            </a:r>
            <a:r>
              <a:rPr lang="en-US" spc="-10" dirty="0">
                <a:cs typeface="Arial MT"/>
              </a:rPr>
              <a:t>efficient</a:t>
            </a:r>
            <a:r>
              <a:rPr lang="en-US" spc="-60" dirty="0">
                <a:cs typeface="Arial MT"/>
              </a:rPr>
              <a:t> </a:t>
            </a:r>
            <a:r>
              <a:rPr lang="en-US" spc="-10" dirty="0">
                <a:cs typeface="Arial MT"/>
              </a:rPr>
              <a:t>learning algorithm.</a:t>
            </a:r>
            <a:endParaRPr lang="en-US" dirty="0">
              <a:cs typeface="Arial MT"/>
            </a:endParaRPr>
          </a:p>
          <a:p>
            <a:pPr marL="354965" marR="307975" indent="-342900">
              <a:lnSpc>
                <a:spcPct val="114999"/>
              </a:lnSpc>
              <a:buFont typeface="Arial" panose="020B0604020202020204" pitchFamily="34" charset="0"/>
              <a:buChar char="•"/>
              <a:tabLst>
                <a:tab pos="394335" algn="l"/>
              </a:tabLst>
            </a:pPr>
            <a:r>
              <a:rPr lang="en-US" i="1" dirty="0"/>
              <a:t>computes individual adaptive learning rates for different parameters from estimates of the first and second moments of the gradients. </a:t>
            </a:r>
          </a:p>
          <a:p>
            <a:pPr marL="354965" marR="5080" indent="-342900">
              <a:lnSpc>
                <a:spcPct val="114999"/>
              </a:lnSpc>
              <a:buFont typeface="Arial" panose="020B0604020202020204" pitchFamily="34" charset="0"/>
              <a:buChar char="•"/>
              <a:tabLst>
                <a:tab pos="394335" algn="l"/>
              </a:tabLst>
            </a:pPr>
            <a:r>
              <a:rPr lang="en-US" dirty="0"/>
              <a:t> utilize the momentum concept from “SGD with momentum” and adaptive learning rate from “</a:t>
            </a:r>
            <a:r>
              <a:rPr lang="en-US" dirty="0" err="1"/>
              <a:t>RMSProp</a:t>
            </a:r>
            <a:r>
              <a:rPr lang="en-US" dirty="0"/>
              <a:t>”</a:t>
            </a:r>
          </a:p>
          <a:p>
            <a:pPr marL="354965" marR="5080" indent="-342900">
              <a:lnSpc>
                <a:spcPct val="114999"/>
              </a:lnSpc>
              <a:buFont typeface="Arial" panose="020B0604020202020204" pitchFamily="34" charset="0"/>
              <a:buChar char="•"/>
              <a:tabLst>
                <a:tab pos="394335" algn="l"/>
              </a:tabLst>
            </a:pPr>
            <a:r>
              <a:rPr lang="en-US" dirty="0">
                <a:cs typeface="Arial MT"/>
              </a:rPr>
              <a:t>Adam</a:t>
            </a:r>
            <a:r>
              <a:rPr lang="en-US" spc="-50" dirty="0">
                <a:cs typeface="Arial MT"/>
              </a:rPr>
              <a:t> </a:t>
            </a:r>
            <a:r>
              <a:rPr lang="en-US" dirty="0">
                <a:cs typeface="Arial MT"/>
              </a:rPr>
              <a:t>can</a:t>
            </a:r>
            <a:r>
              <a:rPr lang="en-US" spc="-45" dirty="0">
                <a:cs typeface="Arial MT"/>
              </a:rPr>
              <a:t> </a:t>
            </a:r>
            <a:r>
              <a:rPr lang="en-US" dirty="0">
                <a:cs typeface="Arial MT"/>
              </a:rPr>
              <a:t>diverge</a:t>
            </a:r>
            <a:r>
              <a:rPr lang="en-US" spc="-45" dirty="0">
                <a:cs typeface="Arial MT"/>
              </a:rPr>
              <a:t> </a:t>
            </a:r>
            <a:r>
              <a:rPr lang="en-US" dirty="0">
                <a:cs typeface="Arial MT"/>
              </a:rPr>
              <a:t>due</a:t>
            </a:r>
            <a:r>
              <a:rPr lang="en-US" spc="-50" dirty="0">
                <a:cs typeface="Arial MT"/>
              </a:rPr>
              <a:t> </a:t>
            </a:r>
            <a:r>
              <a:rPr lang="en-US" dirty="0">
                <a:cs typeface="Arial MT"/>
              </a:rPr>
              <a:t>to</a:t>
            </a:r>
            <a:r>
              <a:rPr lang="en-US" spc="-45" dirty="0">
                <a:cs typeface="Arial MT"/>
              </a:rPr>
              <a:t> </a:t>
            </a:r>
            <a:r>
              <a:rPr lang="en-US" dirty="0">
                <a:cs typeface="Arial MT"/>
              </a:rPr>
              <a:t>poor</a:t>
            </a:r>
            <a:r>
              <a:rPr lang="en-US" spc="-45" dirty="0">
                <a:cs typeface="Arial MT"/>
              </a:rPr>
              <a:t> </a:t>
            </a:r>
            <a:r>
              <a:rPr lang="en-US" dirty="0">
                <a:cs typeface="Arial MT"/>
              </a:rPr>
              <a:t>variance</a:t>
            </a:r>
            <a:r>
              <a:rPr lang="en-US" spc="-50" dirty="0">
                <a:cs typeface="Arial MT"/>
              </a:rPr>
              <a:t> </a:t>
            </a:r>
            <a:r>
              <a:rPr lang="en-US" dirty="0">
                <a:cs typeface="Arial MT"/>
              </a:rPr>
              <a:t>control.</a:t>
            </a:r>
            <a:r>
              <a:rPr lang="en-US" spc="-45" dirty="0">
                <a:cs typeface="Arial MT"/>
              </a:rPr>
              <a:t> </a:t>
            </a:r>
            <a:r>
              <a:rPr lang="en-US" spc="-10" dirty="0">
                <a:cs typeface="Arial MT"/>
              </a:rPr>
              <a:t>(disadvantage)</a:t>
            </a:r>
            <a:endParaRPr lang="en-US" dirty="0">
              <a:cs typeface="Arial MT"/>
            </a:endParaRPr>
          </a:p>
          <a:p>
            <a:pPr marL="354965" marR="5080" indent="-342900">
              <a:lnSpc>
                <a:spcPct val="114999"/>
              </a:lnSpc>
              <a:buFont typeface="Arial" panose="020B0604020202020204" pitchFamily="34" charset="0"/>
              <a:buChar char="•"/>
              <a:tabLst>
                <a:tab pos="394335" algn="l"/>
              </a:tabLst>
            </a:pPr>
            <a:endParaRPr lang="en-IN" dirty="0"/>
          </a:p>
        </p:txBody>
      </p:sp>
      <p:sp>
        <p:nvSpPr>
          <p:cNvPr id="2" name="object 2"/>
          <p:cNvSpPr txBox="1">
            <a:spLocks noGrp="1"/>
          </p:cNvSpPr>
          <p:nvPr>
            <p:ph type="title"/>
          </p:nvPr>
        </p:nvSpPr>
        <p:spPr>
          <a:xfrm>
            <a:off x="228600" y="324906"/>
            <a:ext cx="8160907" cy="569387"/>
          </a:xfrm>
          <a:prstGeom prst="rect">
            <a:avLst/>
          </a:prstGeom>
        </p:spPr>
        <p:txBody>
          <a:bodyPr vert="horz" wrap="square" lIns="0" tIns="15240" rIns="0" bIns="0" rtlCol="0" anchor="ctr">
            <a:spAutoFit/>
          </a:bodyPr>
          <a:lstStyle/>
          <a:p>
            <a:pPr marL="12700">
              <a:spcBef>
                <a:spcPts val="120"/>
              </a:spcBef>
            </a:pPr>
            <a:r>
              <a:rPr spc="-20" dirty="0"/>
              <a:t>Adam</a:t>
            </a:r>
            <a:r>
              <a:rPr lang="en-US" spc="-20" dirty="0"/>
              <a:t>-</a:t>
            </a:r>
            <a:r>
              <a:rPr lang="en-IN" dirty="0"/>
              <a:t>Adaptive Moment Estimation</a:t>
            </a:r>
            <a:endParaRPr spc="-20" dirty="0"/>
          </a:p>
        </p:txBody>
      </p:sp>
      <p:pic>
        <p:nvPicPr>
          <p:cNvPr id="6" name="object 4"/>
          <p:cNvPicPr/>
          <p:nvPr/>
        </p:nvPicPr>
        <p:blipFill>
          <a:blip r:embed="rId2" cstate="print"/>
          <a:stretch>
            <a:fillRect/>
          </a:stretch>
        </p:blipFill>
        <p:spPr>
          <a:xfrm>
            <a:off x="1143000" y="5298017"/>
            <a:ext cx="3657600" cy="973665"/>
          </a:xfrm>
          <a:prstGeom prst="rect">
            <a:avLst/>
          </a:prstGeom>
          <a:ln>
            <a:solidFill>
              <a:srgbClr val="C00000"/>
            </a:solidFill>
          </a:ln>
        </p:spPr>
      </p:pic>
      <p:sp>
        <p:nvSpPr>
          <p:cNvPr id="8" name="TextBox 7"/>
          <p:cNvSpPr txBox="1"/>
          <p:nvPr/>
        </p:nvSpPr>
        <p:spPr>
          <a:xfrm>
            <a:off x="5029200" y="5368941"/>
            <a:ext cx="2133918" cy="369332"/>
          </a:xfrm>
          <a:prstGeom prst="rect">
            <a:avLst/>
          </a:prstGeom>
          <a:noFill/>
        </p:spPr>
        <p:txBody>
          <a:bodyPr wrap="none" rtlCol="0">
            <a:spAutoFit/>
          </a:bodyPr>
          <a:lstStyle/>
          <a:p>
            <a:r>
              <a:rPr lang="en-US" dirty="0">
                <a:latin typeface="Cambria" panose="02040503050406030204" pitchFamily="18" charset="0"/>
                <a:ea typeface="Cambria" panose="02040503050406030204" pitchFamily="18" charset="0"/>
                <a:sym typeface="Wingdings" panose="05000000000000000000" pitchFamily="2" charset="2"/>
              </a:rPr>
              <a:t> </a:t>
            </a:r>
            <a:r>
              <a:rPr lang="en-US" dirty="0">
                <a:latin typeface="Cambria" panose="02040503050406030204" pitchFamily="18" charset="0"/>
                <a:ea typeface="Cambria" panose="02040503050406030204" pitchFamily="18" charset="0"/>
              </a:rPr>
              <a:t>V for Momentum</a:t>
            </a:r>
            <a:endParaRPr lang="en-IN" dirty="0">
              <a:latin typeface="Cambria" panose="02040503050406030204" pitchFamily="18" charset="0"/>
              <a:ea typeface="Cambria" panose="02040503050406030204" pitchFamily="18" charset="0"/>
            </a:endParaRPr>
          </a:p>
        </p:txBody>
      </p:sp>
      <p:sp>
        <p:nvSpPr>
          <p:cNvPr id="9" name="TextBox 8"/>
          <p:cNvSpPr txBox="1"/>
          <p:nvPr/>
        </p:nvSpPr>
        <p:spPr>
          <a:xfrm>
            <a:off x="5029200" y="5802103"/>
            <a:ext cx="1888659" cy="369332"/>
          </a:xfrm>
          <a:prstGeom prst="rect">
            <a:avLst/>
          </a:prstGeom>
          <a:noFill/>
        </p:spPr>
        <p:txBody>
          <a:bodyPr wrap="none" rtlCol="0">
            <a:spAutoFit/>
          </a:bodyPr>
          <a:lstStyle/>
          <a:p>
            <a:r>
              <a:rPr lang="en-US" dirty="0">
                <a:latin typeface="Cambria" panose="02040503050406030204" pitchFamily="18" charset="0"/>
                <a:ea typeface="Cambria" panose="02040503050406030204" pitchFamily="18" charset="0"/>
                <a:sym typeface="Wingdings" panose="05000000000000000000" pitchFamily="2" charset="2"/>
              </a:rPr>
              <a:t> S</a:t>
            </a:r>
            <a:r>
              <a:rPr lang="en-US" dirty="0">
                <a:latin typeface="Cambria" panose="02040503050406030204" pitchFamily="18" charset="0"/>
                <a:ea typeface="Cambria" panose="02040503050406030204" pitchFamily="18" charset="0"/>
              </a:rPr>
              <a:t> for </a:t>
            </a:r>
            <a:r>
              <a:rPr lang="en-US" dirty="0" err="1">
                <a:latin typeface="Cambria" panose="02040503050406030204" pitchFamily="18" charset="0"/>
                <a:ea typeface="Cambria" panose="02040503050406030204" pitchFamily="18" charset="0"/>
              </a:rPr>
              <a:t>RMSProp</a:t>
            </a:r>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3469316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idx="10"/>
          </p:nvPr>
        </p:nvSpPr>
        <p:spPr>
          <a:xfrm>
            <a:off x="0" y="1400517"/>
            <a:ext cx="8991600" cy="5305083"/>
          </a:xfrm>
        </p:spPr>
        <p:txBody>
          <a:bodyPr>
            <a:normAutofit/>
          </a:bodyPr>
          <a:lstStyle/>
          <a:p>
            <a:pPr marL="342900" indent="-342900">
              <a:spcBef>
                <a:spcPts val="560"/>
              </a:spcBef>
              <a:buFont typeface="Arial" panose="020B0604020202020204" pitchFamily="34" charset="0"/>
              <a:buChar char="•"/>
            </a:pPr>
            <a:endParaRPr lang="en-US" sz="2000" dirty="0">
              <a:cs typeface="Arial MT"/>
            </a:endParaRPr>
          </a:p>
          <a:p>
            <a:pPr marL="354965" marR="5080" indent="-342900" algn="just">
              <a:lnSpc>
                <a:spcPct val="114999"/>
              </a:lnSpc>
              <a:buFont typeface="Arial" panose="020B0604020202020204" pitchFamily="34" charset="0"/>
              <a:buChar char="•"/>
              <a:tabLst>
                <a:tab pos="394335" algn="l"/>
              </a:tabLst>
            </a:pPr>
            <a:endParaRPr lang="en-US" sz="2000" dirty="0">
              <a:cs typeface="Arial MT"/>
            </a:endParaRPr>
          </a:p>
          <a:p>
            <a:pPr marL="354965" marR="5080" indent="-342900" algn="just">
              <a:lnSpc>
                <a:spcPct val="114999"/>
              </a:lnSpc>
              <a:buFont typeface="Arial" panose="020B0604020202020204" pitchFamily="34" charset="0"/>
              <a:buChar char="•"/>
              <a:tabLst>
                <a:tab pos="394335" algn="l"/>
              </a:tabLst>
            </a:pPr>
            <a:endParaRPr lang="en-US" sz="2000" dirty="0">
              <a:cs typeface="Arial MT"/>
            </a:endParaRPr>
          </a:p>
          <a:p>
            <a:pPr marL="354965" marR="5080" indent="-342900" algn="just">
              <a:lnSpc>
                <a:spcPct val="114999"/>
              </a:lnSpc>
              <a:buFont typeface="Arial" panose="020B0604020202020204" pitchFamily="34" charset="0"/>
              <a:buChar char="•"/>
              <a:tabLst>
                <a:tab pos="394335" algn="l"/>
              </a:tabLst>
            </a:pPr>
            <a:endParaRPr lang="en-US" sz="2000" dirty="0">
              <a:cs typeface="Arial MT"/>
              <a:sym typeface="Symbol" panose="05050102010706020507" pitchFamily="18" charset="2"/>
            </a:endParaRPr>
          </a:p>
          <a:p>
            <a:pPr marL="354965" marR="5080" indent="-342900" algn="just">
              <a:lnSpc>
                <a:spcPct val="114999"/>
              </a:lnSpc>
              <a:buFont typeface="Arial" panose="020B0604020202020204" pitchFamily="34" charset="0"/>
              <a:buChar char="•"/>
              <a:tabLst>
                <a:tab pos="394335" algn="l"/>
              </a:tabLst>
            </a:pPr>
            <a:r>
              <a:rPr lang="en-US" sz="2000" dirty="0">
                <a:cs typeface="Arial MT"/>
                <a:sym typeface="Symbol" panose="05050102010706020507" pitchFamily="18" charset="2"/>
              </a:rPr>
              <a:t></a:t>
            </a:r>
            <a:r>
              <a:rPr lang="en-US" sz="2000" baseline="-25000" dirty="0">
                <a:cs typeface="Arial MT"/>
                <a:sym typeface="Symbol" panose="05050102010706020507" pitchFamily="18" charset="2"/>
              </a:rPr>
              <a:t>1 </a:t>
            </a:r>
            <a:r>
              <a:rPr lang="en-US" sz="2000" dirty="0">
                <a:cs typeface="Arial MT"/>
                <a:sym typeface="Symbol" panose="05050102010706020507" pitchFamily="18" charset="2"/>
              </a:rPr>
              <a:t>and </a:t>
            </a:r>
            <a:r>
              <a:rPr lang="en-US" sz="2000" baseline="-25000" dirty="0">
                <a:cs typeface="Arial MT"/>
                <a:sym typeface="Symbol" panose="05050102010706020507" pitchFamily="18" charset="2"/>
              </a:rPr>
              <a:t>2 </a:t>
            </a:r>
            <a:r>
              <a:rPr lang="en-US" sz="2000" dirty="0">
                <a:cs typeface="Arial MT"/>
              </a:rPr>
              <a:t>are</a:t>
            </a:r>
            <a:r>
              <a:rPr lang="en-US" sz="2000" spc="-135" dirty="0">
                <a:cs typeface="Arial MT"/>
              </a:rPr>
              <a:t> </a:t>
            </a:r>
            <a:r>
              <a:rPr lang="en-US" sz="2000" spc="-10" dirty="0">
                <a:cs typeface="Arial MT"/>
              </a:rPr>
              <a:t>nonnegative</a:t>
            </a:r>
            <a:r>
              <a:rPr lang="en-US" sz="2000" spc="-130" dirty="0">
                <a:cs typeface="Arial MT"/>
              </a:rPr>
              <a:t> </a:t>
            </a:r>
            <a:r>
              <a:rPr lang="en-US" sz="2000" dirty="0">
                <a:cs typeface="Arial MT"/>
              </a:rPr>
              <a:t>weighting</a:t>
            </a:r>
            <a:r>
              <a:rPr lang="en-US" sz="2000" spc="-135" dirty="0">
                <a:cs typeface="Arial MT"/>
              </a:rPr>
              <a:t> </a:t>
            </a:r>
            <a:r>
              <a:rPr lang="en-US" sz="2000" dirty="0">
                <a:cs typeface="Arial MT"/>
              </a:rPr>
              <a:t>parameters.</a:t>
            </a:r>
            <a:r>
              <a:rPr lang="en-US" sz="2000" spc="105" dirty="0">
                <a:cs typeface="Arial MT"/>
              </a:rPr>
              <a:t> </a:t>
            </a:r>
          </a:p>
          <a:p>
            <a:pPr marL="354965" marR="5080" indent="-342900" algn="just">
              <a:lnSpc>
                <a:spcPct val="114999"/>
              </a:lnSpc>
              <a:buFont typeface="Arial" panose="020B0604020202020204" pitchFamily="34" charset="0"/>
              <a:buChar char="•"/>
              <a:tabLst>
                <a:tab pos="394335" algn="l"/>
              </a:tabLst>
            </a:pPr>
            <a:r>
              <a:rPr lang="en-US" sz="2000" dirty="0">
                <a:cs typeface="Arial MT"/>
              </a:rPr>
              <a:t>Common</a:t>
            </a:r>
            <a:r>
              <a:rPr lang="en-US" sz="2000" spc="114" dirty="0">
                <a:cs typeface="Arial MT"/>
              </a:rPr>
              <a:t> </a:t>
            </a:r>
            <a:r>
              <a:rPr lang="en-US" sz="2000" spc="-10" dirty="0">
                <a:cs typeface="Arial MT"/>
              </a:rPr>
              <a:t>choices </a:t>
            </a:r>
            <a:r>
              <a:rPr lang="en-US" sz="2000" dirty="0">
                <a:cs typeface="Arial MT"/>
              </a:rPr>
              <a:t>for</a:t>
            </a:r>
            <a:r>
              <a:rPr lang="en-US" sz="2000" spc="-140" dirty="0">
                <a:cs typeface="Arial MT"/>
              </a:rPr>
              <a:t> </a:t>
            </a:r>
            <a:r>
              <a:rPr lang="en-US" sz="2000" dirty="0">
                <a:cs typeface="Arial MT"/>
              </a:rPr>
              <a:t>them</a:t>
            </a:r>
            <a:r>
              <a:rPr lang="en-US" sz="2000" spc="-135" dirty="0">
                <a:cs typeface="Arial MT"/>
              </a:rPr>
              <a:t> </a:t>
            </a:r>
            <a:r>
              <a:rPr lang="en-US" sz="2000" dirty="0">
                <a:cs typeface="Arial MT"/>
              </a:rPr>
              <a:t>are</a:t>
            </a:r>
            <a:r>
              <a:rPr lang="en-US" sz="2000" spc="-140" dirty="0">
                <a:cs typeface="Arial MT"/>
              </a:rPr>
              <a:t> </a:t>
            </a:r>
            <a:r>
              <a:rPr lang="en-US" sz="2000" dirty="0">
                <a:cs typeface="Arial MT"/>
                <a:sym typeface="Symbol" panose="05050102010706020507" pitchFamily="18" charset="2"/>
              </a:rPr>
              <a:t></a:t>
            </a:r>
            <a:r>
              <a:rPr lang="en-US" sz="2000" baseline="-25000" dirty="0">
                <a:cs typeface="Arial MT"/>
                <a:sym typeface="Symbol" panose="05050102010706020507" pitchFamily="18" charset="2"/>
              </a:rPr>
              <a:t>1</a:t>
            </a:r>
            <a:r>
              <a:rPr lang="en-US" sz="2000" spc="30" dirty="0">
                <a:cs typeface="Arial MT"/>
              </a:rPr>
              <a:t> </a:t>
            </a:r>
            <a:r>
              <a:rPr lang="en-US" sz="2000" dirty="0">
                <a:cs typeface="Arial MT"/>
              </a:rPr>
              <a:t>=</a:t>
            </a:r>
            <a:r>
              <a:rPr lang="en-US" sz="2000" spc="-135" dirty="0">
                <a:cs typeface="Arial MT"/>
              </a:rPr>
              <a:t> </a:t>
            </a:r>
            <a:r>
              <a:rPr lang="en-US" sz="2000" dirty="0">
                <a:cs typeface="Arial MT"/>
              </a:rPr>
              <a:t>0.9</a:t>
            </a:r>
            <a:r>
              <a:rPr lang="en-US" sz="2000" spc="-135" dirty="0">
                <a:cs typeface="Arial MT"/>
              </a:rPr>
              <a:t> </a:t>
            </a:r>
            <a:r>
              <a:rPr lang="en-US" sz="2000" dirty="0">
                <a:cs typeface="Arial MT"/>
              </a:rPr>
              <a:t>and </a:t>
            </a:r>
            <a:r>
              <a:rPr lang="en-US" sz="2000" dirty="0">
                <a:cs typeface="Arial MT"/>
                <a:sym typeface="Symbol" panose="05050102010706020507" pitchFamily="18" charset="2"/>
              </a:rPr>
              <a:t></a:t>
            </a:r>
            <a:r>
              <a:rPr lang="en-US" sz="2000" baseline="-25000" dirty="0">
                <a:cs typeface="Arial MT"/>
                <a:sym typeface="Symbol" panose="05050102010706020507" pitchFamily="18" charset="2"/>
              </a:rPr>
              <a:t>2</a:t>
            </a:r>
            <a:r>
              <a:rPr lang="en-US" sz="2000" spc="30" dirty="0">
                <a:cs typeface="Arial MT"/>
              </a:rPr>
              <a:t> </a:t>
            </a:r>
            <a:r>
              <a:rPr lang="en-US" sz="2000" dirty="0">
                <a:cs typeface="Arial MT"/>
              </a:rPr>
              <a:t>=</a:t>
            </a:r>
            <a:r>
              <a:rPr lang="en-US" sz="2000" spc="70" dirty="0">
                <a:cs typeface="Arial MT"/>
              </a:rPr>
              <a:t> </a:t>
            </a:r>
            <a:r>
              <a:rPr lang="en-US" sz="2000" dirty="0">
                <a:cs typeface="Arial MT"/>
              </a:rPr>
              <a:t>0.999.</a:t>
            </a:r>
            <a:r>
              <a:rPr lang="en-US" sz="2000" spc="65" dirty="0">
                <a:cs typeface="Arial MT"/>
              </a:rPr>
              <a:t> </a:t>
            </a:r>
          </a:p>
          <a:p>
            <a:pPr marL="355600" indent="-342900" algn="just">
              <a:spcBef>
                <a:spcPts val="360"/>
              </a:spcBef>
              <a:buFont typeface="Arial" panose="020B0604020202020204" pitchFamily="34" charset="0"/>
              <a:buChar char="•"/>
              <a:tabLst>
                <a:tab pos="391795" algn="l"/>
              </a:tabLst>
            </a:pPr>
            <a:r>
              <a:rPr lang="en-US" sz="2000" dirty="0">
                <a:cs typeface="Arial MT"/>
              </a:rPr>
              <a:t>Initialize</a:t>
            </a:r>
            <a:r>
              <a:rPr lang="en-US" sz="2000" spc="-35" dirty="0">
                <a:cs typeface="Arial MT"/>
              </a:rPr>
              <a:t> </a:t>
            </a:r>
            <a:r>
              <a:rPr lang="en-US" sz="2000" dirty="0">
                <a:cs typeface="Arial MT"/>
              </a:rPr>
              <a:t>v0</a:t>
            </a:r>
            <a:r>
              <a:rPr lang="en-US" sz="2000" spc="-30" dirty="0">
                <a:cs typeface="Arial MT"/>
              </a:rPr>
              <a:t> </a:t>
            </a:r>
            <a:r>
              <a:rPr lang="en-US" sz="2000" dirty="0">
                <a:cs typeface="Arial MT"/>
              </a:rPr>
              <a:t>=</a:t>
            </a:r>
            <a:r>
              <a:rPr lang="en-US" sz="2000" spc="-30" dirty="0">
                <a:cs typeface="Arial MT"/>
              </a:rPr>
              <a:t> </a:t>
            </a:r>
            <a:r>
              <a:rPr lang="en-US" sz="2000" dirty="0">
                <a:cs typeface="Arial MT"/>
              </a:rPr>
              <a:t>s0</a:t>
            </a:r>
            <a:r>
              <a:rPr lang="en-US" sz="2000" spc="-30" dirty="0">
                <a:cs typeface="Arial MT"/>
              </a:rPr>
              <a:t> </a:t>
            </a:r>
            <a:r>
              <a:rPr lang="en-US" sz="2000" dirty="0">
                <a:cs typeface="Arial MT"/>
              </a:rPr>
              <a:t>=</a:t>
            </a:r>
            <a:r>
              <a:rPr lang="en-US" sz="2000" spc="-30" dirty="0">
                <a:cs typeface="Arial MT"/>
              </a:rPr>
              <a:t> </a:t>
            </a:r>
            <a:r>
              <a:rPr lang="en-US" sz="2000" spc="-50" dirty="0">
                <a:cs typeface="Arial MT"/>
              </a:rPr>
              <a:t>0</a:t>
            </a:r>
            <a:endParaRPr lang="en-US" sz="2000" dirty="0">
              <a:cs typeface="Arial MT"/>
            </a:endParaRPr>
          </a:p>
          <a:p>
            <a:pPr marL="355600" indent="-342900" algn="just">
              <a:spcBef>
                <a:spcPts val="360"/>
              </a:spcBef>
              <a:buFont typeface="Arial" panose="020B0604020202020204" pitchFamily="34" charset="0"/>
              <a:buChar char="•"/>
              <a:tabLst>
                <a:tab pos="391795" algn="l"/>
              </a:tabLst>
            </a:pPr>
            <a:r>
              <a:rPr lang="en-US" sz="2000" dirty="0">
                <a:cs typeface="Arial MT"/>
              </a:rPr>
              <a:t>Normalize</a:t>
            </a:r>
            <a:r>
              <a:rPr lang="en-US" sz="2000" spc="-60" dirty="0">
                <a:cs typeface="Arial MT"/>
              </a:rPr>
              <a:t> </a:t>
            </a:r>
            <a:r>
              <a:rPr lang="en-US" sz="2000" dirty="0">
                <a:cs typeface="Arial MT"/>
              </a:rPr>
              <a:t>the</a:t>
            </a:r>
            <a:r>
              <a:rPr lang="en-US" sz="2000" spc="-60" dirty="0">
                <a:cs typeface="Arial MT"/>
              </a:rPr>
              <a:t> </a:t>
            </a:r>
            <a:r>
              <a:rPr lang="en-US" sz="2000" dirty="0">
                <a:cs typeface="Arial MT"/>
              </a:rPr>
              <a:t>state</a:t>
            </a:r>
            <a:r>
              <a:rPr lang="en-US" sz="2000" spc="-60" dirty="0">
                <a:cs typeface="Arial MT"/>
              </a:rPr>
              <a:t> </a:t>
            </a:r>
            <a:r>
              <a:rPr lang="en-US" sz="2000" spc="-10" dirty="0">
                <a:cs typeface="Arial MT"/>
              </a:rPr>
              <a:t>variables (bias correction)</a:t>
            </a:r>
            <a:r>
              <a:rPr lang="en-US" sz="2000" spc="-10" dirty="0">
                <a:cs typeface="Arial MT"/>
                <a:sym typeface="Wingdings" panose="05000000000000000000" pitchFamily="2" charset="2"/>
              </a:rPr>
              <a:t></a:t>
            </a:r>
            <a:endParaRPr lang="en-US" sz="2000" spc="-10" dirty="0">
              <a:cs typeface="Arial MT"/>
            </a:endParaRPr>
          </a:p>
          <a:p>
            <a:pPr marL="12700" algn="just">
              <a:spcBef>
                <a:spcPts val="360"/>
              </a:spcBef>
              <a:tabLst>
                <a:tab pos="391795" algn="l"/>
              </a:tabLst>
            </a:pPr>
            <a:r>
              <a:rPr lang="en-IN" sz="1800" dirty="0">
                <a:solidFill>
                  <a:srgbClr val="00B0F0"/>
                </a:solidFill>
              </a:rPr>
              <a:t>Bias-correction helps Adam slightly outperform </a:t>
            </a:r>
            <a:r>
              <a:rPr lang="en-IN" sz="1800" dirty="0" err="1">
                <a:solidFill>
                  <a:srgbClr val="00B0F0"/>
                </a:solidFill>
              </a:rPr>
              <a:t>RMSprop</a:t>
            </a:r>
            <a:endParaRPr lang="en-US" sz="1800" spc="-10" dirty="0">
              <a:solidFill>
                <a:srgbClr val="00B0F0"/>
              </a:solidFill>
              <a:cs typeface="Arial MT"/>
            </a:endParaRPr>
          </a:p>
          <a:p>
            <a:pPr marL="355600" indent="-342900">
              <a:spcBef>
                <a:spcPts val="100"/>
              </a:spcBef>
              <a:buFont typeface="Arial" panose="020B0604020202020204" pitchFamily="34" charset="0"/>
              <a:buChar char="•"/>
              <a:tabLst>
                <a:tab pos="394335" algn="l"/>
              </a:tabLst>
            </a:pPr>
            <a:endParaRPr lang="en-US" sz="2000" dirty="0">
              <a:cs typeface="Arial MT"/>
            </a:endParaRPr>
          </a:p>
          <a:p>
            <a:pPr marL="355600" indent="-342900">
              <a:spcBef>
                <a:spcPts val="100"/>
              </a:spcBef>
              <a:buFont typeface="Arial" panose="020B0604020202020204" pitchFamily="34" charset="0"/>
              <a:buChar char="•"/>
              <a:tabLst>
                <a:tab pos="394335" algn="l"/>
              </a:tabLst>
            </a:pPr>
            <a:r>
              <a:rPr lang="en-US" sz="2000" dirty="0">
                <a:cs typeface="Arial MT"/>
              </a:rPr>
              <a:t>Rescale</a:t>
            </a:r>
            <a:r>
              <a:rPr lang="en-US" sz="2000" spc="-65" dirty="0">
                <a:cs typeface="Arial MT"/>
              </a:rPr>
              <a:t> </a:t>
            </a:r>
            <a:r>
              <a:rPr lang="en-US" sz="2000" dirty="0">
                <a:cs typeface="Arial MT"/>
              </a:rPr>
              <a:t>the</a:t>
            </a:r>
            <a:r>
              <a:rPr lang="en-US" sz="2000" spc="-60" dirty="0">
                <a:cs typeface="Arial MT"/>
              </a:rPr>
              <a:t> </a:t>
            </a:r>
            <a:r>
              <a:rPr lang="en-US" sz="2000" spc="-10" dirty="0">
                <a:cs typeface="Arial MT"/>
              </a:rPr>
              <a:t>gradient  </a:t>
            </a:r>
            <a:r>
              <a:rPr lang="en-US" sz="2000" spc="-10" dirty="0">
                <a:cs typeface="Arial MT"/>
                <a:sym typeface="Wingdings" panose="05000000000000000000" pitchFamily="2" charset="2"/>
              </a:rPr>
              <a:t></a:t>
            </a:r>
            <a:endParaRPr lang="en-US" sz="2000" dirty="0">
              <a:cs typeface="Arial MT"/>
            </a:endParaRPr>
          </a:p>
          <a:p>
            <a:pPr marL="342900" indent="-342900">
              <a:lnSpc>
                <a:spcPct val="100000"/>
              </a:lnSpc>
              <a:buFont typeface="Arial" panose="020B0604020202020204" pitchFamily="34" charset="0"/>
              <a:buChar char="•"/>
            </a:pPr>
            <a:endParaRPr lang="en-US" sz="2000" dirty="0">
              <a:cs typeface="Arial MT"/>
            </a:endParaRPr>
          </a:p>
          <a:p>
            <a:pPr marL="342900" indent="-342900">
              <a:spcBef>
                <a:spcPts val="919"/>
              </a:spcBef>
              <a:buFont typeface="Arial" panose="020B0604020202020204" pitchFamily="34" charset="0"/>
              <a:buChar char="•"/>
            </a:pPr>
            <a:endParaRPr lang="en-US" sz="2000" dirty="0">
              <a:cs typeface="Arial MT"/>
            </a:endParaRPr>
          </a:p>
          <a:p>
            <a:pPr marL="355600" indent="-342900">
              <a:buFont typeface="Arial" panose="020B0604020202020204" pitchFamily="34" charset="0"/>
              <a:buChar char="•"/>
              <a:tabLst>
                <a:tab pos="394335" algn="l"/>
              </a:tabLst>
            </a:pPr>
            <a:r>
              <a:rPr lang="en-US" sz="2000" dirty="0">
                <a:cs typeface="Arial MT"/>
              </a:rPr>
              <a:t>Compute</a:t>
            </a:r>
            <a:r>
              <a:rPr lang="en-US" sz="2000" spc="-35" dirty="0">
                <a:cs typeface="Arial MT"/>
              </a:rPr>
              <a:t> </a:t>
            </a:r>
            <a:r>
              <a:rPr lang="en-US" sz="2000" spc="-10" dirty="0">
                <a:cs typeface="Arial MT"/>
              </a:rPr>
              <a:t>updates </a:t>
            </a:r>
            <a:r>
              <a:rPr lang="en-US" sz="2000" spc="-10" dirty="0">
                <a:cs typeface="Arial MT"/>
                <a:sym typeface="Wingdings" panose="05000000000000000000" pitchFamily="2" charset="2"/>
              </a:rPr>
              <a:t></a:t>
            </a:r>
            <a:endParaRPr lang="en-US" sz="2000" dirty="0">
              <a:cs typeface="Arial MT"/>
            </a:endParaRPr>
          </a:p>
          <a:p>
            <a:pPr marL="355600" indent="-342900" algn="just">
              <a:spcBef>
                <a:spcPts val="360"/>
              </a:spcBef>
              <a:buFont typeface="Arial" panose="020B0604020202020204" pitchFamily="34" charset="0"/>
              <a:buChar char="•"/>
              <a:tabLst>
                <a:tab pos="391795" algn="l"/>
              </a:tabLst>
            </a:pPr>
            <a:endParaRPr lang="en-US" sz="2000" dirty="0">
              <a:cs typeface="Arial MT"/>
            </a:endParaRPr>
          </a:p>
          <a:p>
            <a:pPr marL="342900" indent="-342900">
              <a:buFont typeface="Arial" panose="020B0604020202020204" pitchFamily="34" charset="0"/>
              <a:buChar char="•"/>
            </a:pPr>
            <a:endParaRPr lang="en-IN" sz="2000" dirty="0"/>
          </a:p>
        </p:txBody>
      </p:sp>
      <p:sp>
        <p:nvSpPr>
          <p:cNvPr id="2" name="object 2"/>
          <p:cNvSpPr txBox="1">
            <a:spLocks noGrp="1"/>
          </p:cNvSpPr>
          <p:nvPr>
            <p:ph type="title"/>
          </p:nvPr>
        </p:nvSpPr>
        <p:spPr>
          <a:prstGeom prst="rect">
            <a:avLst/>
          </a:prstGeom>
        </p:spPr>
        <p:txBody>
          <a:bodyPr vert="horz" wrap="square" lIns="0" tIns="15240" rIns="0" bIns="0" rtlCol="0" anchor="ctr">
            <a:spAutoFit/>
          </a:bodyPr>
          <a:lstStyle/>
          <a:p>
            <a:pPr marL="12700">
              <a:spcBef>
                <a:spcPts val="120"/>
              </a:spcBef>
            </a:pPr>
            <a:r>
              <a:rPr dirty="0"/>
              <a:t>Adam</a:t>
            </a:r>
            <a:r>
              <a:rPr spc="-140" dirty="0"/>
              <a:t> </a:t>
            </a:r>
            <a:r>
              <a:rPr spc="-10" dirty="0"/>
              <a:t>Algorithm</a:t>
            </a:r>
          </a:p>
        </p:txBody>
      </p:sp>
      <p:sp>
        <p:nvSpPr>
          <p:cNvPr id="6" name="object 6"/>
          <p:cNvSpPr txBox="1">
            <a:spLocks noGrp="1"/>
          </p:cNvSpPr>
          <p:nvPr>
            <p:ph type="sldNum" sz="quarter" idx="4294967295"/>
          </p:nvPr>
        </p:nvSpPr>
        <p:spPr>
          <a:xfrm>
            <a:off x="8913813" y="5784850"/>
            <a:ext cx="230187" cy="831850"/>
          </a:xfrm>
          <a:prstGeom prst="rect">
            <a:avLst/>
          </a:prstGeom>
        </p:spPr>
        <p:txBody>
          <a:bodyPr vert="horz" wrap="square" lIns="0" tIns="635" rIns="0" bIns="0" rtlCol="0">
            <a:spAutoFit/>
          </a:bodyPr>
          <a:lstStyle/>
          <a:p>
            <a:pPr marL="38100">
              <a:spcBef>
                <a:spcPts val="5"/>
              </a:spcBef>
            </a:pPr>
            <a:fld id="{81D60167-4931-47E6-BA6A-407CBD079E47}" type="slidenum">
              <a:rPr spc="-25" dirty="0"/>
              <a:pPr marL="38100">
                <a:spcBef>
                  <a:spcPts val="5"/>
                </a:spcBef>
              </a:pPr>
              <a:t>46</a:t>
            </a:fld>
            <a:endParaRPr spc="-25" dirty="0"/>
          </a:p>
        </p:txBody>
      </p:sp>
      <p:pic>
        <p:nvPicPr>
          <p:cNvPr id="4" name="object 4"/>
          <p:cNvPicPr/>
          <p:nvPr/>
        </p:nvPicPr>
        <p:blipFill>
          <a:blip r:embed="rId3" cstate="print"/>
          <a:stretch>
            <a:fillRect/>
          </a:stretch>
        </p:blipFill>
        <p:spPr>
          <a:xfrm>
            <a:off x="639739" y="1389278"/>
            <a:ext cx="3657600" cy="973665"/>
          </a:xfrm>
          <a:prstGeom prst="rect">
            <a:avLst/>
          </a:prstGeom>
          <a:ln>
            <a:solidFill>
              <a:srgbClr val="C00000"/>
            </a:solidFill>
          </a:ln>
        </p:spPr>
      </p:pic>
      <p:pic>
        <p:nvPicPr>
          <p:cNvPr id="5" name="object 5"/>
          <p:cNvPicPr/>
          <p:nvPr/>
        </p:nvPicPr>
        <p:blipFill>
          <a:blip r:embed="rId4" cstate="print"/>
          <a:stretch>
            <a:fillRect/>
          </a:stretch>
        </p:blipFill>
        <p:spPr>
          <a:xfrm>
            <a:off x="5834364" y="3657129"/>
            <a:ext cx="3079449" cy="791858"/>
          </a:xfrm>
          <a:prstGeom prst="rect">
            <a:avLst/>
          </a:prstGeom>
          <a:ln>
            <a:solidFill>
              <a:srgbClr val="C00000"/>
            </a:solidFill>
          </a:ln>
        </p:spPr>
      </p:pic>
      <p:pic>
        <p:nvPicPr>
          <p:cNvPr id="8" name="object 4"/>
          <p:cNvPicPr/>
          <p:nvPr/>
        </p:nvPicPr>
        <p:blipFill>
          <a:blip r:embed="rId5" cstate="print"/>
          <a:stretch>
            <a:fillRect/>
          </a:stretch>
        </p:blipFill>
        <p:spPr>
          <a:xfrm>
            <a:off x="3029975" y="4695543"/>
            <a:ext cx="1703600" cy="778449"/>
          </a:xfrm>
          <a:prstGeom prst="rect">
            <a:avLst/>
          </a:prstGeom>
          <a:ln>
            <a:solidFill>
              <a:srgbClr val="C00000"/>
            </a:solidFill>
          </a:ln>
        </p:spPr>
      </p:pic>
      <p:pic>
        <p:nvPicPr>
          <p:cNvPr id="9" name="object 5"/>
          <p:cNvPicPr/>
          <p:nvPr/>
        </p:nvPicPr>
        <p:blipFill>
          <a:blip r:embed="rId6" cstate="print"/>
          <a:stretch>
            <a:fillRect/>
          </a:stretch>
        </p:blipFill>
        <p:spPr>
          <a:xfrm>
            <a:off x="2704951" y="5953875"/>
            <a:ext cx="2028624" cy="493799"/>
          </a:xfrm>
          <a:prstGeom prst="rect">
            <a:avLst/>
          </a:prstGeom>
          <a:ln>
            <a:solidFill>
              <a:srgbClr val="C00000"/>
            </a:solidFill>
          </a:ln>
        </p:spPr>
      </p:pic>
      <p:sp>
        <p:nvSpPr>
          <p:cNvPr id="10" name="Rectangle 9"/>
          <p:cNvSpPr/>
          <p:nvPr/>
        </p:nvSpPr>
        <p:spPr>
          <a:xfrm>
            <a:off x="4800600" y="1400517"/>
            <a:ext cx="4191000" cy="1200329"/>
          </a:xfrm>
          <a:prstGeom prst="rect">
            <a:avLst/>
          </a:prstGeom>
        </p:spPr>
        <p:txBody>
          <a:bodyPr wrap="square">
            <a:spAutoFit/>
          </a:bodyPr>
          <a:lstStyle/>
          <a:p>
            <a:pPr marL="285750" indent="-285750">
              <a:buFont typeface="Wingdings" panose="05000000000000000000" pitchFamily="2" charset="2"/>
              <a:buChar char="ß"/>
            </a:pPr>
            <a:r>
              <a:rPr lang="en-US" b="0" i="0" dirty="0">
                <a:solidFill>
                  <a:srgbClr val="15171A"/>
                </a:solidFill>
                <a:effectLst/>
                <a:latin typeface="Georgia" panose="02040502050405020303" pitchFamily="18" charset="0"/>
              </a:rPr>
              <a:t>first moment (the mean)of gradient</a:t>
            </a:r>
          </a:p>
          <a:p>
            <a:pPr marL="285750" indent="-285750">
              <a:buFont typeface="Wingdings" panose="05000000000000000000" pitchFamily="2" charset="2"/>
              <a:buChar char="ß"/>
            </a:pPr>
            <a:endParaRPr lang="en-US" b="0" i="0" dirty="0">
              <a:solidFill>
                <a:srgbClr val="15171A"/>
              </a:solidFill>
              <a:effectLst/>
              <a:latin typeface="Georgia" panose="02040502050405020303" pitchFamily="18" charset="0"/>
            </a:endParaRPr>
          </a:p>
          <a:p>
            <a:r>
              <a:rPr lang="en-US" b="0" i="0" dirty="0">
                <a:solidFill>
                  <a:srgbClr val="15171A"/>
                </a:solidFill>
                <a:effectLst/>
                <a:latin typeface="Georgia" panose="02040502050405020303" pitchFamily="18" charset="0"/>
                <a:sym typeface="Wingdings" panose="05000000000000000000" pitchFamily="2" charset="2"/>
              </a:rPr>
              <a:t></a:t>
            </a:r>
            <a:r>
              <a:rPr lang="en-US" b="0" i="0" dirty="0">
                <a:solidFill>
                  <a:srgbClr val="15171A"/>
                </a:solidFill>
                <a:effectLst/>
                <a:latin typeface="Georgia" panose="02040502050405020303" pitchFamily="18" charset="0"/>
              </a:rPr>
              <a:t>second moment (</a:t>
            </a:r>
            <a:r>
              <a:rPr lang="en-US" b="0" i="0" dirty="0" err="1">
                <a:solidFill>
                  <a:srgbClr val="15171A"/>
                </a:solidFill>
                <a:effectLst/>
                <a:latin typeface="Georgia" panose="02040502050405020303" pitchFamily="18" charset="0"/>
              </a:rPr>
              <a:t>uncentered</a:t>
            </a:r>
            <a:r>
              <a:rPr lang="en-US" b="0" i="0" dirty="0">
                <a:solidFill>
                  <a:srgbClr val="15171A"/>
                </a:solidFill>
                <a:effectLst/>
                <a:latin typeface="Georgia" panose="02040502050405020303" pitchFamily="18" charset="0"/>
              </a:rPr>
              <a:t> variance) of gradients</a:t>
            </a:r>
            <a:endParaRPr lang="en-IN" dirty="0"/>
          </a:p>
        </p:txBody>
      </p:sp>
    </p:spTree>
    <p:extLst>
      <p:ext uri="{BB962C8B-B14F-4D97-AF65-F5344CB8AC3E}">
        <p14:creationId xmlns:p14="http://schemas.microsoft.com/office/powerpoint/2010/main" val="41826904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Optimization algorithm comparison</a:t>
            </a:r>
            <a:endParaRPr lang="en-IN" dirty="0"/>
          </a:p>
        </p:txBody>
      </p:sp>
      <p:pic>
        <p:nvPicPr>
          <p:cNvPr id="8" name="Picture 7"/>
          <p:cNvPicPr>
            <a:picLocks noChangeAspect="1"/>
          </p:cNvPicPr>
          <p:nvPr/>
        </p:nvPicPr>
        <p:blipFill>
          <a:blip r:embed="rId2"/>
          <a:stretch>
            <a:fillRect/>
          </a:stretch>
        </p:blipFill>
        <p:spPr>
          <a:xfrm>
            <a:off x="5753100" y="3100678"/>
            <a:ext cx="2209800" cy="904875"/>
          </a:xfrm>
          <a:prstGeom prst="rect">
            <a:avLst/>
          </a:prstGeom>
          <a:ln>
            <a:solidFill>
              <a:srgbClr val="FF0000"/>
            </a:solidFill>
          </a:ln>
        </p:spPr>
      </p:pic>
      <p:pic>
        <p:nvPicPr>
          <p:cNvPr id="9" name="Picture 8"/>
          <p:cNvPicPr>
            <a:picLocks noChangeAspect="1"/>
          </p:cNvPicPr>
          <p:nvPr/>
        </p:nvPicPr>
        <p:blipFill>
          <a:blip r:embed="rId3"/>
          <a:stretch>
            <a:fillRect/>
          </a:stretch>
        </p:blipFill>
        <p:spPr>
          <a:xfrm>
            <a:off x="5753100" y="4240633"/>
            <a:ext cx="2859195" cy="1045724"/>
          </a:xfrm>
          <a:prstGeom prst="rect">
            <a:avLst/>
          </a:prstGeom>
          <a:ln>
            <a:solidFill>
              <a:srgbClr val="C00000"/>
            </a:solidFill>
          </a:ln>
        </p:spPr>
      </p:pic>
      <p:pic>
        <p:nvPicPr>
          <p:cNvPr id="10" name="object 4"/>
          <p:cNvPicPr/>
          <p:nvPr/>
        </p:nvPicPr>
        <p:blipFill>
          <a:blip r:embed="rId4" cstate="print"/>
          <a:stretch>
            <a:fillRect/>
          </a:stretch>
        </p:blipFill>
        <p:spPr>
          <a:xfrm>
            <a:off x="5907172" y="5582192"/>
            <a:ext cx="2856920" cy="836812"/>
          </a:xfrm>
          <a:prstGeom prst="rect">
            <a:avLst/>
          </a:prstGeom>
          <a:ln>
            <a:solidFill>
              <a:srgbClr val="C00000"/>
            </a:solidFill>
          </a:ln>
        </p:spPr>
      </p:pic>
      <mc:AlternateContent xmlns:mc="http://schemas.openxmlformats.org/markup-compatibility/2006" xmlns:a14="http://schemas.microsoft.com/office/drawing/2010/main">
        <mc:Choice Requires="a14">
          <p:sp>
            <p:nvSpPr>
              <p:cNvPr id="11" name="Rectangle 10"/>
              <p:cNvSpPr/>
              <p:nvPr/>
            </p:nvSpPr>
            <p:spPr>
              <a:xfrm>
                <a:off x="5509192" y="1424213"/>
                <a:ext cx="3254900" cy="400110"/>
              </a:xfrm>
              <a:prstGeom prst="rect">
                <a:avLst/>
              </a:prstGeom>
              <a:ln>
                <a:solidFill>
                  <a:srgbClr val="FF0000"/>
                </a:solidFill>
              </a:ln>
            </p:spPr>
            <p:txBody>
              <a:bodyPr wrap="square">
                <a:spAutoFit/>
              </a:bodyPr>
              <a:lstStyle/>
              <a:p>
                <a:pPr algn="l"/>
                <a14:m>
                  <m:oMathPara xmlns:m="http://schemas.openxmlformats.org/officeDocument/2006/math">
                    <m:oMathParaPr>
                      <m:jc m:val="left"/>
                    </m:oMathParaPr>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𝑤</m:t>
                          </m:r>
                        </m:e>
                        <m:sub>
                          <m:r>
                            <a:rPr lang="en-US" sz="2000" i="1">
                              <a:latin typeface="Cambria Math" panose="02040503050406030204" pitchFamily="18" charset="0"/>
                            </a:rPr>
                            <m:t>𝑡</m:t>
                          </m:r>
                          <m:r>
                            <a:rPr lang="en-US" sz="2000" i="1">
                              <a:latin typeface="Cambria Math" panose="02040503050406030204" pitchFamily="18" charset="0"/>
                            </a:rPr>
                            <m:t> ← </m:t>
                          </m:r>
                        </m:sub>
                      </m:sSub>
                      <m:sSub>
                        <m:sSubPr>
                          <m:ctrlPr>
                            <a:rPr lang="en-US" sz="2000" i="1">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𝑤</m:t>
                          </m:r>
                        </m:e>
                        <m:sub>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−1</m:t>
                          </m:r>
                        </m:sub>
                      </m:sSub>
                      <m:r>
                        <a:rPr lang="en-US" sz="2000" b="0" i="1" smtClean="0">
                          <a:latin typeface="Cambria Math" panose="02040503050406030204" pitchFamily="18" charset="0"/>
                          <a:ea typeface="Cambria Math" panose="02040503050406030204" pitchFamily="18" charset="0"/>
                        </a:rPr>
                        <m:t>− </m:t>
                      </m:r>
                      <m:r>
                        <a:rPr lang="en-US" sz="2000" i="1" smtClean="0">
                          <a:latin typeface="Cambria Math" panose="02040503050406030204" pitchFamily="18" charset="0"/>
                          <a:ea typeface="Cambria Math" panose="02040503050406030204" pitchFamily="18" charset="0"/>
                          <a:sym typeface="Symbol" panose="05050102010706020507" pitchFamily="18" charset="2"/>
                        </a:rPr>
                        <m:t></m:t>
                      </m:r>
                      <m:r>
                        <a:rPr lang="en-US" sz="2000" b="0" i="1" smtClean="0">
                          <a:latin typeface="Cambria Math" panose="02040503050406030204" pitchFamily="18" charset="0"/>
                          <a:ea typeface="Cambria Math" panose="02040503050406030204" pitchFamily="18" charset="0"/>
                          <a:sym typeface="Symbol" panose="05050102010706020507" pitchFamily="18" charset="2"/>
                        </a:rPr>
                        <m:t> </m:t>
                      </m:r>
                      <m:sSub>
                        <m:sSubPr>
                          <m:ctrlPr>
                            <a:rPr lang="en-US" sz="2000" i="1">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𝑔</m:t>
                          </m:r>
                        </m:e>
                        <m:sub>
                          <m:r>
                            <a:rPr lang="en-US" sz="2000" i="1">
                              <a:latin typeface="Cambria Math" panose="02040503050406030204" pitchFamily="18" charset="0"/>
                              <a:ea typeface="Cambria Math" panose="02040503050406030204" pitchFamily="18" charset="0"/>
                            </a:rPr>
                            <m:t>𝑡</m:t>
                          </m:r>
                        </m:sub>
                      </m:sSub>
                    </m:oMath>
                  </m:oMathPara>
                </a14:m>
                <a:endParaRPr lang="en-US" sz="2000" dirty="0"/>
              </a:p>
            </p:txBody>
          </p:sp>
        </mc:Choice>
        <mc:Fallback xmlns="">
          <p:sp>
            <p:nvSpPr>
              <p:cNvPr id="11" name="Rectangle 10"/>
              <p:cNvSpPr>
                <a:spLocks noRot="1" noChangeAspect="1" noMove="1" noResize="1" noEditPoints="1" noAdjustHandles="1" noChangeArrowheads="1" noChangeShapeType="1" noTextEdit="1"/>
              </p:cNvSpPr>
              <p:nvPr/>
            </p:nvSpPr>
            <p:spPr>
              <a:xfrm>
                <a:off x="5509192" y="1424213"/>
                <a:ext cx="3254900" cy="400110"/>
              </a:xfrm>
              <a:prstGeom prst="rect">
                <a:avLst/>
              </a:prstGeom>
              <a:blipFill rotWithShape="0">
                <a:blip r:embed="rId5"/>
                <a:stretch>
                  <a:fillRect b="-8955"/>
                </a:stretch>
              </a:blipFill>
              <a:ln>
                <a:solidFill>
                  <a:srgbClr val="FF0000"/>
                </a:solidFill>
              </a:ln>
            </p:spPr>
            <p:txBody>
              <a:bodyPr/>
              <a:lstStyle/>
              <a:p>
                <a:r>
                  <a:rPr lang="en-IN">
                    <a:noFill/>
                  </a:rPr>
                  <a:t> </a:t>
                </a:r>
              </a:p>
            </p:txBody>
          </p:sp>
        </mc:Fallback>
      </mc:AlternateContent>
      <p:sp>
        <p:nvSpPr>
          <p:cNvPr id="12" name="Rectangle 11"/>
          <p:cNvSpPr/>
          <p:nvPr/>
        </p:nvSpPr>
        <p:spPr>
          <a:xfrm>
            <a:off x="3007109" y="1424213"/>
            <a:ext cx="2125903" cy="400110"/>
          </a:xfrm>
          <a:prstGeom prst="rect">
            <a:avLst/>
          </a:prstGeom>
        </p:spPr>
        <p:txBody>
          <a:bodyPr wrap="none">
            <a:spAutoFit/>
          </a:bodyPr>
          <a:lstStyle/>
          <a:p>
            <a:r>
              <a:rPr lang="en-US" sz="2000" dirty="0">
                <a:latin typeface="Cambria" panose="02040503050406030204" pitchFamily="18" charset="0"/>
                <a:ea typeface="Cambria" panose="02040503050406030204" pitchFamily="18" charset="0"/>
              </a:rPr>
              <a:t>Gradient Descent </a:t>
            </a:r>
          </a:p>
        </p:txBody>
      </p:sp>
      <p:sp>
        <p:nvSpPr>
          <p:cNvPr id="13" name="Rectangle 12"/>
          <p:cNvSpPr/>
          <p:nvPr/>
        </p:nvSpPr>
        <p:spPr>
          <a:xfrm>
            <a:off x="685800" y="2160668"/>
            <a:ext cx="4642618" cy="707886"/>
          </a:xfrm>
          <a:prstGeom prst="rect">
            <a:avLst/>
          </a:prstGeom>
        </p:spPr>
        <p:txBody>
          <a:bodyPr wrap="none">
            <a:spAutoFit/>
          </a:bodyPr>
          <a:lstStyle/>
          <a:p>
            <a:r>
              <a:rPr lang="en-US" sz="2000" dirty="0">
                <a:latin typeface="Cambria" panose="02040503050406030204" pitchFamily="18" charset="0"/>
                <a:ea typeface="Cambria" panose="02040503050406030204" pitchFamily="18" charset="0"/>
              </a:rPr>
              <a:t>GD with Momentum: replaces gradients</a:t>
            </a:r>
          </a:p>
          <a:p>
            <a:r>
              <a:rPr lang="en-US" sz="2000" dirty="0">
                <a:latin typeface="Cambria" panose="02040503050406030204" pitchFamily="18" charset="0"/>
                <a:ea typeface="Cambria" panose="02040503050406030204" pitchFamily="18" charset="0"/>
              </a:rPr>
              <a:t> with a leaky average over past gradients</a:t>
            </a:r>
          </a:p>
        </p:txBody>
      </p:sp>
      <p:sp>
        <p:nvSpPr>
          <p:cNvPr id="14" name="Rectangle 13"/>
          <p:cNvSpPr/>
          <p:nvPr/>
        </p:nvSpPr>
        <p:spPr>
          <a:xfrm>
            <a:off x="1124560" y="3304271"/>
            <a:ext cx="4390946" cy="707886"/>
          </a:xfrm>
          <a:prstGeom prst="rect">
            <a:avLst/>
          </a:prstGeom>
        </p:spPr>
        <p:txBody>
          <a:bodyPr wrap="none">
            <a:spAutoFit/>
          </a:bodyPr>
          <a:lstStyle/>
          <a:p>
            <a:r>
              <a:rPr lang="en-US" sz="2000" dirty="0" err="1">
                <a:latin typeface="Cambria" panose="02040503050406030204" pitchFamily="18" charset="0"/>
                <a:ea typeface="Cambria" panose="02040503050406030204" pitchFamily="18" charset="0"/>
              </a:rPr>
              <a:t>AdaGrad</a:t>
            </a:r>
            <a:r>
              <a:rPr lang="en-US" sz="2000" dirty="0">
                <a:latin typeface="Cambria" panose="02040503050406030204" pitchFamily="18" charset="0"/>
                <a:ea typeface="Cambria" panose="02040503050406030204" pitchFamily="18" charset="0"/>
              </a:rPr>
              <a:t> (Adaptive learning rate): An </a:t>
            </a:r>
          </a:p>
          <a:p>
            <a:r>
              <a:rPr lang="en-US" sz="2000" dirty="0">
                <a:latin typeface="Cambria" panose="02040503050406030204" pitchFamily="18" charset="0"/>
                <a:ea typeface="Cambria" panose="02040503050406030204" pitchFamily="18" charset="0"/>
              </a:rPr>
              <a:t>individual learning rate per parameter</a:t>
            </a:r>
          </a:p>
        </p:txBody>
      </p:sp>
      <p:sp>
        <p:nvSpPr>
          <p:cNvPr id="15" name="Rectangle 14"/>
          <p:cNvSpPr/>
          <p:nvPr/>
        </p:nvSpPr>
        <p:spPr>
          <a:xfrm>
            <a:off x="1579873" y="4474985"/>
            <a:ext cx="3964547" cy="707886"/>
          </a:xfrm>
          <a:prstGeom prst="rect">
            <a:avLst/>
          </a:prstGeom>
        </p:spPr>
        <p:txBody>
          <a:bodyPr wrap="none">
            <a:spAutoFit/>
          </a:bodyPr>
          <a:lstStyle/>
          <a:p>
            <a:r>
              <a:rPr lang="en-US" sz="2000" dirty="0" err="1">
                <a:latin typeface="Cambria" panose="02040503050406030204" pitchFamily="18" charset="0"/>
                <a:ea typeface="Cambria" panose="02040503050406030204" pitchFamily="18" charset="0"/>
              </a:rPr>
              <a:t>RMSProp</a:t>
            </a:r>
            <a:r>
              <a:rPr lang="en-US" sz="2000" dirty="0">
                <a:latin typeface="Cambria" panose="02040503050406030204" pitchFamily="18" charset="0"/>
                <a:ea typeface="Cambria" panose="02040503050406030204" pitchFamily="18" charset="0"/>
              </a:rPr>
              <a:t> : exponentially decaying </a:t>
            </a:r>
          </a:p>
          <a:p>
            <a:r>
              <a:rPr lang="en-US" sz="2000" dirty="0">
                <a:latin typeface="Cambria" panose="02040503050406030204" pitchFamily="18" charset="0"/>
                <a:ea typeface="Cambria" panose="02040503050406030204" pitchFamily="18" charset="0"/>
              </a:rPr>
              <a:t>average of past squared gradients</a:t>
            </a:r>
          </a:p>
        </p:txBody>
      </p:sp>
      <p:sp>
        <p:nvSpPr>
          <p:cNvPr id="17" name="Rectangle 16"/>
          <p:cNvSpPr/>
          <p:nvPr/>
        </p:nvSpPr>
        <p:spPr>
          <a:xfrm>
            <a:off x="253621" y="5508280"/>
            <a:ext cx="5346335" cy="1015663"/>
          </a:xfrm>
          <a:prstGeom prst="rect">
            <a:avLst/>
          </a:prstGeom>
        </p:spPr>
        <p:txBody>
          <a:bodyPr wrap="none">
            <a:spAutoFit/>
          </a:bodyPr>
          <a:lstStyle/>
          <a:p>
            <a:r>
              <a:rPr lang="en-US" sz="2000" dirty="0">
                <a:latin typeface="Cambria" panose="02040503050406030204" pitchFamily="18" charset="0"/>
                <a:ea typeface="Cambria" panose="02040503050406030204" pitchFamily="18" charset="0"/>
              </a:rPr>
              <a:t>Adam :  exponentially decaying average of past </a:t>
            </a:r>
          </a:p>
          <a:p>
            <a:r>
              <a:rPr lang="en-US" sz="2000" dirty="0">
                <a:latin typeface="Cambria" panose="02040503050406030204" pitchFamily="18" charset="0"/>
                <a:ea typeface="Cambria" panose="02040503050406030204" pitchFamily="18" charset="0"/>
              </a:rPr>
              <a:t>gradients + exponentially decaying average of</a:t>
            </a:r>
          </a:p>
          <a:p>
            <a:r>
              <a:rPr lang="en-US" sz="2000" dirty="0">
                <a:latin typeface="Cambria" panose="02040503050406030204" pitchFamily="18" charset="0"/>
                <a:ea typeface="Cambria" panose="02040503050406030204" pitchFamily="18" charset="0"/>
              </a:rPr>
              <a:t> past squared gradients</a:t>
            </a:r>
          </a:p>
        </p:txBody>
      </p:sp>
      <mc:AlternateContent xmlns:mc="http://schemas.openxmlformats.org/markup-compatibility/2006" xmlns:a14="http://schemas.microsoft.com/office/drawing/2010/main">
        <mc:Choice Requires="a14">
          <p:sp>
            <p:nvSpPr>
              <p:cNvPr id="19" name="Rectangle 18"/>
              <p:cNvSpPr/>
              <p:nvPr/>
            </p:nvSpPr>
            <p:spPr>
              <a:xfrm>
                <a:off x="5523909" y="2134911"/>
                <a:ext cx="3254900" cy="721288"/>
              </a:xfrm>
              <a:prstGeom prst="rect">
                <a:avLst/>
              </a:prstGeom>
              <a:ln>
                <a:solidFill>
                  <a:srgbClr val="FF0000"/>
                </a:solidFill>
              </a:ln>
            </p:spPr>
            <p:txBody>
              <a:bodyPr wrap="square">
                <a:spAutoFit/>
              </a:bodyPr>
              <a:lstStyle/>
              <a:p>
                <a:pPr algn="l"/>
                <a14:m>
                  <m:oMathPara xmlns:m="http://schemas.openxmlformats.org/officeDocument/2006/math">
                    <m:oMathParaPr>
                      <m:jc m:val="left"/>
                    </m:oMathParaPr>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𝑣</m:t>
                          </m:r>
                        </m:e>
                        <m:sub>
                          <m:r>
                            <a:rPr lang="en-US" sz="2000" b="0" i="1" smtClean="0">
                              <a:latin typeface="Cambria Math" panose="02040503050406030204" pitchFamily="18" charset="0"/>
                            </a:rPr>
                            <m:t>𝑡</m:t>
                          </m:r>
                          <m:r>
                            <a:rPr lang="en-US" sz="2000" b="0" i="1" smtClean="0">
                              <a:latin typeface="Cambria Math" panose="02040503050406030204" pitchFamily="18" charset="0"/>
                            </a:rPr>
                            <m:t> ← </m:t>
                          </m:r>
                        </m:sub>
                      </m:sSub>
                      <m:r>
                        <a:rPr lang="en-US" sz="2000" i="1" smtClean="0">
                          <a:latin typeface="Cambria Math" panose="02040503050406030204" pitchFamily="18" charset="0"/>
                          <a:ea typeface="Cambria Math" panose="02040503050406030204" pitchFamily="18" charset="0"/>
                        </a:rPr>
                        <m:t>𝛽</m:t>
                      </m:r>
                      <m:sSub>
                        <m:sSubPr>
                          <m:ctrlPr>
                            <a:rPr lang="en-US" sz="200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𝑣</m:t>
                          </m:r>
                        </m:e>
                        <m:sub>
                          <m:r>
                            <a:rPr lang="en-US" sz="2000" b="0" i="1" smtClean="0">
                              <a:latin typeface="Cambria Math" panose="02040503050406030204" pitchFamily="18" charset="0"/>
                              <a:ea typeface="Cambria Math" panose="02040503050406030204" pitchFamily="18" charset="0"/>
                            </a:rPr>
                            <m:t>𝑡</m:t>
                          </m:r>
                          <m:r>
                            <a:rPr lang="en-US" sz="2000" b="0" i="1" smtClean="0">
                              <a:latin typeface="Cambria Math" panose="02040503050406030204" pitchFamily="18" charset="0"/>
                              <a:ea typeface="Cambria Math" panose="02040503050406030204" pitchFamily="18" charset="0"/>
                            </a:rPr>
                            <m:t>−1</m:t>
                          </m:r>
                        </m:sub>
                      </m:sSub>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𝑔</m:t>
                          </m:r>
                        </m:e>
                        <m:sub>
                          <m:r>
                            <a:rPr lang="en-US" sz="2000" b="0" i="1" smtClean="0">
                              <a:latin typeface="Cambria Math" panose="02040503050406030204" pitchFamily="18" charset="0"/>
                              <a:ea typeface="Cambria Math" panose="02040503050406030204" pitchFamily="18" charset="0"/>
                            </a:rPr>
                            <m:t>𝑡</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𝑡</m:t>
                          </m:r>
                          <m:r>
                            <a:rPr lang="en-US" sz="2000" b="0" i="1" smtClean="0">
                              <a:latin typeface="Cambria Math" panose="02040503050406030204" pitchFamily="18" charset="0"/>
                              <a:ea typeface="Cambria Math" panose="02040503050406030204" pitchFamily="18" charset="0"/>
                            </a:rPr>
                            <m:t>−1</m:t>
                          </m:r>
                        </m:sub>
                      </m:sSub>
                    </m:oMath>
                  </m:oMathPara>
                </a14:m>
                <a:endParaRPr lang="en-US" sz="2000" dirty="0"/>
              </a:p>
              <a:p>
                <a:pPr algn="l"/>
                <a14:m>
                  <m:oMathPara xmlns:m="http://schemas.openxmlformats.org/officeDocument/2006/math">
                    <m:oMathParaPr>
                      <m:jc m:val="left"/>
                    </m:oMathParaPr>
                    <m:oMath xmlns:m="http://schemas.openxmlformats.org/officeDocument/2006/math">
                      <m:sSub>
                        <m:sSubPr>
                          <m:ctrlPr>
                            <a:rPr lang="en-US" sz="2000" i="1">
                              <a:latin typeface="Cambria Math" panose="02040503050406030204" pitchFamily="18" charset="0"/>
                            </a:rPr>
                          </m:ctrlPr>
                        </m:sSubPr>
                        <m:e>
                          <m:r>
                            <a:rPr lang="en-US" sz="2000" b="0" i="1" smtClean="0">
                              <a:latin typeface="Cambria Math" panose="02040503050406030204" pitchFamily="18" charset="0"/>
                            </a:rPr>
                            <m:t>𝑤</m:t>
                          </m:r>
                        </m:e>
                        <m:sub>
                          <m:r>
                            <a:rPr lang="en-US" sz="2000" i="1">
                              <a:latin typeface="Cambria Math" panose="02040503050406030204" pitchFamily="18" charset="0"/>
                            </a:rPr>
                            <m:t>𝑡</m:t>
                          </m:r>
                          <m:r>
                            <a:rPr lang="en-US" sz="2000" i="1">
                              <a:latin typeface="Cambria Math" panose="02040503050406030204" pitchFamily="18" charset="0"/>
                            </a:rPr>
                            <m:t> ← </m:t>
                          </m:r>
                        </m:sub>
                      </m:sSub>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𝑤</m:t>
                          </m:r>
                        </m:e>
                        <m:sub>
                          <m:r>
                            <a:rPr lang="en-US" sz="2000" b="0" i="1" smtClean="0">
                              <a:latin typeface="Cambria Math" panose="02040503050406030204" pitchFamily="18" charset="0"/>
                            </a:rPr>
                            <m:t>𝑡</m:t>
                          </m:r>
                          <m:r>
                            <a:rPr lang="en-US" sz="2000" b="0" i="1" smtClean="0">
                              <a:latin typeface="Cambria Math" panose="02040503050406030204" pitchFamily="18" charset="0"/>
                            </a:rPr>
                            <m:t>−1</m:t>
                          </m:r>
                        </m:sub>
                      </m:sSub>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sym typeface="Symbol" panose="05050102010706020507" pitchFamily="18" charset="2"/>
                        </a:rPr>
                        <m:t> </m:t>
                      </m:r>
                      <m:sSub>
                        <m:sSubPr>
                          <m:ctrlPr>
                            <a:rPr lang="en-US" sz="2000" i="1">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𝑣</m:t>
                          </m:r>
                        </m:e>
                        <m:sub>
                          <m:r>
                            <a:rPr lang="en-US" sz="2000" i="1">
                              <a:latin typeface="Cambria Math" panose="02040503050406030204" pitchFamily="18" charset="0"/>
                              <a:ea typeface="Cambria Math" panose="02040503050406030204" pitchFamily="18" charset="0"/>
                            </a:rPr>
                            <m:t>𝑡</m:t>
                          </m:r>
                        </m:sub>
                      </m:sSub>
                    </m:oMath>
                  </m:oMathPara>
                </a14:m>
                <a:endParaRPr lang="en-US" sz="2000" dirty="0"/>
              </a:p>
            </p:txBody>
          </p:sp>
        </mc:Choice>
        <mc:Fallback xmlns="">
          <p:sp>
            <p:nvSpPr>
              <p:cNvPr id="19" name="Rectangle 18"/>
              <p:cNvSpPr>
                <a:spLocks noRot="1" noChangeAspect="1" noMove="1" noResize="1" noEditPoints="1" noAdjustHandles="1" noChangeArrowheads="1" noChangeShapeType="1" noTextEdit="1"/>
              </p:cNvSpPr>
              <p:nvPr/>
            </p:nvSpPr>
            <p:spPr>
              <a:xfrm>
                <a:off x="5523909" y="2134911"/>
                <a:ext cx="3254900" cy="721288"/>
              </a:xfrm>
              <a:prstGeom prst="rect">
                <a:avLst/>
              </a:prstGeom>
              <a:blipFill rotWithShape="0">
                <a:blip r:embed="rId6"/>
                <a:stretch>
                  <a:fillRect b="-3306"/>
                </a:stretch>
              </a:blipFill>
              <a:ln>
                <a:solidFill>
                  <a:srgbClr val="FF0000"/>
                </a:solidFill>
              </a:ln>
            </p:spPr>
            <p:txBody>
              <a:bodyPr/>
              <a:lstStyle/>
              <a:p>
                <a:r>
                  <a:rPr lang="en-IN">
                    <a:noFill/>
                  </a:rPr>
                  <a:t> </a:t>
                </a:r>
              </a:p>
            </p:txBody>
          </p:sp>
        </mc:Fallback>
      </mc:AlternateContent>
    </p:spTree>
    <p:extLst>
      <p:ext uri="{BB962C8B-B14F-4D97-AF65-F5344CB8AC3E}">
        <p14:creationId xmlns:p14="http://schemas.microsoft.com/office/powerpoint/2010/main" val="341340260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a:xfrm>
            <a:off x="0" y="1545224"/>
            <a:ext cx="9144000" cy="4525963"/>
          </a:xfrm>
        </p:spPr>
        <p:txBody>
          <a:bodyPr/>
          <a:lstStyle/>
          <a:p>
            <a:r>
              <a:rPr lang="en-US" dirty="0"/>
              <a:t>Adaptive methods (such as Adam) do not generalize as well as SGD with momentum when tested on a diverse set of deep learning tasks</a:t>
            </a:r>
          </a:p>
          <a:p>
            <a:endParaRPr lang="en-US" dirty="0"/>
          </a:p>
          <a:p>
            <a:endParaRPr lang="en-US" dirty="0"/>
          </a:p>
          <a:p>
            <a:r>
              <a:rPr lang="en-US" i="1" dirty="0">
                <a:solidFill>
                  <a:schemeClr val="tx1"/>
                </a:solidFill>
              </a:rPr>
              <a:t>In the research paper by Nitish Shirish Keskar, Richard Socher : Improving Generalization Performance by Switching from Adam to SGD :</a:t>
            </a:r>
            <a:endParaRPr lang="en-US" dirty="0"/>
          </a:p>
          <a:p>
            <a:r>
              <a:rPr lang="en-US" dirty="0"/>
              <a:t>Earlier stages of training Adam still outperforms SGD but later the learning saturates. They proposed simple strategy </a:t>
            </a:r>
            <a:r>
              <a:rPr lang="en-US" b="1" dirty="0"/>
              <a:t> </a:t>
            </a:r>
            <a:r>
              <a:rPr lang="en-US" dirty="0"/>
              <a:t>in which they start training deep neural network with Adam but then switch to SGD when certain criteria hits </a:t>
            </a:r>
          </a:p>
          <a:p>
            <a:endParaRPr lang="en-IN" dirty="0"/>
          </a:p>
        </p:txBody>
      </p:sp>
      <p:sp>
        <p:nvSpPr>
          <p:cNvPr id="3" name="Title 2"/>
          <p:cNvSpPr>
            <a:spLocks noGrp="1"/>
          </p:cNvSpPr>
          <p:nvPr>
            <p:ph type="title"/>
          </p:nvPr>
        </p:nvSpPr>
        <p:spPr/>
        <p:txBody>
          <a:bodyPr/>
          <a:lstStyle/>
          <a:p>
            <a:r>
              <a:rPr lang="en-US" dirty="0"/>
              <a:t>ADAM VS SGD</a:t>
            </a:r>
            <a:endParaRPr lang="en-IN" dirty="0"/>
          </a:p>
        </p:txBody>
      </p:sp>
    </p:spTree>
    <p:extLst>
      <p:ext uri="{BB962C8B-B14F-4D97-AF65-F5344CB8AC3E}">
        <p14:creationId xmlns:p14="http://schemas.microsoft.com/office/powerpoint/2010/main" val="288079237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Optimization algorithm comparison</a:t>
            </a:r>
            <a:endParaRPr lang="en-IN" dirty="0"/>
          </a:p>
        </p:txBody>
      </p:sp>
      <p:pic>
        <p:nvPicPr>
          <p:cNvPr id="9218" name="Picture 2" descr="https://miro.medium.com/v2/resize:fit:700/1*yd9cTGwjhPfU1TVeZLBghw.png"/>
          <p:cNvPicPr>
            <a:picLocks noGrp="1" noChangeAspect="1" noChangeArrowheads="1"/>
          </p:cNvPicPr>
          <p:nvPr>
            <p:ph idx="10"/>
          </p:nvPr>
        </p:nvPicPr>
        <p:blipFill>
          <a:blip r:embed="rId3">
            <a:extLst>
              <a:ext uri="{28A0092B-C50C-407E-A947-70E740481C1C}">
                <a14:useLocalDpi xmlns:a14="http://schemas.microsoft.com/office/drawing/2010/main" val="0"/>
              </a:ext>
            </a:extLst>
          </a:blip>
          <a:srcRect/>
          <a:stretch>
            <a:fillRect/>
          </a:stretch>
        </p:blipFill>
        <p:spPr bwMode="auto">
          <a:xfrm>
            <a:off x="239486" y="1981200"/>
            <a:ext cx="8610600" cy="43791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685810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p:txBody>
          <a:bodyPr/>
          <a:lstStyle/>
          <a:p>
            <a:r>
              <a:rPr lang="en-IN" dirty="0"/>
              <a:t>Chapter – 12 Dive into Deep Learning</a:t>
            </a:r>
          </a:p>
          <a:p>
            <a:r>
              <a:rPr lang="en-IN" dirty="0"/>
              <a:t>https://d2l.ai/</a:t>
            </a:r>
          </a:p>
          <a:p>
            <a:endParaRPr lang="en-IN" dirty="0"/>
          </a:p>
        </p:txBody>
      </p:sp>
      <p:sp>
        <p:nvSpPr>
          <p:cNvPr id="3" name="Title 2"/>
          <p:cNvSpPr>
            <a:spLocks noGrp="1"/>
          </p:cNvSpPr>
          <p:nvPr>
            <p:ph type="title"/>
          </p:nvPr>
        </p:nvSpPr>
        <p:spPr/>
        <p:txBody>
          <a:bodyPr/>
          <a:lstStyle/>
          <a:p>
            <a:r>
              <a:rPr lang="en-US" dirty="0"/>
              <a:t>References</a:t>
            </a:r>
            <a:endParaRPr lang="en-IN" dirty="0"/>
          </a:p>
        </p:txBody>
      </p:sp>
    </p:spTree>
    <p:extLst>
      <p:ext uri="{BB962C8B-B14F-4D97-AF65-F5344CB8AC3E}">
        <p14:creationId xmlns:p14="http://schemas.microsoft.com/office/powerpoint/2010/main" val="324023506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33796" y="3197733"/>
            <a:ext cx="3371850" cy="696595"/>
          </a:xfrm>
          <a:prstGeom prst="rect">
            <a:avLst/>
          </a:prstGeom>
        </p:spPr>
        <p:txBody>
          <a:bodyPr vert="horz" wrap="square" lIns="0" tIns="13335" rIns="0" bIns="0" rtlCol="0">
            <a:spAutoFit/>
          </a:bodyPr>
          <a:lstStyle/>
          <a:p>
            <a:pPr marL="12700">
              <a:lnSpc>
                <a:spcPct val="100000"/>
              </a:lnSpc>
              <a:spcBef>
                <a:spcPts val="105"/>
              </a:spcBef>
            </a:pPr>
            <a:r>
              <a:rPr sz="4400" b="0" dirty="0">
                <a:latin typeface="Calibri"/>
                <a:cs typeface="Calibri"/>
              </a:rPr>
              <a:t>Thank</a:t>
            </a:r>
            <a:r>
              <a:rPr sz="4400" b="0" spc="-100" dirty="0">
                <a:latin typeface="Calibri"/>
                <a:cs typeface="Calibri"/>
              </a:rPr>
              <a:t> </a:t>
            </a:r>
            <a:r>
              <a:rPr sz="4400" b="0" spc="-85" dirty="0">
                <a:latin typeface="Calibri"/>
                <a:cs typeface="Calibri"/>
              </a:rPr>
              <a:t>You</a:t>
            </a:r>
            <a:r>
              <a:rPr sz="4400" b="0" spc="-100" dirty="0">
                <a:latin typeface="Calibri"/>
                <a:cs typeface="Calibri"/>
              </a:rPr>
              <a:t> </a:t>
            </a:r>
            <a:r>
              <a:rPr sz="4400" b="0" dirty="0">
                <a:latin typeface="Calibri"/>
                <a:cs typeface="Calibri"/>
              </a:rPr>
              <a:t>All</a:t>
            </a:r>
            <a:r>
              <a:rPr sz="4400" b="0" spc="-90" dirty="0">
                <a:latin typeface="Calibri"/>
                <a:cs typeface="Calibri"/>
              </a:rPr>
              <a:t> </a:t>
            </a:r>
            <a:r>
              <a:rPr sz="4400" b="0" spc="-50" dirty="0">
                <a:latin typeface="Calibri"/>
                <a:cs typeface="Calibri"/>
              </a:rPr>
              <a:t>!</a:t>
            </a:r>
            <a:endParaRPr sz="4400">
              <a:latin typeface="Calibri"/>
              <a:cs typeface="Calibri"/>
            </a:endParaRPr>
          </a:p>
        </p:txBody>
      </p:sp>
      <p:sp>
        <p:nvSpPr>
          <p:cNvPr id="3" name="object 3"/>
          <p:cNvSpPr txBox="1">
            <a:spLocks noGrp="1"/>
          </p:cNvSpPr>
          <p:nvPr>
            <p:ph type="ftr" sz="quarter" idx="5"/>
          </p:nvPr>
        </p:nvSpPr>
        <p:spPr>
          <a:prstGeom prst="rect">
            <a:avLst/>
          </a:prstGeom>
        </p:spPr>
        <p:txBody>
          <a:bodyPr vert="horz" wrap="square" lIns="0" tIns="0" rIns="0" bIns="0" rtlCol="0">
            <a:spAutoFit/>
          </a:bodyPr>
          <a:lstStyle/>
          <a:p>
            <a:pPr marL="12700">
              <a:lnSpc>
                <a:spcPct val="100000"/>
              </a:lnSpc>
            </a:pPr>
            <a:r>
              <a:rPr b="1" dirty="0">
                <a:latin typeface="Arial"/>
                <a:cs typeface="Arial"/>
              </a:rPr>
              <a:t>BITS</a:t>
            </a:r>
            <a:r>
              <a:rPr b="1" spc="-55" dirty="0">
                <a:latin typeface="Arial"/>
                <a:cs typeface="Arial"/>
              </a:rPr>
              <a:t> </a:t>
            </a:r>
            <a:r>
              <a:rPr dirty="0"/>
              <a:t>Pilani,</a:t>
            </a:r>
            <a:r>
              <a:rPr spc="-35" dirty="0"/>
              <a:t> </a:t>
            </a:r>
            <a:r>
              <a:rPr dirty="0"/>
              <a:t>Pilani</a:t>
            </a:r>
            <a:r>
              <a:rPr spc="-30" dirty="0"/>
              <a:t> </a:t>
            </a:r>
            <a:r>
              <a:rPr spc="-10" dirty="0"/>
              <a:t>Campus</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ags/tag7.xml><?xml version="1.0" encoding="utf-8"?>
<p:tagLst xmlns:a="http://schemas.openxmlformats.org/drawingml/2006/main" xmlns:r="http://schemas.openxmlformats.org/officeDocument/2006/relationships" xmlns:p="http://schemas.openxmlformats.org/presentationml/2006/main">
  <p:tag name="TIMING" val="|1.1|21.5|6.6|4.1|30.4|13.8|25.4|20.6|18.7|6.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2901</Words>
  <Application>Microsoft Office PowerPoint</Application>
  <PresentationFormat>On-screen Show (4:3)</PresentationFormat>
  <Paragraphs>410</Paragraphs>
  <Slides>51</Slides>
  <Notes>13</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51</vt:i4>
      </vt:variant>
    </vt:vector>
  </HeadingPairs>
  <TitlesOfParts>
    <vt:vector size="64" baseType="lpstr">
      <vt:lpstr>Arial</vt:lpstr>
      <vt:lpstr>Arial MT</vt:lpstr>
      <vt:lpstr>Calibri</vt:lpstr>
      <vt:lpstr>Cambria</vt:lpstr>
      <vt:lpstr>Cambria Math</vt:lpstr>
      <vt:lpstr>Georgia</vt:lpstr>
      <vt:lpstr>source-serif-pro</vt:lpstr>
      <vt:lpstr>Symbol</vt:lpstr>
      <vt:lpstr>Tahoma</vt:lpstr>
      <vt:lpstr>Times New Roman</vt:lpstr>
      <vt:lpstr>Wingdings</vt:lpstr>
      <vt:lpstr>Office Theme</vt:lpstr>
      <vt:lpstr>1_Office Theme</vt:lpstr>
      <vt:lpstr> Deep Neural Network</vt:lpstr>
      <vt:lpstr>Deep Neural Network</vt:lpstr>
      <vt:lpstr>PowerPoint Presentation</vt:lpstr>
      <vt:lpstr>Optimization Algorithm</vt:lpstr>
      <vt:lpstr>Why Optimization Algorithm?</vt:lpstr>
      <vt:lpstr>Optimization</vt:lpstr>
      <vt:lpstr>Finding Minimum of a Function</vt:lpstr>
      <vt:lpstr>Derivatives and critical points</vt:lpstr>
      <vt:lpstr>Reminder: The error surface for a linear neuron</vt:lpstr>
      <vt:lpstr>Gradient Descent</vt:lpstr>
      <vt:lpstr>Gradient descent </vt:lpstr>
      <vt:lpstr>Gradient descent</vt:lpstr>
      <vt:lpstr>Gradient descent </vt:lpstr>
      <vt:lpstr>Learning rate</vt:lpstr>
      <vt:lpstr>Learning rate</vt:lpstr>
      <vt:lpstr>Local minima vs global minimum for DNN</vt:lpstr>
      <vt:lpstr>Stochastic gradient descent</vt:lpstr>
      <vt:lpstr>Stochastic gradient descent</vt:lpstr>
      <vt:lpstr>Dynamic learning rate</vt:lpstr>
      <vt:lpstr>Dynamic learning rate</vt:lpstr>
      <vt:lpstr>Mini batch GD</vt:lpstr>
      <vt:lpstr>Steps for mini batch GD</vt:lpstr>
      <vt:lpstr>GD vs SGD vs Mini batch GD</vt:lpstr>
      <vt:lpstr>GD vs SGD vs Mini batch GD</vt:lpstr>
      <vt:lpstr>Drawback of gradient based methods</vt:lpstr>
      <vt:lpstr>Error surface of DNN</vt:lpstr>
      <vt:lpstr>Exponentially Weighted Averages (EWA)</vt:lpstr>
      <vt:lpstr>EWA</vt:lpstr>
      <vt:lpstr>EWA</vt:lpstr>
      <vt:lpstr>Gradient Descent with Momentum</vt:lpstr>
      <vt:lpstr>Gradient Descent with Momentum</vt:lpstr>
      <vt:lpstr>Gradient Descent with Momentum</vt:lpstr>
      <vt:lpstr>Momentum Update</vt:lpstr>
      <vt:lpstr>Gradient Descent with Momentum</vt:lpstr>
      <vt:lpstr>Gradient Descent with Momentum</vt:lpstr>
      <vt:lpstr>Gradient Descent with Momentum</vt:lpstr>
      <vt:lpstr>Solved problem SGD  and SGD + momentum</vt:lpstr>
      <vt:lpstr>PowerPoint Presentation</vt:lpstr>
      <vt:lpstr>Adagrad - motivation</vt:lpstr>
      <vt:lpstr>Adagrad</vt:lpstr>
      <vt:lpstr>Adagrad</vt:lpstr>
      <vt:lpstr>Drawback of AdaGrad</vt:lpstr>
      <vt:lpstr>RMSProp</vt:lpstr>
      <vt:lpstr>Review of techniques learned so far</vt:lpstr>
      <vt:lpstr>Adam-Adaptive Moment Estimation</vt:lpstr>
      <vt:lpstr>Adam Algorithm</vt:lpstr>
      <vt:lpstr>Optimization algorithm comparison</vt:lpstr>
      <vt:lpstr>ADAM VS SGD</vt:lpstr>
      <vt:lpstr>Optimization algorithm comparison</vt:lpstr>
      <vt:lpstr>References</vt:lpstr>
      <vt:lpstr>Thank You All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Deep Neural Network</dc:title>
  <dc:creator/>
  <cp:lastModifiedBy/>
  <cp:revision>2</cp:revision>
  <dcterms:created xsi:type="dcterms:W3CDTF">2024-05-03T16:25:52Z</dcterms:created>
  <dcterms:modified xsi:type="dcterms:W3CDTF">2024-12-26T15:23:48Z</dcterms:modified>
</cp:coreProperties>
</file>