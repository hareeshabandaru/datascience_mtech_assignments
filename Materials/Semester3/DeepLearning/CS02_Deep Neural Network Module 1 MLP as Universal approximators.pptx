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60" r:id="rId2"/>
  </p:sldMasterIdLst>
  <p:notesMasterIdLst>
    <p:notesMasterId r:id="rId5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j5tenZUFvwdnMwixXLVL/+Jazj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378"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370418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7006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55859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A one-hot encoding is a vector with as many components as we have categories. The component corresponding to particular instanceʼs category is set to 1 and all other components are set to 0.</a:t>
            </a:r>
            <a:endParaRPr/>
          </a:p>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5266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53558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80121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43591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56617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56401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81045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73957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408275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78129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94842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50165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39092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4987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64065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34306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19308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112616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60783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906023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013333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21999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650614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288698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5" name="Google Shape;285;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852268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894363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9" name="Google Shape;299;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310278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6" name="Google Shape;306;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15815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3" name="Google Shape;313;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594419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0" name="Google Shape;320;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Note: Multiple answers are possible</a:t>
            </a:r>
            <a:endParaRPr/>
          </a:p>
        </p:txBody>
      </p:sp>
    </p:spTree>
    <p:extLst>
      <p:ext uri="{BB962C8B-B14F-4D97-AF65-F5344CB8AC3E}">
        <p14:creationId xmlns:p14="http://schemas.microsoft.com/office/powerpoint/2010/main" val="2725895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 name="Google Shape;327;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892256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DNF -disjunctive normal form</a:t>
            </a:r>
            <a:endParaRPr/>
          </a:p>
        </p:txBody>
      </p:sp>
    </p:spTree>
    <p:extLst>
      <p:ext uri="{BB962C8B-B14F-4D97-AF65-F5344CB8AC3E}">
        <p14:creationId xmlns:p14="http://schemas.microsoft.com/office/powerpoint/2010/main" val="6702676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1" name="Google Shape;341;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776554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8" name="Google Shape;348;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430379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5" name="Google Shape;355;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935404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2" name="Google Shape;36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733257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642380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6" name="Google Shape;37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482339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3" name="Google Shape;383;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229130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0" name="Google Shape;390;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211542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7" name="Google Shape;397;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832042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4" name="Google Shape;404;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218738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1" name="Google Shape;411;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Instruct the students to solve on their own</a:t>
            </a:r>
            <a:endParaRPr/>
          </a:p>
        </p:txBody>
      </p:sp>
    </p:spTree>
    <p:extLst>
      <p:ext uri="{BB962C8B-B14F-4D97-AF65-F5344CB8AC3E}">
        <p14:creationId xmlns:p14="http://schemas.microsoft.com/office/powerpoint/2010/main" val="25025904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9" name="Google Shape;419;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821628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926012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4" name="Google Shape;434;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711344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1" name="Google Shape;441;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262751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8" name="Google Shape;448;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13737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5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5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6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69"/>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69"/>
          <p:cNvSpPr txBox="1">
            <a:spLocks noGrp="1"/>
          </p:cNvSpPr>
          <p:nvPr>
            <p:ph type="body" idx="1"/>
          </p:nvPr>
        </p:nvSpPr>
        <p:spPr>
          <a:xfrm>
            <a:off x="311700" y="950800"/>
            <a:ext cx="8520600" cy="3963600"/>
          </a:xfrm>
          <a:prstGeom prst="rect">
            <a:avLst/>
          </a:prstGeom>
          <a:noFill/>
          <a:ln>
            <a:noFill/>
          </a:ln>
        </p:spPr>
        <p:txBody>
          <a:bodyPr spcFirstLastPara="1" wrap="square" lIns="91425" tIns="91425" rIns="91425" bIns="91425" anchor="t" anchorCtr="0">
            <a:normAutofit/>
          </a:bodyPr>
          <a:lstStyle>
            <a:lvl1pPr marL="457200" lvl="0" indent="-355600" algn="l">
              <a:lnSpc>
                <a:spcPct val="115000"/>
              </a:lnSpc>
              <a:spcBef>
                <a:spcPts val="0"/>
              </a:spcBef>
              <a:spcAft>
                <a:spcPts val="0"/>
              </a:spcAft>
              <a:buClr>
                <a:schemeClr val="dk1"/>
              </a:buClr>
              <a:buSzPts val="2000"/>
              <a:buChar char="●"/>
              <a:defRPr sz="2000">
                <a:solidFill>
                  <a:schemeClr val="dk1"/>
                </a:solidFill>
              </a:defRPr>
            </a:lvl1pPr>
            <a:lvl2pPr marL="914400" lvl="1" indent="-330200" algn="l">
              <a:lnSpc>
                <a:spcPct val="115000"/>
              </a:lnSpc>
              <a:spcBef>
                <a:spcPts val="0"/>
              </a:spcBef>
              <a:spcAft>
                <a:spcPts val="0"/>
              </a:spcAft>
              <a:buClr>
                <a:schemeClr val="dk1"/>
              </a:buClr>
              <a:buSzPts val="1600"/>
              <a:buChar char="○"/>
              <a:defRPr sz="1600">
                <a:solidFill>
                  <a:schemeClr val="dk1"/>
                </a:solidFill>
              </a:defRPr>
            </a:lvl2pPr>
            <a:lvl3pPr marL="1371600" lvl="2" indent="-330200" algn="l">
              <a:lnSpc>
                <a:spcPct val="115000"/>
              </a:lnSpc>
              <a:spcBef>
                <a:spcPts val="0"/>
              </a:spcBef>
              <a:spcAft>
                <a:spcPts val="0"/>
              </a:spcAft>
              <a:buClr>
                <a:schemeClr val="dk1"/>
              </a:buClr>
              <a:buSzPts val="1600"/>
              <a:buChar char="■"/>
              <a:defRPr sz="1600">
                <a:solidFill>
                  <a:schemeClr val="dk1"/>
                </a:solidFill>
              </a:defRPr>
            </a:lvl3pPr>
            <a:lvl4pPr marL="1828800" lvl="3" indent="-330200" algn="l">
              <a:lnSpc>
                <a:spcPct val="115000"/>
              </a:lnSpc>
              <a:spcBef>
                <a:spcPts val="0"/>
              </a:spcBef>
              <a:spcAft>
                <a:spcPts val="0"/>
              </a:spcAft>
              <a:buClr>
                <a:schemeClr val="dk1"/>
              </a:buClr>
              <a:buSzPts val="1600"/>
              <a:buChar char="●"/>
              <a:defRPr sz="1600">
                <a:solidFill>
                  <a:schemeClr val="dk1"/>
                </a:solidFill>
              </a:defRPr>
            </a:lvl4pPr>
            <a:lvl5pPr marL="2286000" lvl="4" indent="-330200" algn="l">
              <a:lnSpc>
                <a:spcPct val="115000"/>
              </a:lnSpc>
              <a:spcBef>
                <a:spcPts val="0"/>
              </a:spcBef>
              <a:spcAft>
                <a:spcPts val="0"/>
              </a:spcAft>
              <a:buClr>
                <a:schemeClr val="dk1"/>
              </a:buClr>
              <a:buSzPts val="1600"/>
              <a:buChar char="○"/>
              <a:defRPr sz="1600">
                <a:solidFill>
                  <a:schemeClr val="dk1"/>
                </a:solidFill>
              </a:defRPr>
            </a:lvl5pPr>
            <a:lvl6pPr marL="2743200" lvl="5" indent="-330200" algn="l">
              <a:lnSpc>
                <a:spcPct val="115000"/>
              </a:lnSpc>
              <a:spcBef>
                <a:spcPts val="0"/>
              </a:spcBef>
              <a:spcAft>
                <a:spcPts val="0"/>
              </a:spcAft>
              <a:buClr>
                <a:schemeClr val="dk1"/>
              </a:buClr>
              <a:buSzPts val="1600"/>
              <a:buChar char="■"/>
              <a:defRPr sz="1600">
                <a:solidFill>
                  <a:schemeClr val="dk1"/>
                </a:solidFill>
              </a:defRPr>
            </a:lvl6pPr>
            <a:lvl7pPr marL="3200400" lvl="6" indent="-330200" algn="l">
              <a:lnSpc>
                <a:spcPct val="115000"/>
              </a:lnSpc>
              <a:spcBef>
                <a:spcPts val="0"/>
              </a:spcBef>
              <a:spcAft>
                <a:spcPts val="0"/>
              </a:spcAft>
              <a:buClr>
                <a:schemeClr val="dk1"/>
              </a:buClr>
              <a:buSzPts val="1600"/>
              <a:buChar char="●"/>
              <a:defRPr sz="1600">
                <a:solidFill>
                  <a:schemeClr val="dk1"/>
                </a:solidFill>
              </a:defRPr>
            </a:lvl7pPr>
            <a:lvl8pPr marL="3657600" lvl="7" indent="-330200" algn="l">
              <a:lnSpc>
                <a:spcPct val="115000"/>
              </a:lnSpc>
              <a:spcBef>
                <a:spcPts val="0"/>
              </a:spcBef>
              <a:spcAft>
                <a:spcPts val="0"/>
              </a:spcAft>
              <a:buClr>
                <a:schemeClr val="dk1"/>
              </a:buClr>
              <a:buSzPts val="1600"/>
              <a:buChar char="○"/>
              <a:defRPr sz="1600">
                <a:solidFill>
                  <a:schemeClr val="dk1"/>
                </a:solidFill>
              </a:defRPr>
            </a:lvl8pPr>
            <a:lvl9pPr marL="4114800" lvl="8" indent="-330200" algn="l">
              <a:lnSpc>
                <a:spcPct val="115000"/>
              </a:lnSpc>
              <a:spcBef>
                <a:spcPts val="0"/>
              </a:spcBef>
              <a:spcAft>
                <a:spcPts val="0"/>
              </a:spcAft>
              <a:buClr>
                <a:schemeClr val="dk1"/>
              </a:buClr>
              <a:buSzPts val="1600"/>
              <a:buChar char="■"/>
              <a:defRPr sz="1600">
                <a:solidFill>
                  <a:schemeClr val="dk1"/>
                </a:solidFill>
              </a:defRPr>
            </a:lvl9pPr>
          </a:lstStyle>
          <a:p>
            <a:endParaRPr/>
          </a:p>
        </p:txBody>
      </p:sp>
      <p:sp>
        <p:nvSpPr>
          <p:cNvPr id="19" name="Google Shape;19;p69"/>
          <p:cNvSpPr txBox="1">
            <a:spLocks noGrp="1"/>
          </p:cNvSpPr>
          <p:nvPr>
            <p:ph type="sldNum" idx="12"/>
          </p:nvPr>
        </p:nvSpPr>
        <p:spPr>
          <a:xfrm>
            <a:off x="8595300" y="4603599"/>
            <a:ext cx="548700" cy="310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7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7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7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7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7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7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7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7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7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7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7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7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7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7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7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50" name="Google Shape;50;p77"/>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5"/>
        <p:cNvGrpSpPr/>
        <p:nvPr/>
      </p:nvGrpSpPr>
      <p:grpSpPr>
        <a:xfrm>
          <a:off x="0" y="0"/>
          <a:ext cx="0" cy="0"/>
          <a:chOff x="0" y="0"/>
          <a:chExt cx="0" cy="0"/>
        </a:xfrm>
      </p:grpSpPr>
      <p:sp>
        <p:nvSpPr>
          <p:cNvPr id="56" name="Google Shape;56;p5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57" name="Google Shape;57;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55"/>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0" name="Google Shape;60;p55"/>
          <p:cNvSpPr txBox="1">
            <a:spLocks noGrp="1"/>
          </p:cNvSpPr>
          <p:nvPr>
            <p:ph type="body" idx="1"/>
          </p:nvPr>
        </p:nvSpPr>
        <p:spPr>
          <a:xfrm>
            <a:off x="311700" y="941200"/>
            <a:ext cx="8520600" cy="3921600"/>
          </a:xfrm>
          <a:prstGeom prst="rect">
            <a:avLst/>
          </a:prstGeom>
          <a:noFill/>
          <a:ln>
            <a:noFill/>
          </a:ln>
        </p:spPr>
        <p:txBody>
          <a:bodyPr spcFirstLastPara="1" wrap="square" lIns="91425" tIns="91425" rIns="91425" bIns="91425" anchor="t" anchorCtr="0">
            <a:normAutofit/>
          </a:bodyPr>
          <a:lstStyle>
            <a:lvl1pPr marL="457200" lvl="0" indent="-355600" algn="l">
              <a:lnSpc>
                <a:spcPct val="115000"/>
              </a:lnSpc>
              <a:spcBef>
                <a:spcPts val="0"/>
              </a:spcBef>
              <a:spcAft>
                <a:spcPts val="0"/>
              </a:spcAft>
              <a:buClr>
                <a:schemeClr val="dk1"/>
              </a:buClr>
              <a:buSzPts val="2000"/>
              <a:buChar char="●"/>
              <a:defRPr sz="2000">
                <a:solidFill>
                  <a:schemeClr val="dk1"/>
                </a:solidFill>
              </a:defRPr>
            </a:lvl1pPr>
            <a:lvl2pPr marL="914400" lvl="1" indent="-330200" algn="l">
              <a:lnSpc>
                <a:spcPct val="115000"/>
              </a:lnSpc>
              <a:spcBef>
                <a:spcPts val="0"/>
              </a:spcBef>
              <a:spcAft>
                <a:spcPts val="0"/>
              </a:spcAft>
              <a:buClr>
                <a:schemeClr val="dk1"/>
              </a:buClr>
              <a:buSzPts val="1600"/>
              <a:buChar char="○"/>
              <a:defRPr sz="1600">
                <a:solidFill>
                  <a:schemeClr val="dk1"/>
                </a:solidFill>
              </a:defRPr>
            </a:lvl2pPr>
            <a:lvl3pPr marL="1371600" lvl="2" indent="-330200" algn="l">
              <a:lnSpc>
                <a:spcPct val="115000"/>
              </a:lnSpc>
              <a:spcBef>
                <a:spcPts val="0"/>
              </a:spcBef>
              <a:spcAft>
                <a:spcPts val="0"/>
              </a:spcAft>
              <a:buClr>
                <a:schemeClr val="dk1"/>
              </a:buClr>
              <a:buSzPts val="1600"/>
              <a:buChar char="■"/>
              <a:defRPr sz="1600">
                <a:solidFill>
                  <a:schemeClr val="dk1"/>
                </a:solidFill>
              </a:defRPr>
            </a:lvl3pPr>
            <a:lvl4pPr marL="1828800" lvl="3" indent="-330200" algn="l">
              <a:lnSpc>
                <a:spcPct val="115000"/>
              </a:lnSpc>
              <a:spcBef>
                <a:spcPts val="0"/>
              </a:spcBef>
              <a:spcAft>
                <a:spcPts val="0"/>
              </a:spcAft>
              <a:buClr>
                <a:schemeClr val="dk1"/>
              </a:buClr>
              <a:buSzPts val="1600"/>
              <a:buChar char="●"/>
              <a:defRPr sz="1600">
                <a:solidFill>
                  <a:schemeClr val="dk1"/>
                </a:solidFill>
              </a:defRPr>
            </a:lvl4pPr>
            <a:lvl5pPr marL="2286000" lvl="4" indent="-330200" algn="l">
              <a:lnSpc>
                <a:spcPct val="115000"/>
              </a:lnSpc>
              <a:spcBef>
                <a:spcPts val="0"/>
              </a:spcBef>
              <a:spcAft>
                <a:spcPts val="0"/>
              </a:spcAft>
              <a:buClr>
                <a:schemeClr val="dk1"/>
              </a:buClr>
              <a:buSzPts val="1600"/>
              <a:buChar char="○"/>
              <a:defRPr sz="1600">
                <a:solidFill>
                  <a:schemeClr val="dk1"/>
                </a:solidFill>
              </a:defRPr>
            </a:lvl5pPr>
            <a:lvl6pPr marL="2743200" lvl="5" indent="-330200" algn="l">
              <a:lnSpc>
                <a:spcPct val="115000"/>
              </a:lnSpc>
              <a:spcBef>
                <a:spcPts val="0"/>
              </a:spcBef>
              <a:spcAft>
                <a:spcPts val="0"/>
              </a:spcAft>
              <a:buClr>
                <a:schemeClr val="dk1"/>
              </a:buClr>
              <a:buSzPts val="1600"/>
              <a:buChar char="■"/>
              <a:defRPr sz="1600">
                <a:solidFill>
                  <a:schemeClr val="dk1"/>
                </a:solidFill>
              </a:defRPr>
            </a:lvl6pPr>
            <a:lvl7pPr marL="3200400" lvl="6" indent="-330200" algn="l">
              <a:lnSpc>
                <a:spcPct val="115000"/>
              </a:lnSpc>
              <a:spcBef>
                <a:spcPts val="0"/>
              </a:spcBef>
              <a:spcAft>
                <a:spcPts val="0"/>
              </a:spcAft>
              <a:buClr>
                <a:schemeClr val="dk1"/>
              </a:buClr>
              <a:buSzPts val="1600"/>
              <a:buChar char="●"/>
              <a:defRPr sz="1600">
                <a:solidFill>
                  <a:schemeClr val="dk1"/>
                </a:solidFill>
              </a:defRPr>
            </a:lvl7pPr>
            <a:lvl8pPr marL="3657600" lvl="7" indent="-330200" algn="l">
              <a:lnSpc>
                <a:spcPct val="115000"/>
              </a:lnSpc>
              <a:spcBef>
                <a:spcPts val="0"/>
              </a:spcBef>
              <a:spcAft>
                <a:spcPts val="0"/>
              </a:spcAft>
              <a:buClr>
                <a:schemeClr val="dk1"/>
              </a:buClr>
              <a:buSzPts val="1600"/>
              <a:buChar char="○"/>
              <a:defRPr sz="1600">
                <a:solidFill>
                  <a:schemeClr val="dk1"/>
                </a:solidFill>
              </a:defRPr>
            </a:lvl8pPr>
            <a:lvl9pPr marL="4114800" lvl="8" indent="-330200" algn="l">
              <a:lnSpc>
                <a:spcPct val="115000"/>
              </a:lnSpc>
              <a:spcBef>
                <a:spcPts val="0"/>
              </a:spcBef>
              <a:spcAft>
                <a:spcPts val="0"/>
              </a:spcAft>
              <a:buClr>
                <a:schemeClr val="dk1"/>
              </a:buClr>
              <a:buSzPts val="1600"/>
              <a:buChar char="■"/>
              <a:defRPr sz="1600">
                <a:solidFill>
                  <a:schemeClr val="dk1"/>
                </a:solidFill>
              </a:defRPr>
            </a:lvl9pPr>
          </a:lstStyle>
          <a:p>
            <a:endParaRPr/>
          </a:p>
        </p:txBody>
      </p:sp>
      <p:sp>
        <p:nvSpPr>
          <p:cNvPr id="61" name="Google Shape;61;p55"/>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4" name="Google Shape;64;p56"/>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5"/>
        <p:cNvGrpSpPr/>
        <p:nvPr/>
      </p:nvGrpSpPr>
      <p:grpSpPr>
        <a:xfrm>
          <a:off x="0" y="0"/>
          <a:ext cx="0" cy="0"/>
          <a:chOff x="0" y="0"/>
          <a:chExt cx="0" cy="0"/>
        </a:xfrm>
      </p:grpSpPr>
      <p:sp>
        <p:nvSpPr>
          <p:cNvPr id="66" name="Google Shape;66;p57"/>
          <p:cNvSpPr txBox="1">
            <a:spLocks noGrp="1"/>
          </p:cNvSpPr>
          <p:nvPr>
            <p:ph type="sldNum" idx="12"/>
          </p:nvPr>
        </p:nvSpPr>
        <p:spPr>
          <a:xfrm>
            <a:off x="2071658" y="48918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2">
  <p:cSld name="BLANK_2">
    <p:spTree>
      <p:nvGrpSpPr>
        <p:cNvPr id="1" name="Shape 67"/>
        <p:cNvGrpSpPr/>
        <p:nvPr/>
      </p:nvGrpSpPr>
      <p:grpSpPr>
        <a:xfrm>
          <a:off x="0" y="0"/>
          <a:ext cx="0" cy="0"/>
          <a:chOff x="0" y="0"/>
          <a:chExt cx="0" cy="0"/>
        </a:xfrm>
      </p:grpSpPr>
      <p:sp>
        <p:nvSpPr>
          <p:cNvPr id="68" name="Google Shape;68;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9"/>
        <p:cNvGrpSpPr/>
        <p:nvPr/>
      </p:nvGrpSpPr>
      <p:grpSpPr>
        <a:xfrm>
          <a:off x="0" y="0"/>
          <a:ext cx="0" cy="0"/>
          <a:chOff x="0" y="0"/>
          <a:chExt cx="0" cy="0"/>
        </a:xfrm>
      </p:grpSpPr>
      <p:sp>
        <p:nvSpPr>
          <p:cNvPr id="70" name="Google Shape;70;p5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71" name="Google Shape;71;p5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72" name="Google Shape;72;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6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5" name="Google Shape;75;p6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6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7" name="Google Shape;77;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6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0" name="Google Shape;80;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1"/>
        <p:cNvGrpSpPr/>
        <p:nvPr/>
      </p:nvGrpSpPr>
      <p:grpSpPr>
        <a:xfrm>
          <a:off x="0" y="0"/>
          <a:ext cx="0" cy="0"/>
          <a:chOff x="0" y="0"/>
          <a:chExt cx="0" cy="0"/>
        </a:xfrm>
      </p:grpSpPr>
      <p:sp>
        <p:nvSpPr>
          <p:cNvPr id="82" name="Google Shape;82;p6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3" name="Google Shape;83;p6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4" name="Google Shape;84;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5"/>
        <p:cNvGrpSpPr/>
        <p:nvPr/>
      </p:nvGrpSpPr>
      <p:grpSpPr>
        <a:xfrm>
          <a:off x="0" y="0"/>
          <a:ext cx="0" cy="0"/>
          <a:chOff x="0" y="0"/>
          <a:chExt cx="0" cy="0"/>
        </a:xfrm>
      </p:grpSpPr>
      <p:sp>
        <p:nvSpPr>
          <p:cNvPr id="86" name="Google Shape;86;p6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7" name="Google Shape;87;p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8"/>
        <p:cNvGrpSpPr/>
        <p:nvPr/>
      </p:nvGrpSpPr>
      <p:grpSpPr>
        <a:xfrm>
          <a:off x="0" y="0"/>
          <a:ext cx="0" cy="0"/>
          <a:chOff x="0" y="0"/>
          <a:chExt cx="0" cy="0"/>
        </a:xfrm>
      </p:grpSpPr>
      <p:sp>
        <p:nvSpPr>
          <p:cNvPr id="89" name="Google Shape;89;p6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6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1" name="Google Shape;91;p6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2" name="Google Shape;92;p6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93" name="Google Shape;93;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4"/>
        <p:cNvGrpSpPr/>
        <p:nvPr/>
      </p:nvGrpSpPr>
      <p:grpSpPr>
        <a:xfrm>
          <a:off x="0" y="0"/>
          <a:ext cx="0" cy="0"/>
          <a:chOff x="0" y="0"/>
          <a:chExt cx="0" cy="0"/>
        </a:xfrm>
      </p:grpSpPr>
      <p:sp>
        <p:nvSpPr>
          <p:cNvPr id="95" name="Google Shape;95;p6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96" name="Google Shape;96;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7"/>
        <p:cNvGrpSpPr/>
        <p:nvPr/>
      </p:nvGrpSpPr>
      <p:grpSpPr>
        <a:xfrm>
          <a:off x="0" y="0"/>
          <a:ext cx="0" cy="0"/>
          <a:chOff x="0" y="0"/>
          <a:chExt cx="0" cy="0"/>
        </a:xfrm>
      </p:grpSpPr>
      <p:sp>
        <p:nvSpPr>
          <p:cNvPr id="98" name="Google Shape;98;p6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9" name="Google Shape;99;p6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00" name="Google Shape;100;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3">
  <p:cSld name="BLANK_3">
    <p:spTree>
      <p:nvGrpSpPr>
        <p:cNvPr id="1" name="Shape 101"/>
        <p:cNvGrpSpPr/>
        <p:nvPr/>
      </p:nvGrpSpPr>
      <p:grpSpPr>
        <a:xfrm>
          <a:off x="0" y="0"/>
          <a:ext cx="0" cy="0"/>
          <a:chOff x="0" y="0"/>
          <a:chExt cx="0" cy="0"/>
        </a:xfrm>
      </p:grpSpPr>
      <p:sp>
        <p:nvSpPr>
          <p:cNvPr id="102" name="Google Shape;102;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5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blipFill>
          <a:blip r:embed="rId16">
            <a:alphaModFix/>
          </a:blip>
          <a:stretch>
            <a:fillRect/>
          </a:stretch>
        </a:blipFill>
        <a:effectLst/>
      </p:bgPr>
    </p:bg>
    <p:spTree>
      <p:nvGrpSpPr>
        <p:cNvPr id="1" name="Shape 51"/>
        <p:cNvGrpSpPr/>
        <p:nvPr/>
      </p:nvGrpSpPr>
      <p:grpSpPr>
        <a:xfrm>
          <a:off x="0" y="0"/>
          <a:ext cx="0" cy="0"/>
          <a:chOff x="0" y="0"/>
          <a:chExt cx="0" cy="0"/>
        </a:xfrm>
      </p:grpSpPr>
      <p:sp>
        <p:nvSpPr>
          <p:cNvPr id="52" name="Google Shape;52;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3" name="Google Shape;53;p5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4" name="Google Shape;54;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6"/>
        <p:cNvGrpSpPr/>
        <p:nvPr/>
      </p:nvGrpSpPr>
      <p:grpSpPr>
        <a:xfrm>
          <a:off x="0" y="0"/>
          <a:ext cx="0" cy="0"/>
          <a:chOff x="0" y="0"/>
          <a:chExt cx="0" cy="0"/>
        </a:xfrm>
      </p:grpSpPr>
      <p:sp>
        <p:nvSpPr>
          <p:cNvPr id="107" name="Google Shape;107;p1"/>
          <p:cNvSpPr txBox="1">
            <a:spLocks noGrp="1"/>
          </p:cNvSpPr>
          <p:nvPr>
            <p:ph type="ctrTitle"/>
          </p:nvPr>
        </p:nvSpPr>
        <p:spPr>
          <a:xfrm>
            <a:off x="2087200" y="2504025"/>
            <a:ext cx="6618000" cy="792600"/>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ct val="111111"/>
              <a:buNone/>
            </a:pPr>
            <a:r>
              <a:rPr lang="en">
                <a:solidFill>
                  <a:schemeClr val="lt1"/>
                </a:solidFill>
              </a:rPr>
              <a:t>Deep Neural Networks</a:t>
            </a:r>
            <a:endParaRPr>
              <a:solidFill>
                <a:schemeClr val="lt1"/>
              </a:solidFill>
            </a:endParaRPr>
          </a:p>
        </p:txBody>
      </p:sp>
      <p:sp>
        <p:nvSpPr>
          <p:cNvPr id="108" name="Google Shape;108;p1"/>
          <p:cNvSpPr txBox="1">
            <a:spLocks noGrp="1"/>
          </p:cNvSpPr>
          <p:nvPr>
            <p:ph type="subTitle" idx="1"/>
          </p:nvPr>
        </p:nvSpPr>
        <p:spPr>
          <a:xfrm>
            <a:off x="2884075" y="3296625"/>
            <a:ext cx="6020700" cy="512100"/>
          </a:xfrm>
          <a:prstGeom prst="rect">
            <a:avLst/>
          </a:prstGeom>
          <a:noFill/>
          <a:ln>
            <a:noFill/>
          </a:ln>
        </p:spPr>
        <p:txBody>
          <a:bodyPr spcFirstLastPara="1" wrap="square" lIns="91425" tIns="91425" rIns="91425" bIns="91425" anchor="t" anchorCtr="0">
            <a:normAutofit fontScale="92500" lnSpcReduction="20000"/>
          </a:bodyPr>
          <a:lstStyle/>
          <a:p>
            <a:pPr marL="0" lvl="0" indent="0" algn="ctr" rtl="0">
              <a:lnSpc>
                <a:spcPct val="100000"/>
              </a:lnSpc>
              <a:spcBef>
                <a:spcPts val="0"/>
              </a:spcBef>
              <a:spcAft>
                <a:spcPts val="0"/>
              </a:spcAft>
              <a:buSzPct val="108108"/>
              <a:buNone/>
            </a:pPr>
            <a:r>
              <a:rPr lang="en">
                <a:solidFill>
                  <a:schemeClr val="lt1"/>
                </a:solidFill>
              </a:rPr>
              <a:t>AIML Module 1</a:t>
            </a:r>
            <a:endParaRPr>
              <a:solidFill>
                <a:schemeClr val="lt1"/>
              </a:solidFill>
            </a:endParaRPr>
          </a:p>
        </p:txBody>
      </p:sp>
      <p:sp>
        <p:nvSpPr>
          <p:cNvPr id="109" name="Google Shape;109;p1"/>
          <p:cNvSpPr txBox="1"/>
          <p:nvPr/>
        </p:nvSpPr>
        <p:spPr>
          <a:xfrm>
            <a:off x="5316175" y="3737325"/>
            <a:ext cx="3389100" cy="553968"/>
          </a:xfrm>
          <a:prstGeom prst="rect">
            <a:avLst/>
          </a:prstGeom>
          <a:noFill/>
          <a:ln>
            <a:noFill/>
          </a:ln>
        </p:spPr>
        <p:txBody>
          <a:bodyPr spcFirstLastPara="1" wrap="square" lIns="91425" tIns="91425" rIns="91425" bIns="91425" anchor="t" anchorCtr="0">
            <a:spAutoFit/>
          </a:bodyPr>
          <a:lstStyle/>
          <a:p>
            <a:pPr marL="0" marR="0" lvl="0" indent="0" algn="r" rtl="0">
              <a:lnSpc>
                <a:spcPct val="150000"/>
              </a:lnSpc>
              <a:spcBef>
                <a:spcPts val="0"/>
              </a:spcBef>
              <a:spcAft>
                <a:spcPts val="0"/>
              </a:spcAft>
              <a:buClr>
                <a:srgbClr val="000000"/>
              </a:buClr>
              <a:buSzPts val="1600"/>
              <a:buFont typeface="Arial"/>
              <a:buNone/>
            </a:pPr>
            <a:r>
              <a:rPr lang="en" sz="1600" b="0" i="0" u="none" strike="noStrike" cap="none">
                <a:solidFill>
                  <a:schemeClr val="lt1"/>
                </a:solidFill>
                <a:latin typeface="Arial"/>
                <a:ea typeface="Arial"/>
                <a:cs typeface="Arial"/>
                <a:sym typeface="Arial"/>
              </a:rPr>
              <a:t>BITS Pilani</a:t>
            </a:r>
            <a:endParaRPr sz="16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
          <p:cNvSpPr txBox="1">
            <a:spLocks noGrp="1"/>
          </p:cNvSpPr>
          <p:nvPr>
            <p:ph type="title"/>
          </p:nvPr>
        </p:nvSpPr>
        <p:spPr>
          <a:xfrm>
            <a:off x="1714500" y="1448675"/>
            <a:ext cx="5688300" cy="1541700"/>
          </a:xfrm>
          <a:prstGeom prst="rect">
            <a:avLst/>
          </a:prstGeom>
          <a:noFill/>
          <a:ln>
            <a:noFill/>
          </a:ln>
        </p:spPr>
        <p:txBody>
          <a:bodyPr spcFirstLastPara="1" wrap="square" lIns="91425" tIns="91425" rIns="91425" bIns="91425" anchor="ctr" anchorCtr="0">
            <a:normAutofit/>
          </a:bodyPr>
          <a:lstStyle/>
          <a:p>
            <a:pPr marL="0" lvl="0" indent="0" algn="just" rtl="0">
              <a:lnSpc>
                <a:spcPct val="115000"/>
              </a:lnSpc>
              <a:spcBef>
                <a:spcPts val="0"/>
              </a:spcBef>
              <a:spcAft>
                <a:spcPts val="1200"/>
              </a:spcAft>
              <a:buSzPts val="3600"/>
              <a:buNone/>
            </a:pPr>
            <a:r>
              <a:rPr lang="en" sz="1800">
                <a:solidFill>
                  <a:schemeClr val="dk2"/>
                </a:solidFill>
              </a:rPr>
              <a:t>The author of this deck is gratefully acknowledging the authors who made their course materials freely available online.</a:t>
            </a:r>
            <a:endParaRPr sz="1800">
              <a:solidFill>
                <a:schemeClr val="dk2"/>
              </a:solidFill>
            </a:endParaRPr>
          </a:p>
        </p:txBody>
      </p:sp>
      <p:sp>
        <p:nvSpPr>
          <p:cNvPr id="115" name="Google Shape;115;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Power of MLP</a:t>
            </a:r>
            <a:endParaRPr b="1"/>
          </a:p>
        </p:txBody>
      </p:sp>
      <p:sp>
        <p:nvSpPr>
          <p:cNvPr id="121" name="Google Shape;121;p3"/>
          <p:cNvSpPr txBox="1">
            <a:spLocks noGrp="1"/>
          </p:cNvSpPr>
          <p:nvPr>
            <p:ph type="body" idx="1"/>
          </p:nvPr>
        </p:nvSpPr>
        <p:spPr>
          <a:xfrm>
            <a:off x="311700" y="1103744"/>
            <a:ext cx="8520600" cy="3759055"/>
          </a:xfrm>
          <a:prstGeom prst="rect">
            <a:avLst/>
          </a:prstGeom>
          <a:noFill/>
          <a:ln>
            <a:noFill/>
          </a:ln>
        </p:spPr>
        <p:txBody>
          <a:bodyPr spcFirstLastPara="1" wrap="square" lIns="91425" tIns="91425" rIns="91425" bIns="91425" anchor="t" anchorCtr="0">
            <a:normAutofit/>
          </a:bodyPr>
          <a:lstStyle/>
          <a:p>
            <a:pPr marL="457200" lvl="0" indent="-355600" algn="l" rtl="0">
              <a:lnSpc>
                <a:spcPct val="115000"/>
              </a:lnSpc>
              <a:spcBef>
                <a:spcPts val="0"/>
              </a:spcBef>
              <a:spcAft>
                <a:spcPts val="0"/>
              </a:spcAft>
              <a:buSzPts val="2000"/>
              <a:buChar char="●"/>
            </a:pPr>
            <a:r>
              <a:rPr lang="en"/>
              <a:t>MLP can be used for</a:t>
            </a:r>
            <a:endParaRPr/>
          </a:p>
          <a:p>
            <a:pPr marL="914400" lvl="1" indent="-330200" algn="l" rtl="0">
              <a:lnSpc>
                <a:spcPct val="115000"/>
              </a:lnSpc>
              <a:spcBef>
                <a:spcPts val="0"/>
              </a:spcBef>
              <a:spcAft>
                <a:spcPts val="0"/>
              </a:spcAft>
              <a:buSzPts val="1600"/>
              <a:buChar char="○"/>
            </a:pPr>
            <a:r>
              <a:rPr lang="en"/>
              <a:t>Classification</a:t>
            </a:r>
            <a:endParaRPr/>
          </a:p>
          <a:p>
            <a:pPr marL="1371600" lvl="2" indent="-330200" algn="l" rtl="0">
              <a:lnSpc>
                <a:spcPct val="115000"/>
              </a:lnSpc>
              <a:spcBef>
                <a:spcPts val="0"/>
              </a:spcBef>
              <a:spcAft>
                <a:spcPts val="0"/>
              </a:spcAft>
              <a:buSzPts val="1600"/>
              <a:buChar char="■"/>
            </a:pPr>
            <a:r>
              <a:rPr lang="en"/>
              <a:t>Binary</a:t>
            </a:r>
            <a:endParaRPr/>
          </a:p>
          <a:p>
            <a:pPr marL="1371600" lvl="2" indent="-330200" algn="l" rtl="0">
              <a:lnSpc>
                <a:spcPct val="115000"/>
              </a:lnSpc>
              <a:spcBef>
                <a:spcPts val="0"/>
              </a:spcBef>
              <a:spcAft>
                <a:spcPts val="0"/>
              </a:spcAft>
              <a:buSzPts val="1600"/>
              <a:buChar char="■"/>
            </a:pPr>
            <a:r>
              <a:rPr lang="en"/>
              <a:t>Multiclass </a:t>
            </a:r>
            <a:endParaRPr/>
          </a:p>
          <a:p>
            <a:pPr marL="914400" lvl="1" indent="-330200" algn="l" rtl="0">
              <a:lnSpc>
                <a:spcPct val="115000"/>
              </a:lnSpc>
              <a:spcBef>
                <a:spcPts val="0"/>
              </a:spcBef>
              <a:spcAft>
                <a:spcPts val="0"/>
              </a:spcAft>
              <a:buSzPts val="1600"/>
              <a:buChar char="○"/>
            </a:pPr>
            <a:r>
              <a:rPr lang="en"/>
              <a:t>Regression </a:t>
            </a:r>
            <a:endParaRPr/>
          </a:p>
          <a:p>
            <a:pPr marL="1371600" lvl="2" indent="-330200" algn="l" rtl="0">
              <a:lnSpc>
                <a:spcPct val="115000"/>
              </a:lnSpc>
              <a:spcBef>
                <a:spcPts val="0"/>
              </a:spcBef>
              <a:spcAft>
                <a:spcPts val="0"/>
              </a:spcAft>
              <a:buSzPts val="1600"/>
              <a:buChar char="■"/>
            </a:pPr>
            <a:r>
              <a:rPr lang="en"/>
              <a:t>real output   </a:t>
            </a:r>
            <a:endParaRPr/>
          </a:p>
          <a:p>
            <a:pPr marL="914400" lvl="1" indent="-330200" algn="l" rtl="0">
              <a:lnSpc>
                <a:spcPct val="115000"/>
              </a:lnSpc>
              <a:spcBef>
                <a:spcPts val="0"/>
              </a:spcBef>
              <a:spcAft>
                <a:spcPts val="0"/>
              </a:spcAft>
              <a:buSzPts val="1600"/>
              <a:buChar char="○"/>
            </a:pPr>
            <a:r>
              <a:rPr lang="en"/>
              <a:t>representing complex decision boundaries </a:t>
            </a:r>
            <a:endParaRPr/>
          </a:p>
          <a:p>
            <a:pPr marL="914400" lvl="1" indent="-330200" algn="l" rtl="0">
              <a:lnSpc>
                <a:spcPct val="115000"/>
              </a:lnSpc>
              <a:spcBef>
                <a:spcPts val="0"/>
              </a:spcBef>
              <a:spcAft>
                <a:spcPts val="0"/>
              </a:spcAft>
              <a:buSzPts val="1600"/>
              <a:buChar char="○"/>
            </a:pPr>
            <a:r>
              <a:rPr lang="en"/>
              <a:t>representing boolean functions </a:t>
            </a:r>
            <a:endParaRPr/>
          </a:p>
          <a:p>
            <a:pPr marL="0" lvl="0" indent="0" algn="l" rtl="0">
              <a:lnSpc>
                <a:spcPct val="115000"/>
              </a:lnSpc>
              <a:spcBef>
                <a:spcPts val="1200"/>
              </a:spcBef>
              <a:spcAft>
                <a:spcPts val="0"/>
              </a:spcAft>
              <a:buSzPts val="2000"/>
              <a:buNone/>
            </a:pPr>
            <a:endParaRPr/>
          </a:p>
          <a:p>
            <a:pPr marL="0" lvl="0" indent="0" algn="l" rtl="0">
              <a:lnSpc>
                <a:spcPct val="115000"/>
              </a:lnSpc>
              <a:spcBef>
                <a:spcPts val="1200"/>
              </a:spcBef>
              <a:spcAft>
                <a:spcPts val="0"/>
              </a:spcAft>
              <a:buSzPts val="2000"/>
              <a:buNone/>
            </a:pPr>
            <a:r>
              <a:rPr lang="en"/>
              <a:t>MLP is called as Universal Approximator for the above reasons. </a:t>
            </a:r>
            <a:endParaRPr/>
          </a:p>
          <a:p>
            <a:pPr marL="0" lvl="0" indent="0" algn="l" rtl="0">
              <a:lnSpc>
                <a:spcPct val="115000"/>
              </a:lnSpc>
              <a:spcBef>
                <a:spcPts val="1200"/>
              </a:spcBef>
              <a:spcAft>
                <a:spcPts val="1200"/>
              </a:spcAft>
              <a:buSzPts val="2000"/>
              <a:buNone/>
            </a:pPr>
            <a:endParaRPr/>
          </a:p>
        </p:txBody>
      </p:sp>
      <p:sp>
        <p:nvSpPr>
          <p:cNvPr id="122" name="Google Shape;122;p3"/>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4"/>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 for XOR gate</a:t>
            </a:r>
            <a:endParaRPr b="1"/>
          </a:p>
        </p:txBody>
      </p:sp>
      <p:sp>
        <p:nvSpPr>
          <p:cNvPr id="128" name="Google Shape;128;p4"/>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4</a:t>
            </a:fld>
            <a:endParaRPr/>
          </a:p>
        </p:txBody>
      </p:sp>
      <p:pic>
        <p:nvPicPr>
          <p:cNvPr id="129" name="Google Shape;129;p4"/>
          <p:cNvPicPr preferRelativeResize="0"/>
          <p:nvPr/>
        </p:nvPicPr>
        <p:blipFill rotWithShape="1">
          <a:blip r:embed="rId3">
            <a:alphaModFix/>
          </a:blip>
          <a:srcRect/>
          <a:stretch/>
        </p:blipFill>
        <p:spPr>
          <a:xfrm>
            <a:off x="1428750" y="1443038"/>
            <a:ext cx="6286500" cy="2257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Perceptron with real inputs</a:t>
            </a:r>
            <a:endParaRPr b="1"/>
          </a:p>
        </p:txBody>
      </p:sp>
      <p:sp>
        <p:nvSpPr>
          <p:cNvPr id="135" name="Google Shape;135;p5"/>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5</a:t>
            </a:fld>
            <a:endParaRPr/>
          </a:p>
        </p:txBody>
      </p:sp>
      <p:pic>
        <p:nvPicPr>
          <p:cNvPr id="136" name="Google Shape;136;p5"/>
          <p:cNvPicPr preferRelativeResize="0"/>
          <p:nvPr/>
        </p:nvPicPr>
        <p:blipFill rotWithShape="1">
          <a:blip r:embed="rId3">
            <a:alphaModFix/>
          </a:blip>
          <a:srcRect/>
          <a:stretch/>
        </p:blipFill>
        <p:spPr>
          <a:xfrm>
            <a:off x="857250" y="1033463"/>
            <a:ext cx="7429500" cy="3838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6"/>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Perceptron with real inputs</a:t>
            </a:r>
            <a:endParaRPr b="1"/>
          </a:p>
        </p:txBody>
      </p:sp>
      <p:sp>
        <p:nvSpPr>
          <p:cNvPr id="142" name="Google Shape;142;p6"/>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6</a:t>
            </a:fld>
            <a:endParaRPr/>
          </a:p>
        </p:txBody>
      </p:sp>
      <p:pic>
        <p:nvPicPr>
          <p:cNvPr id="143" name="Google Shape;143;p6"/>
          <p:cNvPicPr preferRelativeResize="0"/>
          <p:nvPr/>
        </p:nvPicPr>
        <p:blipFill rotWithShape="1">
          <a:blip r:embed="rId3">
            <a:alphaModFix/>
          </a:blip>
          <a:srcRect/>
          <a:stretch/>
        </p:blipFill>
        <p:spPr>
          <a:xfrm>
            <a:off x="619125" y="1104900"/>
            <a:ext cx="7905750" cy="3695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 b="1"/>
              <a:t>Complex Boundaries Using MLP</a:t>
            </a:r>
            <a:endParaRPr b="1"/>
          </a:p>
        </p:txBody>
      </p:sp>
      <p:sp>
        <p:nvSpPr>
          <p:cNvPr id="149" name="Google Shape;14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8"/>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solidFill>
                  <a:schemeClr val="dk1"/>
                </a:solidFill>
              </a:rPr>
              <a:t>MLP for Complicated Decision Boundaries</a:t>
            </a:r>
            <a:endParaRPr b="1">
              <a:solidFill>
                <a:schemeClr val="dk1"/>
              </a:solidFill>
            </a:endParaRPr>
          </a:p>
        </p:txBody>
      </p:sp>
      <p:sp>
        <p:nvSpPr>
          <p:cNvPr id="155" name="Google Shape;15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8</a:t>
            </a:fld>
            <a:endParaRPr/>
          </a:p>
        </p:txBody>
      </p:sp>
      <p:pic>
        <p:nvPicPr>
          <p:cNvPr id="156" name="Google Shape;156;p8"/>
          <p:cNvPicPr preferRelativeResize="0"/>
          <p:nvPr/>
        </p:nvPicPr>
        <p:blipFill rotWithShape="1">
          <a:blip r:embed="rId3">
            <a:alphaModFix/>
          </a:blip>
          <a:srcRect t="20204"/>
          <a:stretch/>
        </p:blipFill>
        <p:spPr>
          <a:xfrm>
            <a:off x="1190625" y="1192225"/>
            <a:ext cx="6762750" cy="3602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9"/>
          <p:cNvSpPr txBox="1">
            <a:spLocks noGrp="1"/>
          </p:cNvSpPr>
          <p:nvPr>
            <p:ph type="sldNum" idx="12"/>
          </p:nvPr>
        </p:nvSpPr>
        <p:spPr>
          <a:xfrm>
            <a:off x="2071658" y="48918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9</a:t>
            </a:fld>
            <a:endParaRPr/>
          </a:p>
        </p:txBody>
      </p:sp>
      <p:pic>
        <p:nvPicPr>
          <p:cNvPr id="162" name="Google Shape;162;p9"/>
          <p:cNvPicPr preferRelativeResize="0"/>
          <p:nvPr/>
        </p:nvPicPr>
        <p:blipFill rotWithShape="1">
          <a:blip r:embed="rId3">
            <a:alphaModFix/>
          </a:blip>
          <a:srcRect t="12049" r="2055"/>
          <a:stretch/>
        </p:blipFill>
        <p:spPr>
          <a:xfrm>
            <a:off x="1352550" y="1076325"/>
            <a:ext cx="6070549" cy="3838575"/>
          </a:xfrm>
          <a:prstGeom prst="rect">
            <a:avLst/>
          </a:prstGeom>
          <a:noFill/>
          <a:ln>
            <a:noFill/>
          </a:ln>
        </p:spPr>
      </p:pic>
      <p:sp>
        <p:nvSpPr>
          <p:cNvPr id="163" name="Google Shape;163;p9"/>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 for Complicated Decision Boundaries</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0"/>
          <p:cNvSpPr txBox="1">
            <a:spLocks noGrp="1"/>
          </p:cNvSpPr>
          <p:nvPr>
            <p:ph type="sldNum" idx="12"/>
          </p:nvPr>
        </p:nvSpPr>
        <p:spPr>
          <a:xfrm>
            <a:off x="2071658" y="48918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10</a:t>
            </a:fld>
            <a:endParaRPr/>
          </a:p>
        </p:txBody>
      </p:sp>
      <p:pic>
        <p:nvPicPr>
          <p:cNvPr id="169" name="Google Shape;169;p10"/>
          <p:cNvPicPr preferRelativeResize="0"/>
          <p:nvPr/>
        </p:nvPicPr>
        <p:blipFill rotWithShape="1">
          <a:blip r:embed="rId3">
            <a:alphaModFix/>
          </a:blip>
          <a:srcRect t="9641"/>
          <a:stretch/>
        </p:blipFill>
        <p:spPr>
          <a:xfrm>
            <a:off x="1428750" y="1052175"/>
            <a:ext cx="5806718" cy="3839650"/>
          </a:xfrm>
          <a:prstGeom prst="rect">
            <a:avLst/>
          </a:prstGeom>
          <a:noFill/>
          <a:ln>
            <a:noFill/>
          </a:ln>
        </p:spPr>
      </p:pic>
      <p:sp>
        <p:nvSpPr>
          <p:cNvPr id="170" name="Google Shape;170;p10"/>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 for Complicated Decision Boundaries</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1"/>
          <p:cNvSpPr txBox="1">
            <a:spLocks noGrp="1"/>
          </p:cNvSpPr>
          <p:nvPr>
            <p:ph type="sldNum" idx="12"/>
          </p:nvPr>
        </p:nvSpPr>
        <p:spPr>
          <a:xfrm>
            <a:off x="2071658" y="48918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11</a:t>
            </a:fld>
            <a:endParaRPr/>
          </a:p>
        </p:txBody>
      </p:sp>
      <p:pic>
        <p:nvPicPr>
          <p:cNvPr id="176" name="Google Shape;176;p11"/>
          <p:cNvPicPr preferRelativeResize="0"/>
          <p:nvPr/>
        </p:nvPicPr>
        <p:blipFill rotWithShape="1">
          <a:blip r:embed="rId3">
            <a:alphaModFix/>
          </a:blip>
          <a:srcRect t="13763" r="1234"/>
          <a:stretch/>
        </p:blipFill>
        <p:spPr>
          <a:xfrm>
            <a:off x="1343025" y="1169525"/>
            <a:ext cx="5947750" cy="3707275"/>
          </a:xfrm>
          <a:prstGeom prst="rect">
            <a:avLst/>
          </a:prstGeom>
          <a:noFill/>
          <a:ln>
            <a:noFill/>
          </a:ln>
        </p:spPr>
      </p:pic>
      <p:sp>
        <p:nvSpPr>
          <p:cNvPr id="177" name="Google Shape;177;p11"/>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 for Complicated Decision Boundaries</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2"/>
          <p:cNvSpPr txBox="1">
            <a:spLocks noGrp="1"/>
          </p:cNvSpPr>
          <p:nvPr>
            <p:ph type="sldNum" idx="12"/>
          </p:nvPr>
        </p:nvSpPr>
        <p:spPr>
          <a:xfrm>
            <a:off x="2071658" y="48918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12</a:t>
            </a:fld>
            <a:endParaRPr/>
          </a:p>
        </p:txBody>
      </p:sp>
      <p:pic>
        <p:nvPicPr>
          <p:cNvPr id="183" name="Google Shape;183;p12"/>
          <p:cNvPicPr preferRelativeResize="0"/>
          <p:nvPr/>
        </p:nvPicPr>
        <p:blipFill rotWithShape="1">
          <a:blip r:embed="rId3">
            <a:alphaModFix/>
          </a:blip>
          <a:srcRect t="16499"/>
          <a:stretch/>
        </p:blipFill>
        <p:spPr>
          <a:xfrm>
            <a:off x="1119200" y="1061825"/>
            <a:ext cx="6530399" cy="3760750"/>
          </a:xfrm>
          <a:prstGeom prst="rect">
            <a:avLst/>
          </a:prstGeom>
          <a:noFill/>
          <a:ln>
            <a:noFill/>
          </a:ln>
        </p:spPr>
      </p:pic>
      <p:sp>
        <p:nvSpPr>
          <p:cNvPr id="184" name="Google Shape;184;p12"/>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 for Complicated Decision Boundaries</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3"/>
          <p:cNvSpPr txBox="1">
            <a:spLocks noGrp="1"/>
          </p:cNvSpPr>
          <p:nvPr>
            <p:ph type="sldNum" idx="12"/>
          </p:nvPr>
        </p:nvSpPr>
        <p:spPr>
          <a:xfrm>
            <a:off x="2071658" y="48918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13</a:t>
            </a:fld>
            <a:endParaRPr/>
          </a:p>
        </p:txBody>
      </p:sp>
      <p:pic>
        <p:nvPicPr>
          <p:cNvPr id="190" name="Google Shape;190;p13"/>
          <p:cNvPicPr preferRelativeResize="0"/>
          <p:nvPr/>
        </p:nvPicPr>
        <p:blipFill rotWithShape="1">
          <a:blip r:embed="rId3">
            <a:alphaModFix/>
          </a:blip>
          <a:srcRect t="12365" r="1340"/>
          <a:stretch/>
        </p:blipFill>
        <p:spPr>
          <a:xfrm>
            <a:off x="1143000" y="1065525"/>
            <a:ext cx="6207025" cy="3782700"/>
          </a:xfrm>
          <a:prstGeom prst="rect">
            <a:avLst/>
          </a:prstGeom>
          <a:noFill/>
          <a:ln>
            <a:noFill/>
          </a:ln>
        </p:spPr>
      </p:pic>
      <p:sp>
        <p:nvSpPr>
          <p:cNvPr id="191" name="Google Shape;191;p13"/>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 for Complicated Decision Boundaries</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4"/>
          <p:cNvSpPr txBox="1">
            <a:spLocks noGrp="1"/>
          </p:cNvSpPr>
          <p:nvPr>
            <p:ph type="sldNum" idx="12"/>
          </p:nvPr>
        </p:nvSpPr>
        <p:spPr>
          <a:xfrm>
            <a:off x="2071658" y="48918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14</a:t>
            </a:fld>
            <a:endParaRPr/>
          </a:p>
        </p:txBody>
      </p:sp>
      <p:pic>
        <p:nvPicPr>
          <p:cNvPr id="197" name="Google Shape;197;p14"/>
          <p:cNvPicPr preferRelativeResize="0"/>
          <p:nvPr/>
        </p:nvPicPr>
        <p:blipFill rotWithShape="1">
          <a:blip r:embed="rId3">
            <a:alphaModFix/>
          </a:blip>
          <a:srcRect t="9502" r="1554"/>
          <a:stretch/>
        </p:blipFill>
        <p:spPr>
          <a:xfrm>
            <a:off x="1114425" y="1081825"/>
            <a:ext cx="6203661" cy="3810000"/>
          </a:xfrm>
          <a:prstGeom prst="rect">
            <a:avLst/>
          </a:prstGeom>
          <a:noFill/>
          <a:ln>
            <a:noFill/>
          </a:ln>
        </p:spPr>
      </p:pic>
      <p:sp>
        <p:nvSpPr>
          <p:cNvPr id="198" name="Google Shape;198;p14"/>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 for Complicated Decision Boundaries</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5"/>
          <p:cNvSpPr txBox="1">
            <a:spLocks noGrp="1"/>
          </p:cNvSpPr>
          <p:nvPr>
            <p:ph type="sldNum" idx="12"/>
          </p:nvPr>
        </p:nvSpPr>
        <p:spPr>
          <a:xfrm>
            <a:off x="2071658" y="48918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15</a:t>
            </a:fld>
            <a:endParaRPr/>
          </a:p>
        </p:txBody>
      </p:sp>
      <p:pic>
        <p:nvPicPr>
          <p:cNvPr id="204" name="Google Shape;204;p15"/>
          <p:cNvPicPr preferRelativeResize="0"/>
          <p:nvPr/>
        </p:nvPicPr>
        <p:blipFill rotWithShape="1">
          <a:blip r:embed="rId3">
            <a:alphaModFix/>
          </a:blip>
          <a:srcRect t="16247"/>
          <a:stretch/>
        </p:blipFill>
        <p:spPr>
          <a:xfrm>
            <a:off x="1378475" y="1091000"/>
            <a:ext cx="5881153" cy="3731500"/>
          </a:xfrm>
          <a:prstGeom prst="rect">
            <a:avLst/>
          </a:prstGeom>
          <a:noFill/>
          <a:ln>
            <a:noFill/>
          </a:ln>
        </p:spPr>
      </p:pic>
      <p:sp>
        <p:nvSpPr>
          <p:cNvPr id="205" name="Google Shape;205;p15"/>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 for Complicated Decision Boundaries</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6"/>
          <p:cNvSpPr txBox="1">
            <a:spLocks noGrp="1"/>
          </p:cNvSpPr>
          <p:nvPr>
            <p:ph type="sldNum" idx="12"/>
          </p:nvPr>
        </p:nvSpPr>
        <p:spPr>
          <a:xfrm>
            <a:off x="2071658" y="48918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16</a:t>
            </a:fld>
            <a:endParaRPr/>
          </a:p>
        </p:txBody>
      </p:sp>
      <p:sp>
        <p:nvSpPr>
          <p:cNvPr id="211" name="Google Shape;211;p16"/>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 for Complicated Decision Boundaries</a:t>
            </a:r>
            <a:endParaRPr b="1"/>
          </a:p>
        </p:txBody>
      </p:sp>
      <p:pic>
        <p:nvPicPr>
          <p:cNvPr id="212" name="Google Shape;212;p16"/>
          <p:cNvPicPr preferRelativeResize="0"/>
          <p:nvPr/>
        </p:nvPicPr>
        <p:blipFill rotWithShape="1">
          <a:blip r:embed="rId3">
            <a:alphaModFix/>
          </a:blip>
          <a:srcRect/>
          <a:stretch/>
        </p:blipFill>
        <p:spPr>
          <a:xfrm>
            <a:off x="685800" y="1019950"/>
            <a:ext cx="7724775" cy="3848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7"/>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MLPs for Arbitrary Classification Boundary</a:t>
            </a:r>
            <a:endParaRPr b="1"/>
          </a:p>
        </p:txBody>
      </p:sp>
      <p:sp>
        <p:nvSpPr>
          <p:cNvPr id="218" name="Google Shape;218;p17"/>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17</a:t>
            </a:fld>
            <a:endParaRPr/>
          </a:p>
        </p:txBody>
      </p:sp>
      <p:pic>
        <p:nvPicPr>
          <p:cNvPr id="219" name="Google Shape;219;p17"/>
          <p:cNvPicPr preferRelativeResize="0"/>
          <p:nvPr/>
        </p:nvPicPr>
        <p:blipFill rotWithShape="1">
          <a:blip r:embed="rId3">
            <a:alphaModFix/>
          </a:blip>
          <a:srcRect/>
          <a:stretch/>
        </p:blipFill>
        <p:spPr>
          <a:xfrm>
            <a:off x="912675" y="1036950"/>
            <a:ext cx="7318650" cy="3778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8"/>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 as Continuous-Valued Regression</a:t>
            </a:r>
            <a:endParaRPr b="1"/>
          </a:p>
        </p:txBody>
      </p:sp>
      <p:sp>
        <p:nvSpPr>
          <p:cNvPr id="225" name="Google Shape;225;p18"/>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18</a:t>
            </a:fld>
            <a:endParaRPr/>
          </a:p>
        </p:txBody>
      </p:sp>
      <p:pic>
        <p:nvPicPr>
          <p:cNvPr id="226" name="Google Shape;226;p18"/>
          <p:cNvPicPr preferRelativeResize="0"/>
          <p:nvPr/>
        </p:nvPicPr>
        <p:blipFill rotWithShape="1">
          <a:blip r:embed="rId3">
            <a:alphaModFix/>
          </a:blip>
          <a:srcRect/>
          <a:stretch/>
        </p:blipFill>
        <p:spPr>
          <a:xfrm>
            <a:off x="1140300" y="1071099"/>
            <a:ext cx="6863374" cy="3921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9"/>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b="1"/>
              <a:t>MLP as Continuous-Valued Regression</a:t>
            </a:r>
            <a:endParaRPr b="1"/>
          </a:p>
          <a:p>
            <a:pPr marL="0" lvl="0" indent="0" algn="l" rtl="0">
              <a:lnSpc>
                <a:spcPct val="100000"/>
              </a:lnSpc>
              <a:spcBef>
                <a:spcPts val="0"/>
              </a:spcBef>
              <a:spcAft>
                <a:spcPts val="0"/>
              </a:spcAft>
              <a:buSzPct val="111111"/>
              <a:buNone/>
            </a:pPr>
            <a:endParaRPr/>
          </a:p>
        </p:txBody>
      </p:sp>
      <p:sp>
        <p:nvSpPr>
          <p:cNvPr id="232" name="Google Shape;232;p19"/>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19</a:t>
            </a:fld>
            <a:endParaRPr/>
          </a:p>
        </p:txBody>
      </p:sp>
      <p:pic>
        <p:nvPicPr>
          <p:cNvPr id="233" name="Google Shape;233;p19"/>
          <p:cNvPicPr preferRelativeResize="0"/>
          <p:nvPr/>
        </p:nvPicPr>
        <p:blipFill rotWithShape="1">
          <a:blip r:embed="rId3">
            <a:alphaModFix/>
          </a:blip>
          <a:srcRect/>
          <a:stretch/>
        </p:blipFill>
        <p:spPr>
          <a:xfrm>
            <a:off x="800100" y="1085850"/>
            <a:ext cx="7543800" cy="3733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0"/>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MLPs are Universal Boolean Functions</a:t>
            </a:r>
            <a:endParaRPr b="1"/>
          </a:p>
        </p:txBody>
      </p:sp>
      <p:sp>
        <p:nvSpPr>
          <p:cNvPr id="239" name="Google Shape;239;p20"/>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20</a:t>
            </a:fld>
            <a:endParaRPr/>
          </a:p>
        </p:txBody>
      </p:sp>
      <p:pic>
        <p:nvPicPr>
          <p:cNvPr id="240" name="Google Shape;240;p20"/>
          <p:cNvPicPr preferRelativeResize="0"/>
          <p:nvPr/>
        </p:nvPicPr>
        <p:blipFill rotWithShape="1">
          <a:blip r:embed="rId3">
            <a:alphaModFix/>
          </a:blip>
          <a:srcRect/>
          <a:stretch/>
        </p:blipFill>
        <p:spPr>
          <a:xfrm>
            <a:off x="752475" y="1076325"/>
            <a:ext cx="7639050" cy="3752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21</a:t>
            </a:fld>
            <a:endParaRPr/>
          </a:p>
        </p:txBody>
      </p:sp>
      <p:pic>
        <p:nvPicPr>
          <p:cNvPr id="246" name="Google Shape;246;p21"/>
          <p:cNvPicPr preferRelativeResize="0"/>
          <p:nvPr/>
        </p:nvPicPr>
        <p:blipFill rotWithShape="1">
          <a:blip r:embed="rId3">
            <a:alphaModFix/>
          </a:blip>
          <a:srcRect t="18046"/>
          <a:stretch/>
        </p:blipFill>
        <p:spPr>
          <a:xfrm>
            <a:off x="966800" y="1113798"/>
            <a:ext cx="7210425" cy="3739200"/>
          </a:xfrm>
          <a:prstGeom prst="rect">
            <a:avLst/>
          </a:prstGeom>
          <a:noFill/>
          <a:ln>
            <a:noFill/>
          </a:ln>
        </p:spPr>
      </p:pic>
      <p:sp>
        <p:nvSpPr>
          <p:cNvPr id="247" name="Google Shape;247;p21"/>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How many layers for a Boolean MLP?</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22</a:t>
            </a:fld>
            <a:endParaRPr/>
          </a:p>
        </p:txBody>
      </p:sp>
      <p:pic>
        <p:nvPicPr>
          <p:cNvPr id="253" name="Google Shape;253;p22"/>
          <p:cNvPicPr preferRelativeResize="0"/>
          <p:nvPr/>
        </p:nvPicPr>
        <p:blipFill rotWithShape="1">
          <a:blip r:embed="rId3">
            <a:alphaModFix/>
          </a:blip>
          <a:srcRect t="17019"/>
          <a:stretch/>
        </p:blipFill>
        <p:spPr>
          <a:xfrm>
            <a:off x="904875" y="1038700"/>
            <a:ext cx="7334250" cy="3857150"/>
          </a:xfrm>
          <a:prstGeom prst="rect">
            <a:avLst/>
          </a:prstGeom>
          <a:noFill/>
          <a:ln>
            <a:noFill/>
          </a:ln>
        </p:spPr>
      </p:pic>
      <p:sp>
        <p:nvSpPr>
          <p:cNvPr id="254" name="Google Shape;254;p22"/>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How many layers for a Boolean MLP?</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23</a:t>
            </a:fld>
            <a:endParaRPr/>
          </a:p>
        </p:txBody>
      </p:sp>
      <p:pic>
        <p:nvPicPr>
          <p:cNvPr id="260" name="Google Shape;260;p23"/>
          <p:cNvPicPr preferRelativeResize="0"/>
          <p:nvPr/>
        </p:nvPicPr>
        <p:blipFill rotWithShape="1">
          <a:blip r:embed="rId3">
            <a:alphaModFix/>
          </a:blip>
          <a:srcRect t="17149"/>
          <a:stretch/>
        </p:blipFill>
        <p:spPr>
          <a:xfrm>
            <a:off x="871550" y="1051225"/>
            <a:ext cx="7400925" cy="3835100"/>
          </a:xfrm>
          <a:prstGeom prst="rect">
            <a:avLst/>
          </a:prstGeom>
          <a:noFill/>
          <a:ln>
            <a:noFill/>
          </a:ln>
        </p:spPr>
      </p:pic>
      <p:sp>
        <p:nvSpPr>
          <p:cNvPr id="261" name="Google Shape;261;p23"/>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How many layers for a Boolean MLP?</a:t>
            </a:r>
            <a:endParaRPr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24</a:t>
            </a:fld>
            <a:endParaRPr/>
          </a:p>
        </p:txBody>
      </p:sp>
      <p:pic>
        <p:nvPicPr>
          <p:cNvPr id="267" name="Google Shape;267;p24"/>
          <p:cNvPicPr preferRelativeResize="0"/>
          <p:nvPr/>
        </p:nvPicPr>
        <p:blipFill rotWithShape="1">
          <a:blip r:embed="rId3">
            <a:alphaModFix/>
          </a:blip>
          <a:srcRect t="16134"/>
          <a:stretch/>
        </p:blipFill>
        <p:spPr>
          <a:xfrm>
            <a:off x="857250" y="1013673"/>
            <a:ext cx="7429500" cy="3858375"/>
          </a:xfrm>
          <a:prstGeom prst="rect">
            <a:avLst/>
          </a:prstGeom>
          <a:noFill/>
          <a:ln>
            <a:noFill/>
          </a:ln>
        </p:spPr>
      </p:pic>
      <p:sp>
        <p:nvSpPr>
          <p:cNvPr id="268" name="Google Shape;268;p24"/>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How many layers for a Boolean MLP?</a:t>
            </a:r>
            <a:endParaRPr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25</a:t>
            </a:fld>
            <a:endParaRPr/>
          </a:p>
        </p:txBody>
      </p:sp>
      <p:pic>
        <p:nvPicPr>
          <p:cNvPr id="274" name="Google Shape;274;p25"/>
          <p:cNvPicPr preferRelativeResize="0"/>
          <p:nvPr/>
        </p:nvPicPr>
        <p:blipFill rotWithShape="1">
          <a:blip r:embed="rId3">
            <a:alphaModFix/>
          </a:blip>
          <a:srcRect t="16197" r="803"/>
          <a:stretch/>
        </p:blipFill>
        <p:spPr>
          <a:xfrm>
            <a:off x="862025" y="1026200"/>
            <a:ext cx="7360076" cy="3831550"/>
          </a:xfrm>
          <a:prstGeom prst="rect">
            <a:avLst/>
          </a:prstGeom>
          <a:noFill/>
          <a:ln>
            <a:noFill/>
          </a:ln>
        </p:spPr>
      </p:pic>
      <p:sp>
        <p:nvSpPr>
          <p:cNvPr id="275" name="Google Shape;275;p25"/>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How many layers for a Boolean MLP?</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26</a:t>
            </a:fld>
            <a:endParaRPr/>
          </a:p>
        </p:txBody>
      </p:sp>
      <p:pic>
        <p:nvPicPr>
          <p:cNvPr id="281" name="Google Shape;281;p26"/>
          <p:cNvPicPr preferRelativeResize="0"/>
          <p:nvPr/>
        </p:nvPicPr>
        <p:blipFill rotWithShape="1">
          <a:blip r:embed="rId3">
            <a:alphaModFix/>
          </a:blip>
          <a:srcRect t="15139"/>
          <a:stretch/>
        </p:blipFill>
        <p:spPr>
          <a:xfrm>
            <a:off x="876300" y="1001173"/>
            <a:ext cx="7391400" cy="3823250"/>
          </a:xfrm>
          <a:prstGeom prst="rect">
            <a:avLst/>
          </a:prstGeom>
          <a:noFill/>
          <a:ln>
            <a:noFill/>
          </a:ln>
        </p:spPr>
      </p:pic>
      <p:sp>
        <p:nvSpPr>
          <p:cNvPr id="282" name="Google Shape;282;p26"/>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How many layers for a Boolean MLP?</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27</a:t>
            </a:fld>
            <a:endParaRPr/>
          </a:p>
        </p:txBody>
      </p:sp>
      <p:pic>
        <p:nvPicPr>
          <p:cNvPr id="288" name="Google Shape;288;p27"/>
          <p:cNvPicPr preferRelativeResize="0"/>
          <p:nvPr/>
        </p:nvPicPr>
        <p:blipFill rotWithShape="1">
          <a:blip r:embed="rId3">
            <a:alphaModFix/>
          </a:blip>
          <a:srcRect t="16680"/>
          <a:stretch/>
        </p:blipFill>
        <p:spPr>
          <a:xfrm>
            <a:off x="904875" y="1026198"/>
            <a:ext cx="7334250" cy="3864900"/>
          </a:xfrm>
          <a:prstGeom prst="rect">
            <a:avLst/>
          </a:prstGeom>
          <a:noFill/>
          <a:ln>
            <a:noFill/>
          </a:ln>
        </p:spPr>
      </p:pic>
      <p:sp>
        <p:nvSpPr>
          <p:cNvPr id="289" name="Google Shape;289;p27"/>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How many layers for a Boolean MLP?</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28</a:t>
            </a:fld>
            <a:endParaRPr/>
          </a:p>
        </p:txBody>
      </p:sp>
      <p:pic>
        <p:nvPicPr>
          <p:cNvPr id="295" name="Google Shape;295;p28"/>
          <p:cNvPicPr preferRelativeResize="0"/>
          <p:nvPr/>
        </p:nvPicPr>
        <p:blipFill rotWithShape="1">
          <a:blip r:embed="rId3">
            <a:alphaModFix/>
          </a:blip>
          <a:srcRect t="16597"/>
          <a:stretch/>
        </p:blipFill>
        <p:spPr>
          <a:xfrm>
            <a:off x="890600" y="1076250"/>
            <a:ext cx="7362825" cy="3733875"/>
          </a:xfrm>
          <a:prstGeom prst="rect">
            <a:avLst/>
          </a:prstGeom>
          <a:noFill/>
          <a:ln>
            <a:noFill/>
          </a:ln>
        </p:spPr>
      </p:pic>
      <p:sp>
        <p:nvSpPr>
          <p:cNvPr id="296" name="Google Shape;296;p28"/>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How many layers for a Boolean MLP?</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29</a:t>
            </a:fld>
            <a:endParaRPr/>
          </a:p>
        </p:txBody>
      </p:sp>
      <p:pic>
        <p:nvPicPr>
          <p:cNvPr id="302" name="Google Shape;302;p29"/>
          <p:cNvPicPr preferRelativeResize="0"/>
          <p:nvPr/>
        </p:nvPicPr>
        <p:blipFill rotWithShape="1">
          <a:blip r:embed="rId3">
            <a:alphaModFix/>
          </a:blip>
          <a:srcRect t="16881"/>
          <a:stretch/>
        </p:blipFill>
        <p:spPr>
          <a:xfrm>
            <a:off x="866775" y="1051225"/>
            <a:ext cx="7410450" cy="3816049"/>
          </a:xfrm>
          <a:prstGeom prst="rect">
            <a:avLst/>
          </a:prstGeom>
          <a:noFill/>
          <a:ln>
            <a:noFill/>
          </a:ln>
        </p:spPr>
      </p:pic>
      <p:sp>
        <p:nvSpPr>
          <p:cNvPr id="303" name="Google Shape;303;p29"/>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How many layers for a Boolean MLP?</a:t>
            </a:r>
            <a:endParaRPr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30</a:t>
            </a:fld>
            <a:endParaRPr/>
          </a:p>
        </p:txBody>
      </p:sp>
      <p:pic>
        <p:nvPicPr>
          <p:cNvPr id="309" name="Google Shape;309;p30"/>
          <p:cNvPicPr preferRelativeResize="0"/>
          <p:nvPr/>
        </p:nvPicPr>
        <p:blipFill rotWithShape="1">
          <a:blip r:embed="rId3">
            <a:alphaModFix/>
          </a:blip>
          <a:srcRect t="15469" r="1660"/>
          <a:stretch/>
        </p:blipFill>
        <p:spPr>
          <a:xfrm>
            <a:off x="1249650" y="901050"/>
            <a:ext cx="6534425" cy="4090050"/>
          </a:xfrm>
          <a:prstGeom prst="rect">
            <a:avLst/>
          </a:prstGeom>
          <a:noFill/>
          <a:ln>
            <a:noFill/>
          </a:ln>
        </p:spPr>
      </p:pic>
      <p:sp>
        <p:nvSpPr>
          <p:cNvPr id="310" name="Google Shape;310;p30"/>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How many layers for a Boolean MLP?</a:t>
            </a:r>
            <a:endParaRPr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1"/>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31</a:t>
            </a:fld>
            <a:endParaRPr/>
          </a:p>
        </p:txBody>
      </p:sp>
      <p:pic>
        <p:nvPicPr>
          <p:cNvPr id="316" name="Google Shape;316;p31"/>
          <p:cNvPicPr preferRelativeResize="0"/>
          <p:nvPr/>
        </p:nvPicPr>
        <p:blipFill rotWithShape="1">
          <a:blip r:embed="rId3">
            <a:alphaModFix/>
          </a:blip>
          <a:srcRect t="9779" r="1505"/>
          <a:stretch/>
        </p:blipFill>
        <p:spPr>
          <a:xfrm>
            <a:off x="2571825" y="1092550"/>
            <a:ext cx="6260474" cy="3790225"/>
          </a:xfrm>
          <a:prstGeom prst="rect">
            <a:avLst/>
          </a:prstGeom>
          <a:noFill/>
          <a:ln>
            <a:noFill/>
          </a:ln>
        </p:spPr>
      </p:pic>
      <p:sp>
        <p:nvSpPr>
          <p:cNvPr id="317" name="Google Shape;317;p31"/>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Reducing a Boolean Function</a:t>
            </a:r>
            <a:endParaRPr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2"/>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32</a:t>
            </a:fld>
            <a:endParaRPr/>
          </a:p>
        </p:txBody>
      </p:sp>
      <p:pic>
        <p:nvPicPr>
          <p:cNvPr id="323" name="Google Shape;323;p32"/>
          <p:cNvPicPr preferRelativeResize="0"/>
          <p:nvPr/>
        </p:nvPicPr>
        <p:blipFill rotWithShape="1">
          <a:blip r:embed="rId3">
            <a:alphaModFix/>
          </a:blip>
          <a:srcRect t="8750" r="2949"/>
          <a:stretch/>
        </p:blipFill>
        <p:spPr>
          <a:xfrm>
            <a:off x="2760425" y="1051225"/>
            <a:ext cx="5527876" cy="3742126"/>
          </a:xfrm>
          <a:prstGeom prst="rect">
            <a:avLst/>
          </a:prstGeom>
          <a:noFill/>
          <a:ln>
            <a:noFill/>
          </a:ln>
        </p:spPr>
      </p:pic>
      <p:sp>
        <p:nvSpPr>
          <p:cNvPr id="324" name="Google Shape;324;p32"/>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Reducing a Boolean Function</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3"/>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33</a:t>
            </a:fld>
            <a:endParaRPr/>
          </a:p>
        </p:txBody>
      </p:sp>
      <p:pic>
        <p:nvPicPr>
          <p:cNvPr id="330" name="Google Shape;330;p33"/>
          <p:cNvPicPr preferRelativeResize="0"/>
          <p:nvPr/>
        </p:nvPicPr>
        <p:blipFill rotWithShape="1">
          <a:blip r:embed="rId3">
            <a:alphaModFix/>
          </a:blip>
          <a:srcRect t="7968" r="1710"/>
          <a:stretch/>
        </p:blipFill>
        <p:spPr>
          <a:xfrm>
            <a:off x="2893300" y="1038000"/>
            <a:ext cx="5732650" cy="3815200"/>
          </a:xfrm>
          <a:prstGeom prst="rect">
            <a:avLst/>
          </a:prstGeom>
          <a:noFill/>
          <a:ln>
            <a:noFill/>
          </a:ln>
        </p:spPr>
      </p:pic>
      <p:sp>
        <p:nvSpPr>
          <p:cNvPr id="331" name="Google Shape;331;p33"/>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Reducing a Boolean Function</a:t>
            </a:r>
            <a:endParaRPr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4"/>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34</a:t>
            </a:fld>
            <a:endParaRPr/>
          </a:p>
        </p:txBody>
      </p:sp>
      <p:pic>
        <p:nvPicPr>
          <p:cNvPr id="337" name="Google Shape;337;p34"/>
          <p:cNvPicPr preferRelativeResize="0"/>
          <p:nvPr/>
        </p:nvPicPr>
        <p:blipFill rotWithShape="1">
          <a:blip r:embed="rId3">
            <a:alphaModFix/>
          </a:blip>
          <a:srcRect t="14434" r="1116"/>
          <a:stretch/>
        </p:blipFill>
        <p:spPr>
          <a:xfrm>
            <a:off x="2749550" y="1183475"/>
            <a:ext cx="5796900" cy="3679325"/>
          </a:xfrm>
          <a:prstGeom prst="rect">
            <a:avLst/>
          </a:prstGeom>
          <a:noFill/>
          <a:ln>
            <a:noFill/>
          </a:ln>
        </p:spPr>
      </p:pic>
      <p:sp>
        <p:nvSpPr>
          <p:cNvPr id="338" name="Google Shape;338;p34"/>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Largest irreducible DNF?</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5"/>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35</a:t>
            </a:fld>
            <a:endParaRPr/>
          </a:p>
        </p:txBody>
      </p:sp>
      <p:pic>
        <p:nvPicPr>
          <p:cNvPr id="344" name="Google Shape;344;p35"/>
          <p:cNvPicPr preferRelativeResize="0"/>
          <p:nvPr/>
        </p:nvPicPr>
        <p:blipFill rotWithShape="1">
          <a:blip r:embed="rId3">
            <a:alphaModFix/>
          </a:blip>
          <a:srcRect t="13919"/>
          <a:stretch/>
        </p:blipFill>
        <p:spPr>
          <a:xfrm>
            <a:off x="1386175" y="1055250"/>
            <a:ext cx="6648575" cy="3820225"/>
          </a:xfrm>
          <a:prstGeom prst="rect">
            <a:avLst/>
          </a:prstGeom>
          <a:noFill/>
          <a:ln>
            <a:noFill/>
          </a:ln>
        </p:spPr>
      </p:pic>
      <p:sp>
        <p:nvSpPr>
          <p:cNvPr id="345" name="Google Shape;345;p35"/>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Largest irreducible DNF?</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6"/>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36</a:t>
            </a:fld>
            <a:endParaRPr/>
          </a:p>
        </p:txBody>
      </p:sp>
      <p:pic>
        <p:nvPicPr>
          <p:cNvPr id="351" name="Google Shape;351;p36"/>
          <p:cNvPicPr preferRelativeResize="0"/>
          <p:nvPr/>
        </p:nvPicPr>
        <p:blipFill rotWithShape="1">
          <a:blip r:embed="rId3">
            <a:alphaModFix/>
          </a:blip>
          <a:srcRect t="10039" r="1941"/>
          <a:stretch/>
        </p:blipFill>
        <p:spPr>
          <a:xfrm>
            <a:off x="2300075" y="1093850"/>
            <a:ext cx="5210675" cy="3768950"/>
          </a:xfrm>
          <a:prstGeom prst="rect">
            <a:avLst/>
          </a:prstGeom>
          <a:noFill/>
          <a:ln>
            <a:noFill/>
          </a:ln>
        </p:spPr>
      </p:pic>
      <p:sp>
        <p:nvSpPr>
          <p:cNvPr id="352" name="Google Shape;352;p36"/>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Width of a Single Layer Boolean MLP</a:t>
            </a:r>
            <a:endParaRPr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7"/>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37</a:t>
            </a:fld>
            <a:endParaRPr/>
          </a:p>
        </p:txBody>
      </p:sp>
      <p:pic>
        <p:nvPicPr>
          <p:cNvPr id="358" name="Google Shape;358;p37"/>
          <p:cNvPicPr preferRelativeResize="0"/>
          <p:nvPr/>
        </p:nvPicPr>
        <p:blipFill rotWithShape="1">
          <a:blip r:embed="rId3">
            <a:alphaModFix/>
          </a:blip>
          <a:srcRect t="10297"/>
          <a:stretch/>
        </p:blipFill>
        <p:spPr>
          <a:xfrm>
            <a:off x="2173650" y="1096450"/>
            <a:ext cx="5658550" cy="3766350"/>
          </a:xfrm>
          <a:prstGeom prst="rect">
            <a:avLst/>
          </a:prstGeom>
          <a:noFill/>
          <a:ln>
            <a:noFill/>
          </a:ln>
        </p:spPr>
      </p:pic>
      <p:sp>
        <p:nvSpPr>
          <p:cNvPr id="359" name="Google Shape;359;p37"/>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Width of a Single Layer Boolean MLP</a:t>
            </a:r>
            <a:endParaRPr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8"/>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38</a:t>
            </a:fld>
            <a:endParaRPr/>
          </a:p>
        </p:txBody>
      </p:sp>
      <p:pic>
        <p:nvPicPr>
          <p:cNvPr id="365" name="Google Shape;365;p38"/>
          <p:cNvPicPr preferRelativeResize="0"/>
          <p:nvPr/>
        </p:nvPicPr>
        <p:blipFill rotWithShape="1">
          <a:blip r:embed="rId3">
            <a:alphaModFix/>
          </a:blip>
          <a:srcRect t="10039" r="1028"/>
          <a:stretch/>
        </p:blipFill>
        <p:spPr>
          <a:xfrm>
            <a:off x="1634438" y="1035925"/>
            <a:ext cx="5875126" cy="3763350"/>
          </a:xfrm>
          <a:prstGeom prst="rect">
            <a:avLst/>
          </a:prstGeom>
          <a:noFill/>
          <a:ln>
            <a:noFill/>
          </a:ln>
        </p:spPr>
      </p:pic>
      <p:sp>
        <p:nvSpPr>
          <p:cNvPr id="366" name="Google Shape;366;p38"/>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Width of a Single Layer Boolean MLP</a:t>
            </a:r>
            <a:endParaRPr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9"/>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39</a:t>
            </a:fld>
            <a:endParaRPr/>
          </a:p>
        </p:txBody>
      </p:sp>
      <p:pic>
        <p:nvPicPr>
          <p:cNvPr id="372" name="Google Shape;372;p39"/>
          <p:cNvPicPr preferRelativeResize="0"/>
          <p:nvPr/>
        </p:nvPicPr>
        <p:blipFill rotWithShape="1">
          <a:blip r:embed="rId3">
            <a:alphaModFix/>
          </a:blip>
          <a:srcRect t="11629"/>
          <a:stretch/>
        </p:blipFill>
        <p:spPr>
          <a:xfrm>
            <a:off x="2689675" y="969525"/>
            <a:ext cx="5902400" cy="3893275"/>
          </a:xfrm>
          <a:prstGeom prst="rect">
            <a:avLst/>
          </a:prstGeom>
          <a:noFill/>
          <a:ln>
            <a:noFill/>
          </a:ln>
        </p:spPr>
      </p:pic>
      <p:sp>
        <p:nvSpPr>
          <p:cNvPr id="373" name="Google Shape;373;p39"/>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Width of deep MLP</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0"/>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40</a:t>
            </a:fld>
            <a:endParaRPr/>
          </a:p>
        </p:txBody>
      </p:sp>
      <p:pic>
        <p:nvPicPr>
          <p:cNvPr id="379" name="Google Shape;379;p40"/>
          <p:cNvPicPr preferRelativeResize="0"/>
          <p:nvPr/>
        </p:nvPicPr>
        <p:blipFill rotWithShape="1">
          <a:blip r:embed="rId3">
            <a:alphaModFix/>
          </a:blip>
          <a:srcRect t="13919"/>
          <a:stretch/>
        </p:blipFill>
        <p:spPr>
          <a:xfrm>
            <a:off x="1581800" y="1060375"/>
            <a:ext cx="5980401" cy="3802425"/>
          </a:xfrm>
          <a:prstGeom prst="rect">
            <a:avLst/>
          </a:prstGeom>
          <a:noFill/>
          <a:ln>
            <a:noFill/>
          </a:ln>
        </p:spPr>
      </p:pic>
      <p:sp>
        <p:nvSpPr>
          <p:cNvPr id="380" name="Google Shape;380;p40"/>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Width of deep MLP</a:t>
            </a:r>
            <a:endParaRPr b="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1"/>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41</a:t>
            </a:fld>
            <a:endParaRPr/>
          </a:p>
        </p:txBody>
      </p:sp>
      <p:pic>
        <p:nvPicPr>
          <p:cNvPr id="386" name="Google Shape;386;p41"/>
          <p:cNvPicPr preferRelativeResize="0"/>
          <p:nvPr/>
        </p:nvPicPr>
        <p:blipFill rotWithShape="1">
          <a:blip r:embed="rId3">
            <a:alphaModFix/>
          </a:blip>
          <a:srcRect t="17026"/>
          <a:stretch/>
        </p:blipFill>
        <p:spPr>
          <a:xfrm>
            <a:off x="2130650" y="1094600"/>
            <a:ext cx="5818475" cy="3615800"/>
          </a:xfrm>
          <a:prstGeom prst="rect">
            <a:avLst/>
          </a:prstGeom>
          <a:noFill/>
          <a:ln>
            <a:noFill/>
          </a:ln>
        </p:spPr>
      </p:pic>
      <p:sp>
        <p:nvSpPr>
          <p:cNvPr id="387" name="Google Shape;387;p41"/>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Width of deep MLP</a:t>
            </a:r>
            <a:endParaRPr b="1"/>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42"/>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42</a:t>
            </a:fld>
            <a:endParaRPr/>
          </a:p>
        </p:txBody>
      </p:sp>
      <p:pic>
        <p:nvPicPr>
          <p:cNvPr id="393" name="Google Shape;393;p42"/>
          <p:cNvPicPr preferRelativeResize="0"/>
          <p:nvPr/>
        </p:nvPicPr>
        <p:blipFill rotWithShape="1">
          <a:blip r:embed="rId3">
            <a:alphaModFix/>
          </a:blip>
          <a:srcRect t="10039"/>
          <a:stretch/>
        </p:blipFill>
        <p:spPr>
          <a:xfrm>
            <a:off x="1753264" y="1149200"/>
            <a:ext cx="5637475" cy="3713599"/>
          </a:xfrm>
          <a:prstGeom prst="rect">
            <a:avLst/>
          </a:prstGeom>
          <a:noFill/>
          <a:ln>
            <a:noFill/>
          </a:ln>
        </p:spPr>
      </p:pic>
      <p:sp>
        <p:nvSpPr>
          <p:cNvPr id="394" name="Google Shape;394;p42"/>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Width of Single Layer Boolean MLP</a:t>
            </a:r>
            <a:endParaRPr b="1"/>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3"/>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Summary of MLP</a:t>
            </a:r>
            <a:endParaRPr b="1"/>
          </a:p>
        </p:txBody>
      </p:sp>
      <p:sp>
        <p:nvSpPr>
          <p:cNvPr id="400" name="Google Shape;400;p43"/>
          <p:cNvSpPr txBox="1">
            <a:spLocks noGrp="1"/>
          </p:cNvSpPr>
          <p:nvPr>
            <p:ph type="body" idx="1"/>
          </p:nvPr>
        </p:nvSpPr>
        <p:spPr>
          <a:xfrm>
            <a:off x="311700" y="941200"/>
            <a:ext cx="8520600" cy="3921600"/>
          </a:xfrm>
          <a:prstGeom prst="rect">
            <a:avLst/>
          </a:prstGeom>
          <a:noFill/>
          <a:ln>
            <a:noFill/>
          </a:ln>
        </p:spPr>
        <p:txBody>
          <a:bodyPr spcFirstLastPara="1" wrap="square" lIns="91425" tIns="91425" rIns="91425" bIns="91425" anchor="t" anchorCtr="0">
            <a:normAutofit lnSpcReduction="10000"/>
          </a:bodyPr>
          <a:lstStyle/>
          <a:p>
            <a:pPr marL="457200" lvl="0" indent="-355600" algn="l" rtl="0">
              <a:lnSpc>
                <a:spcPct val="115000"/>
              </a:lnSpc>
              <a:spcBef>
                <a:spcPts val="0"/>
              </a:spcBef>
              <a:spcAft>
                <a:spcPts val="0"/>
              </a:spcAft>
              <a:buSzPts val="2000"/>
              <a:buChar char="●"/>
            </a:pPr>
            <a:r>
              <a:rPr lang="en"/>
              <a:t>MLPs are connectionist computational models,</a:t>
            </a:r>
            <a:endParaRPr/>
          </a:p>
          <a:p>
            <a:pPr marL="914400" lvl="1" indent="-330200" algn="l" rtl="0">
              <a:lnSpc>
                <a:spcPct val="115000"/>
              </a:lnSpc>
              <a:spcBef>
                <a:spcPts val="0"/>
              </a:spcBef>
              <a:spcAft>
                <a:spcPts val="0"/>
              </a:spcAft>
              <a:buSzPts val="1600"/>
              <a:buChar char="○"/>
            </a:pPr>
            <a:r>
              <a:rPr lang="en"/>
              <a:t> Individual perceptrons are computational equivalent of neurons.</a:t>
            </a:r>
            <a:endParaRPr/>
          </a:p>
          <a:p>
            <a:pPr marL="914400" lvl="1" indent="-330200" algn="l" rtl="0">
              <a:lnSpc>
                <a:spcPct val="115000"/>
              </a:lnSpc>
              <a:spcBef>
                <a:spcPts val="0"/>
              </a:spcBef>
              <a:spcAft>
                <a:spcPts val="0"/>
              </a:spcAft>
              <a:buSzPts val="1600"/>
              <a:buChar char="○"/>
            </a:pPr>
            <a:r>
              <a:rPr lang="en"/>
              <a:t>The MLP is a layered composition of many perceptrons.</a:t>
            </a:r>
            <a:endParaRPr/>
          </a:p>
          <a:p>
            <a:pPr marL="457200" lvl="0" indent="-355600" algn="l" rtl="0">
              <a:lnSpc>
                <a:spcPct val="115000"/>
              </a:lnSpc>
              <a:spcBef>
                <a:spcPts val="0"/>
              </a:spcBef>
              <a:spcAft>
                <a:spcPts val="0"/>
              </a:spcAft>
              <a:buSzPts val="2000"/>
              <a:buChar char="●"/>
            </a:pPr>
            <a:r>
              <a:rPr lang="en"/>
              <a:t>MLP can model universal Boolean functions</a:t>
            </a:r>
            <a:endParaRPr/>
          </a:p>
          <a:p>
            <a:pPr marL="914400" lvl="1" indent="-330200" algn="l" rtl="0">
              <a:lnSpc>
                <a:spcPct val="115000"/>
              </a:lnSpc>
              <a:spcBef>
                <a:spcPts val="0"/>
              </a:spcBef>
              <a:spcAft>
                <a:spcPts val="0"/>
              </a:spcAft>
              <a:buSzPts val="1600"/>
              <a:buChar char="○"/>
            </a:pPr>
            <a:r>
              <a:rPr lang="en"/>
              <a:t>Individual perceptrons can act as Boolean gates.</a:t>
            </a:r>
            <a:endParaRPr/>
          </a:p>
          <a:p>
            <a:pPr marL="914400" lvl="1" indent="-330200" algn="l" rtl="0">
              <a:lnSpc>
                <a:spcPct val="115000"/>
              </a:lnSpc>
              <a:spcBef>
                <a:spcPts val="0"/>
              </a:spcBef>
              <a:spcAft>
                <a:spcPts val="0"/>
              </a:spcAft>
              <a:buSzPts val="1600"/>
              <a:buChar char="○"/>
            </a:pPr>
            <a:r>
              <a:rPr lang="en"/>
              <a:t>Networks of perceptrons are Boolean functions.</a:t>
            </a:r>
            <a:endParaRPr/>
          </a:p>
          <a:p>
            <a:pPr marL="457200" lvl="0" indent="-355600" algn="l" rtl="0">
              <a:lnSpc>
                <a:spcPct val="115000"/>
              </a:lnSpc>
              <a:spcBef>
                <a:spcPts val="0"/>
              </a:spcBef>
              <a:spcAft>
                <a:spcPts val="0"/>
              </a:spcAft>
              <a:buSzPts val="2000"/>
              <a:buChar char="●"/>
            </a:pPr>
            <a:r>
              <a:rPr lang="en"/>
              <a:t>MLPs are Boolean machines.</a:t>
            </a:r>
            <a:endParaRPr/>
          </a:p>
          <a:p>
            <a:pPr marL="914400" lvl="1" indent="-330200" algn="l" rtl="0">
              <a:lnSpc>
                <a:spcPct val="115000"/>
              </a:lnSpc>
              <a:spcBef>
                <a:spcPts val="0"/>
              </a:spcBef>
              <a:spcAft>
                <a:spcPts val="0"/>
              </a:spcAft>
              <a:buSzPts val="1600"/>
              <a:buChar char="○"/>
            </a:pPr>
            <a:r>
              <a:rPr lang="en"/>
              <a:t>They represent Boolean functions over linear boundaries.</a:t>
            </a:r>
            <a:endParaRPr/>
          </a:p>
          <a:p>
            <a:pPr marL="914400" lvl="1" indent="-330200" algn="l" rtl="0">
              <a:lnSpc>
                <a:spcPct val="115000"/>
              </a:lnSpc>
              <a:spcBef>
                <a:spcPts val="0"/>
              </a:spcBef>
              <a:spcAft>
                <a:spcPts val="0"/>
              </a:spcAft>
              <a:buSzPts val="1600"/>
              <a:buChar char="○"/>
            </a:pPr>
            <a:r>
              <a:rPr lang="en"/>
              <a:t>They can represent arbitrary decision boundaries.</a:t>
            </a:r>
            <a:endParaRPr/>
          </a:p>
          <a:p>
            <a:pPr marL="914400" lvl="1" indent="-330200" algn="l" rtl="0">
              <a:lnSpc>
                <a:spcPct val="115000"/>
              </a:lnSpc>
              <a:spcBef>
                <a:spcPts val="0"/>
              </a:spcBef>
              <a:spcAft>
                <a:spcPts val="0"/>
              </a:spcAft>
              <a:buSzPts val="1600"/>
              <a:buChar char="○"/>
            </a:pPr>
            <a:r>
              <a:rPr lang="en"/>
              <a:t>They can be used to classify data.</a:t>
            </a:r>
            <a:endParaRPr/>
          </a:p>
          <a:p>
            <a:pPr marL="457200" lvl="0" indent="-355600" algn="l" rtl="0">
              <a:lnSpc>
                <a:spcPct val="115000"/>
              </a:lnSpc>
              <a:spcBef>
                <a:spcPts val="0"/>
              </a:spcBef>
              <a:spcAft>
                <a:spcPts val="0"/>
              </a:spcAft>
              <a:buSzPts val="2000"/>
              <a:buChar char="●"/>
            </a:pPr>
            <a:r>
              <a:rPr lang="en"/>
              <a:t>MLP can model continuous valued functions.</a:t>
            </a:r>
            <a:endParaRPr/>
          </a:p>
          <a:p>
            <a:pPr marL="457200" lvl="0" indent="-355600" algn="l" rtl="0">
              <a:lnSpc>
                <a:spcPct val="115000"/>
              </a:lnSpc>
              <a:spcBef>
                <a:spcPts val="0"/>
              </a:spcBef>
              <a:spcAft>
                <a:spcPts val="0"/>
              </a:spcAft>
              <a:buSzPts val="2000"/>
              <a:buChar char="●"/>
            </a:pPr>
            <a:r>
              <a:rPr lang="en"/>
              <a:t>MLPs as universal classifiers.</a:t>
            </a:r>
            <a:endParaRPr/>
          </a:p>
          <a:p>
            <a:pPr marL="457200" lvl="0" indent="-355600" algn="l" rtl="0">
              <a:lnSpc>
                <a:spcPct val="115000"/>
              </a:lnSpc>
              <a:spcBef>
                <a:spcPts val="0"/>
              </a:spcBef>
              <a:spcAft>
                <a:spcPts val="0"/>
              </a:spcAft>
              <a:buSzPts val="2000"/>
              <a:buChar char="●"/>
            </a:pPr>
            <a:r>
              <a:rPr lang="en"/>
              <a:t>MLPs as universal approximators.</a:t>
            </a:r>
            <a:endParaRPr/>
          </a:p>
        </p:txBody>
      </p:sp>
      <p:sp>
        <p:nvSpPr>
          <p:cNvPr id="401" name="Google Shape;401;p43"/>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44"/>
          <p:cNvSpPr txBox="1">
            <a:spLocks noGrp="1"/>
          </p:cNvSpPr>
          <p:nvPr>
            <p:ph type="sldNum" idx="12"/>
          </p:nvPr>
        </p:nvSpPr>
        <p:spPr>
          <a:xfrm>
            <a:off x="2071658" y="48918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44</a:t>
            </a:fld>
            <a:endParaRPr/>
          </a:p>
        </p:txBody>
      </p:sp>
      <p:pic>
        <p:nvPicPr>
          <p:cNvPr id="407" name="Google Shape;407;p44"/>
          <p:cNvPicPr preferRelativeResize="0"/>
          <p:nvPr/>
        </p:nvPicPr>
        <p:blipFill rotWithShape="1">
          <a:blip r:embed="rId3">
            <a:alphaModFix/>
          </a:blip>
          <a:srcRect/>
          <a:stretch/>
        </p:blipFill>
        <p:spPr>
          <a:xfrm>
            <a:off x="1457336" y="1093450"/>
            <a:ext cx="6229325" cy="3798375"/>
          </a:xfrm>
          <a:prstGeom prst="rect">
            <a:avLst/>
          </a:prstGeom>
          <a:noFill/>
          <a:ln>
            <a:noFill/>
          </a:ln>
        </p:spPr>
      </p:pic>
      <p:sp>
        <p:nvSpPr>
          <p:cNvPr id="408" name="Google Shape;408;p44"/>
          <p:cNvSpPr txBox="1">
            <a:spLocks noGrp="1"/>
          </p:cNvSpPr>
          <p:nvPr>
            <p:ph type="title" idx="4294967295"/>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Exercise</a:t>
            </a:r>
            <a:endParaRPr b="1"/>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5"/>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45</a:t>
            </a:fld>
            <a:endParaRPr/>
          </a:p>
        </p:txBody>
      </p:sp>
      <p:sp>
        <p:nvSpPr>
          <p:cNvPr id="414" name="Google Shape;414;p45"/>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Exercise</a:t>
            </a:r>
            <a:endParaRPr b="1"/>
          </a:p>
        </p:txBody>
      </p:sp>
      <p:sp>
        <p:nvSpPr>
          <p:cNvPr id="415" name="Google Shape;415;p45"/>
          <p:cNvSpPr txBox="1">
            <a:spLocks noGrp="1"/>
          </p:cNvSpPr>
          <p:nvPr>
            <p:ph type="body" idx="1"/>
          </p:nvPr>
        </p:nvSpPr>
        <p:spPr>
          <a:xfrm>
            <a:off x="311700" y="1011382"/>
            <a:ext cx="5282400" cy="4132068"/>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lnSpc>
                <a:spcPct val="115000"/>
              </a:lnSpc>
              <a:spcBef>
                <a:spcPts val="0"/>
              </a:spcBef>
              <a:spcAft>
                <a:spcPts val="0"/>
              </a:spcAft>
              <a:buSzPct val="129032"/>
              <a:buNone/>
            </a:pPr>
            <a:r>
              <a:rPr lang="en"/>
              <a:t>(x1, x2) are input features and target classes are either +1 or -1 as shown in the figure. </a:t>
            </a:r>
            <a:endParaRPr/>
          </a:p>
          <a:p>
            <a:pPr marL="0" lvl="0" indent="0" algn="l" rtl="0">
              <a:lnSpc>
                <a:spcPct val="115000"/>
              </a:lnSpc>
              <a:spcBef>
                <a:spcPts val="1200"/>
              </a:spcBef>
              <a:spcAft>
                <a:spcPts val="0"/>
              </a:spcAft>
              <a:buSzPct val="129032"/>
              <a:buNone/>
            </a:pPr>
            <a:r>
              <a:rPr lang="en"/>
              <a:t>A. What is the minimum number of hidden layers and hidden nodes required to classify the following dataset with 100% accuracy using a fully connected multilayer perceptron network? Step activation functions are used at all nodes, i.e., output=+1 if total weighted input &gt;= bias b at a node, else output = -1.</a:t>
            </a:r>
            <a:endParaRPr/>
          </a:p>
          <a:p>
            <a:pPr marL="0" lvl="0" indent="0" algn="l" rtl="0">
              <a:lnSpc>
                <a:spcPct val="115000"/>
              </a:lnSpc>
              <a:spcBef>
                <a:spcPts val="1200"/>
              </a:spcBef>
              <a:spcAft>
                <a:spcPts val="1200"/>
              </a:spcAft>
              <a:buSzPct val="129032"/>
              <a:buNone/>
            </a:pPr>
            <a:r>
              <a:rPr lang="en"/>
              <a:t>B. Show the minimal network architecture by organizing the nodes in each layer horizontally. Show the node representing x1 at the left on the input layer. Organize the hidden nodes in ascending order of bias at that node. Specify all weights and bias values at all nodes. Weights can be only -2.5, 2.5 or 0, and bias +ve/-ve multiples of 2.5.</a:t>
            </a:r>
            <a:endParaRPr/>
          </a:p>
        </p:txBody>
      </p:sp>
      <p:pic>
        <p:nvPicPr>
          <p:cNvPr id="416" name="Google Shape;416;p45"/>
          <p:cNvPicPr preferRelativeResize="0"/>
          <p:nvPr/>
        </p:nvPicPr>
        <p:blipFill rotWithShape="1">
          <a:blip r:embed="rId3">
            <a:alphaModFix/>
          </a:blip>
          <a:srcRect/>
          <a:stretch/>
        </p:blipFill>
        <p:spPr>
          <a:xfrm>
            <a:off x="5527113" y="1389000"/>
            <a:ext cx="3609975" cy="28003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6"/>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46</a:t>
            </a:fld>
            <a:endParaRPr/>
          </a:p>
        </p:txBody>
      </p:sp>
      <p:sp>
        <p:nvSpPr>
          <p:cNvPr id="422" name="Google Shape;422;p46"/>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t>Solution</a:t>
            </a:r>
            <a:endParaRPr b="1"/>
          </a:p>
        </p:txBody>
      </p:sp>
      <p:sp>
        <p:nvSpPr>
          <p:cNvPr id="423" name="Google Shape;423;p46"/>
          <p:cNvSpPr txBox="1">
            <a:spLocks noGrp="1"/>
          </p:cNvSpPr>
          <p:nvPr>
            <p:ph type="body" idx="1"/>
          </p:nvPr>
        </p:nvSpPr>
        <p:spPr>
          <a:xfrm>
            <a:off x="311700" y="941200"/>
            <a:ext cx="8520600" cy="3921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ts val="1100"/>
              <a:buFont typeface="Arial"/>
              <a:buNone/>
            </a:pPr>
            <a:r>
              <a:rPr lang="en"/>
              <a:t>A. 2 hidden layers, 4 nodes in first hidden layer and 2 nodes in second hidden layer needed.</a:t>
            </a:r>
            <a:endParaRPr/>
          </a:p>
          <a:p>
            <a:pPr marL="0" lvl="0" indent="0" algn="l" rtl="0">
              <a:lnSpc>
                <a:spcPct val="115000"/>
              </a:lnSpc>
              <a:spcBef>
                <a:spcPts val="1200"/>
              </a:spcBef>
              <a:spcAft>
                <a:spcPts val="1200"/>
              </a:spcAft>
              <a:buSzPts val="2000"/>
              <a:buNone/>
            </a:pPr>
            <a:r>
              <a:rPr lang="en"/>
              <a:t>B. </a:t>
            </a:r>
            <a:endParaRPr/>
          </a:p>
        </p:txBody>
      </p:sp>
      <p:pic>
        <p:nvPicPr>
          <p:cNvPr id="424" name="Google Shape;424;p46"/>
          <p:cNvPicPr preferRelativeResize="0"/>
          <p:nvPr/>
        </p:nvPicPr>
        <p:blipFill rotWithShape="1">
          <a:blip r:embed="rId3">
            <a:alphaModFix/>
          </a:blip>
          <a:srcRect/>
          <a:stretch/>
        </p:blipFill>
        <p:spPr>
          <a:xfrm>
            <a:off x="2928925" y="1428938"/>
            <a:ext cx="3743325" cy="34575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7"/>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a:t>An XOR cannot be represented using a single perceptron. If this statement is true, demonstrate the alternative way to represent XOR using an ANN.</a:t>
            </a:r>
            <a:endParaRPr/>
          </a:p>
          <a:p>
            <a:pPr marL="0" lvl="0" indent="0" algn="l" rtl="0">
              <a:lnSpc>
                <a:spcPct val="100000"/>
              </a:lnSpc>
              <a:spcBef>
                <a:spcPts val="0"/>
              </a:spcBef>
              <a:spcAft>
                <a:spcPts val="0"/>
              </a:spcAft>
              <a:buSzPct val="111111"/>
              <a:buNone/>
            </a:pPr>
            <a:endParaRPr/>
          </a:p>
        </p:txBody>
      </p:sp>
      <p:sp>
        <p:nvSpPr>
          <p:cNvPr id="430" name="Google Shape;430;p47"/>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47</a:t>
            </a:fld>
            <a:endParaRPr/>
          </a:p>
        </p:txBody>
      </p:sp>
      <p:pic>
        <p:nvPicPr>
          <p:cNvPr id="431" name="Google Shape;431;p47"/>
          <p:cNvPicPr preferRelativeResize="0"/>
          <p:nvPr/>
        </p:nvPicPr>
        <p:blipFill rotWithShape="1">
          <a:blip r:embed="rId3">
            <a:alphaModFix/>
          </a:blip>
          <a:srcRect/>
          <a:stretch/>
        </p:blipFill>
        <p:spPr>
          <a:xfrm>
            <a:off x="381000" y="1368575"/>
            <a:ext cx="8382000" cy="34671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8"/>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How many perceptrons are required to represent W ⊕ X ⊕ Y ⊕ Z ?</a:t>
            </a:r>
            <a:endParaRPr/>
          </a:p>
        </p:txBody>
      </p:sp>
      <p:sp>
        <p:nvSpPr>
          <p:cNvPr id="437" name="Google Shape;437;p48"/>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48</a:t>
            </a:fld>
            <a:endParaRPr/>
          </a:p>
        </p:txBody>
      </p:sp>
      <p:pic>
        <p:nvPicPr>
          <p:cNvPr id="438" name="Google Shape;438;p48"/>
          <p:cNvPicPr preferRelativeResize="0"/>
          <p:nvPr/>
        </p:nvPicPr>
        <p:blipFill rotWithShape="1">
          <a:blip r:embed="rId3">
            <a:alphaModFix/>
          </a:blip>
          <a:srcRect/>
          <a:stretch/>
        </p:blipFill>
        <p:spPr>
          <a:xfrm>
            <a:off x="452438" y="1114425"/>
            <a:ext cx="8239125" cy="35242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49"/>
          <p:cNvSpPr txBox="1">
            <a:spLocks noGrp="1"/>
          </p:cNvSpPr>
          <p:nvPr>
            <p:ph type="title"/>
          </p:nvPr>
        </p:nvSpPr>
        <p:spPr>
          <a:xfrm>
            <a:off x="311700" y="14245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How many perceptrons are required to represent W ⊕ X ⊕ Y ⊕ Z ?</a:t>
            </a:r>
            <a:endParaRPr/>
          </a:p>
        </p:txBody>
      </p:sp>
      <p:sp>
        <p:nvSpPr>
          <p:cNvPr id="444" name="Google Shape;444;p49"/>
          <p:cNvSpPr txBox="1">
            <a:spLocks noGrp="1"/>
          </p:cNvSpPr>
          <p:nvPr>
            <p:ph type="sldNum" idx="12"/>
          </p:nvPr>
        </p:nvSpPr>
        <p:spPr>
          <a:xfrm>
            <a:off x="186025" y="4862799"/>
            <a:ext cx="548700" cy="310800"/>
          </a:xfrm>
          <a:prstGeom prst="rect">
            <a:avLst/>
          </a:prstGeom>
          <a:noFill/>
          <a:ln>
            <a:noFill/>
          </a:ln>
        </p:spPr>
        <p:txBody>
          <a:bodyPr spcFirstLastPara="1" wrap="square" lIns="91425" tIns="91425" rIns="91425" bIns="91425" anchor="ctr" anchorCtr="0">
            <a:normAutofit fontScale="92500"/>
          </a:bodyPr>
          <a:lstStyle/>
          <a:p>
            <a:pPr marL="0" lvl="0" indent="0" algn="r" rtl="0">
              <a:lnSpc>
                <a:spcPct val="100000"/>
              </a:lnSpc>
              <a:spcBef>
                <a:spcPts val="0"/>
              </a:spcBef>
              <a:spcAft>
                <a:spcPts val="0"/>
              </a:spcAft>
              <a:buSzPct val="100000"/>
              <a:buNone/>
            </a:pPr>
            <a:fld id="{00000000-1234-1234-1234-123412341234}" type="slidenum">
              <a:rPr lang="en"/>
              <a:t>49</a:t>
            </a:fld>
            <a:endParaRPr/>
          </a:p>
        </p:txBody>
      </p:sp>
      <p:pic>
        <p:nvPicPr>
          <p:cNvPr id="445" name="Google Shape;445;p49"/>
          <p:cNvPicPr preferRelativeResize="0"/>
          <p:nvPr/>
        </p:nvPicPr>
        <p:blipFill rotWithShape="1">
          <a:blip r:embed="rId3">
            <a:alphaModFix/>
          </a:blip>
          <a:srcRect/>
          <a:stretch/>
        </p:blipFill>
        <p:spPr>
          <a:xfrm>
            <a:off x="2509838" y="1000125"/>
            <a:ext cx="4124325" cy="39052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 b="1"/>
              <a:t>Thank you</a:t>
            </a:r>
            <a:endParaRPr b="1"/>
          </a:p>
        </p:txBody>
      </p:sp>
      <p:sp>
        <p:nvSpPr>
          <p:cNvPr id="451" name="Google Shape;451;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50</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718</Words>
  <Application>Microsoft Office PowerPoint</Application>
  <PresentationFormat>On-screen Show (16:9)</PresentationFormat>
  <Paragraphs>133</Paragraphs>
  <Slides>50</Slides>
  <Notes>50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50</vt:i4>
      </vt:variant>
    </vt:vector>
  </HeadingPairs>
  <TitlesOfParts>
    <vt:vector size="53" baseType="lpstr">
      <vt:lpstr>Arial</vt:lpstr>
      <vt:lpstr>Simple Light</vt:lpstr>
      <vt:lpstr>Simple Light</vt:lpstr>
      <vt:lpstr>Deep Neural Networks</vt:lpstr>
      <vt:lpstr>The author of this deck is gratefully acknowledging the authors who made their course materials freely available online.</vt:lpstr>
      <vt:lpstr>Power of MLP</vt:lpstr>
      <vt:lpstr>MLP for XOR gate</vt:lpstr>
      <vt:lpstr>Perceptron with real inputs</vt:lpstr>
      <vt:lpstr>Perceptron with real inputs</vt:lpstr>
      <vt:lpstr>Complex Boundaries Using MLP</vt:lpstr>
      <vt:lpstr>MLP for Complicated Decision Boundaries</vt:lpstr>
      <vt:lpstr>MLP for Complicated Decision Boundaries</vt:lpstr>
      <vt:lpstr>MLP for Complicated Decision Boundaries</vt:lpstr>
      <vt:lpstr>MLP for Complicated Decision Boundaries</vt:lpstr>
      <vt:lpstr>MLP for Complicated Decision Boundaries</vt:lpstr>
      <vt:lpstr>MLP for Complicated Decision Boundaries</vt:lpstr>
      <vt:lpstr>MLP for Complicated Decision Boundaries</vt:lpstr>
      <vt:lpstr>MLP for Complicated Decision Boundaries</vt:lpstr>
      <vt:lpstr>MLP for Complicated Decision Boundaries</vt:lpstr>
      <vt:lpstr>MLPs for Arbitrary Classification Boundary</vt:lpstr>
      <vt:lpstr>MLP as Continuous-Valued Regression</vt:lpstr>
      <vt:lpstr>MLP as Continuous-Valued Regression </vt:lpstr>
      <vt:lpstr>MLPs are Universal Boolean Functions</vt:lpstr>
      <vt:lpstr>How many layers for a Boolean MLP?</vt:lpstr>
      <vt:lpstr>How many layers for a Boolean MLP?</vt:lpstr>
      <vt:lpstr>How many layers for a Boolean MLP?</vt:lpstr>
      <vt:lpstr>How many layers for a Boolean MLP?</vt:lpstr>
      <vt:lpstr>How many layers for a Boolean MLP?</vt:lpstr>
      <vt:lpstr>How many layers for a Boolean MLP?</vt:lpstr>
      <vt:lpstr>How many layers for a Boolean MLP?</vt:lpstr>
      <vt:lpstr>How many layers for a Boolean MLP?</vt:lpstr>
      <vt:lpstr>How many layers for a Boolean MLP?</vt:lpstr>
      <vt:lpstr>How many layers for a Boolean MLP?</vt:lpstr>
      <vt:lpstr>Reducing a Boolean Function</vt:lpstr>
      <vt:lpstr>Reducing a Boolean Function</vt:lpstr>
      <vt:lpstr>Reducing a Boolean Function</vt:lpstr>
      <vt:lpstr>Largest irreducible DNF?</vt:lpstr>
      <vt:lpstr>Largest irreducible DNF?</vt:lpstr>
      <vt:lpstr>Width of a Single Layer Boolean MLP</vt:lpstr>
      <vt:lpstr>Width of a Single Layer Boolean MLP</vt:lpstr>
      <vt:lpstr>Width of a Single Layer Boolean MLP</vt:lpstr>
      <vt:lpstr>Width of deep MLP</vt:lpstr>
      <vt:lpstr>Width of deep MLP</vt:lpstr>
      <vt:lpstr>Width of deep MLP</vt:lpstr>
      <vt:lpstr>Width of Single Layer Boolean MLP</vt:lpstr>
      <vt:lpstr>Summary of MLP</vt:lpstr>
      <vt:lpstr>Exercise</vt:lpstr>
      <vt:lpstr>Exercise</vt:lpstr>
      <vt:lpstr>Solution</vt:lpstr>
      <vt:lpstr>An XOR cannot be represented using a single perceptron. If this statement is true, demonstrate the alternative way to represent XOR using an ANN. </vt:lpstr>
      <vt:lpstr>How many perceptrons are required to represent W ⊕ X ⊕ Y ⊕ Z ?</vt:lpstr>
      <vt:lpstr>How many perceptrons are required to represent W ⊕ X ⊕ Y ⊕ Z ?</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Networks</dc:title>
  <dc:creator>HP</dc:creator>
  <cp:lastModifiedBy>HP</cp:lastModifiedBy>
  <cp:revision>1</cp:revision>
  <dcterms:modified xsi:type="dcterms:W3CDTF">2025-11-05T05:32:50Z</dcterms:modified>
</cp:coreProperties>
</file>