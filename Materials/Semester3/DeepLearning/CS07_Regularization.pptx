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20" r:id="rId2"/>
  </p:sldMasterIdLst>
  <p:notesMasterIdLst>
    <p:notesMasterId r:id="rId31"/>
  </p:notesMasterIdLst>
  <p:sldIdLst>
    <p:sldId id="408" r:id="rId3"/>
    <p:sldId id="409" r:id="rId4"/>
    <p:sldId id="410" r:id="rId5"/>
    <p:sldId id="623" r:id="rId6"/>
    <p:sldId id="631" r:id="rId7"/>
    <p:sldId id="632" r:id="rId8"/>
    <p:sldId id="633" r:id="rId9"/>
    <p:sldId id="624" r:id="rId10"/>
    <p:sldId id="634" r:id="rId11"/>
    <p:sldId id="635" r:id="rId12"/>
    <p:sldId id="626" r:id="rId13"/>
    <p:sldId id="628" r:id="rId14"/>
    <p:sldId id="599" r:id="rId15"/>
    <p:sldId id="600" r:id="rId16"/>
    <p:sldId id="601" r:id="rId17"/>
    <p:sldId id="604" r:id="rId18"/>
    <p:sldId id="607" r:id="rId19"/>
    <p:sldId id="608" r:id="rId20"/>
    <p:sldId id="611" r:id="rId21"/>
    <p:sldId id="612" r:id="rId22"/>
    <p:sldId id="613" r:id="rId23"/>
    <p:sldId id="614" r:id="rId24"/>
    <p:sldId id="616" r:id="rId25"/>
    <p:sldId id="618" r:id="rId26"/>
    <p:sldId id="620" r:id="rId27"/>
    <p:sldId id="621" r:id="rId28"/>
    <p:sldId id="592" r:id="rId29"/>
    <p:sldId id="283" r:id="rId30"/>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p:cViewPr varScale="1">
        <p:scale>
          <a:sx n="107" d="100"/>
          <a:sy n="107" d="100"/>
        </p:scale>
        <p:origin x="344"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9D94E87-174E-4645-A1B4-6FD7F8DDC90E}" type="datetimeFigureOut">
              <a:rPr lang="en-IN" smtClean="0"/>
              <a:t>26-12-2024</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A72551D-67D7-44EA-BF0C-246838C0E902}" type="slidenum">
              <a:rPr lang="en-IN" smtClean="0"/>
              <a:t>‹#›</a:t>
            </a:fld>
            <a:endParaRPr lang="en-IN"/>
          </a:p>
        </p:txBody>
      </p:sp>
    </p:spTree>
    <p:extLst>
      <p:ext uri="{BB962C8B-B14F-4D97-AF65-F5344CB8AC3E}">
        <p14:creationId xmlns:p14="http://schemas.microsoft.com/office/powerpoint/2010/main" val="133122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ED48BE-267D-4B59-ADE4-43764D46B7C8}" type="slidenum">
              <a:rPr lang="en-US" smtClean="0"/>
              <a:t>6</a:t>
            </a:fld>
            <a:endParaRPr lang="en-US"/>
          </a:p>
        </p:txBody>
      </p:sp>
    </p:spTree>
    <p:extLst>
      <p:ext uri="{BB962C8B-B14F-4D97-AF65-F5344CB8AC3E}">
        <p14:creationId xmlns:p14="http://schemas.microsoft.com/office/powerpoint/2010/main" val="3373127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n principle we should not touch our test set until after we have chosen all our </a:t>
            </a:r>
            <a:r>
              <a:rPr lang="en-US" sz="1200" b="0" i="0" kern="1200" dirty="0" err="1">
                <a:solidFill>
                  <a:schemeClr val="tx1"/>
                </a:solidFill>
                <a:effectLst/>
                <a:latin typeface="+mn-lt"/>
                <a:ea typeface="+mn-ea"/>
                <a:cs typeface="+mn-cs"/>
              </a:rPr>
              <a:t>hyperparameters</a:t>
            </a:r>
            <a:r>
              <a:rPr lang="en-US" sz="1200" b="0" i="0" kern="1200" dirty="0">
                <a:solidFill>
                  <a:schemeClr val="tx1"/>
                </a:solidFill>
                <a:effectLst/>
                <a:latin typeface="+mn-lt"/>
                <a:ea typeface="+mn-ea"/>
                <a:cs typeface="+mn-cs"/>
              </a:rPr>
              <a:t>. Were we to use the test data in the model selection process, there is a risk that we might </a:t>
            </a:r>
            <a:r>
              <a:rPr lang="en-US" sz="1200" b="0" i="0" kern="1200" dirty="0" err="1">
                <a:solidFill>
                  <a:schemeClr val="tx1"/>
                </a:solidFill>
                <a:effectLst/>
                <a:latin typeface="+mn-lt"/>
                <a:ea typeface="+mn-ea"/>
                <a:cs typeface="+mn-cs"/>
              </a:rPr>
              <a:t>overfit</a:t>
            </a:r>
            <a:r>
              <a:rPr lang="en-US" sz="1200" b="0" i="0" kern="1200" dirty="0">
                <a:solidFill>
                  <a:schemeClr val="tx1"/>
                </a:solidFill>
                <a:effectLst/>
                <a:latin typeface="+mn-lt"/>
                <a:ea typeface="+mn-ea"/>
                <a:cs typeface="+mn-cs"/>
              </a:rPr>
              <a:t> the test data. </a:t>
            </a:r>
            <a:r>
              <a:rPr lang="en-US" dirty="0"/>
              <a:t>Never rely on the test data for model selection.</a:t>
            </a:r>
          </a:p>
          <a:p>
            <a:pPr marL="800100" lvl="1" indent="-342900">
              <a:buFont typeface="Arial" panose="020B0604020202020204" pitchFamily="34" charset="0"/>
              <a:buChar char="•"/>
            </a:pPr>
            <a:r>
              <a:rPr lang="en-US" dirty="0"/>
              <a:t>Risk of </a:t>
            </a:r>
            <a:r>
              <a:rPr lang="en-US" dirty="0" err="1"/>
              <a:t>overfit</a:t>
            </a:r>
            <a:r>
              <a:rPr lang="en-US" dirty="0"/>
              <a:t> the test data</a:t>
            </a:r>
          </a:p>
          <a:p>
            <a:pPr marL="342900" indent="-342900">
              <a:buFont typeface="Arial" panose="020B0604020202020204" pitchFamily="34" charset="0"/>
              <a:buChar char="•"/>
            </a:pPr>
            <a:r>
              <a:rPr lang="en-US" dirty="0"/>
              <a:t>Do not rely solely on the training data for model selection</a:t>
            </a:r>
          </a:p>
          <a:p>
            <a:pPr marL="800100" lvl="1" indent="-342900">
              <a:buFont typeface="Arial" panose="020B0604020202020204" pitchFamily="34" charset="0"/>
              <a:buChar char="•"/>
            </a:pPr>
            <a:r>
              <a:rPr lang="en-US" dirty="0"/>
              <a:t>We cannot estimate the generalization error on the very data that we use to train </a:t>
            </a:r>
            <a:r>
              <a:rPr lang="en-IN" dirty="0"/>
              <a:t>the model.</a:t>
            </a:r>
          </a:p>
          <a:p>
            <a:pPr marL="342900" indent="-342900">
              <a:buFont typeface="Arial" panose="020B0604020202020204" pitchFamily="34" charset="0"/>
              <a:buChar char="•"/>
            </a:pPr>
            <a:r>
              <a:rPr lang="en-US" dirty="0"/>
              <a:t>Split the data three ways, incorporating a validation dataset in addition to the training and test datasets.</a:t>
            </a:r>
          </a:p>
          <a:p>
            <a:r>
              <a:rPr lang="en-US" sz="1200" b="0" i="0" kern="1200" dirty="0">
                <a:solidFill>
                  <a:schemeClr val="tx1"/>
                </a:solidFill>
                <a:effectLst/>
                <a:latin typeface="+mn-lt"/>
                <a:ea typeface="+mn-ea"/>
                <a:cs typeface="+mn-cs"/>
              </a:rPr>
              <a:t>If we </a:t>
            </a:r>
            <a:r>
              <a:rPr lang="en-US" sz="1200" b="0" i="0" kern="1200" dirty="0" err="1">
                <a:solidFill>
                  <a:schemeClr val="tx1"/>
                </a:solidFill>
                <a:effectLst/>
                <a:latin typeface="+mn-lt"/>
                <a:ea typeface="+mn-ea"/>
                <a:cs typeface="+mn-cs"/>
              </a:rPr>
              <a:t>overfit</a:t>
            </a:r>
            <a:r>
              <a:rPr lang="en-US" sz="1200" b="0" i="0" kern="1200" dirty="0">
                <a:solidFill>
                  <a:schemeClr val="tx1"/>
                </a:solidFill>
                <a:effectLst/>
                <a:latin typeface="+mn-lt"/>
                <a:ea typeface="+mn-ea"/>
                <a:cs typeface="+mn-cs"/>
              </a:rPr>
              <a:t> our training data, there is always the evaluation on test data to keep us honest. But if we </a:t>
            </a:r>
            <a:r>
              <a:rPr lang="en-US" sz="1200" b="0" i="0" kern="1200" dirty="0" err="1">
                <a:solidFill>
                  <a:schemeClr val="tx1"/>
                </a:solidFill>
                <a:effectLst/>
                <a:latin typeface="+mn-lt"/>
                <a:ea typeface="+mn-ea"/>
                <a:cs typeface="+mn-cs"/>
              </a:rPr>
              <a:t>overfit</a:t>
            </a:r>
            <a:r>
              <a:rPr lang="en-US" sz="1200" b="0" i="0" kern="1200" dirty="0">
                <a:solidFill>
                  <a:schemeClr val="tx1"/>
                </a:solidFill>
                <a:effectLst/>
                <a:latin typeface="+mn-lt"/>
                <a:ea typeface="+mn-ea"/>
                <a:cs typeface="+mn-cs"/>
              </a:rPr>
              <a:t> the test data, how would we ever know?</a:t>
            </a:r>
          </a:p>
          <a:p>
            <a:r>
              <a:rPr lang="en-US" sz="1200" b="0" i="0" kern="1200" dirty="0">
                <a:solidFill>
                  <a:schemeClr val="tx1"/>
                </a:solidFill>
                <a:effectLst/>
                <a:latin typeface="+mn-lt"/>
                <a:ea typeface="+mn-ea"/>
                <a:cs typeface="+mn-cs"/>
              </a:rPr>
              <a:t>Thus, we should never rely on the test data for model selection. And yet we cannot rely solely on the training data for model selection either because we cannot estimate the generalization error on the very data that we use to train the model.</a:t>
            </a:r>
          </a:p>
          <a:p>
            <a:pPr marL="342900" indent="-342900">
              <a:buFont typeface="Arial" panose="020B0604020202020204" pitchFamily="34" charset="0"/>
              <a:buChar char="•"/>
            </a:pPr>
            <a:endParaRPr lang="en-US" dirty="0"/>
          </a:p>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11</a:t>
            </a:fld>
            <a:endParaRPr lang="en-IN"/>
          </a:p>
        </p:txBody>
      </p:sp>
    </p:spTree>
    <p:extLst>
      <p:ext uri="{BB962C8B-B14F-4D97-AF65-F5344CB8AC3E}">
        <p14:creationId xmlns:p14="http://schemas.microsoft.com/office/powerpoint/2010/main" val="1148305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idea of weight decay is simple: to prevent overfitting, every time we update a weight </a:t>
            </a:r>
            <a:r>
              <a:rPr lang="en-US" sz="1200" b="0" i="1" kern="1200" dirty="0">
                <a:solidFill>
                  <a:schemeClr val="tx1"/>
                </a:solidFill>
                <a:effectLst/>
                <a:latin typeface="+mn-lt"/>
                <a:ea typeface="+mn-ea"/>
                <a:cs typeface="+mn-cs"/>
              </a:rPr>
              <a:t>w </a:t>
            </a:r>
            <a:r>
              <a:rPr lang="en-US" sz="1200" b="0" i="0" kern="1200" dirty="0">
                <a:solidFill>
                  <a:schemeClr val="tx1"/>
                </a:solidFill>
                <a:effectLst/>
                <a:latin typeface="+mn-lt"/>
                <a:ea typeface="+mn-ea"/>
                <a:cs typeface="+mn-cs"/>
              </a:rPr>
              <a:t>with the gradient </a:t>
            </a:r>
            <a:r>
              <a:rPr lang="en-US" sz="1200" b="0" i="1" kern="1200" dirty="0">
                <a:solidFill>
                  <a:schemeClr val="tx1"/>
                </a:solidFill>
                <a:effectLst/>
                <a:latin typeface="+mn-lt"/>
                <a:ea typeface="+mn-ea"/>
                <a:cs typeface="+mn-cs"/>
              </a:rPr>
              <a:t>∇J</a:t>
            </a:r>
            <a:r>
              <a:rPr lang="en-US" sz="1200" b="0" i="0" kern="1200" dirty="0">
                <a:solidFill>
                  <a:schemeClr val="tx1"/>
                </a:solidFill>
                <a:effectLst/>
                <a:latin typeface="+mn-lt"/>
                <a:ea typeface="+mn-ea"/>
                <a:cs typeface="+mn-cs"/>
              </a:rPr>
              <a:t> in respect to </a:t>
            </a:r>
            <a:r>
              <a:rPr lang="en-US" sz="1200" b="0" i="1" kern="1200" dirty="0">
                <a:solidFill>
                  <a:schemeClr val="tx1"/>
                </a:solidFill>
                <a:effectLst/>
                <a:latin typeface="+mn-lt"/>
                <a:ea typeface="+mn-ea"/>
                <a:cs typeface="+mn-cs"/>
              </a:rPr>
              <a:t>w</a:t>
            </a:r>
            <a:r>
              <a:rPr lang="en-US" sz="1200" b="0" i="0" kern="1200" dirty="0">
                <a:solidFill>
                  <a:schemeClr val="tx1"/>
                </a:solidFill>
                <a:effectLst/>
                <a:latin typeface="+mn-lt"/>
                <a:ea typeface="+mn-ea"/>
                <a:cs typeface="+mn-cs"/>
              </a:rPr>
              <a:t>, we also subtract from it </a:t>
            </a:r>
            <a:r>
              <a:rPr lang="en-US" sz="1200" b="0" i="1" kern="1200" dirty="0" err="1">
                <a:solidFill>
                  <a:schemeClr val="tx1"/>
                </a:solidFill>
                <a:effectLst/>
                <a:latin typeface="+mn-lt"/>
                <a:ea typeface="+mn-ea"/>
                <a:cs typeface="+mn-cs"/>
              </a:rPr>
              <a:t>λ</a:t>
            </a:r>
            <a:r>
              <a:rPr lang="en-US" sz="1200" b="0" i="0" kern="1200" dirty="0" err="1">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w</a:t>
            </a:r>
            <a:r>
              <a:rPr lang="en-US" sz="1200" b="0" i="0" kern="1200" dirty="0">
                <a:solidFill>
                  <a:schemeClr val="tx1"/>
                </a:solidFill>
                <a:effectLst/>
                <a:latin typeface="+mn-lt"/>
                <a:ea typeface="+mn-ea"/>
                <a:cs typeface="+mn-cs"/>
              </a:rPr>
              <a:t>. This gives the weights a tendency to decay towards zero, hence the name.</a:t>
            </a:r>
          </a:p>
          <a:p>
            <a:r>
              <a:rPr lang="en-US" sz="1200" b="0" i="0" u="none" strike="noStrike" kern="1200" baseline="0" dirty="0">
                <a:solidFill>
                  <a:schemeClr val="tx1"/>
                </a:solidFill>
                <a:latin typeface="+mn-lt"/>
                <a:ea typeface="+mn-ea"/>
                <a:cs typeface="+mn-cs"/>
              </a:rPr>
              <a:t>For λ = 0, we recover the original loss function.</a:t>
            </a:r>
          </a:p>
          <a:p>
            <a:r>
              <a:rPr lang="en-US" sz="1200" b="0" i="0" u="none" strike="noStrike" kern="1200" baseline="0" dirty="0">
                <a:solidFill>
                  <a:schemeClr val="tx1"/>
                </a:solidFill>
                <a:latin typeface="+mn-lt"/>
                <a:ea typeface="+mn-ea"/>
                <a:cs typeface="+mn-cs"/>
              </a:rPr>
              <a:t>● For λ &gt; 0, we restrict the size of ∥w∥.</a:t>
            </a:r>
          </a:p>
          <a:p>
            <a:r>
              <a:rPr lang="en-US" sz="1200" b="0" i="0" u="none" strike="noStrike" kern="1200" baseline="0" dirty="0">
                <a:solidFill>
                  <a:schemeClr val="tx1"/>
                </a:solidFill>
                <a:latin typeface="+mn-lt"/>
                <a:ea typeface="+mn-ea"/>
                <a:cs typeface="+mn-cs"/>
              </a:rPr>
              <a:t>● Smaller values of λ correspond to less constrained w, whereas larger</a:t>
            </a:r>
          </a:p>
          <a:p>
            <a:r>
              <a:rPr lang="en-US" sz="1200" b="0" i="0" u="none" strike="noStrike" kern="1200" baseline="0" dirty="0">
                <a:solidFill>
                  <a:schemeClr val="tx1"/>
                </a:solidFill>
                <a:latin typeface="+mn-lt"/>
                <a:ea typeface="+mn-ea"/>
                <a:cs typeface="+mn-cs"/>
              </a:rPr>
              <a:t>values of λ constrain w more considerably.</a:t>
            </a:r>
          </a:p>
          <a:p>
            <a:r>
              <a:rPr lang="en-US" sz="1200" b="0" i="0" u="none" strike="noStrike" kern="1200" baseline="0" dirty="0">
                <a:solidFill>
                  <a:schemeClr val="tx1"/>
                </a:solidFill>
                <a:latin typeface="+mn-lt"/>
                <a:ea typeface="+mn-ea"/>
                <a:cs typeface="+mn-cs"/>
              </a:rPr>
              <a:t>● By squaring the L2 norm, we remove the square root, leaving the sum of</a:t>
            </a:r>
          </a:p>
          <a:p>
            <a:r>
              <a:rPr lang="en-US" sz="1200" b="0" i="0" u="none" strike="noStrike" kern="1200" baseline="0" dirty="0">
                <a:solidFill>
                  <a:schemeClr val="tx1"/>
                </a:solidFill>
                <a:latin typeface="+mn-lt"/>
                <a:ea typeface="+mn-ea"/>
                <a:cs typeface="+mn-cs"/>
              </a:rPr>
              <a:t>squares of each component of the weight vector.</a:t>
            </a:r>
          </a:p>
          <a:p>
            <a:r>
              <a:rPr lang="en-US" sz="1200" b="0" i="0" u="none" strike="noStrike" kern="1200" baseline="0" dirty="0">
                <a:solidFill>
                  <a:schemeClr val="tx1"/>
                </a:solidFill>
                <a:latin typeface="+mn-lt"/>
                <a:ea typeface="+mn-ea"/>
                <a:cs typeface="+mn-cs"/>
              </a:rPr>
              <a:t>● The derivative of a quadratic function ensure that the 2 and 1/2 cancel</a:t>
            </a:r>
          </a:p>
          <a:p>
            <a:r>
              <a:rPr lang="en-IN" sz="1200" b="0" i="0" u="none" strike="noStrike" kern="1200" baseline="0" dirty="0">
                <a:solidFill>
                  <a:schemeClr val="tx1"/>
                </a:solidFill>
                <a:latin typeface="+mn-lt"/>
                <a:ea typeface="+mn-ea"/>
                <a:cs typeface="+mn-cs"/>
              </a:rPr>
              <a:t>out.</a:t>
            </a:r>
          </a:p>
          <a:p>
            <a:r>
              <a:rPr lang="en-IN" sz="1200" b="0" i="0" u="none" strike="noStrike" kern="1200" baseline="0" dirty="0">
                <a:solidFill>
                  <a:schemeClr val="tx1"/>
                </a:solidFill>
                <a:latin typeface="+mn-lt"/>
                <a:ea typeface="+mn-ea"/>
                <a:cs typeface="+mn-cs"/>
              </a:rPr>
              <a:t>23</a:t>
            </a:r>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15</a:t>
            </a:fld>
            <a:endParaRPr lang="en-IN"/>
          </a:p>
        </p:txBody>
      </p:sp>
    </p:spTree>
    <p:extLst>
      <p:ext uri="{BB962C8B-B14F-4D97-AF65-F5344CB8AC3E}">
        <p14:creationId xmlns:p14="http://schemas.microsoft.com/office/powerpoint/2010/main" val="275274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16</a:t>
            </a:fld>
            <a:endParaRPr lang="en-IN"/>
          </a:p>
        </p:txBody>
      </p:sp>
    </p:spTree>
    <p:extLst>
      <p:ext uri="{BB962C8B-B14F-4D97-AF65-F5344CB8AC3E}">
        <p14:creationId xmlns:p14="http://schemas.microsoft.com/office/powerpoint/2010/main" val="3713160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1140" y="400303"/>
            <a:ext cx="2700020"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7" name="Holder 7"/>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3036" cy="693420"/>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9"/>
          </a:xfrm>
          <a:prstGeom prst="rect">
            <a:avLst/>
          </a:prstGeom>
        </p:spPr>
      </p:pic>
      <p:sp>
        <p:nvSpPr>
          <p:cNvPr id="17" name="bg object 17"/>
          <p:cNvSpPr/>
          <p:nvPr/>
        </p:nvSpPr>
        <p:spPr>
          <a:xfrm>
            <a:off x="28956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18" name="bg object 18"/>
          <p:cNvSpPr/>
          <p:nvPr/>
        </p:nvSpPr>
        <p:spPr>
          <a:xfrm>
            <a:off x="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a:p>
        </p:txBody>
      </p:sp>
      <p:sp>
        <p:nvSpPr>
          <p:cNvPr id="19" name="bg object 19"/>
          <p:cNvSpPr/>
          <p:nvPr/>
        </p:nvSpPr>
        <p:spPr>
          <a:xfrm>
            <a:off x="57912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76200" y="3352800"/>
            <a:ext cx="2057400" cy="1979676"/>
          </a:xfrm>
          <a:prstGeom prst="rect">
            <a:avLst/>
          </a:prstGeom>
        </p:spPr>
      </p:pic>
      <p:sp>
        <p:nvSpPr>
          <p:cNvPr id="2" name="Holder 2"/>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4" name="Holder 4"/>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20397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3004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81982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516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52604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764028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29751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6906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01898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1373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52604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91009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38289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71388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452445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359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97086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259227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340531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7602382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1739289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9630090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rtl="0" fontAlgn="base">
              <a:spcBef>
                <a:spcPct val="0"/>
              </a:spcBef>
              <a:spcAft>
                <a:spcPct val="0"/>
              </a:spcAft>
              <a:defRPr/>
            </a:pPr>
            <a:r>
              <a:rPr lang="en-US" sz="1100" b="1" kern="1200" dirty="0">
                <a:solidFill>
                  <a:srgbClr val="101141"/>
                </a:solidFill>
                <a:ea typeface="+mn-ea"/>
                <a:cs typeface="Arial" panose="020B0604020202020204" pitchFamily="34" charset="0"/>
              </a:rPr>
              <a:t>BITS </a:t>
            </a:r>
            <a:r>
              <a:rPr lang="en-US" sz="1100" kern="1200" dirty="0" err="1">
                <a:solidFill>
                  <a:srgbClr val="101141"/>
                </a:solidFill>
                <a:ea typeface="+mn-ea"/>
                <a:cs typeface="Arial" panose="020B0604020202020204" pitchFamily="34" charset="0"/>
              </a:rPr>
              <a:t>Pilani</a:t>
            </a:r>
            <a:endParaRPr lang="en-US" sz="1100" kern="1200" dirty="0">
              <a:solidFill>
                <a:srgbClr val="101141"/>
              </a:solidFill>
              <a:ea typeface="+mn-ea"/>
              <a:cs typeface="Arial" panose="020B0604020202020204" pitchFamily="34" charset="0"/>
            </a:endParaRP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sp>
        <p:nvSpPr>
          <p:cNvPr id="3" name="Content Placeholder 2"/>
          <p:cNvSpPr>
            <a:spLocks noGrp="1"/>
          </p:cNvSpPr>
          <p:nvPr>
            <p:ph idx="1"/>
          </p:nvPr>
        </p:nvSpPr>
        <p:spPr>
          <a:xfrm>
            <a:off x="304800" y="1600200"/>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457200" y="6356350"/>
            <a:ext cx="2133600" cy="365125"/>
          </a:xfrm>
          <a:prstGeom prst="rect">
            <a:avLst/>
          </a:prstGeom>
        </p:spPr>
        <p:txBody>
          <a:bodyPr/>
          <a:lstStyle/>
          <a:p>
            <a:pPr algn="l" rtl="0" fontAlgn="base">
              <a:spcBef>
                <a:spcPct val="0"/>
              </a:spcBef>
              <a:spcAft>
                <a:spcPct val="0"/>
              </a:spcAft>
              <a:defRPr/>
            </a:pPr>
            <a:endParaRPr lang="en-US" sz="1600" kern="1200">
              <a:solidFill>
                <a:prstClr val="black">
                  <a:tint val="75000"/>
                </a:prstClr>
              </a:solidFill>
              <a:latin typeface="Tahoma" charset="0"/>
              <a:ea typeface="+mn-ea"/>
              <a:cs typeface="+mn-cs"/>
            </a:endParaRPr>
          </a:p>
        </p:txBody>
      </p:sp>
      <p:sp>
        <p:nvSpPr>
          <p:cNvPr id="18" name="Footer Placeholder 17"/>
          <p:cNvSpPr>
            <a:spLocks noGrp="1"/>
          </p:cNvSpPr>
          <p:nvPr>
            <p:ph type="ftr" sz="quarter" idx="12"/>
          </p:nvPr>
        </p:nvSpPr>
        <p:spPr>
          <a:xfrm>
            <a:off x="3124200" y="6356350"/>
            <a:ext cx="2895600" cy="365125"/>
          </a:xfrm>
          <a:prstGeom prst="rect">
            <a:avLst/>
          </a:prstGeom>
        </p:spPr>
        <p:txBody>
          <a:bodyPr/>
          <a:lstStyle/>
          <a:p>
            <a:pPr algn="l" rtl="0" fontAlgn="base">
              <a:spcBef>
                <a:spcPct val="0"/>
              </a:spcBef>
              <a:spcAft>
                <a:spcPct val="0"/>
              </a:spcAft>
              <a:defRPr/>
            </a:pPr>
            <a:endParaRPr lang="en-US" sz="1600" kern="1200" dirty="0">
              <a:solidFill>
                <a:prstClr val="black">
                  <a:tint val="75000"/>
                </a:prstClr>
              </a:solidFill>
              <a:latin typeface="Tahoma" charset="0"/>
              <a:ea typeface="+mn-ea"/>
              <a:cs typeface="+mn-cs"/>
            </a:endParaRPr>
          </a:p>
        </p:txBody>
      </p:sp>
      <p:sp>
        <p:nvSpPr>
          <p:cNvPr id="19" name="Slide Number Placeholder 18"/>
          <p:cNvSpPr>
            <a:spLocks noGrp="1"/>
          </p:cNvSpPr>
          <p:nvPr>
            <p:ph type="sldNum" sz="quarter" idx="13"/>
          </p:nvPr>
        </p:nvSpPr>
        <p:spPr>
          <a:xfrm>
            <a:off x="3086100" y="6424612"/>
            <a:ext cx="2133600" cy="365125"/>
          </a:xfrm>
          <a:prstGeom prst="rect">
            <a:avLst/>
          </a:prstGeom>
        </p:spPr>
        <p:txBody>
          <a:bodyPr/>
          <a:lstStyle>
            <a:lvl1pPr>
              <a:defRPr>
                <a:solidFill>
                  <a:srgbClr val="C00000"/>
                </a:solidFill>
              </a:defRPr>
            </a:lvl1pPr>
          </a:lstStyle>
          <a:p>
            <a:pPr algn="l" rtl="0" fontAlgn="base">
              <a:spcBef>
                <a:spcPct val="0"/>
              </a:spcBef>
              <a:spcAft>
                <a:spcPct val="0"/>
              </a:spcAft>
            </a:pPr>
            <a:fld id="{DB1C2494-8932-4549-9EEA-B787E7A0F253}" type="slidenum">
              <a:rPr lang="en-US" sz="1600" kern="1200" smtClean="0">
                <a:latin typeface="Tahoma" charset="0"/>
                <a:ea typeface="+mn-ea"/>
                <a:cs typeface="+mn-cs"/>
              </a:rPr>
              <a:pPr algn="l" rtl="0" fontAlgn="base">
                <a:spcBef>
                  <a:spcPct val="0"/>
                </a:spcBef>
                <a:spcAft>
                  <a:spcPct val="0"/>
                </a:spcAft>
              </a:pPr>
              <a:t>‹#›</a:t>
            </a:fld>
            <a:endParaRPr lang="en-US" sz="1600" kern="1200" dirty="0">
              <a:latin typeface="Tahoma" charset="0"/>
              <a:ea typeface="+mn-ea"/>
              <a:cs typeface="+mn-cs"/>
            </a:endParaRPr>
          </a:p>
        </p:txBody>
      </p:sp>
    </p:spTree>
    <p:extLst>
      <p:ext uri="{BB962C8B-B14F-4D97-AF65-F5344CB8AC3E}">
        <p14:creationId xmlns:p14="http://schemas.microsoft.com/office/powerpoint/2010/main" val="33134731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387330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848228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019812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169258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12904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377602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9209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2511579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683654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74321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872475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08023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l"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335343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608632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TextBox 8"/>
          <p:cNvSpPr txBox="1"/>
          <p:nvPr/>
        </p:nvSpPr>
        <p:spPr>
          <a:xfrm>
            <a:off x="6858000" y="7620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340837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00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14" name="TextBox 1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929302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23968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987940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21008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31410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46903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algn="r" rtl="0" fontAlgn="base">
              <a:spcBef>
                <a:spcPct val="0"/>
              </a:spcBef>
              <a:spcAft>
                <a:spcPct val="0"/>
              </a:spcAft>
              <a:defRPr/>
            </a:pPr>
            <a:r>
              <a:rPr lang="en-US" sz="675" b="1" kern="1200" dirty="0">
                <a:solidFill>
                  <a:srgbClr val="101141"/>
                </a:solidFill>
                <a:latin typeface="Arial"/>
                <a:ea typeface="+mn-ea"/>
                <a:cs typeface="Arial"/>
              </a:rPr>
              <a:t>BITS </a:t>
            </a:r>
            <a:r>
              <a:rPr lang="en-US" sz="67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006606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951013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pPr>
              <a:defRPr/>
            </a:pPr>
            <a:fld id="{460CB459-1A4D-47F4-A8EE-5438035C956C}" type="datetime1">
              <a:rPr lang="en-US">
                <a:solidFill>
                  <a:prstClr val="black">
                    <a:tint val="75000"/>
                  </a:prstClr>
                </a:solidFill>
              </a:rPr>
              <a:pPr>
                <a:defRPr/>
              </a:pPr>
              <a:t>12/26/2024</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037632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57585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0982298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404718" y="435270"/>
            <a:ext cx="4334562" cy="543226"/>
          </a:xfrm>
        </p:spPr>
        <p:txBody>
          <a:bodyPr lIns="0" tIns="0" rIns="0" bIns="0"/>
          <a:lstStyle>
            <a:lvl1pPr>
              <a:defRPr sz="3530" b="1" i="0">
                <a:solidFill>
                  <a:srgbClr val="0000CC"/>
                </a:solidFill>
                <a:latin typeface="Calibri"/>
                <a:cs typeface="Calibri"/>
              </a:defRPr>
            </a:lvl1pPr>
          </a:lstStyle>
          <a:p>
            <a:endParaRPr/>
          </a:p>
        </p:txBody>
      </p:sp>
      <p:sp>
        <p:nvSpPr>
          <p:cNvPr id="3" name="Holder 3"/>
          <p:cNvSpPr>
            <a:spLocks noGrp="1"/>
          </p:cNvSpPr>
          <p:nvPr>
            <p:ph type="body" idx="1"/>
          </p:nvPr>
        </p:nvSpPr>
        <p:spPr>
          <a:xfrm>
            <a:off x="609069" y="1559555"/>
            <a:ext cx="3872923" cy="896271"/>
          </a:xfrm>
        </p:spPr>
        <p:txBody>
          <a:bodyPr lIns="0" tIns="0" rIns="0" bIns="0"/>
          <a:lstStyle>
            <a:lvl1pPr>
              <a:defRPr sz="5824"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12/26/2024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Calibri"/>
                <a:cs typeface="Calibri"/>
              </a:defRPr>
            </a:lvl1pPr>
          </a:lstStyle>
          <a:p>
            <a:pPr marL="11206">
              <a:lnSpc>
                <a:spcPts val="1094"/>
              </a:lnSpc>
            </a:pPr>
            <a:r>
              <a:rPr lang="en-IN"/>
              <a:t>1</a:t>
            </a:r>
            <a:fld id="{81D60167-4931-47E6-BA6A-407CBD079E47}" type="slidenum">
              <a:rPr smtClean="0"/>
              <a:pPr marL="11206">
                <a:lnSpc>
                  <a:spcPts val="1094"/>
                </a:lnSpc>
              </a:pPr>
              <a:t>‹#›</a:t>
            </a:fld>
            <a:endParaRPr dirty="0"/>
          </a:p>
        </p:txBody>
      </p:sp>
    </p:spTree>
    <p:extLst>
      <p:ext uri="{BB962C8B-B14F-4D97-AF65-F5344CB8AC3E}">
        <p14:creationId xmlns:p14="http://schemas.microsoft.com/office/powerpoint/2010/main" val="33974613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jp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theme" Target="../theme/theme2.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17" name="bg object 17"/>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42"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8" name="Title Placeholder 7"/>
          <p:cNvSpPr>
            <a:spLocks noGrp="1"/>
          </p:cNvSpPr>
          <p:nvPr>
            <p:ph type="title"/>
          </p:nvPr>
        </p:nvSpPr>
        <p:spPr>
          <a:xfrm>
            <a:off x="173990" y="32162"/>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304800" y="1676400"/>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84" r:id="rId7"/>
    <p:sldLayoutId id="2147483685"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7" r:id="rId28"/>
    <p:sldLayoutId id="2147483708" r:id="rId29"/>
    <p:sldLayoutId id="2147483709" r:id="rId30"/>
    <p:sldLayoutId id="2147483711" r:id="rId31"/>
    <p:sldLayoutId id="2147483712" r:id="rId32"/>
    <p:sldLayoutId id="2147483713" r:id="rId33"/>
    <p:sldLayoutId id="2147483714" r:id="rId34"/>
    <p:sldLayoutId id="2147483715" r:id="rId35"/>
    <p:sldLayoutId id="2147483717" r:id="rId36"/>
    <p:sldLayoutId id="2147483718" r:id="rId37"/>
    <p:sldLayoutId id="2147483719" r:id="rId38"/>
    <p:sldLayoutId id="2147483737" r:id="rId39"/>
    <p:sldLayoutId id="2147483738" r:id="rId40"/>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DAE0A98B-91D6-4D0A-A390-AF26B360F87A}" type="datetime1">
              <a:rPr lang="en-US" kern="1200">
                <a:solidFill>
                  <a:prstClr val="black">
                    <a:tint val="75000"/>
                  </a:prstClr>
                </a:solidFill>
                <a:ea typeface="+mn-ea"/>
              </a:rPr>
              <a:pPr rtl="0" fontAlgn="base">
                <a:spcBef>
                  <a:spcPct val="0"/>
                </a:spcBef>
                <a:spcAft>
                  <a:spcPct val="0"/>
                </a:spcAft>
                <a:defRPr/>
              </a:pPr>
              <a:t>12/26/2024</a:t>
            </a:fld>
            <a:endParaRPr lang="en-US" kern="120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60DB935C-A2BB-404C-A6C5-67E9068028EC}" type="slidenum">
              <a:rPr lang="en-US" kern="1200">
                <a:solidFill>
                  <a:prstClr val="black">
                    <a:tint val="75000"/>
                  </a:prstClr>
                </a:solidFill>
                <a:ea typeface="+mn-ea"/>
              </a:rPr>
              <a:pPr rtl="0" fontAlgn="base">
                <a:spcBef>
                  <a:spcPct val="0"/>
                </a:spcBef>
                <a:spcAft>
                  <a:spcPct val="0"/>
                </a:spcAft>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8501065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14650" y="3714750"/>
            <a:ext cx="4629150" cy="1143000"/>
          </a:xfrm>
        </p:spPr>
        <p:txBody>
          <a:bodyPr/>
          <a:lstStyle/>
          <a:p>
            <a:pPr fontAlgn="auto">
              <a:spcAft>
                <a:spcPts val="0"/>
              </a:spcAft>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Deep Neural Network</a:t>
            </a:r>
          </a:p>
        </p:txBody>
      </p:sp>
      <p:sp>
        <p:nvSpPr>
          <p:cNvPr id="2" name="Rectangle 1"/>
          <p:cNvSpPr/>
          <p:nvPr/>
        </p:nvSpPr>
        <p:spPr>
          <a:xfrm>
            <a:off x="152400" y="6488668"/>
            <a:ext cx="3207929" cy="253916"/>
          </a:xfrm>
          <a:prstGeom prst="rect">
            <a:avLst/>
          </a:prstGeom>
        </p:spPr>
        <p:txBody>
          <a:bodyPr wrap="none">
            <a:spAutoFit/>
          </a:bodyPr>
          <a:lstStyle/>
          <a:p>
            <a:r>
              <a:rPr lang="en-US" sz="1050" dirty="0"/>
              <a:t>Acknowledgement: IIT M CS7015 (Deep Learning)</a:t>
            </a:r>
            <a:endParaRPr lang="en-IN" sz="1050" dirty="0"/>
          </a:p>
        </p:txBody>
      </p:sp>
    </p:spTree>
    <p:extLst>
      <p:ext uri="{BB962C8B-B14F-4D97-AF65-F5344CB8AC3E}">
        <p14:creationId xmlns:p14="http://schemas.microsoft.com/office/powerpoint/2010/main" val="36459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443478"/>
            <a:ext cx="5944791" cy="507831"/>
          </a:xfrm>
          <a:prstGeom prst="rect">
            <a:avLst/>
          </a:prstGeom>
          <a:noFill/>
          <a:ln w="9525">
            <a:noFill/>
            <a:miter lim="800000"/>
            <a:headEnd/>
            <a:tailEnd/>
          </a:ln>
          <a:effectLst/>
        </p:spPr>
        <p:txBody>
          <a:bodyPr wrap="square">
            <a:spAutoFit/>
          </a:bodyPr>
          <a:lstStyle/>
          <a:p>
            <a:r>
              <a:rPr lang="en-US" sz="2700" b="0" dirty="0">
                <a:latin typeface="Cambria" panose="02040503050406030204" pitchFamily="18" charset="0"/>
                <a:ea typeface="Cambria" panose="02040503050406030204" pitchFamily="18" charset="0"/>
                <a:cs typeface="+mn-cs"/>
              </a:rPr>
              <a:t>Deep Neural Network</a:t>
            </a:r>
            <a:endParaRPr sz="2700" b="0" dirty="0">
              <a:latin typeface="Cambria" panose="02040503050406030204" pitchFamily="18" charset="0"/>
              <a:ea typeface="Cambria" panose="02040503050406030204" pitchFamily="18" charset="0"/>
              <a:cs typeface="+mn-cs"/>
            </a:endParaRPr>
          </a:p>
        </p:txBody>
      </p:sp>
      <p:sp>
        <p:nvSpPr>
          <p:cNvPr id="3" name="object 3"/>
          <p:cNvSpPr txBox="1"/>
          <p:nvPr/>
        </p:nvSpPr>
        <p:spPr>
          <a:xfrm>
            <a:off x="1234786" y="4133140"/>
            <a:ext cx="6777644" cy="848137"/>
          </a:xfrm>
          <a:prstGeom prst="rect">
            <a:avLst/>
          </a:prstGeom>
        </p:spPr>
        <p:txBody>
          <a:bodyPr vert="horz" wrap="square" lIns="0" tIns="24595" rIns="0" bIns="0" rtlCol="0">
            <a:spAutoFit/>
          </a:bodyPr>
          <a:lstStyle/>
          <a:p>
            <a:pPr marL="99961" marR="29325" indent="-93969" algn="l" rtl="0" fontAlgn="base">
              <a:lnSpc>
                <a:spcPts val="1153"/>
              </a:lnSpc>
              <a:spcBef>
                <a:spcPts val="194"/>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The </a:t>
            </a:r>
            <a:r>
              <a:rPr sz="1200" kern="1200" spc="-8" dirty="0">
                <a:solidFill>
                  <a:prstClr val="black"/>
                </a:solidFill>
                <a:latin typeface="Cambria" panose="02040503050406030204" pitchFamily="18" charset="0"/>
                <a:ea typeface="Cambria" panose="02040503050406030204" pitchFamily="18" charset="0"/>
                <a:cs typeface="Calibri"/>
              </a:rPr>
              <a:t>content </a:t>
            </a:r>
            <a:r>
              <a:rPr sz="1200" kern="1200" spc="-10" dirty="0">
                <a:solidFill>
                  <a:prstClr val="black"/>
                </a:solidFill>
                <a:latin typeface="Cambria" panose="02040503050406030204" pitchFamily="18" charset="0"/>
                <a:ea typeface="Cambria" panose="02040503050406030204" pitchFamily="18" charset="0"/>
                <a:cs typeface="Calibri"/>
              </a:rPr>
              <a:t>for </a:t>
            </a:r>
            <a:r>
              <a:rPr sz="1200" kern="1200" spc="-2" dirty="0">
                <a:solidFill>
                  <a:prstClr val="black"/>
                </a:solidFill>
                <a:latin typeface="Cambria" panose="02040503050406030204" pitchFamily="18" charset="0"/>
                <a:ea typeface="Cambria" panose="02040503050406030204" pitchFamily="18" charset="0"/>
                <a:cs typeface="Calibri"/>
              </a:rPr>
              <a:t>these slides has been </a:t>
            </a:r>
            <a:r>
              <a:rPr sz="1200" kern="1200" spc="-5" dirty="0">
                <a:solidFill>
                  <a:prstClr val="black"/>
                </a:solidFill>
                <a:latin typeface="Cambria" panose="02040503050406030204" pitchFamily="18" charset="0"/>
                <a:ea typeface="Cambria" panose="02040503050406030204" pitchFamily="18" charset="0"/>
                <a:cs typeface="Calibri"/>
              </a:rPr>
              <a:t>obtained </a:t>
            </a:r>
            <a:r>
              <a:rPr sz="1200" kern="1200" spc="-8" dirty="0">
                <a:solidFill>
                  <a:prstClr val="black"/>
                </a:solidFill>
                <a:latin typeface="Cambria" panose="02040503050406030204" pitchFamily="18" charset="0"/>
                <a:ea typeface="Cambria" panose="02040503050406030204" pitchFamily="18" charset="0"/>
                <a:cs typeface="Calibri"/>
              </a:rPr>
              <a:t>from </a:t>
            </a:r>
            <a:r>
              <a:rPr sz="1200" kern="1200" spc="-5" dirty="0">
                <a:solidFill>
                  <a:prstClr val="black"/>
                </a:solidFill>
                <a:latin typeface="Cambria" panose="02040503050406030204" pitchFamily="18" charset="0"/>
                <a:ea typeface="Cambria" panose="02040503050406030204" pitchFamily="18" charset="0"/>
                <a:cs typeface="Calibri"/>
              </a:rPr>
              <a:t>books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various other </a:t>
            </a:r>
            <a:r>
              <a:rPr sz="1200" kern="1200" spc="-236"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1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on the </a:t>
            </a:r>
            <a:r>
              <a:rPr sz="1200" kern="1200" spc="-8" dirty="0">
                <a:solidFill>
                  <a:prstClr val="black"/>
                </a:solidFill>
                <a:latin typeface="Cambria" panose="02040503050406030204" pitchFamily="18" charset="0"/>
                <a:ea typeface="Cambria" panose="02040503050406030204" pitchFamily="18" charset="0"/>
                <a:cs typeface="Calibri"/>
              </a:rPr>
              <a:t>Internet</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58"/>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here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by</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acknowledge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all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contributors</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10" dirty="0">
                <a:solidFill>
                  <a:prstClr val="black"/>
                </a:solidFill>
                <a:latin typeface="Cambria" panose="02040503050406030204" pitchFamily="18" charset="0"/>
                <a:ea typeface="Cambria" panose="02040503050406030204" pitchFamily="18" charset="0"/>
                <a:cs typeface="Calibri"/>
              </a:rPr>
              <a:t>for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their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material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inputs.</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provided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8" dirty="0">
                <a:solidFill>
                  <a:prstClr val="black"/>
                </a:solidFill>
                <a:latin typeface="Cambria" panose="02040503050406030204" pitchFamily="18" charset="0"/>
                <a:ea typeface="Cambria" panose="02040503050406030204" pitchFamily="18" charset="0"/>
                <a:cs typeface="Calibri"/>
              </a:rPr>
              <a:t> information</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wherever </a:t>
            </a:r>
            <a:r>
              <a:rPr sz="1200" kern="1200" spc="-2" dirty="0">
                <a:solidFill>
                  <a:prstClr val="black"/>
                </a:solidFill>
                <a:latin typeface="Cambria" panose="02040503050406030204" pitchFamily="18" charset="0"/>
                <a:ea typeface="Cambria" panose="02040503050406030204" pitchFamily="18" charset="0"/>
                <a:cs typeface="Calibri"/>
              </a:rPr>
              <a:t>necessary</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added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modified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8" dirty="0">
                <a:solidFill>
                  <a:prstClr val="black"/>
                </a:solidFill>
                <a:latin typeface="Cambria" panose="02040503050406030204" pitchFamily="18" charset="0"/>
                <a:ea typeface="Cambria" panose="02040503050406030204" pitchFamily="18" charset="0"/>
                <a:cs typeface="Calibri"/>
              </a:rPr>
              <a:t> content to</a:t>
            </a:r>
            <a:r>
              <a:rPr sz="1200" kern="1200" spc="-2" dirty="0">
                <a:solidFill>
                  <a:prstClr val="black"/>
                </a:solidFill>
                <a:latin typeface="Cambria" panose="02040503050406030204" pitchFamily="18" charset="0"/>
                <a:ea typeface="Cambria" panose="02040503050406030204" pitchFamily="18" charset="0"/>
                <a:cs typeface="Calibri"/>
              </a:rPr>
              <a:t> suit the</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requirements</a:t>
            </a:r>
            <a:r>
              <a:rPr sz="1200" kern="1200" spc="-12"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of the</a:t>
            </a:r>
            <a:r>
              <a:rPr sz="1200" kern="1200" spc="-8" dirty="0">
                <a:solidFill>
                  <a:prstClr val="black"/>
                </a:solidFill>
                <a:latin typeface="Cambria" panose="02040503050406030204" pitchFamily="18" charset="0"/>
                <a:ea typeface="Cambria" panose="02040503050406030204" pitchFamily="18" charset="0"/>
                <a:cs typeface="Calibri"/>
              </a:rPr>
              <a:t> course</a:t>
            </a:r>
            <a:endParaRPr sz="1200" kern="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2943389" y="2171701"/>
            <a:ext cx="4274196" cy="233216"/>
          </a:xfrm>
          <a:prstGeom prst="rect">
            <a:avLst/>
          </a:prstGeom>
        </p:spPr>
        <p:txBody>
          <a:bodyPr vert="horz" wrap="square" lIns="0" tIns="7568" rIns="0" bIns="0" rtlCol="0">
            <a:spAutoFit/>
          </a:bodyPr>
          <a:lstStyle/>
          <a:p>
            <a:pPr marL="6306" algn="l" rtl="0" fontAlgn="base">
              <a:spcBef>
                <a:spcPts val="59"/>
              </a:spcBef>
              <a:spcAft>
                <a:spcPct val="0"/>
              </a:spcAft>
            </a:pPr>
            <a:r>
              <a:rPr sz="1466" kern="1200" spc="-8" dirty="0">
                <a:solidFill>
                  <a:srgbClr val="1C1572"/>
                </a:solidFill>
                <a:latin typeface="Cambria" panose="02040503050406030204" pitchFamily="18" charset="0"/>
                <a:ea typeface="Cambria" panose="02040503050406030204" pitchFamily="18" charset="0"/>
                <a:cs typeface="Calibri Light"/>
              </a:rPr>
              <a:t>Disclaimer</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5" dirty="0">
                <a:solidFill>
                  <a:srgbClr val="1C1572"/>
                </a:solidFill>
                <a:latin typeface="Cambria" panose="02040503050406030204" pitchFamily="18" charset="0"/>
                <a:ea typeface="Cambria" panose="02040503050406030204" pitchFamily="18" charset="0"/>
                <a:cs typeface="Calibri Light"/>
              </a:rPr>
              <a:t>and</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12" dirty="0">
                <a:solidFill>
                  <a:srgbClr val="1C1572"/>
                </a:solidFill>
                <a:latin typeface="Cambria" panose="02040503050406030204" pitchFamily="18" charset="0"/>
                <a:ea typeface="Cambria" panose="02040503050406030204" pitchFamily="18" charset="0"/>
                <a:cs typeface="Calibri Light"/>
              </a:rPr>
              <a:t>Acknowledgement</a:t>
            </a:r>
            <a:endParaRPr sz="1466" kern="1200"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3756597" y="2823275"/>
            <a:ext cx="815403" cy="891476"/>
          </a:xfrm>
          <a:prstGeom prst="rect">
            <a:avLst/>
          </a:prstGeom>
        </p:spPr>
      </p:pic>
    </p:spTree>
    <p:extLst>
      <p:ext uri="{BB962C8B-B14F-4D97-AF65-F5344CB8AC3E}">
        <p14:creationId xmlns:p14="http://schemas.microsoft.com/office/powerpoint/2010/main" val="314728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1447800"/>
            <a:ext cx="8229600" cy="4876800"/>
          </a:xfrm>
        </p:spPr>
        <p:txBody>
          <a:bodyPr/>
          <a:lstStyle/>
          <a:p>
            <a:pPr marL="457200" indent="-457200">
              <a:buFont typeface="Arial" panose="020B0604020202020204" pitchFamily="34" charset="0"/>
              <a:buChar char="•"/>
            </a:pPr>
            <a:r>
              <a:rPr lang="en-US" sz="2000" dirty="0">
                <a:latin typeface="Cambria" panose="02040503050406030204" pitchFamily="18" charset="0"/>
                <a:ea typeface="Cambria" panose="02040503050406030204" pitchFamily="18" charset="0"/>
              </a:rPr>
              <a:t>Training Error and Generalization Error</a:t>
            </a:r>
          </a:p>
          <a:p>
            <a:pPr marL="457200" indent="-457200">
              <a:buFont typeface="Arial" panose="020B0604020202020204" pitchFamily="34" charset="0"/>
              <a:buChar char="•"/>
            </a:pPr>
            <a:r>
              <a:rPr lang="en-US" sz="2000" dirty="0">
                <a:latin typeface="Cambria" panose="02040503050406030204" pitchFamily="18" charset="0"/>
                <a:ea typeface="Cambria" panose="02040503050406030204" pitchFamily="18" charset="0"/>
              </a:rPr>
              <a:t>Fit of the model</a:t>
            </a:r>
          </a:p>
          <a:p>
            <a:pPr marL="457200" indent="-457200">
              <a:buFont typeface="Arial" panose="020B0604020202020204" pitchFamily="34" charset="0"/>
              <a:buChar char="•"/>
            </a:pPr>
            <a:r>
              <a:rPr lang="en-US" sz="2000" dirty="0">
                <a:latin typeface="Cambria" panose="02040503050406030204" pitchFamily="18" charset="0"/>
                <a:ea typeface="Cambria" panose="02040503050406030204" pitchFamily="18" charset="0"/>
              </a:rPr>
              <a:t>Model complexity</a:t>
            </a:r>
          </a:p>
          <a:p>
            <a:pPr marL="457200" indent="-4572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Regularization </a:t>
            </a:r>
          </a:p>
          <a:p>
            <a:pPr marL="942975" lvl="2" indent="-3429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l</a:t>
            </a:r>
            <a:r>
              <a:rPr lang="en-US" sz="2000" spc="70" baseline="-25000" dirty="0">
                <a:latin typeface="Cambria" panose="02040503050406030204" pitchFamily="18" charset="0"/>
                <a:ea typeface="Cambria" panose="02040503050406030204" pitchFamily="18" charset="0"/>
              </a:rPr>
              <a:t>2</a:t>
            </a:r>
            <a:r>
              <a:rPr lang="en-US" sz="2000" spc="70" dirty="0">
                <a:latin typeface="Cambria" panose="02040503050406030204" pitchFamily="18" charset="0"/>
                <a:ea typeface="Cambria" panose="02040503050406030204" pitchFamily="18" charset="0"/>
              </a:rPr>
              <a:t> regularization </a:t>
            </a:r>
          </a:p>
          <a:p>
            <a:pPr marL="942975" lvl="2" indent="-3429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Dataset augmentation</a:t>
            </a:r>
          </a:p>
          <a:p>
            <a:pPr marL="942975" lvl="2" indent="-3429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Early stopping</a:t>
            </a:r>
          </a:p>
          <a:p>
            <a:pPr marL="942975" lvl="2" indent="-3429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Ensemble methods </a:t>
            </a:r>
          </a:p>
          <a:p>
            <a:pPr marL="942975" lvl="2" indent="-342900">
              <a:buFont typeface="Arial" panose="020B0604020202020204" pitchFamily="34" charset="0"/>
              <a:buChar char="•"/>
            </a:pPr>
            <a:r>
              <a:rPr lang="en-US" sz="2000" spc="70" dirty="0">
                <a:latin typeface="Cambria" panose="02040503050406030204" pitchFamily="18" charset="0"/>
                <a:ea typeface="Cambria" panose="02040503050406030204" pitchFamily="18" charset="0"/>
              </a:rPr>
              <a:t>Dropout</a:t>
            </a:r>
          </a:p>
          <a:p>
            <a:pPr marL="942975" lvl="2"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0"/>
          </p:nvPr>
        </p:nvSpPr>
        <p:spPr/>
        <p:txBody>
          <a:bodyPr vert="horz" lIns="91440" tIns="45720" rIns="91440" bIns="45720" rtlCol="0" anchor="ctr">
            <a:normAutofit fontScale="97500"/>
          </a:bodyPr>
          <a:lstStyle/>
          <a:p>
            <a:r>
              <a:rPr lang="en-US" sz="3600" b="0" dirty="0">
                <a:latin typeface="Cambria" panose="02040503050406030204" pitchFamily="18" charset="0"/>
                <a:ea typeface="Cambria" panose="02040503050406030204" pitchFamily="18" charset="0"/>
                <a:cs typeface="+mj-cs"/>
              </a:rPr>
              <a:t>Session Agenda</a:t>
            </a:r>
            <a:endParaRPr lang="en-IN" sz="3600" b="0" dirty="0">
              <a:latin typeface="Cambria" panose="02040503050406030204" pitchFamily="18" charset="0"/>
              <a:ea typeface="Cambria" panose="02040503050406030204" pitchFamily="18" charset="0"/>
              <a:cs typeface="+mj-cs"/>
            </a:endParaRPr>
          </a:p>
        </p:txBody>
      </p:sp>
    </p:spTree>
    <p:extLst>
      <p:ext uri="{BB962C8B-B14F-4D97-AF65-F5344CB8AC3E}">
        <p14:creationId xmlns:p14="http://schemas.microsoft.com/office/powerpoint/2010/main" val="9857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0"/>
          </p:nvPr>
        </p:nvSpPr>
        <p:spPr>
          <a:xfrm>
            <a:off x="228600" y="1545224"/>
            <a:ext cx="8763000" cy="4525963"/>
          </a:xfrm>
        </p:spPr>
        <p:txBody>
          <a:bodyPr>
            <a:normAutofit/>
          </a:bodyPr>
          <a:lstStyle/>
          <a:p>
            <a:pPr marL="342900" indent="-342900">
              <a:buFont typeface="Arial" panose="020B0604020202020204" pitchFamily="34" charset="0"/>
              <a:buChar char="•"/>
            </a:pPr>
            <a:r>
              <a:rPr lang="en-US" b="1" dirty="0"/>
              <a:t>Training error </a:t>
            </a:r>
            <a:r>
              <a:rPr lang="en-US" dirty="0"/>
              <a:t>is the error of our model as calculated on the training </a:t>
            </a:r>
            <a:r>
              <a:rPr lang="en-IN" dirty="0"/>
              <a:t>dataset.</a:t>
            </a:r>
          </a:p>
          <a:p>
            <a:pPr marL="800100" lvl="1" indent="-342900">
              <a:buFont typeface="Arial" panose="020B0604020202020204" pitchFamily="34" charset="0"/>
              <a:buChar char="•"/>
            </a:pPr>
            <a:r>
              <a:rPr lang="en-US" dirty="0"/>
              <a:t>Obtained while training the model.</a:t>
            </a:r>
          </a:p>
          <a:p>
            <a:pPr marL="342900" indent="-342900">
              <a:buFont typeface="Arial" panose="020B0604020202020204" pitchFamily="34" charset="0"/>
              <a:buChar char="•"/>
            </a:pPr>
            <a:r>
              <a:rPr lang="en-US" b="1" dirty="0"/>
              <a:t>Generalization error </a:t>
            </a:r>
            <a:r>
              <a:rPr lang="en-US" dirty="0"/>
              <a:t>is the expectation of our </a:t>
            </a:r>
            <a:r>
              <a:rPr lang="en-US" dirty="0" err="1"/>
              <a:t>modelʼs</a:t>
            </a:r>
            <a:r>
              <a:rPr lang="en-US" dirty="0"/>
              <a:t> error, if an infinite stream of additional data examples drawn from the same underlying data distribution as the original sample were applied on the </a:t>
            </a:r>
            <a:r>
              <a:rPr lang="en-IN" dirty="0"/>
              <a:t>model.</a:t>
            </a:r>
          </a:p>
          <a:p>
            <a:pPr marL="800100" lvl="1" indent="-342900">
              <a:buFont typeface="Arial" panose="020B0604020202020204" pitchFamily="34" charset="0"/>
              <a:buChar char="•"/>
            </a:pPr>
            <a:r>
              <a:rPr lang="en-US" dirty="0"/>
              <a:t>Cannot be computed, but estimated.</a:t>
            </a:r>
          </a:p>
          <a:p>
            <a:pPr marL="800100" lvl="1" indent="-342900">
              <a:buFont typeface="Arial" panose="020B0604020202020204" pitchFamily="34" charset="0"/>
              <a:buChar char="•"/>
            </a:pPr>
            <a:r>
              <a:rPr lang="en-US" dirty="0"/>
              <a:t>Estimate the generalization error by applying the model to an independent test set,</a:t>
            </a:r>
          </a:p>
          <a:p>
            <a:pPr marL="800100" lvl="1" indent="-342900">
              <a:buFont typeface="Arial" panose="020B0604020202020204" pitchFamily="34" charset="0"/>
              <a:buChar char="•"/>
            </a:pPr>
            <a:r>
              <a:rPr lang="en-US" dirty="0"/>
              <a:t>constituted of a random selection of data examples that were withheld from the </a:t>
            </a:r>
            <a:r>
              <a:rPr lang="en-IN" dirty="0"/>
              <a:t>training set</a:t>
            </a:r>
          </a:p>
        </p:txBody>
      </p:sp>
      <p:sp>
        <p:nvSpPr>
          <p:cNvPr id="4" name="Title 3"/>
          <p:cNvSpPr>
            <a:spLocks noGrp="1"/>
          </p:cNvSpPr>
          <p:nvPr>
            <p:ph type="title"/>
          </p:nvPr>
        </p:nvSpPr>
        <p:spPr/>
        <p:txBody>
          <a:bodyPr/>
          <a:lstStyle/>
          <a:p>
            <a:r>
              <a:rPr lang="en-US" dirty="0"/>
              <a:t>Training Error and Generalization Error</a:t>
            </a:r>
            <a:endParaRPr lang="en-IN" dirty="0"/>
          </a:p>
        </p:txBody>
      </p:sp>
    </p:spTree>
    <p:extLst>
      <p:ext uri="{BB962C8B-B14F-4D97-AF65-F5344CB8AC3E}">
        <p14:creationId xmlns:p14="http://schemas.microsoft.com/office/powerpoint/2010/main" val="3230613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8600" y="1447800"/>
            <a:ext cx="8610600" cy="4525963"/>
          </a:xfrm>
        </p:spPr>
        <p:txBody>
          <a:bodyPr>
            <a:normAutofit/>
          </a:bodyPr>
          <a:lstStyle/>
          <a:p>
            <a:pPr marL="457200" indent="-457200">
              <a:buFont typeface="+mj-lt"/>
              <a:buAutoNum type="arabicPeriod"/>
            </a:pPr>
            <a:r>
              <a:rPr lang="en-US" dirty="0"/>
              <a:t>The number of tunable parameters.</a:t>
            </a:r>
          </a:p>
          <a:p>
            <a:pPr marL="914400" lvl="1" indent="-457200">
              <a:buFont typeface="Arial" panose="020B0604020202020204" pitchFamily="34" charset="0"/>
              <a:buChar char="•"/>
            </a:pPr>
            <a:r>
              <a:rPr lang="en-US" dirty="0"/>
              <a:t> When the number of tunable parameters, called the degrees of freedom, is large, models tend to be more susceptible to overfitting.</a:t>
            </a:r>
          </a:p>
          <a:p>
            <a:pPr marL="457200" indent="-457200">
              <a:buFont typeface="+mj-lt"/>
              <a:buAutoNum type="arabicPeriod"/>
            </a:pPr>
            <a:r>
              <a:rPr lang="en-US" dirty="0"/>
              <a:t>The values taken by the parameters.</a:t>
            </a:r>
          </a:p>
          <a:p>
            <a:pPr marL="914400" lvl="1" indent="-457200">
              <a:buFont typeface="Arial" panose="020B0604020202020204" pitchFamily="34" charset="0"/>
              <a:buChar char="•"/>
            </a:pPr>
            <a:r>
              <a:rPr lang="en-US" dirty="0"/>
              <a:t>When weights can take a wider range of values, models can be more susceptible </a:t>
            </a:r>
            <a:r>
              <a:rPr lang="en-IN" dirty="0"/>
              <a:t>to overfitting.</a:t>
            </a:r>
          </a:p>
          <a:p>
            <a:pPr marL="457200" indent="-457200">
              <a:buFont typeface="+mj-lt"/>
              <a:buAutoNum type="arabicPeriod"/>
            </a:pPr>
            <a:r>
              <a:rPr lang="en-US" dirty="0"/>
              <a:t>The number of training examples.</a:t>
            </a:r>
          </a:p>
          <a:p>
            <a:pPr marL="914400" lvl="1" indent="-457200">
              <a:buFont typeface="Arial" panose="020B0604020202020204" pitchFamily="34" charset="0"/>
              <a:buChar char="•"/>
            </a:pPr>
            <a:r>
              <a:rPr lang="en-US" dirty="0"/>
              <a:t>It is trivially easy to </a:t>
            </a:r>
            <a:r>
              <a:rPr lang="en-US" dirty="0" err="1"/>
              <a:t>overfit</a:t>
            </a:r>
            <a:r>
              <a:rPr lang="en-US" dirty="0"/>
              <a:t> a dataset containing only one or two examples even if your model is simple. </a:t>
            </a:r>
          </a:p>
          <a:p>
            <a:pPr marL="914400" lvl="1" indent="-457200">
              <a:buFont typeface="Arial" panose="020B0604020202020204" pitchFamily="34" charset="0"/>
              <a:buChar char="•"/>
            </a:pPr>
            <a:r>
              <a:rPr lang="en-US" dirty="0"/>
              <a:t>But overfitting a dataset with millions of examples requires </a:t>
            </a:r>
            <a:r>
              <a:rPr lang="en-IN" dirty="0"/>
              <a:t>an extremely flexible model.</a:t>
            </a:r>
          </a:p>
        </p:txBody>
      </p:sp>
      <p:sp>
        <p:nvSpPr>
          <p:cNvPr id="3" name="Title 2"/>
          <p:cNvSpPr>
            <a:spLocks noGrp="1"/>
          </p:cNvSpPr>
          <p:nvPr>
            <p:ph type="title"/>
          </p:nvPr>
        </p:nvSpPr>
        <p:spPr/>
        <p:txBody>
          <a:bodyPr/>
          <a:lstStyle/>
          <a:p>
            <a:r>
              <a:rPr lang="en-US" dirty="0"/>
              <a:t>Factors that influence the generalizability of a model</a:t>
            </a:r>
            <a:endParaRPr lang="en-IN" dirty="0"/>
          </a:p>
        </p:txBody>
      </p:sp>
    </p:spTree>
    <p:extLst>
      <p:ext uri="{BB962C8B-B14F-4D97-AF65-F5344CB8AC3E}">
        <p14:creationId xmlns:p14="http://schemas.microsoft.com/office/powerpoint/2010/main" val="1764583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tangle 176"/>
          <p:cNvSpPr/>
          <p:nvPr/>
        </p:nvSpPr>
        <p:spPr>
          <a:xfrm>
            <a:off x="783451" y="884114"/>
            <a:ext cx="1760418" cy="461665"/>
          </a:xfrm>
          <a:prstGeom prst="rect">
            <a:avLst/>
          </a:prstGeom>
        </p:spPr>
        <p:txBody>
          <a:bodyPr wrap="none">
            <a:spAutoFit/>
          </a:bodyPr>
          <a:lstStyle/>
          <a:p>
            <a:r>
              <a:rPr lang="en-US" sz="2400" dirty="0" err="1"/>
              <a:t>Underfitting</a:t>
            </a:r>
            <a:endParaRPr lang="en-US" sz="2400" dirty="0"/>
          </a:p>
        </p:txBody>
      </p:sp>
      <p:sp>
        <p:nvSpPr>
          <p:cNvPr id="178" name="Rectangle 177"/>
          <p:cNvSpPr/>
          <p:nvPr/>
        </p:nvSpPr>
        <p:spPr>
          <a:xfrm>
            <a:off x="6845099" y="772915"/>
            <a:ext cx="1587294" cy="461665"/>
          </a:xfrm>
          <a:prstGeom prst="rect">
            <a:avLst/>
          </a:prstGeom>
        </p:spPr>
        <p:txBody>
          <a:bodyPr wrap="none">
            <a:spAutoFit/>
          </a:bodyPr>
          <a:lstStyle/>
          <a:p>
            <a:r>
              <a:rPr lang="en-US" sz="2400" dirty="0"/>
              <a:t>Overfitting</a:t>
            </a:r>
          </a:p>
        </p:txBody>
      </p:sp>
      <p:grpSp>
        <p:nvGrpSpPr>
          <p:cNvPr id="28" name="Group 27"/>
          <p:cNvGrpSpPr/>
          <p:nvPr/>
        </p:nvGrpSpPr>
        <p:grpSpPr>
          <a:xfrm>
            <a:off x="995610" y="1573209"/>
            <a:ext cx="6234683" cy="1627192"/>
            <a:chOff x="652239" y="2226469"/>
            <a:chExt cx="8241774" cy="2167461"/>
          </a:xfrm>
        </p:grpSpPr>
        <p:grpSp>
          <p:nvGrpSpPr>
            <p:cNvPr id="29" name="Group 28"/>
            <p:cNvGrpSpPr/>
            <p:nvPr/>
          </p:nvGrpSpPr>
          <p:grpSpPr>
            <a:xfrm>
              <a:off x="652239" y="2233014"/>
              <a:ext cx="2397907" cy="2160916"/>
              <a:chOff x="1392701" y="2302716"/>
              <a:chExt cx="4438256" cy="3999610"/>
            </a:xfrm>
          </p:grpSpPr>
          <p:cxnSp>
            <p:nvCxnSpPr>
              <p:cNvPr id="5" name="Straight Connector 4"/>
              <p:cNvCxnSpPr/>
              <p:nvPr/>
            </p:nvCxnSpPr>
            <p:spPr>
              <a:xfrm>
                <a:off x="1645920" y="2841674"/>
                <a:ext cx="0" cy="3460652"/>
              </a:xfrm>
              <a:prstGeom prst="line">
                <a:avLst/>
              </a:prstGeom>
              <a:ln w="38100">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flipV="1">
                <a:off x="1392701" y="5901400"/>
                <a:ext cx="4438256" cy="1"/>
              </a:xfrm>
              <a:prstGeom prst="line">
                <a:avLst/>
              </a:prstGeom>
              <a:ln w="3810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9" name="Multiply 8"/>
              <p:cNvSpPr/>
              <p:nvPr/>
            </p:nvSpPr>
            <p:spPr>
              <a:xfrm>
                <a:off x="2901848" y="3211917"/>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 name="Isosceles Triangle 9"/>
              <p:cNvSpPr/>
              <p:nvPr/>
            </p:nvSpPr>
            <p:spPr>
              <a:xfrm>
                <a:off x="2954963" y="539366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Isosceles Triangle 10"/>
              <p:cNvSpPr/>
              <p:nvPr/>
            </p:nvSpPr>
            <p:spPr>
              <a:xfrm>
                <a:off x="2031610" y="5198996"/>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Multiply 11"/>
              <p:cNvSpPr/>
              <p:nvPr/>
            </p:nvSpPr>
            <p:spPr>
              <a:xfrm>
                <a:off x="4192171" y="300505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3" name="Multiply 12"/>
              <p:cNvSpPr/>
              <p:nvPr/>
            </p:nvSpPr>
            <p:spPr>
              <a:xfrm>
                <a:off x="4822962" y="400129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4" name="Multiply 13"/>
              <p:cNvSpPr/>
              <p:nvPr/>
            </p:nvSpPr>
            <p:spPr>
              <a:xfrm>
                <a:off x="3855561" y="4185823"/>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 name="Multiply 14"/>
              <p:cNvSpPr/>
              <p:nvPr/>
            </p:nvSpPr>
            <p:spPr>
              <a:xfrm>
                <a:off x="5024686" y="3316776"/>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 name="Isosceles Triangle 15"/>
              <p:cNvSpPr/>
              <p:nvPr/>
            </p:nvSpPr>
            <p:spPr>
              <a:xfrm>
                <a:off x="2000886" y="422016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Isosceles Triangle 16"/>
              <p:cNvSpPr/>
              <p:nvPr/>
            </p:nvSpPr>
            <p:spPr>
              <a:xfrm>
                <a:off x="2595837" y="4608641"/>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Isosceles Triangle 17"/>
              <p:cNvSpPr/>
              <p:nvPr/>
            </p:nvSpPr>
            <p:spPr>
              <a:xfrm>
                <a:off x="3500596" y="473539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Isosceles Triangle 18"/>
              <p:cNvSpPr/>
              <p:nvPr/>
            </p:nvSpPr>
            <p:spPr>
              <a:xfrm>
                <a:off x="1671515" y="345521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Isosceles Triangle 19"/>
              <p:cNvSpPr/>
              <p:nvPr/>
            </p:nvSpPr>
            <p:spPr>
              <a:xfrm>
                <a:off x="3834747" y="364856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1" name="Multiply 20"/>
              <p:cNvSpPr/>
              <p:nvPr/>
            </p:nvSpPr>
            <p:spPr>
              <a:xfrm>
                <a:off x="3546328" y="337228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22" name="Multiply 21"/>
              <p:cNvSpPr/>
              <p:nvPr/>
            </p:nvSpPr>
            <p:spPr>
              <a:xfrm>
                <a:off x="4224374" y="391480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23" name="Isosceles Triangle 22"/>
              <p:cNvSpPr/>
              <p:nvPr/>
            </p:nvSpPr>
            <p:spPr>
              <a:xfrm>
                <a:off x="2842693" y="4109027"/>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Multiply 23"/>
              <p:cNvSpPr/>
              <p:nvPr/>
            </p:nvSpPr>
            <p:spPr>
              <a:xfrm>
                <a:off x="3396834" y="267379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27" name="Multiply 26"/>
              <p:cNvSpPr/>
              <p:nvPr/>
            </p:nvSpPr>
            <p:spPr>
              <a:xfrm>
                <a:off x="4872543" y="453676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52" name="Multiply 51"/>
              <p:cNvSpPr/>
              <p:nvPr/>
            </p:nvSpPr>
            <p:spPr>
              <a:xfrm>
                <a:off x="2743946" y="2302716"/>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53" name="Isosceles Triangle 52"/>
              <p:cNvSpPr/>
              <p:nvPr/>
            </p:nvSpPr>
            <p:spPr>
              <a:xfrm>
                <a:off x="1893705" y="2655276"/>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Isosceles Triangle 53"/>
              <p:cNvSpPr/>
              <p:nvPr/>
            </p:nvSpPr>
            <p:spPr>
              <a:xfrm>
                <a:off x="4646405" y="489191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Multiply 54"/>
              <p:cNvSpPr/>
              <p:nvPr/>
            </p:nvSpPr>
            <p:spPr>
              <a:xfrm>
                <a:off x="3230265" y="389377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56" name="Isosceles Triangle 55"/>
              <p:cNvSpPr/>
              <p:nvPr/>
            </p:nvSpPr>
            <p:spPr>
              <a:xfrm>
                <a:off x="2207876" y="3066341"/>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4" name="Isosceles Triangle 83"/>
              <p:cNvSpPr/>
              <p:nvPr/>
            </p:nvSpPr>
            <p:spPr>
              <a:xfrm>
                <a:off x="4101272" y="5155012"/>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5" name="Multiply 84"/>
              <p:cNvSpPr/>
              <p:nvPr/>
            </p:nvSpPr>
            <p:spPr>
              <a:xfrm>
                <a:off x="2806852" y="367189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grpSp>
        <p:grpSp>
          <p:nvGrpSpPr>
            <p:cNvPr id="86" name="Group 85"/>
            <p:cNvGrpSpPr/>
            <p:nvPr/>
          </p:nvGrpSpPr>
          <p:grpSpPr>
            <a:xfrm>
              <a:off x="3613611" y="2226469"/>
              <a:ext cx="2397907" cy="2160916"/>
              <a:chOff x="1392701" y="2302716"/>
              <a:chExt cx="4438256" cy="3999610"/>
            </a:xfrm>
          </p:grpSpPr>
          <p:cxnSp>
            <p:nvCxnSpPr>
              <p:cNvPr id="87" name="Straight Connector 86"/>
              <p:cNvCxnSpPr/>
              <p:nvPr/>
            </p:nvCxnSpPr>
            <p:spPr>
              <a:xfrm>
                <a:off x="1645920" y="2841674"/>
                <a:ext cx="0" cy="3460652"/>
              </a:xfrm>
              <a:prstGeom prst="line">
                <a:avLst/>
              </a:prstGeom>
              <a:ln w="38100">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p:cNvCxnSpPr/>
              <p:nvPr/>
            </p:nvCxnSpPr>
            <p:spPr>
              <a:xfrm flipV="1">
                <a:off x="1392701" y="5901399"/>
                <a:ext cx="4438256" cy="1"/>
              </a:xfrm>
              <a:prstGeom prst="line">
                <a:avLst/>
              </a:prstGeom>
              <a:ln w="3810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91" name="Multiply 90"/>
              <p:cNvSpPr/>
              <p:nvPr/>
            </p:nvSpPr>
            <p:spPr>
              <a:xfrm>
                <a:off x="2901848" y="3211917"/>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92" name="Isosceles Triangle 91"/>
              <p:cNvSpPr/>
              <p:nvPr/>
            </p:nvSpPr>
            <p:spPr>
              <a:xfrm>
                <a:off x="2954963" y="539366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3" name="Isosceles Triangle 92"/>
              <p:cNvSpPr/>
              <p:nvPr/>
            </p:nvSpPr>
            <p:spPr>
              <a:xfrm>
                <a:off x="2031610" y="5198996"/>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4" name="Multiply 93"/>
              <p:cNvSpPr/>
              <p:nvPr/>
            </p:nvSpPr>
            <p:spPr>
              <a:xfrm>
                <a:off x="4192171" y="300505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95" name="Multiply 94"/>
              <p:cNvSpPr/>
              <p:nvPr/>
            </p:nvSpPr>
            <p:spPr>
              <a:xfrm>
                <a:off x="4822962" y="400129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96" name="Multiply 95"/>
              <p:cNvSpPr/>
              <p:nvPr/>
            </p:nvSpPr>
            <p:spPr>
              <a:xfrm>
                <a:off x="3855561" y="4185823"/>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97" name="Multiply 96"/>
              <p:cNvSpPr/>
              <p:nvPr/>
            </p:nvSpPr>
            <p:spPr>
              <a:xfrm>
                <a:off x="5024686" y="3316776"/>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98" name="Isosceles Triangle 97"/>
              <p:cNvSpPr/>
              <p:nvPr/>
            </p:nvSpPr>
            <p:spPr>
              <a:xfrm>
                <a:off x="2000886" y="422016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9" name="Isosceles Triangle 98"/>
              <p:cNvSpPr/>
              <p:nvPr/>
            </p:nvSpPr>
            <p:spPr>
              <a:xfrm>
                <a:off x="2595837" y="4608641"/>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0" name="Isosceles Triangle 99"/>
              <p:cNvSpPr/>
              <p:nvPr/>
            </p:nvSpPr>
            <p:spPr>
              <a:xfrm>
                <a:off x="3500596" y="473539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1" name="Isosceles Triangle 100"/>
              <p:cNvSpPr/>
              <p:nvPr/>
            </p:nvSpPr>
            <p:spPr>
              <a:xfrm>
                <a:off x="1671515" y="345521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2" name="Isosceles Triangle 101"/>
              <p:cNvSpPr/>
              <p:nvPr/>
            </p:nvSpPr>
            <p:spPr>
              <a:xfrm>
                <a:off x="3834747" y="364856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3" name="Multiply 102"/>
              <p:cNvSpPr/>
              <p:nvPr/>
            </p:nvSpPr>
            <p:spPr>
              <a:xfrm>
                <a:off x="3546328" y="337228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4" name="Multiply 103"/>
              <p:cNvSpPr/>
              <p:nvPr/>
            </p:nvSpPr>
            <p:spPr>
              <a:xfrm>
                <a:off x="4224374" y="391480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5" name="Isosceles Triangle 104"/>
              <p:cNvSpPr/>
              <p:nvPr/>
            </p:nvSpPr>
            <p:spPr>
              <a:xfrm>
                <a:off x="2842693" y="4109027"/>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6" name="Multiply 105"/>
              <p:cNvSpPr/>
              <p:nvPr/>
            </p:nvSpPr>
            <p:spPr>
              <a:xfrm>
                <a:off x="3396834" y="267379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7" name="Multiply 106"/>
              <p:cNvSpPr/>
              <p:nvPr/>
            </p:nvSpPr>
            <p:spPr>
              <a:xfrm>
                <a:off x="4872543" y="453676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8" name="Multiply 107"/>
              <p:cNvSpPr/>
              <p:nvPr/>
            </p:nvSpPr>
            <p:spPr>
              <a:xfrm>
                <a:off x="2743946" y="2302716"/>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09" name="Isosceles Triangle 108"/>
              <p:cNvSpPr/>
              <p:nvPr/>
            </p:nvSpPr>
            <p:spPr>
              <a:xfrm>
                <a:off x="1893705" y="2655276"/>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0" name="Isosceles Triangle 109"/>
              <p:cNvSpPr/>
              <p:nvPr/>
            </p:nvSpPr>
            <p:spPr>
              <a:xfrm>
                <a:off x="4646405" y="489191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1" name="Multiply 110"/>
              <p:cNvSpPr/>
              <p:nvPr/>
            </p:nvSpPr>
            <p:spPr>
              <a:xfrm>
                <a:off x="3230265" y="389377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12" name="Isosceles Triangle 111"/>
              <p:cNvSpPr/>
              <p:nvPr/>
            </p:nvSpPr>
            <p:spPr>
              <a:xfrm>
                <a:off x="2207876" y="3066341"/>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3" name="Isosceles Triangle 112"/>
              <p:cNvSpPr/>
              <p:nvPr/>
            </p:nvSpPr>
            <p:spPr>
              <a:xfrm>
                <a:off x="4101272" y="5155012"/>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4" name="Multiply 113"/>
              <p:cNvSpPr/>
              <p:nvPr/>
            </p:nvSpPr>
            <p:spPr>
              <a:xfrm>
                <a:off x="2806852" y="367189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grpSp>
        <p:grpSp>
          <p:nvGrpSpPr>
            <p:cNvPr id="145" name="Group 144"/>
            <p:cNvGrpSpPr/>
            <p:nvPr/>
          </p:nvGrpSpPr>
          <p:grpSpPr>
            <a:xfrm>
              <a:off x="6496106" y="2226469"/>
              <a:ext cx="2397907" cy="2160916"/>
              <a:chOff x="1392701" y="2302716"/>
              <a:chExt cx="4438256" cy="3999610"/>
            </a:xfrm>
          </p:grpSpPr>
          <p:cxnSp>
            <p:nvCxnSpPr>
              <p:cNvPr id="146" name="Straight Connector 145"/>
              <p:cNvCxnSpPr/>
              <p:nvPr/>
            </p:nvCxnSpPr>
            <p:spPr>
              <a:xfrm>
                <a:off x="1645920" y="2841674"/>
                <a:ext cx="0" cy="3460652"/>
              </a:xfrm>
              <a:prstGeom prst="line">
                <a:avLst/>
              </a:prstGeom>
              <a:ln w="38100">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147" name="Straight Connector 146"/>
              <p:cNvCxnSpPr/>
              <p:nvPr/>
            </p:nvCxnSpPr>
            <p:spPr>
              <a:xfrm flipV="1">
                <a:off x="1392701" y="5901400"/>
                <a:ext cx="4438256" cy="1"/>
              </a:xfrm>
              <a:prstGeom prst="line">
                <a:avLst/>
              </a:prstGeom>
              <a:ln w="3810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50" name="Multiply 149"/>
              <p:cNvSpPr/>
              <p:nvPr/>
            </p:nvSpPr>
            <p:spPr>
              <a:xfrm>
                <a:off x="2901848" y="3211917"/>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1" name="Isosceles Triangle 150"/>
              <p:cNvSpPr/>
              <p:nvPr/>
            </p:nvSpPr>
            <p:spPr>
              <a:xfrm>
                <a:off x="2954963" y="539366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2" name="Isosceles Triangle 151"/>
              <p:cNvSpPr/>
              <p:nvPr/>
            </p:nvSpPr>
            <p:spPr>
              <a:xfrm>
                <a:off x="2031610" y="5198996"/>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3" name="Multiply 152"/>
              <p:cNvSpPr/>
              <p:nvPr/>
            </p:nvSpPr>
            <p:spPr>
              <a:xfrm>
                <a:off x="4192171" y="300505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4" name="Multiply 153"/>
              <p:cNvSpPr/>
              <p:nvPr/>
            </p:nvSpPr>
            <p:spPr>
              <a:xfrm>
                <a:off x="4822962" y="4001294"/>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5" name="Multiply 154"/>
              <p:cNvSpPr/>
              <p:nvPr/>
            </p:nvSpPr>
            <p:spPr>
              <a:xfrm>
                <a:off x="3855561" y="4185823"/>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6" name="Multiply 155"/>
              <p:cNvSpPr/>
              <p:nvPr/>
            </p:nvSpPr>
            <p:spPr>
              <a:xfrm>
                <a:off x="5024686" y="3316776"/>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57" name="Isosceles Triangle 156"/>
              <p:cNvSpPr/>
              <p:nvPr/>
            </p:nvSpPr>
            <p:spPr>
              <a:xfrm>
                <a:off x="2000886" y="422016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8" name="Isosceles Triangle 157"/>
              <p:cNvSpPr/>
              <p:nvPr/>
            </p:nvSpPr>
            <p:spPr>
              <a:xfrm>
                <a:off x="2595837" y="4608641"/>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9" name="Isosceles Triangle 158"/>
              <p:cNvSpPr/>
              <p:nvPr/>
            </p:nvSpPr>
            <p:spPr>
              <a:xfrm>
                <a:off x="3500596" y="4735394"/>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0" name="Isosceles Triangle 159"/>
              <p:cNvSpPr/>
              <p:nvPr/>
            </p:nvSpPr>
            <p:spPr>
              <a:xfrm>
                <a:off x="1671515" y="3455218"/>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1" name="Isosceles Triangle 160"/>
              <p:cNvSpPr/>
              <p:nvPr/>
            </p:nvSpPr>
            <p:spPr>
              <a:xfrm>
                <a:off x="3834747" y="364856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2" name="Multiply 161"/>
              <p:cNvSpPr/>
              <p:nvPr/>
            </p:nvSpPr>
            <p:spPr>
              <a:xfrm>
                <a:off x="3546328" y="3372289"/>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3" name="Multiply 162"/>
              <p:cNvSpPr/>
              <p:nvPr/>
            </p:nvSpPr>
            <p:spPr>
              <a:xfrm>
                <a:off x="4224374" y="391480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4" name="Isosceles Triangle 163"/>
              <p:cNvSpPr/>
              <p:nvPr/>
            </p:nvSpPr>
            <p:spPr>
              <a:xfrm>
                <a:off x="2842693" y="4109027"/>
                <a:ext cx="422031" cy="3727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5" name="Multiply 164"/>
              <p:cNvSpPr/>
              <p:nvPr/>
            </p:nvSpPr>
            <p:spPr>
              <a:xfrm>
                <a:off x="3396834" y="2673792"/>
                <a:ext cx="422031" cy="372794"/>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6" name="Multiply 165"/>
              <p:cNvSpPr/>
              <p:nvPr/>
            </p:nvSpPr>
            <p:spPr>
              <a:xfrm>
                <a:off x="4872543" y="4536762"/>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7" name="Multiply 166"/>
              <p:cNvSpPr/>
              <p:nvPr/>
            </p:nvSpPr>
            <p:spPr>
              <a:xfrm>
                <a:off x="2743946" y="2302716"/>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68" name="Isosceles Triangle 167"/>
              <p:cNvSpPr/>
              <p:nvPr/>
            </p:nvSpPr>
            <p:spPr>
              <a:xfrm>
                <a:off x="1893705" y="2655276"/>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9" name="Isosceles Triangle 168"/>
              <p:cNvSpPr/>
              <p:nvPr/>
            </p:nvSpPr>
            <p:spPr>
              <a:xfrm>
                <a:off x="4646405" y="4891910"/>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0" name="Multiply 169"/>
              <p:cNvSpPr/>
              <p:nvPr/>
            </p:nvSpPr>
            <p:spPr>
              <a:xfrm>
                <a:off x="3230265" y="389377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sp>
            <p:nvSpPr>
              <p:cNvPr id="171" name="Isosceles Triangle 170"/>
              <p:cNvSpPr/>
              <p:nvPr/>
            </p:nvSpPr>
            <p:spPr>
              <a:xfrm>
                <a:off x="2207876" y="3066341"/>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2" name="Isosceles Triangle 171"/>
              <p:cNvSpPr/>
              <p:nvPr/>
            </p:nvSpPr>
            <p:spPr>
              <a:xfrm>
                <a:off x="4101272" y="5155012"/>
                <a:ext cx="422031" cy="3727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3" name="Multiply 172"/>
              <p:cNvSpPr/>
              <p:nvPr/>
            </p:nvSpPr>
            <p:spPr>
              <a:xfrm>
                <a:off x="2806852" y="3671898"/>
                <a:ext cx="422031" cy="37279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FF0000"/>
                  </a:solidFill>
                </a:endParaRPr>
              </a:p>
            </p:txBody>
          </p:sp>
        </p:grpSp>
        <p:cxnSp>
          <p:nvCxnSpPr>
            <p:cNvPr id="180" name="Straight Connector 179"/>
            <p:cNvCxnSpPr/>
            <p:nvPr/>
          </p:nvCxnSpPr>
          <p:spPr>
            <a:xfrm>
              <a:off x="1096072" y="2303348"/>
              <a:ext cx="1592781" cy="1837517"/>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81" name="Freeform 180"/>
            <p:cNvSpPr/>
            <p:nvPr/>
          </p:nvSpPr>
          <p:spPr>
            <a:xfrm>
              <a:off x="4245429" y="2245179"/>
              <a:ext cx="1758043" cy="1540329"/>
            </a:xfrm>
            <a:custGeom>
              <a:avLst/>
              <a:gdLst>
                <a:gd name="connsiteX0" fmla="*/ 0 w 2540000"/>
                <a:gd name="connsiteY0" fmla="*/ 0 h 2068286"/>
                <a:gd name="connsiteX1" fmla="*/ 493486 w 2540000"/>
                <a:gd name="connsiteY1" fmla="*/ 1211943 h 2068286"/>
                <a:gd name="connsiteX2" fmla="*/ 2540000 w 2540000"/>
                <a:gd name="connsiteY2" fmla="*/ 2068286 h 2068286"/>
                <a:gd name="connsiteX0" fmla="*/ 0 w 2540000"/>
                <a:gd name="connsiteY0" fmla="*/ 0 h 2068286"/>
                <a:gd name="connsiteX1" fmla="*/ 870858 w 2540000"/>
                <a:gd name="connsiteY1" fmla="*/ 1444172 h 2068286"/>
                <a:gd name="connsiteX2" fmla="*/ 2540000 w 2540000"/>
                <a:gd name="connsiteY2" fmla="*/ 2068286 h 2068286"/>
                <a:gd name="connsiteX0" fmla="*/ 0 w 2264228"/>
                <a:gd name="connsiteY0" fmla="*/ 0 h 2046515"/>
                <a:gd name="connsiteX1" fmla="*/ 595086 w 2264228"/>
                <a:gd name="connsiteY1" fmla="*/ 1422401 h 2046515"/>
                <a:gd name="connsiteX2" fmla="*/ 2264228 w 2264228"/>
                <a:gd name="connsiteY2" fmla="*/ 2046515 h 2046515"/>
                <a:gd name="connsiteX0" fmla="*/ 0 w 2264228"/>
                <a:gd name="connsiteY0" fmla="*/ 0 h 2046515"/>
                <a:gd name="connsiteX1" fmla="*/ 595086 w 2264228"/>
                <a:gd name="connsiteY1" fmla="*/ 1465944 h 2046515"/>
                <a:gd name="connsiteX2" fmla="*/ 2264228 w 2264228"/>
                <a:gd name="connsiteY2" fmla="*/ 2046515 h 2046515"/>
                <a:gd name="connsiteX0" fmla="*/ 0 w 2344057"/>
                <a:gd name="connsiteY0" fmla="*/ 0 h 2053772"/>
                <a:gd name="connsiteX1" fmla="*/ 595086 w 2344057"/>
                <a:gd name="connsiteY1" fmla="*/ 1465944 h 2053772"/>
                <a:gd name="connsiteX2" fmla="*/ 2344057 w 2344057"/>
                <a:gd name="connsiteY2" fmla="*/ 2053772 h 2053772"/>
                <a:gd name="connsiteX0" fmla="*/ 0 w 2344057"/>
                <a:gd name="connsiteY0" fmla="*/ 0 h 2053772"/>
                <a:gd name="connsiteX1" fmla="*/ 116114 w 2344057"/>
                <a:gd name="connsiteY1" fmla="*/ 1045028 h 2053772"/>
                <a:gd name="connsiteX2" fmla="*/ 595086 w 2344057"/>
                <a:gd name="connsiteY2" fmla="*/ 1465944 h 2053772"/>
                <a:gd name="connsiteX3" fmla="*/ 2344057 w 2344057"/>
                <a:gd name="connsiteY3" fmla="*/ 2053772 h 2053772"/>
                <a:gd name="connsiteX0" fmla="*/ 0 w 2344057"/>
                <a:gd name="connsiteY0" fmla="*/ 0 h 2053772"/>
                <a:gd name="connsiteX1" fmla="*/ 116114 w 2344057"/>
                <a:gd name="connsiteY1" fmla="*/ 1045028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Lst>
              <a:ahLst/>
              <a:cxnLst>
                <a:cxn ang="0">
                  <a:pos x="connsiteX0" y="connsiteY0"/>
                </a:cxn>
                <a:cxn ang="0">
                  <a:pos x="connsiteX1" y="connsiteY1"/>
                </a:cxn>
                <a:cxn ang="0">
                  <a:pos x="connsiteX2" y="connsiteY2"/>
                </a:cxn>
                <a:cxn ang="0">
                  <a:pos x="connsiteX3" y="connsiteY3"/>
                </a:cxn>
              </a:cxnLst>
              <a:rect l="l" t="t" r="r" b="b"/>
              <a:pathLst>
                <a:path w="2344057" h="2053772">
                  <a:moveTo>
                    <a:pt x="0" y="0"/>
                  </a:moveTo>
                  <a:cubicBezTo>
                    <a:pt x="42333" y="158448"/>
                    <a:pt x="67733" y="524932"/>
                    <a:pt x="116114" y="732970"/>
                  </a:cubicBezTo>
                  <a:cubicBezTo>
                    <a:pt x="193523" y="1274836"/>
                    <a:pt x="470504" y="1340153"/>
                    <a:pt x="841828" y="1560287"/>
                  </a:cubicBezTo>
                  <a:cubicBezTo>
                    <a:pt x="1213152" y="1780421"/>
                    <a:pt x="1532466" y="1797957"/>
                    <a:pt x="2344057" y="2053772"/>
                  </a:cubicBezTo>
                </a:path>
              </a:pathLst>
            </a:cu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2" name="Freeform 181"/>
            <p:cNvSpPr/>
            <p:nvPr/>
          </p:nvSpPr>
          <p:spPr>
            <a:xfrm>
              <a:off x="7108248" y="2266667"/>
              <a:ext cx="1730828" cy="1595051"/>
            </a:xfrm>
            <a:custGeom>
              <a:avLst/>
              <a:gdLst>
                <a:gd name="connsiteX0" fmla="*/ 0 w 2540000"/>
                <a:gd name="connsiteY0" fmla="*/ 0 h 2068286"/>
                <a:gd name="connsiteX1" fmla="*/ 493486 w 2540000"/>
                <a:gd name="connsiteY1" fmla="*/ 1211943 h 2068286"/>
                <a:gd name="connsiteX2" fmla="*/ 2540000 w 2540000"/>
                <a:gd name="connsiteY2" fmla="*/ 2068286 h 2068286"/>
                <a:gd name="connsiteX0" fmla="*/ 0 w 2540000"/>
                <a:gd name="connsiteY0" fmla="*/ 0 h 2068286"/>
                <a:gd name="connsiteX1" fmla="*/ 870858 w 2540000"/>
                <a:gd name="connsiteY1" fmla="*/ 1444172 h 2068286"/>
                <a:gd name="connsiteX2" fmla="*/ 2540000 w 2540000"/>
                <a:gd name="connsiteY2" fmla="*/ 2068286 h 2068286"/>
                <a:gd name="connsiteX0" fmla="*/ 0 w 2264228"/>
                <a:gd name="connsiteY0" fmla="*/ 0 h 2046515"/>
                <a:gd name="connsiteX1" fmla="*/ 595086 w 2264228"/>
                <a:gd name="connsiteY1" fmla="*/ 1422401 h 2046515"/>
                <a:gd name="connsiteX2" fmla="*/ 2264228 w 2264228"/>
                <a:gd name="connsiteY2" fmla="*/ 2046515 h 2046515"/>
                <a:gd name="connsiteX0" fmla="*/ 0 w 2264228"/>
                <a:gd name="connsiteY0" fmla="*/ 0 h 2046515"/>
                <a:gd name="connsiteX1" fmla="*/ 595086 w 2264228"/>
                <a:gd name="connsiteY1" fmla="*/ 1465944 h 2046515"/>
                <a:gd name="connsiteX2" fmla="*/ 2264228 w 2264228"/>
                <a:gd name="connsiteY2" fmla="*/ 2046515 h 2046515"/>
                <a:gd name="connsiteX0" fmla="*/ 0 w 2344057"/>
                <a:gd name="connsiteY0" fmla="*/ 0 h 2053772"/>
                <a:gd name="connsiteX1" fmla="*/ 595086 w 2344057"/>
                <a:gd name="connsiteY1" fmla="*/ 1465944 h 2053772"/>
                <a:gd name="connsiteX2" fmla="*/ 2344057 w 2344057"/>
                <a:gd name="connsiteY2" fmla="*/ 2053772 h 2053772"/>
                <a:gd name="connsiteX0" fmla="*/ 0 w 2344057"/>
                <a:gd name="connsiteY0" fmla="*/ 0 h 2053772"/>
                <a:gd name="connsiteX1" fmla="*/ 116114 w 2344057"/>
                <a:gd name="connsiteY1" fmla="*/ 1045028 h 2053772"/>
                <a:gd name="connsiteX2" fmla="*/ 595086 w 2344057"/>
                <a:gd name="connsiteY2" fmla="*/ 1465944 h 2053772"/>
                <a:gd name="connsiteX3" fmla="*/ 2344057 w 2344057"/>
                <a:gd name="connsiteY3" fmla="*/ 2053772 h 2053772"/>
                <a:gd name="connsiteX0" fmla="*/ 0 w 2344057"/>
                <a:gd name="connsiteY0" fmla="*/ 0 h 2053772"/>
                <a:gd name="connsiteX1" fmla="*/ 116114 w 2344057"/>
                <a:gd name="connsiteY1" fmla="*/ 1045028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16114 w 2344057"/>
                <a:gd name="connsiteY1" fmla="*/ 732970 h 2053772"/>
                <a:gd name="connsiteX2" fmla="*/ 841828 w 2344057"/>
                <a:gd name="connsiteY2" fmla="*/ 1560287 h 2053772"/>
                <a:gd name="connsiteX3" fmla="*/ 2344057 w 2344057"/>
                <a:gd name="connsiteY3" fmla="*/ 2053772 h 2053772"/>
                <a:gd name="connsiteX0" fmla="*/ 0 w 2344057"/>
                <a:gd name="connsiteY0" fmla="*/ 0 h 2053772"/>
                <a:gd name="connsiteX1" fmla="*/ 188685 w 2344057"/>
                <a:gd name="connsiteY1" fmla="*/ 428170 h 2053772"/>
                <a:gd name="connsiteX2" fmla="*/ 841828 w 2344057"/>
                <a:gd name="connsiteY2" fmla="*/ 1560287 h 2053772"/>
                <a:gd name="connsiteX3" fmla="*/ 2344057 w 2344057"/>
                <a:gd name="connsiteY3" fmla="*/ 2053772 h 2053772"/>
                <a:gd name="connsiteX0" fmla="*/ 0 w 2344057"/>
                <a:gd name="connsiteY0" fmla="*/ 0 h 2053772"/>
                <a:gd name="connsiteX1" fmla="*/ 188685 w 2344057"/>
                <a:gd name="connsiteY1" fmla="*/ 428170 h 2053772"/>
                <a:gd name="connsiteX2" fmla="*/ 841828 w 2344057"/>
                <a:gd name="connsiteY2" fmla="*/ 1560287 h 2053772"/>
                <a:gd name="connsiteX3" fmla="*/ 2344057 w 2344057"/>
                <a:gd name="connsiteY3"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841828 w 2344057"/>
                <a:gd name="connsiteY3" fmla="*/ 1560287 h 2053772"/>
                <a:gd name="connsiteX4" fmla="*/ 2344057 w 2344057"/>
                <a:gd name="connsiteY4"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841828 w 2344057"/>
                <a:gd name="connsiteY3" fmla="*/ 1560287 h 2053772"/>
                <a:gd name="connsiteX4" fmla="*/ 2344057 w 2344057"/>
                <a:gd name="connsiteY4"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41828 w 2344057"/>
                <a:gd name="connsiteY4" fmla="*/ 1560287 h 2053772"/>
                <a:gd name="connsiteX5" fmla="*/ 2344057 w 2344057"/>
                <a:gd name="connsiteY5"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2344057 w 2344057"/>
                <a:gd name="connsiteY5"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2344057 w 2344057"/>
                <a:gd name="connsiteY5"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2344057 w 2344057"/>
                <a:gd name="connsiteY6"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313708 w 2344057"/>
                <a:gd name="connsiteY6" fmla="*/ 1553406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313708 w 2344057"/>
                <a:gd name="connsiteY6" fmla="*/ 1553406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26623 w 2344057"/>
                <a:gd name="connsiteY6" fmla="*/ 1313920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26623 w 2344057"/>
                <a:gd name="connsiteY6" fmla="*/ 1313920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132280 w 2344057"/>
                <a:gd name="connsiteY6" fmla="*/ 1386491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132280 w 2344057"/>
                <a:gd name="connsiteY6" fmla="*/ 1386491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132280 w 2344057"/>
                <a:gd name="connsiteY6" fmla="*/ 1386491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936337 w 2344057"/>
                <a:gd name="connsiteY6" fmla="*/ 1430034 h 2053772"/>
                <a:gd name="connsiteX7" fmla="*/ 2344057 w 2344057"/>
                <a:gd name="connsiteY7"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936337 w 2344057"/>
                <a:gd name="connsiteY6" fmla="*/ 1430034 h 2053772"/>
                <a:gd name="connsiteX7" fmla="*/ 1400794 w 2344057"/>
                <a:gd name="connsiteY7" fmla="*/ 1459063 h 2053772"/>
                <a:gd name="connsiteX8" fmla="*/ 2344057 w 2344057"/>
                <a:gd name="connsiteY8"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936337 w 2344057"/>
                <a:gd name="connsiteY6" fmla="*/ 1430034 h 2053772"/>
                <a:gd name="connsiteX7" fmla="*/ 1400794 w 2344057"/>
                <a:gd name="connsiteY7" fmla="*/ 1459063 h 2053772"/>
                <a:gd name="connsiteX8" fmla="*/ 2344057 w 2344057"/>
                <a:gd name="connsiteY8"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936337 w 2344057"/>
                <a:gd name="connsiteY6" fmla="*/ 1430034 h 2053772"/>
                <a:gd name="connsiteX7" fmla="*/ 1400794 w 2344057"/>
                <a:gd name="connsiteY7" fmla="*/ 1459063 h 2053772"/>
                <a:gd name="connsiteX8" fmla="*/ 2344057 w 2344057"/>
                <a:gd name="connsiteY8"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12108 w 2344057"/>
                <a:gd name="connsiteY6" fmla="*/ 1212320 h 2053772"/>
                <a:gd name="connsiteX7" fmla="*/ 936337 w 2344057"/>
                <a:gd name="connsiteY7" fmla="*/ 1430034 h 2053772"/>
                <a:gd name="connsiteX8" fmla="*/ 1400794 w 2344057"/>
                <a:gd name="connsiteY8" fmla="*/ 1459063 h 2053772"/>
                <a:gd name="connsiteX9" fmla="*/ 2344057 w 2344057"/>
                <a:gd name="connsiteY9"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12108 w 2344057"/>
                <a:gd name="connsiteY6" fmla="*/ 1212320 h 2053772"/>
                <a:gd name="connsiteX7" fmla="*/ 936337 w 2344057"/>
                <a:gd name="connsiteY7" fmla="*/ 1430034 h 2053772"/>
                <a:gd name="connsiteX8" fmla="*/ 1400794 w 2344057"/>
                <a:gd name="connsiteY8" fmla="*/ 1459063 h 2053772"/>
                <a:gd name="connsiteX9" fmla="*/ 1582223 w 2344057"/>
                <a:gd name="connsiteY9" fmla="*/ 1379234 h 2053772"/>
                <a:gd name="connsiteX10" fmla="*/ 2344057 w 2344057"/>
                <a:gd name="connsiteY10"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12108 w 2344057"/>
                <a:gd name="connsiteY6" fmla="*/ 1212320 h 2053772"/>
                <a:gd name="connsiteX7" fmla="*/ 936337 w 2344057"/>
                <a:gd name="connsiteY7" fmla="*/ 1430034 h 2053772"/>
                <a:gd name="connsiteX8" fmla="*/ 1400794 w 2344057"/>
                <a:gd name="connsiteY8" fmla="*/ 1459063 h 2053772"/>
                <a:gd name="connsiteX9" fmla="*/ 1582223 w 2344057"/>
                <a:gd name="connsiteY9" fmla="*/ 1379234 h 2053772"/>
                <a:gd name="connsiteX10" fmla="*/ 1241137 w 2344057"/>
                <a:gd name="connsiteY10" fmla="*/ 1785634 h 2053772"/>
                <a:gd name="connsiteX11" fmla="*/ 2344057 w 2344057"/>
                <a:gd name="connsiteY11" fmla="*/ 2053772 h 2053772"/>
                <a:gd name="connsiteX0" fmla="*/ 0 w 2344057"/>
                <a:gd name="connsiteY0" fmla="*/ 0 h 2053772"/>
                <a:gd name="connsiteX1" fmla="*/ 188685 w 2344057"/>
                <a:gd name="connsiteY1" fmla="*/ 428170 h 2053772"/>
                <a:gd name="connsiteX2" fmla="*/ 203366 w 2344057"/>
                <a:gd name="connsiteY2" fmla="*/ 1197806 h 2053772"/>
                <a:gd name="connsiteX3" fmla="*/ 653308 w 2344057"/>
                <a:gd name="connsiteY3" fmla="*/ 1437291 h 2053772"/>
                <a:gd name="connsiteX4" fmla="*/ 878113 w 2344057"/>
                <a:gd name="connsiteY4" fmla="*/ 1023258 h 2053772"/>
                <a:gd name="connsiteX5" fmla="*/ 1291937 w 2344057"/>
                <a:gd name="connsiteY5" fmla="*/ 914777 h 2053772"/>
                <a:gd name="connsiteX6" fmla="*/ 1212108 w 2344057"/>
                <a:gd name="connsiteY6" fmla="*/ 1212320 h 2053772"/>
                <a:gd name="connsiteX7" fmla="*/ 936337 w 2344057"/>
                <a:gd name="connsiteY7" fmla="*/ 1430034 h 2053772"/>
                <a:gd name="connsiteX8" fmla="*/ 1400794 w 2344057"/>
                <a:gd name="connsiteY8" fmla="*/ 1459063 h 2053772"/>
                <a:gd name="connsiteX9" fmla="*/ 1582223 w 2344057"/>
                <a:gd name="connsiteY9" fmla="*/ 1379234 h 2053772"/>
                <a:gd name="connsiteX10" fmla="*/ 1241137 w 2344057"/>
                <a:gd name="connsiteY10" fmla="*/ 1785634 h 2053772"/>
                <a:gd name="connsiteX11" fmla="*/ 1683823 w 2344057"/>
                <a:gd name="connsiteY11" fmla="*/ 1800148 h 2053772"/>
                <a:gd name="connsiteX12" fmla="*/ 2344057 w 2344057"/>
                <a:gd name="connsiteY12" fmla="*/ 2053772 h 2053772"/>
                <a:gd name="connsiteX0" fmla="*/ 0 w 2307771"/>
                <a:gd name="connsiteY0" fmla="*/ 0 h 1821958"/>
                <a:gd name="connsiteX1" fmla="*/ 188685 w 2307771"/>
                <a:gd name="connsiteY1" fmla="*/ 428170 h 1821958"/>
                <a:gd name="connsiteX2" fmla="*/ 203366 w 2307771"/>
                <a:gd name="connsiteY2" fmla="*/ 1197806 h 1821958"/>
                <a:gd name="connsiteX3" fmla="*/ 653308 w 2307771"/>
                <a:gd name="connsiteY3" fmla="*/ 1437291 h 1821958"/>
                <a:gd name="connsiteX4" fmla="*/ 878113 w 2307771"/>
                <a:gd name="connsiteY4" fmla="*/ 1023258 h 1821958"/>
                <a:gd name="connsiteX5" fmla="*/ 1291937 w 2307771"/>
                <a:gd name="connsiteY5" fmla="*/ 914777 h 1821958"/>
                <a:gd name="connsiteX6" fmla="*/ 1212108 w 2307771"/>
                <a:gd name="connsiteY6" fmla="*/ 1212320 h 1821958"/>
                <a:gd name="connsiteX7" fmla="*/ 936337 w 2307771"/>
                <a:gd name="connsiteY7" fmla="*/ 1430034 h 1821958"/>
                <a:gd name="connsiteX8" fmla="*/ 1400794 w 2307771"/>
                <a:gd name="connsiteY8" fmla="*/ 1459063 h 1821958"/>
                <a:gd name="connsiteX9" fmla="*/ 1582223 w 2307771"/>
                <a:gd name="connsiteY9" fmla="*/ 1379234 h 1821958"/>
                <a:gd name="connsiteX10" fmla="*/ 1241137 w 2307771"/>
                <a:gd name="connsiteY10" fmla="*/ 1785634 h 1821958"/>
                <a:gd name="connsiteX11" fmla="*/ 1683823 w 2307771"/>
                <a:gd name="connsiteY11" fmla="*/ 1800148 h 1821958"/>
                <a:gd name="connsiteX12" fmla="*/ 2307771 w 2307771"/>
                <a:gd name="connsiteY12" fmla="*/ 1785258 h 1821958"/>
                <a:gd name="connsiteX0" fmla="*/ 0 w 2307771"/>
                <a:gd name="connsiteY0" fmla="*/ 0 h 2126734"/>
                <a:gd name="connsiteX1" fmla="*/ 188685 w 2307771"/>
                <a:gd name="connsiteY1" fmla="*/ 428170 h 2126734"/>
                <a:gd name="connsiteX2" fmla="*/ 203366 w 2307771"/>
                <a:gd name="connsiteY2" fmla="*/ 1197806 h 2126734"/>
                <a:gd name="connsiteX3" fmla="*/ 653308 w 2307771"/>
                <a:gd name="connsiteY3" fmla="*/ 1437291 h 2126734"/>
                <a:gd name="connsiteX4" fmla="*/ 878113 w 2307771"/>
                <a:gd name="connsiteY4" fmla="*/ 1023258 h 2126734"/>
                <a:gd name="connsiteX5" fmla="*/ 1291937 w 2307771"/>
                <a:gd name="connsiteY5" fmla="*/ 914777 h 2126734"/>
                <a:gd name="connsiteX6" fmla="*/ 1212108 w 2307771"/>
                <a:gd name="connsiteY6" fmla="*/ 1212320 h 2126734"/>
                <a:gd name="connsiteX7" fmla="*/ 936337 w 2307771"/>
                <a:gd name="connsiteY7" fmla="*/ 1430034 h 2126734"/>
                <a:gd name="connsiteX8" fmla="*/ 1400794 w 2307771"/>
                <a:gd name="connsiteY8" fmla="*/ 1459063 h 2126734"/>
                <a:gd name="connsiteX9" fmla="*/ 1582223 w 2307771"/>
                <a:gd name="connsiteY9" fmla="*/ 1379234 h 2126734"/>
                <a:gd name="connsiteX10" fmla="*/ 1241137 w 2307771"/>
                <a:gd name="connsiteY10" fmla="*/ 1785634 h 2126734"/>
                <a:gd name="connsiteX11" fmla="*/ 1683823 w 2307771"/>
                <a:gd name="connsiteY11" fmla="*/ 1800148 h 2126734"/>
                <a:gd name="connsiteX12" fmla="*/ 1995880 w 2307771"/>
                <a:gd name="connsiteY12" fmla="*/ 2126720 h 2126734"/>
                <a:gd name="connsiteX13" fmla="*/ 2307771 w 2307771"/>
                <a:gd name="connsiteY13" fmla="*/ 1785258 h 2126734"/>
                <a:gd name="connsiteX0" fmla="*/ 0 w 2307771"/>
                <a:gd name="connsiteY0" fmla="*/ 0 h 2126734"/>
                <a:gd name="connsiteX1" fmla="*/ 188685 w 2307771"/>
                <a:gd name="connsiteY1" fmla="*/ 428170 h 2126734"/>
                <a:gd name="connsiteX2" fmla="*/ 203366 w 2307771"/>
                <a:gd name="connsiteY2" fmla="*/ 1197806 h 2126734"/>
                <a:gd name="connsiteX3" fmla="*/ 653308 w 2307771"/>
                <a:gd name="connsiteY3" fmla="*/ 1437291 h 2126734"/>
                <a:gd name="connsiteX4" fmla="*/ 878113 w 2307771"/>
                <a:gd name="connsiteY4" fmla="*/ 1023258 h 2126734"/>
                <a:gd name="connsiteX5" fmla="*/ 1291937 w 2307771"/>
                <a:gd name="connsiteY5" fmla="*/ 914777 h 2126734"/>
                <a:gd name="connsiteX6" fmla="*/ 1212108 w 2307771"/>
                <a:gd name="connsiteY6" fmla="*/ 1212320 h 2126734"/>
                <a:gd name="connsiteX7" fmla="*/ 936337 w 2307771"/>
                <a:gd name="connsiteY7" fmla="*/ 1430034 h 2126734"/>
                <a:gd name="connsiteX8" fmla="*/ 1400794 w 2307771"/>
                <a:gd name="connsiteY8" fmla="*/ 1459063 h 2126734"/>
                <a:gd name="connsiteX9" fmla="*/ 1683823 w 2307771"/>
                <a:gd name="connsiteY9" fmla="*/ 1473577 h 2126734"/>
                <a:gd name="connsiteX10" fmla="*/ 1241137 w 2307771"/>
                <a:gd name="connsiteY10" fmla="*/ 1785634 h 2126734"/>
                <a:gd name="connsiteX11" fmla="*/ 1683823 w 2307771"/>
                <a:gd name="connsiteY11" fmla="*/ 1800148 h 2126734"/>
                <a:gd name="connsiteX12" fmla="*/ 1995880 w 2307771"/>
                <a:gd name="connsiteY12" fmla="*/ 2126720 h 2126734"/>
                <a:gd name="connsiteX13" fmla="*/ 2307771 w 2307771"/>
                <a:gd name="connsiteY13" fmla="*/ 1785258 h 2126734"/>
                <a:gd name="connsiteX0" fmla="*/ 0 w 2307771"/>
                <a:gd name="connsiteY0" fmla="*/ 0 h 2126734"/>
                <a:gd name="connsiteX1" fmla="*/ 188685 w 2307771"/>
                <a:gd name="connsiteY1" fmla="*/ 428170 h 2126734"/>
                <a:gd name="connsiteX2" fmla="*/ 203366 w 2307771"/>
                <a:gd name="connsiteY2" fmla="*/ 1197806 h 2126734"/>
                <a:gd name="connsiteX3" fmla="*/ 653308 w 2307771"/>
                <a:gd name="connsiteY3" fmla="*/ 1437291 h 2126734"/>
                <a:gd name="connsiteX4" fmla="*/ 878113 w 2307771"/>
                <a:gd name="connsiteY4" fmla="*/ 1023258 h 2126734"/>
                <a:gd name="connsiteX5" fmla="*/ 1291937 w 2307771"/>
                <a:gd name="connsiteY5" fmla="*/ 914777 h 2126734"/>
                <a:gd name="connsiteX6" fmla="*/ 1212108 w 2307771"/>
                <a:gd name="connsiteY6" fmla="*/ 1212320 h 2126734"/>
                <a:gd name="connsiteX7" fmla="*/ 936337 w 2307771"/>
                <a:gd name="connsiteY7" fmla="*/ 1430034 h 2126734"/>
                <a:gd name="connsiteX8" fmla="*/ 1444337 w 2307771"/>
                <a:gd name="connsiteY8" fmla="*/ 1437291 h 2126734"/>
                <a:gd name="connsiteX9" fmla="*/ 1683823 w 2307771"/>
                <a:gd name="connsiteY9" fmla="*/ 1473577 h 2126734"/>
                <a:gd name="connsiteX10" fmla="*/ 1241137 w 2307771"/>
                <a:gd name="connsiteY10" fmla="*/ 1785634 h 2126734"/>
                <a:gd name="connsiteX11" fmla="*/ 1683823 w 2307771"/>
                <a:gd name="connsiteY11" fmla="*/ 1800148 h 2126734"/>
                <a:gd name="connsiteX12" fmla="*/ 1995880 w 2307771"/>
                <a:gd name="connsiteY12" fmla="*/ 2126720 h 2126734"/>
                <a:gd name="connsiteX13" fmla="*/ 2307771 w 2307771"/>
                <a:gd name="connsiteY13" fmla="*/ 1785258 h 2126734"/>
                <a:gd name="connsiteX0" fmla="*/ 0 w 2307771"/>
                <a:gd name="connsiteY0" fmla="*/ 0 h 2126734"/>
                <a:gd name="connsiteX1" fmla="*/ 188685 w 2307771"/>
                <a:gd name="connsiteY1" fmla="*/ 428170 h 2126734"/>
                <a:gd name="connsiteX2" fmla="*/ 203366 w 2307771"/>
                <a:gd name="connsiteY2" fmla="*/ 1197806 h 2126734"/>
                <a:gd name="connsiteX3" fmla="*/ 653308 w 2307771"/>
                <a:gd name="connsiteY3" fmla="*/ 1437291 h 2126734"/>
                <a:gd name="connsiteX4" fmla="*/ 878113 w 2307771"/>
                <a:gd name="connsiteY4" fmla="*/ 1023258 h 2126734"/>
                <a:gd name="connsiteX5" fmla="*/ 1291937 w 2307771"/>
                <a:gd name="connsiteY5" fmla="*/ 914777 h 2126734"/>
                <a:gd name="connsiteX6" fmla="*/ 1212108 w 2307771"/>
                <a:gd name="connsiteY6" fmla="*/ 1212320 h 2126734"/>
                <a:gd name="connsiteX7" fmla="*/ 936337 w 2307771"/>
                <a:gd name="connsiteY7" fmla="*/ 1430034 h 2126734"/>
                <a:gd name="connsiteX8" fmla="*/ 1146794 w 2307771"/>
                <a:gd name="connsiteY8" fmla="*/ 1604206 h 2126734"/>
                <a:gd name="connsiteX9" fmla="*/ 1444337 w 2307771"/>
                <a:gd name="connsiteY9" fmla="*/ 1437291 h 2126734"/>
                <a:gd name="connsiteX10" fmla="*/ 1683823 w 2307771"/>
                <a:gd name="connsiteY10" fmla="*/ 1473577 h 2126734"/>
                <a:gd name="connsiteX11" fmla="*/ 1241137 w 2307771"/>
                <a:gd name="connsiteY11" fmla="*/ 1785634 h 2126734"/>
                <a:gd name="connsiteX12" fmla="*/ 1683823 w 2307771"/>
                <a:gd name="connsiteY12" fmla="*/ 1800148 h 2126734"/>
                <a:gd name="connsiteX13" fmla="*/ 1995880 w 2307771"/>
                <a:gd name="connsiteY13" fmla="*/ 2126720 h 2126734"/>
                <a:gd name="connsiteX14" fmla="*/ 2307771 w 2307771"/>
                <a:gd name="connsiteY14" fmla="*/ 1785258 h 2126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07771" h="2126734">
                  <a:moveTo>
                    <a:pt x="0" y="0"/>
                  </a:moveTo>
                  <a:cubicBezTo>
                    <a:pt x="42333" y="158448"/>
                    <a:pt x="140304" y="220132"/>
                    <a:pt x="188685" y="428170"/>
                  </a:cubicBezTo>
                  <a:cubicBezTo>
                    <a:pt x="267332" y="637480"/>
                    <a:pt x="94509" y="1009120"/>
                    <a:pt x="203366" y="1197806"/>
                  </a:cubicBezTo>
                  <a:cubicBezTo>
                    <a:pt x="280803" y="1374459"/>
                    <a:pt x="546898" y="1376878"/>
                    <a:pt x="653308" y="1437291"/>
                  </a:cubicBezTo>
                  <a:cubicBezTo>
                    <a:pt x="759718" y="1497704"/>
                    <a:pt x="771675" y="1110344"/>
                    <a:pt x="878113" y="1023258"/>
                  </a:cubicBezTo>
                  <a:cubicBezTo>
                    <a:pt x="984551" y="936172"/>
                    <a:pt x="1245947" y="891733"/>
                    <a:pt x="1291937" y="914777"/>
                  </a:cubicBezTo>
                  <a:cubicBezTo>
                    <a:pt x="1337927" y="937821"/>
                    <a:pt x="1271375" y="1126444"/>
                    <a:pt x="1212108" y="1212320"/>
                  </a:cubicBezTo>
                  <a:cubicBezTo>
                    <a:pt x="1152841" y="1298196"/>
                    <a:pt x="943594" y="1390120"/>
                    <a:pt x="936337" y="1430034"/>
                  </a:cubicBezTo>
                  <a:cubicBezTo>
                    <a:pt x="929080" y="1469948"/>
                    <a:pt x="1062127" y="1602996"/>
                    <a:pt x="1146794" y="1604206"/>
                  </a:cubicBezTo>
                  <a:cubicBezTo>
                    <a:pt x="1231461" y="1605416"/>
                    <a:pt x="1358461" y="1433663"/>
                    <a:pt x="1444337" y="1437291"/>
                  </a:cubicBezTo>
                  <a:cubicBezTo>
                    <a:pt x="1530213" y="1440919"/>
                    <a:pt x="1600366" y="1439710"/>
                    <a:pt x="1683823" y="1473577"/>
                  </a:cubicBezTo>
                  <a:cubicBezTo>
                    <a:pt x="1767280" y="1507444"/>
                    <a:pt x="1202432" y="1691291"/>
                    <a:pt x="1241137" y="1785634"/>
                  </a:cubicBezTo>
                  <a:cubicBezTo>
                    <a:pt x="1279842" y="1879977"/>
                    <a:pt x="1555614" y="1795310"/>
                    <a:pt x="1683823" y="1800148"/>
                  </a:cubicBezTo>
                  <a:cubicBezTo>
                    <a:pt x="1812032" y="1804986"/>
                    <a:pt x="1891889" y="2129202"/>
                    <a:pt x="1995880" y="2126720"/>
                  </a:cubicBezTo>
                  <a:cubicBezTo>
                    <a:pt x="2099871" y="2124238"/>
                    <a:pt x="2258208" y="1790159"/>
                    <a:pt x="2307771" y="1785258"/>
                  </a:cubicBezTo>
                </a:path>
              </a:pathLst>
            </a:cu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84" name="Footer Placeholder 3"/>
          <p:cNvSpPr>
            <a:spLocks noGrp="1"/>
          </p:cNvSpPr>
          <p:nvPr>
            <p:ph type="ftr" sz="quarter" idx="5"/>
          </p:nvPr>
        </p:nvSpPr>
        <p:spPr>
          <a:prstGeom prst="rect">
            <a:avLst/>
          </a:prstGeom>
        </p:spPr>
        <p:txBody>
          <a:bodyPr/>
          <a:lstStyle/>
          <a:p>
            <a:pPr>
              <a:defRPr/>
            </a:pPr>
            <a:r>
              <a:rPr lang="en-US" sz="1050" dirty="0">
                <a:solidFill>
                  <a:schemeClr val="tx1"/>
                </a:solidFill>
              </a:rPr>
              <a:t>Slide credit: Andrew Ng </a:t>
            </a:r>
          </a:p>
        </p:txBody>
      </p:sp>
      <p:sp>
        <p:nvSpPr>
          <p:cNvPr id="25" name="Title 24"/>
          <p:cNvSpPr>
            <a:spLocks noGrp="1"/>
          </p:cNvSpPr>
          <p:nvPr>
            <p:ph type="title"/>
          </p:nvPr>
        </p:nvSpPr>
        <p:spPr/>
        <p:txBody>
          <a:bodyPr/>
          <a:lstStyle/>
          <a:p>
            <a:r>
              <a:rPr lang="en-US" dirty="0"/>
              <a:t>Fit of the model</a:t>
            </a:r>
            <a:endParaRPr lang="en-IN" dirty="0"/>
          </a:p>
        </p:txBody>
      </p:sp>
      <p:sp>
        <p:nvSpPr>
          <p:cNvPr id="30" name="Rectangle 29"/>
          <p:cNvSpPr/>
          <p:nvPr/>
        </p:nvSpPr>
        <p:spPr>
          <a:xfrm>
            <a:off x="3346123" y="5416740"/>
            <a:ext cx="2842886" cy="646331"/>
          </a:xfrm>
          <a:prstGeom prst="rect">
            <a:avLst/>
          </a:prstGeom>
        </p:spPr>
        <p:txBody>
          <a:bodyPr wrap="square">
            <a:spAutoFit/>
          </a:bodyPr>
          <a:lstStyle/>
          <a:p>
            <a:r>
              <a:rPr lang="en-IN" dirty="0"/>
              <a:t>Low Training loss</a:t>
            </a:r>
          </a:p>
          <a:p>
            <a:r>
              <a:rPr lang="en-IN" dirty="0"/>
              <a:t>Low Validation loss</a:t>
            </a:r>
          </a:p>
        </p:txBody>
      </p:sp>
      <p:sp>
        <p:nvSpPr>
          <p:cNvPr id="116" name="Rectangle 115"/>
          <p:cNvSpPr/>
          <p:nvPr/>
        </p:nvSpPr>
        <p:spPr>
          <a:xfrm>
            <a:off x="422131" y="5297974"/>
            <a:ext cx="2821501" cy="923330"/>
          </a:xfrm>
          <a:prstGeom prst="rect">
            <a:avLst/>
          </a:prstGeom>
        </p:spPr>
        <p:txBody>
          <a:bodyPr wrap="square">
            <a:spAutoFit/>
          </a:bodyPr>
          <a:lstStyle/>
          <a:p>
            <a:r>
              <a:rPr lang="en-IN" dirty="0"/>
              <a:t>High Training loss</a:t>
            </a:r>
          </a:p>
          <a:p>
            <a:r>
              <a:rPr lang="en-IN" dirty="0"/>
              <a:t>High Validation loss</a:t>
            </a:r>
          </a:p>
          <a:p>
            <a:r>
              <a:rPr lang="en-US" dirty="0"/>
              <a:t>Little gap between both</a:t>
            </a:r>
            <a:endParaRPr lang="en-IN" dirty="0"/>
          </a:p>
        </p:txBody>
      </p:sp>
      <p:sp>
        <p:nvSpPr>
          <p:cNvPr id="117" name="Rectangle 116"/>
          <p:cNvSpPr/>
          <p:nvPr/>
        </p:nvSpPr>
        <p:spPr>
          <a:xfrm>
            <a:off x="6299685" y="5436473"/>
            <a:ext cx="2887376" cy="646331"/>
          </a:xfrm>
          <a:prstGeom prst="rect">
            <a:avLst/>
          </a:prstGeom>
        </p:spPr>
        <p:txBody>
          <a:bodyPr wrap="square">
            <a:spAutoFit/>
          </a:bodyPr>
          <a:lstStyle/>
          <a:p>
            <a:r>
              <a:rPr lang="en-IN" dirty="0"/>
              <a:t>Low Training loss</a:t>
            </a:r>
          </a:p>
          <a:p>
            <a:r>
              <a:rPr lang="en-IN" dirty="0"/>
              <a:t>High </a:t>
            </a:r>
            <a:r>
              <a:rPr lang="en-IN"/>
              <a:t>Validation loss</a:t>
            </a:r>
            <a:endParaRPr lang="en-IN" dirty="0"/>
          </a:p>
        </p:txBody>
      </p:sp>
      <p:pic>
        <p:nvPicPr>
          <p:cNvPr id="2" name="Picture 1"/>
          <p:cNvPicPr>
            <a:picLocks noChangeAspect="1"/>
          </p:cNvPicPr>
          <p:nvPr/>
        </p:nvPicPr>
        <p:blipFill>
          <a:blip r:embed="rId3"/>
          <a:stretch>
            <a:fillRect/>
          </a:stretch>
        </p:blipFill>
        <p:spPr>
          <a:xfrm>
            <a:off x="6256832" y="3372420"/>
            <a:ext cx="2547418" cy="1482134"/>
          </a:xfrm>
          <a:prstGeom prst="rect">
            <a:avLst/>
          </a:prstGeom>
        </p:spPr>
      </p:pic>
      <p:pic>
        <p:nvPicPr>
          <p:cNvPr id="3" name="Picture 2"/>
          <p:cNvPicPr>
            <a:picLocks noChangeAspect="1"/>
          </p:cNvPicPr>
          <p:nvPr/>
        </p:nvPicPr>
        <p:blipFill>
          <a:blip r:embed="rId4"/>
          <a:stretch>
            <a:fillRect/>
          </a:stretch>
        </p:blipFill>
        <p:spPr>
          <a:xfrm>
            <a:off x="3292055" y="3343018"/>
            <a:ext cx="2827330" cy="1789778"/>
          </a:xfrm>
          <a:prstGeom prst="rect">
            <a:avLst/>
          </a:prstGeom>
        </p:spPr>
      </p:pic>
      <p:pic>
        <p:nvPicPr>
          <p:cNvPr id="4" name="Picture 3"/>
          <p:cNvPicPr>
            <a:picLocks noChangeAspect="1"/>
          </p:cNvPicPr>
          <p:nvPr/>
        </p:nvPicPr>
        <p:blipFill>
          <a:blip r:embed="rId5"/>
          <a:stretch>
            <a:fillRect/>
          </a:stretch>
        </p:blipFill>
        <p:spPr>
          <a:xfrm>
            <a:off x="296784" y="3385351"/>
            <a:ext cx="2631254" cy="1662474"/>
          </a:xfrm>
          <a:prstGeom prst="rect">
            <a:avLst/>
          </a:prstGeom>
        </p:spPr>
      </p:pic>
    </p:spTree>
    <p:extLst>
      <p:ext uri="{BB962C8B-B14F-4D97-AF65-F5344CB8AC3E}">
        <p14:creationId xmlns:p14="http://schemas.microsoft.com/office/powerpoint/2010/main" val="34037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7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7600" y="1429028"/>
            <a:ext cx="5334000" cy="5428972"/>
          </a:xfrm>
        </p:spPr>
        <p:txBody>
          <a:bodyPr/>
          <a:lstStyle/>
          <a:p>
            <a:pPr marL="105866" marR="8056" indent="-342900" algn="just">
              <a:lnSpc>
                <a:spcPct val="102699"/>
              </a:lnSpc>
              <a:spcBef>
                <a:spcPts val="87"/>
              </a:spcBef>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a:rPr>
              <a:t>Simple</a:t>
            </a:r>
            <a:r>
              <a:rPr lang="en-US" sz="2000" spc="254"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models</a:t>
            </a:r>
            <a:r>
              <a:rPr lang="en-US" sz="2000" spc="254"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trained</a:t>
            </a:r>
            <a:r>
              <a:rPr lang="en-US" sz="2000" spc="26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on</a:t>
            </a:r>
            <a:r>
              <a:rPr lang="en-US" sz="2000" spc="26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different</a:t>
            </a:r>
            <a:r>
              <a:rPr lang="en-US" sz="2000" spc="26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samples</a:t>
            </a:r>
            <a:r>
              <a:rPr lang="en-US" sz="2000" spc="254" dirty="0">
                <a:latin typeface="Cambria" panose="02040503050406030204" pitchFamily="18" charset="0"/>
                <a:ea typeface="Cambria" panose="02040503050406030204" pitchFamily="18" charset="0"/>
                <a:cs typeface="Calibri"/>
              </a:rPr>
              <a:t> </a:t>
            </a:r>
            <a:r>
              <a:rPr lang="en-US" sz="2000" spc="-40" dirty="0">
                <a:latin typeface="Cambria" panose="02040503050406030204" pitchFamily="18" charset="0"/>
                <a:ea typeface="Cambria" panose="02040503050406030204" pitchFamily="18" charset="0"/>
                <a:cs typeface="Calibri"/>
              </a:rPr>
              <a:t>of </a:t>
            </a:r>
            <a:r>
              <a:rPr lang="en-US" sz="2000" dirty="0">
                <a:latin typeface="Cambria" panose="02040503050406030204" pitchFamily="18" charset="0"/>
                <a:ea typeface="Cambria" panose="02040503050406030204" pitchFamily="18" charset="0"/>
                <a:cs typeface="Calibri"/>
              </a:rPr>
              <a:t>the</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data</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do</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not</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differ</a:t>
            </a:r>
            <a:r>
              <a:rPr lang="en-US" sz="2000" spc="230"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much</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from</a:t>
            </a:r>
            <a:r>
              <a:rPr lang="en-US" sz="2000" spc="22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each</a:t>
            </a:r>
            <a:r>
              <a:rPr lang="en-US" sz="2000" spc="230" dirty="0">
                <a:latin typeface="Cambria" panose="02040503050406030204" pitchFamily="18" charset="0"/>
                <a:ea typeface="Cambria" panose="02040503050406030204" pitchFamily="18" charset="0"/>
                <a:cs typeface="Calibri"/>
              </a:rPr>
              <a:t> </a:t>
            </a:r>
            <a:r>
              <a:rPr lang="en-US" sz="2000" spc="-16" dirty="0">
                <a:latin typeface="Cambria" panose="02040503050406030204" pitchFamily="18" charset="0"/>
                <a:ea typeface="Cambria" panose="02040503050406030204" pitchFamily="18" charset="0"/>
                <a:cs typeface="Calibri"/>
              </a:rPr>
              <a:t>other</a:t>
            </a:r>
            <a:endParaRPr lang="en-US" sz="2000" dirty="0">
              <a:latin typeface="Cambria" panose="02040503050406030204" pitchFamily="18" charset="0"/>
              <a:ea typeface="Cambria" panose="02040503050406030204" pitchFamily="18" charset="0"/>
              <a:cs typeface="Calibri"/>
            </a:endParaRPr>
          </a:p>
          <a:p>
            <a:pPr marL="105866" marR="8056" indent="-342900" algn="just">
              <a:lnSpc>
                <a:spcPct val="102600"/>
              </a:lnSpc>
              <a:spcBef>
                <a:spcPts val="1729"/>
              </a:spcBef>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a:rPr>
              <a:t>However</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they</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are</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very</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far</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from</a:t>
            </a:r>
            <a:r>
              <a:rPr lang="en-US" sz="2000" spc="127"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the</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true</a:t>
            </a:r>
            <a:r>
              <a:rPr lang="en-US" sz="2000" spc="119" dirty="0">
                <a:latin typeface="Cambria" panose="02040503050406030204" pitchFamily="18" charset="0"/>
                <a:ea typeface="Cambria" panose="02040503050406030204" pitchFamily="18" charset="0"/>
                <a:cs typeface="Calibri"/>
              </a:rPr>
              <a:t> </a:t>
            </a:r>
            <a:r>
              <a:rPr lang="en-US" sz="2000" spc="-16" dirty="0">
                <a:latin typeface="Cambria" panose="02040503050406030204" pitchFamily="18" charset="0"/>
                <a:ea typeface="Cambria" panose="02040503050406030204" pitchFamily="18" charset="0"/>
                <a:cs typeface="Calibri"/>
              </a:rPr>
              <a:t>sinus</a:t>
            </a:r>
            <a:r>
              <a:rPr lang="en-US" sz="2000" dirty="0">
                <a:latin typeface="Cambria" panose="02040503050406030204" pitchFamily="18" charset="0"/>
                <a:ea typeface="Cambria" panose="02040503050406030204" pitchFamily="18" charset="0"/>
                <a:cs typeface="Calibri"/>
              </a:rPr>
              <a:t>oidal</a:t>
            </a:r>
            <a:r>
              <a:rPr lang="en-US" sz="2000" spc="34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curve</a:t>
            </a:r>
            <a:r>
              <a:rPr lang="en-US" sz="2000" spc="34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(under</a:t>
            </a:r>
            <a:r>
              <a:rPr lang="en-US" sz="2000" spc="349" dirty="0">
                <a:latin typeface="Cambria" panose="02040503050406030204" pitchFamily="18" charset="0"/>
                <a:ea typeface="Cambria" panose="02040503050406030204" pitchFamily="18" charset="0"/>
                <a:cs typeface="Calibri"/>
              </a:rPr>
              <a:t> </a:t>
            </a:r>
            <a:r>
              <a:rPr lang="en-US" sz="2000" spc="-16" dirty="0">
                <a:latin typeface="Cambria" panose="02040503050406030204" pitchFamily="18" charset="0"/>
                <a:ea typeface="Cambria" panose="02040503050406030204" pitchFamily="18" charset="0"/>
                <a:cs typeface="Calibri"/>
              </a:rPr>
              <a:t>fitting)</a:t>
            </a:r>
            <a:endParaRPr lang="en-US" sz="2000" dirty="0">
              <a:latin typeface="Cambria" panose="02040503050406030204" pitchFamily="18" charset="0"/>
              <a:ea typeface="Cambria" panose="02040503050406030204" pitchFamily="18" charset="0"/>
              <a:cs typeface="Calibri"/>
            </a:endParaRPr>
          </a:p>
          <a:p>
            <a:pPr marL="105866" marR="8056" indent="-342900" algn="just">
              <a:lnSpc>
                <a:spcPct val="102600"/>
              </a:lnSpc>
              <a:spcBef>
                <a:spcPts val="1729"/>
              </a:spcBef>
              <a:buFont typeface="Arial" panose="020B0604020202020204" pitchFamily="34" charset="0"/>
              <a:buChar char="•"/>
            </a:pPr>
            <a:r>
              <a:rPr lang="en-US" sz="2000" spc="111" dirty="0">
                <a:latin typeface="Cambria" panose="02040503050406030204" pitchFamily="18" charset="0"/>
                <a:ea typeface="Cambria" panose="02040503050406030204" pitchFamily="18" charset="0"/>
                <a:cs typeface="Calibri"/>
              </a:rPr>
              <a:t>On</a:t>
            </a:r>
            <a:r>
              <a:rPr lang="en-US" sz="2000" spc="9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the</a:t>
            </a:r>
            <a:r>
              <a:rPr lang="en-US" sz="2000" spc="9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other</a:t>
            </a:r>
            <a:r>
              <a:rPr lang="en-US" sz="2000" spc="9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hand,</a:t>
            </a:r>
            <a:r>
              <a:rPr lang="en-US" sz="2000" spc="151"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complex</a:t>
            </a:r>
            <a:r>
              <a:rPr lang="en-US" sz="2000" spc="9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models</a:t>
            </a:r>
            <a:r>
              <a:rPr lang="en-US" sz="2000" spc="9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trained</a:t>
            </a:r>
            <a:r>
              <a:rPr lang="en-US" sz="2000" spc="103" dirty="0">
                <a:latin typeface="Cambria" panose="02040503050406030204" pitchFamily="18" charset="0"/>
                <a:ea typeface="Cambria" panose="02040503050406030204" pitchFamily="18" charset="0"/>
                <a:cs typeface="Calibri"/>
              </a:rPr>
              <a:t> </a:t>
            </a:r>
            <a:r>
              <a:rPr lang="en-US" sz="2000" spc="-40" dirty="0">
                <a:latin typeface="Cambria" panose="02040503050406030204" pitchFamily="18" charset="0"/>
                <a:ea typeface="Cambria" panose="02040503050406030204" pitchFamily="18" charset="0"/>
                <a:cs typeface="Calibri"/>
              </a:rPr>
              <a:t>on </a:t>
            </a:r>
            <a:r>
              <a:rPr lang="en-US" sz="2000" dirty="0">
                <a:latin typeface="Cambria" panose="02040503050406030204" pitchFamily="18" charset="0"/>
                <a:ea typeface="Cambria" panose="02040503050406030204" pitchFamily="18" charset="0"/>
                <a:cs typeface="Calibri"/>
              </a:rPr>
              <a:t>different</a:t>
            </a:r>
            <a:r>
              <a:rPr lang="en-US" sz="2000" spc="111"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samples</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of</a:t>
            </a:r>
            <a:r>
              <a:rPr lang="en-US" sz="2000" spc="111"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the</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data</a:t>
            </a:r>
            <a:r>
              <a:rPr lang="en-US" sz="2000" spc="111"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are</a:t>
            </a:r>
            <a:r>
              <a:rPr lang="en-US" sz="2000" spc="119"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very</a:t>
            </a:r>
            <a:r>
              <a:rPr lang="en-US" sz="2000" spc="111" dirty="0">
                <a:latin typeface="Cambria" panose="02040503050406030204" pitchFamily="18" charset="0"/>
                <a:ea typeface="Cambria" panose="02040503050406030204" pitchFamily="18" charset="0"/>
                <a:cs typeface="Calibri"/>
              </a:rPr>
              <a:t> </a:t>
            </a:r>
            <a:r>
              <a:rPr lang="en-US" sz="2000" spc="-16" dirty="0">
                <a:latin typeface="Cambria" panose="02040503050406030204" pitchFamily="18" charset="0"/>
                <a:ea typeface="Cambria" panose="02040503050406030204" pitchFamily="18" charset="0"/>
                <a:cs typeface="Calibri"/>
              </a:rPr>
              <a:t>different </a:t>
            </a:r>
            <a:r>
              <a:rPr lang="en-US" sz="2000" dirty="0">
                <a:latin typeface="Cambria" panose="02040503050406030204" pitchFamily="18" charset="0"/>
                <a:ea typeface="Cambria" panose="02040503050406030204" pitchFamily="18" charset="0"/>
                <a:cs typeface="Calibri"/>
              </a:rPr>
              <a:t>from</a:t>
            </a:r>
            <a:r>
              <a:rPr lang="en-US" sz="2000" spc="262"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each</a:t>
            </a:r>
            <a:r>
              <a:rPr lang="en-US" sz="2000" spc="278"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other</a:t>
            </a:r>
            <a:r>
              <a:rPr lang="en-US" sz="2000" spc="278"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(high</a:t>
            </a:r>
            <a:r>
              <a:rPr lang="en-US" sz="2000" spc="278" dirty="0">
                <a:latin typeface="Cambria" panose="02040503050406030204" pitchFamily="18" charset="0"/>
                <a:ea typeface="Cambria" panose="02040503050406030204" pitchFamily="18" charset="0"/>
                <a:cs typeface="Calibri"/>
              </a:rPr>
              <a:t> </a:t>
            </a:r>
            <a:r>
              <a:rPr lang="en-US" sz="2000" spc="-16" dirty="0">
                <a:latin typeface="Cambria" panose="02040503050406030204" pitchFamily="18" charset="0"/>
                <a:ea typeface="Cambria" panose="02040503050406030204" pitchFamily="18" charset="0"/>
                <a:cs typeface="Calibri"/>
              </a:rPr>
              <a:t>variance)</a:t>
            </a:r>
          </a:p>
          <a:p>
            <a:pPr marL="0" marR="8056" indent="0" algn="just">
              <a:lnSpc>
                <a:spcPct val="102600"/>
              </a:lnSpc>
              <a:spcBef>
                <a:spcPts val="1729"/>
              </a:spcBef>
            </a:pPr>
            <a:r>
              <a:rPr lang="en-US" sz="2000" dirty="0">
                <a:solidFill>
                  <a:srgbClr val="FF0000"/>
                </a:solidFill>
                <a:latin typeface="Cambria" panose="02040503050406030204" pitchFamily="18" charset="0"/>
                <a:ea typeface="Cambria" panose="02040503050406030204" pitchFamily="18" charset="0"/>
              </a:rPr>
              <a:t>Simple model: high bias, low variance</a:t>
            </a:r>
          </a:p>
          <a:p>
            <a:pPr marL="0" marR="8056" indent="0" algn="just">
              <a:lnSpc>
                <a:spcPct val="102600"/>
              </a:lnSpc>
              <a:spcBef>
                <a:spcPts val="1729"/>
              </a:spcBef>
            </a:pPr>
            <a:r>
              <a:rPr lang="en-US" sz="2000" dirty="0">
                <a:solidFill>
                  <a:srgbClr val="FF0000"/>
                </a:solidFill>
                <a:latin typeface="Cambria" panose="02040503050406030204" pitchFamily="18" charset="0"/>
                <a:ea typeface="Cambria" panose="02040503050406030204" pitchFamily="18" charset="0"/>
              </a:rPr>
              <a:t> Complex model: low bias, high variance </a:t>
            </a:r>
            <a:endParaRPr lang="en-US" sz="2000" dirty="0">
              <a:solidFill>
                <a:srgbClr val="FF0000"/>
              </a:solidFill>
              <a:latin typeface="Cambria" panose="02040503050406030204" pitchFamily="18" charset="0"/>
              <a:ea typeface="Cambria" panose="02040503050406030204" pitchFamily="18" charset="0"/>
              <a:cs typeface="Calibri"/>
            </a:endParaRPr>
          </a:p>
        </p:txBody>
      </p:sp>
      <p:sp>
        <p:nvSpPr>
          <p:cNvPr id="3" name="Content Placeholder 2"/>
          <p:cNvSpPr>
            <a:spLocks noGrp="1"/>
          </p:cNvSpPr>
          <p:nvPr>
            <p:ph sz="quarter" idx="10"/>
          </p:nvPr>
        </p:nvSpPr>
        <p:spPr/>
        <p:txBody>
          <a:bodyPr vert="horz" lIns="91440" tIns="45720" rIns="91440" bIns="45720" rtlCol="0" anchor="ctr">
            <a:normAutofit fontScale="97500"/>
          </a:bodyPr>
          <a:lstStyle/>
          <a:p>
            <a:r>
              <a:rPr lang="en-US" sz="3600" b="0" dirty="0">
                <a:latin typeface="Cambria" panose="02040503050406030204" pitchFamily="18" charset="0"/>
                <a:ea typeface="Cambria" panose="02040503050406030204" pitchFamily="18" charset="0"/>
                <a:cs typeface="+mj-cs"/>
              </a:rPr>
              <a:t>Bias- variance</a:t>
            </a:r>
            <a:endParaRPr lang="en-IN" sz="3600" b="0" dirty="0">
              <a:latin typeface="Cambria" panose="02040503050406030204" pitchFamily="18" charset="0"/>
              <a:ea typeface="Cambria" panose="02040503050406030204" pitchFamily="18" charset="0"/>
              <a:cs typeface="+mj-cs"/>
            </a:endParaRPr>
          </a:p>
        </p:txBody>
      </p:sp>
      <p:pic>
        <p:nvPicPr>
          <p:cNvPr id="4" name="object 22"/>
          <p:cNvPicPr/>
          <p:nvPr/>
        </p:nvPicPr>
        <p:blipFill>
          <a:blip r:embed="rId2" cstate="print"/>
          <a:stretch>
            <a:fillRect/>
          </a:stretch>
        </p:blipFill>
        <p:spPr>
          <a:xfrm>
            <a:off x="327546" y="1429028"/>
            <a:ext cx="3144028" cy="4800600"/>
          </a:xfrm>
          <a:prstGeom prst="rect">
            <a:avLst/>
          </a:prstGeom>
        </p:spPr>
      </p:pic>
      <p:sp>
        <p:nvSpPr>
          <p:cNvPr id="6" name="TextBox 5"/>
          <p:cNvSpPr txBox="1"/>
          <p:nvPr/>
        </p:nvSpPr>
        <p:spPr>
          <a:xfrm>
            <a:off x="0" y="6611779"/>
            <a:ext cx="1638590" cy="246221"/>
          </a:xfrm>
          <a:prstGeom prst="rect">
            <a:avLst/>
          </a:prstGeom>
          <a:noFill/>
        </p:spPr>
        <p:txBody>
          <a:bodyPr wrap="none" rtlCol="0">
            <a:spAutoFit/>
          </a:bodyPr>
          <a:lstStyle/>
          <a:p>
            <a:r>
              <a:rPr lang="en-IN" sz="1000" dirty="0"/>
              <a:t>Slide credit: IITM CS7015</a:t>
            </a:r>
          </a:p>
        </p:txBody>
      </p:sp>
    </p:spTree>
    <p:extLst>
      <p:ext uri="{BB962C8B-B14F-4D97-AF65-F5344CB8AC3E}">
        <p14:creationId xmlns:p14="http://schemas.microsoft.com/office/powerpoint/2010/main" val="1262009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fontScale="92500" lnSpcReduction="10000"/>
          </a:bodyPr>
          <a:lstStyle/>
          <a:p>
            <a:pPr marL="342900" indent="-342900">
              <a:buFont typeface="Arial" panose="020B0604020202020204" pitchFamily="34" charset="0"/>
              <a:buChar char="•"/>
            </a:pPr>
            <a:r>
              <a:rPr lang="en-US" dirty="0"/>
              <a:t>Simple models and abundant data</a:t>
            </a:r>
          </a:p>
          <a:p>
            <a:pPr marL="800100" lvl="1" indent="-342900">
              <a:buFont typeface="Arial" panose="020B0604020202020204" pitchFamily="34" charset="0"/>
              <a:buChar char="•"/>
            </a:pPr>
            <a:r>
              <a:rPr lang="en-US" dirty="0"/>
              <a:t> Expect the generalization error to resemble the training error.</a:t>
            </a:r>
          </a:p>
          <a:p>
            <a:pPr marL="342900" indent="-342900">
              <a:buFont typeface="Arial" panose="020B0604020202020204" pitchFamily="34" charset="0"/>
              <a:buChar char="•"/>
            </a:pPr>
            <a:r>
              <a:rPr lang="en-US" dirty="0"/>
              <a:t>More complex models and fewer examples</a:t>
            </a:r>
          </a:p>
          <a:p>
            <a:pPr marL="800100" lvl="1" indent="-342900">
              <a:buFont typeface="Arial" panose="020B0604020202020204" pitchFamily="34" charset="0"/>
              <a:buChar char="•"/>
            </a:pPr>
            <a:r>
              <a:rPr lang="en-US" dirty="0"/>
              <a:t>Expect the training error to go down but the generalization gap to grow.</a:t>
            </a:r>
          </a:p>
          <a:p>
            <a:pPr marL="342900" indent="-342900">
              <a:buFont typeface="Arial" panose="020B0604020202020204" pitchFamily="34" charset="0"/>
              <a:buChar char="•"/>
            </a:pPr>
            <a:r>
              <a:rPr lang="en-IN" dirty="0"/>
              <a:t>Model complexity</a:t>
            </a:r>
          </a:p>
          <a:p>
            <a:pPr marL="800100" lvl="1" indent="-342900">
              <a:buFont typeface="Arial" panose="020B0604020202020204" pitchFamily="34" charset="0"/>
              <a:buChar char="•"/>
            </a:pPr>
            <a:r>
              <a:rPr lang="en-US" dirty="0"/>
              <a:t>A model with more parameters might be considered more complex.</a:t>
            </a:r>
          </a:p>
          <a:p>
            <a:pPr marL="800100" lvl="1" indent="-342900">
              <a:buFont typeface="Arial" panose="020B0604020202020204" pitchFamily="34" charset="0"/>
              <a:buChar char="•"/>
            </a:pPr>
            <a:r>
              <a:rPr lang="en-US" dirty="0"/>
              <a:t>A model whose parameters can take a wider range of values might be more  </a:t>
            </a:r>
            <a:r>
              <a:rPr lang="en-IN" dirty="0"/>
              <a:t>complex.</a:t>
            </a:r>
          </a:p>
          <a:p>
            <a:pPr marL="800100" lvl="1" indent="-342900">
              <a:buFont typeface="Arial" panose="020B0604020202020204" pitchFamily="34" charset="0"/>
              <a:buChar char="•"/>
            </a:pPr>
            <a:r>
              <a:rPr lang="en-US" dirty="0"/>
              <a:t>A neural network model that takes more training iterations are more complex, and</a:t>
            </a:r>
          </a:p>
          <a:p>
            <a:pPr marL="800100" lvl="1" indent="-342900">
              <a:buFont typeface="Arial" panose="020B0604020202020204" pitchFamily="34" charset="0"/>
              <a:buChar char="•"/>
            </a:pPr>
            <a:r>
              <a:rPr lang="en-US" dirty="0"/>
              <a:t>One subject to early stopping (fewer training iterations) are less complex.</a:t>
            </a:r>
            <a:endParaRPr lang="en-IN" dirty="0"/>
          </a:p>
        </p:txBody>
      </p:sp>
      <p:sp>
        <p:nvSpPr>
          <p:cNvPr id="3" name="Title 2"/>
          <p:cNvSpPr>
            <a:spLocks noGrp="1"/>
          </p:cNvSpPr>
          <p:nvPr>
            <p:ph type="title"/>
          </p:nvPr>
        </p:nvSpPr>
        <p:spPr/>
        <p:txBody>
          <a:bodyPr/>
          <a:lstStyle/>
          <a:p>
            <a:r>
              <a:rPr lang="en-US" dirty="0"/>
              <a:t>Model complexity</a:t>
            </a:r>
            <a:br>
              <a:rPr lang="en-IN" dirty="0"/>
            </a:br>
            <a:endParaRPr lang="en-IN" dirty="0"/>
          </a:p>
        </p:txBody>
      </p:sp>
    </p:spTree>
    <p:extLst>
      <p:ext uri="{BB962C8B-B14F-4D97-AF65-F5344CB8AC3E}">
        <p14:creationId xmlns:p14="http://schemas.microsoft.com/office/powerpoint/2010/main" val="1648436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noFill/>
          <a:ln w="9525">
            <a:noFill/>
            <a:miter lim="800000"/>
            <a:headEnd/>
            <a:tailEnd/>
          </a:ln>
        </p:spPr>
        <p:txBody>
          <a:bodyPr vert="horz" wrap="square" lIns="91440" tIns="45720" rIns="91440" bIns="45720" numCol="1" rtlCol="0" anchor="ctr" anchorCtr="0" compatLnSpc="1">
            <a:prstTxWarp prst="textNoShape">
              <a:avLst/>
            </a:prstTxWarp>
            <a:normAutofit fontScale="97500"/>
          </a:bodyPr>
          <a:lstStyle/>
          <a:p>
            <a:r>
              <a:rPr lang="en-US" sz="3600" b="0" dirty="0">
                <a:latin typeface="Cambria" panose="02040503050406030204" pitchFamily="18" charset="0"/>
                <a:ea typeface="Cambria" panose="02040503050406030204" pitchFamily="18" charset="0"/>
                <a:cs typeface="+mj-cs"/>
              </a:rPr>
              <a:t>Model complexity</a:t>
            </a:r>
            <a:endParaRPr lang="en-IN" sz="3600" b="0" dirty="0">
              <a:latin typeface="Cambria" panose="02040503050406030204" pitchFamily="18" charset="0"/>
              <a:ea typeface="Cambria" panose="02040503050406030204" pitchFamily="18" charset="0"/>
              <a:cs typeface="+mj-cs"/>
            </a:endParaRPr>
          </a:p>
        </p:txBody>
      </p:sp>
      <p:pic>
        <p:nvPicPr>
          <p:cNvPr id="7" name="Picture 6"/>
          <p:cNvPicPr>
            <a:picLocks noChangeAspect="1"/>
          </p:cNvPicPr>
          <p:nvPr/>
        </p:nvPicPr>
        <p:blipFill>
          <a:blip r:embed="rId2"/>
          <a:stretch>
            <a:fillRect/>
          </a:stretch>
        </p:blipFill>
        <p:spPr>
          <a:xfrm>
            <a:off x="990600" y="1752600"/>
            <a:ext cx="6457950" cy="4438650"/>
          </a:xfrm>
          <a:prstGeom prst="rect">
            <a:avLst/>
          </a:prstGeom>
        </p:spPr>
      </p:pic>
    </p:spTree>
    <p:extLst>
      <p:ext uri="{BB962C8B-B14F-4D97-AF65-F5344CB8AC3E}">
        <p14:creationId xmlns:p14="http://schemas.microsoft.com/office/powerpoint/2010/main" val="1269188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object 64"/>
          <p:cNvSpPr txBox="1">
            <a:spLocks noGrp="1"/>
          </p:cNvSpPr>
          <p:nvPr>
            <p:ph type="ftr" sz="quarter" idx="5"/>
          </p:nvPr>
        </p:nvSpPr>
        <p:spPr>
          <a:prstGeom prst="rect">
            <a:avLst/>
          </a:prstGeom>
        </p:spPr>
        <p:txBody>
          <a:bodyPr vert="horz" wrap="square" lIns="0" tIns="0" rIns="0" bIns="0" rtlCol="0" anchor="ctr">
            <a:spAutoFit/>
          </a:bodyPr>
          <a:lstStyle/>
          <a:p>
            <a:pPr marL="20141">
              <a:lnSpc>
                <a:spcPts val="1063"/>
              </a:lnSpc>
            </a:pPr>
            <a:r>
              <a:rPr spc="119" dirty="0"/>
              <a:t>Mitesh</a:t>
            </a:r>
            <a:r>
              <a:rPr spc="181" dirty="0"/>
              <a:t> </a:t>
            </a:r>
            <a:r>
              <a:rPr spc="151" dirty="0"/>
              <a:t>M.</a:t>
            </a:r>
            <a:r>
              <a:rPr spc="190" dirty="0"/>
              <a:t> </a:t>
            </a:r>
            <a:r>
              <a:rPr spc="151" dirty="0"/>
              <a:t>Khapra</a:t>
            </a:r>
          </a:p>
        </p:txBody>
      </p:sp>
      <p:sp>
        <p:nvSpPr>
          <p:cNvPr id="70" name="Content Placeholder 69"/>
          <p:cNvSpPr>
            <a:spLocks noGrp="1"/>
          </p:cNvSpPr>
          <p:nvPr>
            <p:ph idx="10"/>
          </p:nvPr>
        </p:nvSpPr>
        <p:spPr>
          <a:xfrm>
            <a:off x="228600" y="1524000"/>
            <a:ext cx="8610600" cy="4525963"/>
          </a:xfrm>
          <a:noFill/>
          <a:ln w="9525">
            <a:noFill/>
            <a:miter lim="800000"/>
            <a:headEnd/>
            <a:tailEnd/>
          </a:ln>
        </p:spPr>
        <p:txBody>
          <a:bodyPr vert="horz" wrap="square" lIns="91440" tIns="45720" rIns="91440" bIns="45720" numCol="1" anchor="t" anchorCtr="0" compatLnSpc="1">
            <a:prstTxWarp prst="textNoShape">
              <a:avLst/>
            </a:prstTxWarp>
          </a:bodyPr>
          <a:lstStyle/>
          <a:p>
            <a:pPr marL="105866" marR="8056" indent="-342900" algn="just" defTabSz="685800" rtl="0">
              <a:lnSpc>
                <a:spcPct val="102699"/>
              </a:lnSpc>
              <a:spcBef>
                <a:spcPts val="87"/>
              </a:spcBef>
              <a:buClr>
                <a:srgbClr val="101141"/>
              </a:buClr>
              <a:buFont typeface="Arial" panose="020B0604020202020204" pitchFamily="34" charset="0"/>
              <a:buChar char="•"/>
            </a:pPr>
            <a:r>
              <a:rPr lang="en-US" sz="2000" kern="1200" dirty="0">
                <a:solidFill>
                  <a:schemeClr val="tx1"/>
                </a:solidFill>
                <a:cs typeface="Calibri"/>
              </a:rPr>
              <a:t>Let there be n training points and m test (validation) points</a:t>
            </a: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r>
              <a:rPr lang="en-US" sz="2000" kern="1200" dirty="0">
                <a:solidFill>
                  <a:schemeClr val="tx1"/>
                </a:solidFill>
                <a:cs typeface="Calibri"/>
              </a:rPr>
              <a:t>As the model complexity increases </a:t>
            </a:r>
            <a:r>
              <a:rPr lang="en-US" sz="2000" kern="1200" dirty="0" err="1">
                <a:solidFill>
                  <a:schemeClr val="tx1"/>
                </a:solidFill>
                <a:cs typeface="Calibri"/>
              </a:rPr>
              <a:t>train</a:t>
            </a:r>
            <a:r>
              <a:rPr lang="en-US" sz="2000" kern="1200" baseline="-25000" dirty="0" err="1">
                <a:solidFill>
                  <a:schemeClr val="tx1"/>
                </a:solidFill>
                <a:cs typeface="Calibri"/>
              </a:rPr>
              <a:t>err</a:t>
            </a:r>
            <a:r>
              <a:rPr lang="en-US" sz="2000" kern="1200" dirty="0">
                <a:solidFill>
                  <a:schemeClr val="tx1"/>
                </a:solidFill>
                <a:cs typeface="Calibri"/>
              </a:rPr>
              <a:t> becomes overly optimistic and gives us a wrong picture of how close f</a:t>
            </a:r>
            <a:r>
              <a:rPr lang="en-US" sz="2000" kern="1200"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000" kern="1200" dirty="0">
                <a:solidFill>
                  <a:schemeClr val="tx1"/>
                </a:solidFill>
                <a:cs typeface="Calibri"/>
              </a:rPr>
              <a:t> is to f</a:t>
            </a:r>
          </a:p>
          <a:p>
            <a:pPr marL="105866" marR="8056" indent="-342900" algn="just" defTabSz="685800" rtl="0">
              <a:lnSpc>
                <a:spcPct val="102699"/>
              </a:lnSpc>
              <a:spcBef>
                <a:spcPts val="87"/>
              </a:spcBef>
              <a:buClr>
                <a:srgbClr val="101141"/>
              </a:buClr>
              <a:buFont typeface="Arial" panose="020B0604020202020204" pitchFamily="34" charset="0"/>
              <a:buChar char="•"/>
            </a:pPr>
            <a:r>
              <a:rPr lang="en-US" sz="2000" kern="1200" dirty="0">
                <a:solidFill>
                  <a:schemeClr val="tx1"/>
                </a:solidFill>
                <a:cs typeface="Calibri"/>
              </a:rPr>
              <a:t>The validation error gives the real picture of how close  f</a:t>
            </a:r>
            <a:r>
              <a:rPr lang="en-US" sz="2000" kern="1200"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000" kern="1200" dirty="0">
                <a:solidFill>
                  <a:schemeClr val="tx1"/>
                </a:solidFill>
                <a:cs typeface="Calibri"/>
              </a:rPr>
              <a:t> is to f</a:t>
            </a:r>
          </a:p>
          <a:p>
            <a:pPr marL="105866" marR="8056" indent="-342900" algn="just" defTabSz="685800" rtl="0">
              <a:lnSpc>
                <a:spcPct val="102699"/>
              </a:lnSpc>
              <a:spcBef>
                <a:spcPts val="87"/>
              </a:spcBef>
              <a:buClr>
                <a:srgbClr val="101141"/>
              </a:buClr>
              <a:buFont typeface="Arial" panose="020B0604020202020204" pitchFamily="34" charset="0"/>
              <a:buChar char="•"/>
            </a:pPr>
            <a:endParaRPr lang="en-US" sz="2000" kern="1200" dirty="0">
              <a:solidFill>
                <a:schemeClr val="tx1"/>
              </a:solidFill>
              <a:cs typeface="Calibri"/>
            </a:endParaRPr>
          </a:p>
          <a:p>
            <a:pPr marL="105866" marR="8056" indent="-342900" algn="just" defTabSz="685800" rtl="0">
              <a:lnSpc>
                <a:spcPct val="102699"/>
              </a:lnSpc>
              <a:spcBef>
                <a:spcPts val="87"/>
              </a:spcBef>
              <a:buClr>
                <a:srgbClr val="101141"/>
              </a:buClr>
              <a:buFont typeface="Arial" panose="020B0604020202020204" pitchFamily="34" charset="0"/>
              <a:buChar char="•"/>
            </a:pPr>
            <a:endParaRPr lang="en-IN" sz="2000" kern="1200" dirty="0">
              <a:solidFill>
                <a:schemeClr val="tx1"/>
              </a:solidFill>
              <a:cs typeface="Calibri"/>
            </a:endParaRPr>
          </a:p>
        </p:txBody>
      </p:sp>
      <p:pic>
        <p:nvPicPr>
          <p:cNvPr id="72" name="Picture 71"/>
          <p:cNvPicPr>
            <a:picLocks noChangeAspect="1"/>
          </p:cNvPicPr>
          <p:nvPr/>
        </p:nvPicPr>
        <p:blipFill>
          <a:blip r:embed="rId2"/>
          <a:stretch>
            <a:fillRect/>
          </a:stretch>
        </p:blipFill>
        <p:spPr>
          <a:xfrm>
            <a:off x="2209800" y="2514600"/>
            <a:ext cx="3867150" cy="1809750"/>
          </a:xfrm>
          <a:prstGeom prst="rect">
            <a:avLst/>
          </a:prstGeom>
        </p:spPr>
      </p:pic>
      <p:sp>
        <p:nvSpPr>
          <p:cNvPr id="73" name="Content Placeholder 2"/>
          <p:cNvSpPr>
            <a:spLocks noGrp="1"/>
          </p:cNvSpPr>
          <p:nvPr>
            <p:ph type="title"/>
          </p:nvPr>
        </p:nvSpPr>
        <p:spPr>
          <a:noFill/>
          <a:ln w="9525">
            <a:noFill/>
            <a:miter lim="800000"/>
            <a:headEnd/>
            <a:tailEnd/>
          </a:ln>
        </p:spPr>
        <p:txBody>
          <a:bodyPr vert="horz" wrap="square" lIns="91440" tIns="45720" rIns="91440" bIns="45720" numCol="1" rtlCol="0" anchor="ctr" anchorCtr="0" compatLnSpc="1">
            <a:prstTxWarp prst="textNoShape">
              <a:avLst/>
            </a:prstTxWarp>
            <a:normAutofit fontScale="97500"/>
          </a:bodyPr>
          <a:lstStyle/>
          <a:p>
            <a:r>
              <a:rPr lang="en-US" sz="3600" b="0" dirty="0">
                <a:latin typeface="Cambria" panose="02040503050406030204" pitchFamily="18" charset="0"/>
                <a:ea typeface="Cambria" panose="02040503050406030204" pitchFamily="18" charset="0"/>
                <a:cs typeface="+mj-cs"/>
              </a:rPr>
              <a:t>Model complexity</a:t>
            </a:r>
            <a:endParaRPr lang="en-IN" sz="3600" b="0" dirty="0">
              <a:latin typeface="Cambria" panose="02040503050406030204" pitchFamily="18" charset="0"/>
              <a:ea typeface="Cambria" panose="02040503050406030204" pitchFamily="18" charset="0"/>
              <a:cs typeface="+mj-cs"/>
            </a:endParaRPr>
          </a:p>
        </p:txBody>
      </p:sp>
    </p:spTree>
    <p:extLst>
      <p:ext uri="{BB962C8B-B14F-4D97-AF65-F5344CB8AC3E}">
        <p14:creationId xmlns:p14="http://schemas.microsoft.com/office/powerpoint/2010/main" val="3465706371"/>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fontScale="92500" lnSpcReduction="20000"/>
          </a:bodyPr>
          <a:lstStyle/>
          <a:p>
            <a:pPr marL="342900" indent="-342900">
              <a:buFont typeface="Arial" panose="020B0604020202020204" pitchFamily="34" charset="0"/>
              <a:buChar char="•"/>
            </a:pPr>
            <a:r>
              <a:rPr lang="en-US" dirty="0"/>
              <a:t>Model selection is the process of selecting the final model after </a:t>
            </a:r>
            <a:r>
              <a:rPr lang="en-IN" dirty="0"/>
              <a:t>evaluating several candidate models.</a:t>
            </a:r>
          </a:p>
          <a:p>
            <a:pPr marL="342900" indent="-342900">
              <a:buFont typeface="Arial" panose="020B0604020202020204" pitchFamily="34" charset="0"/>
              <a:buChar char="•"/>
            </a:pPr>
            <a:r>
              <a:rPr lang="en-US" dirty="0"/>
              <a:t>With MLPs, compare models with</a:t>
            </a:r>
          </a:p>
          <a:p>
            <a:pPr marL="800100" lvl="1" indent="-342900">
              <a:buFont typeface="Arial" panose="020B0604020202020204" pitchFamily="34" charset="0"/>
              <a:buChar char="•"/>
            </a:pPr>
            <a:r>
              <a:rPr lang="en-US" dirty="0"/>
              <a:t>different numbers of hidden layers,</a:t>
            </a:r>
          </a:p>
          <a:p>
            <a:pPr marL="800100" lvl="1" indent="-342900">
              <a:buFont typeface="Arial" panose="020B0604020202020204" pitchFamily="34" charset="0"/>
              <a:buChar char="•"/>
            </a:pPr>
            <a:r>
              <a:rPr lang="en-US" dirty="0"/>
              <a:t>different numbers of hidden units</a:t>
            </a:r>
          </a:p>
          <a:p>
            <a:pPr marL="800100" lvl="1" indent="-342900">
              <a:buFont typeface="Arial" panose="020B0604020202020204" pitchFamily="34" charset="0"/>
              <a:buChar char="•"/>
            </a:pPr>
            <a:r>
              <a:rPr lang="en-US" dirty="0"/>
              <a:t>different activation functions applied to each hidden layer.</a:t>
            </a:r>
          </a:p>
          <a:p>
            <a:pPr marL="342900" indent="-342900">
              <a:buFont typeface="Arial" panose="020B0604020202020204" pitchFamily="34" charset="0"/>
              <a:buChar char="•"/>
            </a:pPr>
            <a:r>
              <a:rPr lang="en-US" dirty="0"/>
              <a:t>We should touch the test data once, to assess the very best model or to compare a small number of models to each other</a:t>
            </a:r>
          </a:p>
          <a:p>
            <a:pPr marL="342900" indent="-342900">
              <a:buFont typeface="Arial" panose="020B0604020202020204" pitchFamily="34" charset="0"/>
              <a:buChar char="•"/>
            </a:pPr>
            <a:r>
              <a:rPr lang="en-US" dirty="0"/>
              <a:t>Use Validation dataset to determine the best among our candidate m</a:t>
            </a:r>
            <a:r>
              <a:rPr lang="en-IN" dirty="0" err="1"/>
              <a:t>odels</a:t>
            </a:r>
            <a:endParaRPr lang="en-IN" dirty="0"/>
          </a:p>
          <a:p>
            <a:pPr marL="342900" indent="-342900">
              <a:buFont typeface="Arial" panose="020B0604020202020204" pitchFamily="34" charset="0"/>
              <a:buChar char="•"/>
            </a:pPr>
            <a:r>
              <a:rPr lang="en-US" dirty="0"/>
              <a:t>In deep learning, with millions of data available, the split is generally</a:t>
            </a:r>
          </a:p>
          <a:p>
            <a:pPr marL="800100" lvl="1" indent="-342900">
              <a:buFont typeface="Arial" panose="020B0604020202020204" pitchFamily="34" charset="0"/>
              <a:buChar char="•"/>
            </a:pPr>
            <a:r>
              <a:rPr lang="en-US" dirty="0"/>
              <a:t>Training = 98-99 % of the original dataset</a:t>
            </a:r>
          </a:p>
          <a:p>
            <a:pPr marL="800100" lvl="1" indent="-342900">
              <a:buFont typeface="Arial" panose="020B0604020202020204" pitchFamily="34" charset="0"/>
              <a:buChar char="•"/>
            </a:pPr>
            <a:r>
              <a:rPr lang="en-US" dirty="0"/>
              <a:t>Validation = 1-2 % of training dataset</a:t>
            </a:r>
          </a:p>
          <a:p>
            <a:pPr marL="800100" lvl="1" indent="-342900">
              <a:buFont typeface="Arial" panose="020B0604020202020204" pitchFamily="34" charset="0"/>
              <a:buChar char="•"/>
            </a:pPr>
            <a:r>
              <a:rPr lang="en-US" dirty="0"/>
              <a:t>Testing = 1-2 % of the original dataset</a:t>
            </a:r>
            <a:endParaRPr lang="en-IN" dirty="0"/>
          </a:p>
          <a:p>
            <a:pPr marL="342900" indent="-342900">
              <a:buFont typeface="Arial" panose="020B0604020202020204" pitchFamily="34" charset="0"/>
              <a:buChar char="•"/>
            </a:pPr>
            <a:endParaRPr lang="en-IN" dirty="0"/>
          </a:p>
          <a:p>
            <a:endParaRPr lang="en-IN" dirty="0"/>
          </a:p>
        </p:txBody>
      </p:sp>
      <p:sp>
        <p:nvSpPr>
          <p:cNvPr id="3" name="Title 2"/>
          <p:cNvSpPr>
            <a:spLocks noGrp="1"/>
          </p:cNvSpPr>
          <p:nvPr>
            <p:ph type="title"/>
          </p:nvPr>
        </p:nvSpPr>
        <p:spPr/>
        <p:txBody>
          <a:bodyPr/>
          <a:lstStyle/>
          <a:p>
            <a:r>
              <a:rPr lang="en-US" dirty="0"/>
              <a:t>Model selection</a:t>
            </a:r>
            <a:endParaRPr lang="en-IN" dirty="0"/>
          </a:p>
        </p:txBody>
      </p:sp>
    </p:spTree>
    <p:extLst>
      <p:ext uri="{BB962C8B-B14F-4D97-AF65-F5344CB8AC3E}">
        <p14:creationId xmlns:p14="http://schemas.microsoft.com/office/powerpoint/2010/main" val="2661172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0"/>
          </p:nvPr>
        </p:nvPicPr>
        <p:blipFill>
          <a:blip r:embed="rId2"/>
          <a:stretch>
            <a:fillRect/>
          </a:stretch>
        </p:blipFill>
        <p:spPr>
          <a:xfrm>
            <a:off x="11373" y="1676400"/>
            <a:ext cx="8610600" cy="4011438"/>
          </a:xfrm>
          <a:prstGeom prst="rect">
            <a:avLst/>
          </a:prstGeom>
        </p:spPr>
      </p:pic>
      <p:sp>
        <p:nvSpPr>
          <p:cNvPr id="4" name="Title 3"/>
          <p:cNvSpPr>
            <a:spLocks noGrp="1"/>
          </p:cNvSpPr>
          <p:nvPr>
            <p:ph type="title"/>
          </p:nvPr>
        </p:nvSpPr>
        <p:spPr/>
        <p:txBody>
          <a:bodyPr/>
          <a:lstStyle/>
          <a:p>
            <a:r>
              <a:rPr lang="en-US" dirty="0"/>
              <a:t>Model selection</a:t>
            </a:r>
            <a:endParaRPr lang="en-IN" dirty="0"/>
          </a:p>
        </p:txBody>
      </p:sp>
    </p:spTree>
    <p:extLst>
      <p:ext uri="{BB962C8B-B14F-4D97-AF65-F5344CB8AC3E}">
        <p14:creationId xmlns:p14="http://schemas.microsoft.com/office/powerpoint/2010/main" val="3522606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marL="342900" indent="-342900">
              <a:buFont typeface="Arial" panose="020B0604020202020204" pitchFamily="34" charset="0"/>
              <a:buChar char="•"/>
            </a:pPr>
            <a:r>
              <a:rPr lang="en-US" spc="70" dirty="0"/>
              <a:t>Why</a:t>
            </a:r>
            <a:r>
              <a:rPr lang="en-US" spc="120" dirty="0"/>
              <a:t> </a:t>
            </a:r>
            <a:r>
              <a:rPr lang="en-US" dirty="0"/>
              <a:t>do</a:t>
            </a:r>
            <a:r>
              <a:rPr lang="en-US" spc="120" dirty="0"/>
              <a:t> </a:t>
            </a:r>
            <a:r>
              <a:rPr lang="en-US" dirty="0"/>
              <a:t>we</a:t>
            </a:r>
            <a:r>
              <a:rPr lang="en-US" spc="125" dirty="0"/>
              <a:t> </a:t>
            </a:r>
            <a:r>
              <a:rPr lang="en-US" dirty="0"/>
              <a:t>care</a:t>
            </a:r>
            <a:r>
              <a:rPr lang="en-US" spc="120" dirty="0"/>
              <a:t> </a:t>
            </a:r>
            <a:r>
              <a:rPr lang="en-US" dirty="0"/>
              <a:t>about</a:t>
            </a:r>
            <a:r>
              <a:rPr lang="en-US" spc="120" dirty="0"/>
              <a:t> </a:t>
            </a:r>
            <a:r>
              <a:rPr lang="en-US" spc="-20" dirty="0"/>
              <a:t>this </a:t>
            </a:r>
            <a:r>
              <a:rPr lang="en-US" dirty="0"/>
              <a:t>bias</a:t>
            </a:r>
            <a:r>
              <a:rPr lang="en-US" spc="185" dirty="0"/>
              <a:t> </a:t>
            </a:r>
            <a:r>
              <a:rPr lang="en-US" dirty="0"/>
              <a:t>variance</a:t>
            </a:r>
            <a:r>
              <a:rPr lang="en-US" spc="185" dirty="0"/>
              <a:t> </a:t>
            </a:r>
            <a:r>
              <a:rPr lang="en-US" dirty="0"/>
              <a:t>tradeoff</a:t>
            </a:r>
            <a:r>
              <a:rPr lang="en-US" spc="180" dirty="0"/>
              <a:t> </a:t>
            </a:r>
            <a:r>
              <a:rPr lang="en-US" spc="-25" dirty="0"/>
              <a:t>and </a:t>
            </a:r>
            <a:r>
              <a:rPr lang="en-US" dirty="0"/>
              <a:t>model</a:t>
            </a:r>
            <a:r>
              <a:rPr lang="en-US" spc="155" dirty="0"/>
              <a:t> </a:t>
            </a:r>
            <a:r>
              <a:rPr lang="en-US" spc="-10" dirty="0"/>
              <a:t>complexity?</a:t>
            </a:r>
          </a:p>
          <a:p>
            <a:pPr marL="355600" marR="5080" indent="-342900">
              <a:lnSpc>
                <a:spcPct val="102600"/>
              </a:lnSpc>
              <a:spcBef>
                <a:spcPts val="55"/>
              </a:spcBef>
              <a:buFont typeface="Arial" panose="020B0604020202020204" pitchFamily="34" charset="0"/>
              <a:buChar char="•"/>
            </a:pPr>
            <a:r>
              <a:rPr lang="en-US" dirty="0">
                <a:cs typeface="Calibri"/>
              </a:rPr>
              <a:t>Deep</a:t>
            </a:r>
            <a:r>
              <a:rPr lang="en-US" spc="150" dirty="0">
                <a:cs typeface="Calibri"/>
              </a:rPr>
              <a:t>  </a:t>
            </a:r>
            <a:r>
              <a:rPr lang="en-US" dirty="0">
                <a:cs typeface="Calibri"/>
              </a:rPr>
              <a:t>Neural</a:t>
            </a:r>
            <a:r>
              <a:rPr lang="en-US" spc="155" dirty="0">
                <a:cs typeface="Calibri"/>
              </a:rPr>
              <a:t>  </a:t>
            </a:r>
            <a:r>
              <a:rPr lang="en-US" dirty="0">
                <a:cs typeface="Calibri"/>
              </a:rPr>
              <a:t>networks</a:t>
            </a:r>
            <a:r>
              <a:rPr lang="en-US" spc="150" dirty="0">
                <a:cs typeface="Calibri"/>
              </a:rPr>
              <a:t>  </a:t>
            </a:r>
            <a:r>
              <a:rPr lang="en-US" dirty="0">
                <a:cs typeface="Calibri"/>
              </a:rPr>
              <a:t>are</a:t>
            </a:r>
            <a:r>
              <a:rPr lang="en-US" spc="155" dirty="0">
                <a:cs typeface="Calibri"/>
              </a:rPr>
              <a:t>  </a:t>
            </a:r>
            <a:r>
              <a:rPr lang="en-US" dirty="0">
                <a:cs typeface="Calibri"/>
              </a:rPr>
              <a:t>highly</a:t>
            </a:r>
            <a:r>
              <a:rPr lang="en-US" spc="150" dirty="0">
                <a:cs typeface="Calibri"/>
              </a:rPr>
              <a:t>  </a:t>
            </a:r>
            <a:r>
              <a:rPr lang="en-US" spc="-10" dirty="0">
                <a:cs typeface="Calibri"/>
              </a:rPr>
              <a:t>complex models. </a:t>
            </a:r>
            <a:r>
              <a:rPr lang="en-US" dirty="0">
                <a:cs typeface="Calibri"/>
              </a:rPr>
              <a:t>Many</a:t>
            </a:r>
            <a:r>
              <a:rPr lang="en-US" spc="260" dirty="0">
                <a:cs typeface="Calibri"/>
              </a:rPr>
              <a:t> </a:t>
            </a:r>
            <a:r>
              <a:rPr lang="en-US" dirty="0">
                <a:cs typeface="Calibri"/>
              </a:rPr>
              <a:t>parameters,</a:t>
            </a:r>
            <a:r>
              <a:rPr lang="en-US" spc="265" dirty="0">
                <a:cs typeface="Calibri"/>
              </a:rPr>
              <a:t> </a:t>
            </a:r>
            <a:r>
              <a:rPr lang="en-US" dirty="0">
                <a:cs typeface="Calibri"/>
              </a:rPr>
              <a:t>many</a:t>
            </a:r>
            <a:r>
              <a:rPr lang="en-US" spc="265" dirty="0">
                <a:cs typeface="Calibri"/>
              </a:rPr>
              <a:t> </a:t>
            </a:r>
            <a:r>
              <a:rPr lang="en-US" dirty="0">
                <a:cs typeface="Calibri"/>
              </a:rPr>
              <a:t>non</a:t>
            </a:r>
            <a:r>
              <a:rPr lang="en-US" spc="-10" dirty="0">
                <a:cs typeface="Calibri"/>
              </a:rPr>
              <a:t>linearities.</a:t>
            </a:r>
            <a:endParaRPr lang="en-US" dirty="0">
              <a:cs typeface="Calibri"/>
            </a:endParaRPr>
          </a:p>
          <a:p>
            <a:pPr marL="355600" marR="5715" indent="-342900">
              <a:lnSpc>
                <a:spcPct val="102600"/>
              </a:lnSpc>
              <a:spcBef>
                <a:spcPts val="300"/>
              </a:spcBef>
              <a:buFont typeface="Arial" panose="020B0604020202020204" pitchFamily="34" charset="0"/>
              <a:buChar char="•"/>
            </a:pPr>
            <a:r>
              <a:rPr lang="en-US" spc="85" dirty="0">
                <a:cs typeface="Calibri"/>
              </a:rPr>
              <a:t>It</a:t>
            </a:r>
            <a:r>
              <a:rPr lang="en-US" spc="60" dirty="0">
                <a:cs typeface="Calibri"/>
              </a:rPr>
              <a:t> </a:t>
            </a:r>
            <a:r>
              <a:rPr lang="en-US" dirty="0">
                <a:cs typeface="Calibri"/>
              </a:rPr>
              <a:t>is</a:t>
            </a:r>
            <a:r>
              <a:rPr lang="en-US" spc="55" dirty="0">
                <a:cs typeface="Calibri"/>
              </a:rPr>
              <a:t> </a:t>
            </a:r>
            <a:r>
              <a:rPr lang="en-US" dirty="0">
                <a:cs typeface="Calibri"/>
              </a:rPr>
              <a:t>easy</a:t>
            </a:r>
            <a:r>
              <a:rPr lang="en-US" spc="55" dirty="0">
                <a:cs typeface="Calibri"/>
              </a:rPr>
              <a:t> </a:t>
            </a:r>
            <a:r>
              <a:rPr lang="en-US" dirty="0">
                <a:cs typeface="Calibri"/>
              </a:rPr>
              <a:t>for</a:t>
            </a:r>
            <a:r>
              <a:rPr lang="en-US" spc="55" dirty="0">
                <a:cs typeface="Calibri"/>
              </a:rPr>
              <a:t> </a:t>
            </a:r>
            <a:r>
              <a:rPr lang="en-US" dirty="0">
                <a:cs typeface="Calibri"/>
              </a:rPr>
              <a:t>them</a:t>
            </a:r>
            <a:r>
              <a:rPr lang="en-US" spc="60" dirty="0">
                <a:cs typeface="Calibri"/>
              </a:rPr>
              <a:t> </a:t>
            </a:r>
            <a:r>
              <a:rPr lang="en-US" dirty="0">
                <a:cs typeface="Calibri"/>
              </a:rPr>
              <a:t>to</a:t>
            </a:r>
            <a:r>
              <a:rPr lang="en-US" spc="55" dirty="0">
                <a:cs typeface="Calibri"/>
              </a:rPr>
              <a:t> </a:t>
            </a:r>
            <a:r>
              <a:rPr lang="en-US" dirty="0" err="1">
                <a:cs typeface="Calibri"/>
              </a:rPr>
              <a:t>overfit</a:t>
            </a:r>
            <a:r>
              <a:rPr lang="en-US" spc="60" dirty="0">
                <a:cs typeface="Calibri"/>
              </a:rPr>
              <a:t> </a:t>
            </a:r>
            <a:r>
              <a:rPr lang="en-US" dirty="0">
                <a:cs typeface="Calibri"/>
              </a:rPr>
              <a:t>and</a:t>
            </a:r>
            <a:r>
              <a:rPr lang="en-US" spc="55" dirty="0">
                <a:cs typeface="Calibri"/>
              </a:rPr>
              <a:t> </a:t>
            </a:r>
            <a:r>
              <a:rPr lang="en-US" dirty="0">
                <a:cs typeface="Calibri"/>
              </a:rPr>
              <a:t>drive</a:t>
            </a:r>
            <a:r>
              <a:rPr lang="en-US" spc="60" dirty="0">
                <a:cs typeface="Calibri"/>
              </a:rPr>
              <a:t> </a:t>
            </a:r>
            <a:r>
              <a:rPr lang="en-US" spc="-10" dirty="0">
                <a:cs typeface="Calibri"/>
              </a:rPr>
              <a:t>training </a:t>
            </a:r>
            <a:r>
              <a:rPr lang="en-US" dirty="0">
                <a:cs typeface="Calibri"/>
              </a:rPr>
              <a:t>error</a:t>
            </a:r>
            <a:r>
              <a:rPr lang="en-US" spc="125" dirty="0">
                <a:cs typeface="Calibri"/>
              </a:rPr>
              <a:t> </a:t>
            </a:r>
            <a:r>
              <a:rPr lang="en-US" dirty="0">
                <a:cs typeface="Calibri"/>
              </a:rPr>
              <a:t>to</a:t>
            </a:r>
            <a:r>
              <a:rPr lang="en-US" spc="130" dirty="0">
                <a:cs typeface="Calibri"/>
              </a:rPr>
              <a:t> </a:t>
            </a:r>
            <a:r>
              <a:rPr lang="en-US" spc="-25" dirty="0">
                <a:cs typeface="Calibri"/>
              </a:rPr>
              <a:t>0.</a:t>
            </a:r>
            <a:endParaRPr lang="en-US" dirty="0">
              <a:cs typeface="Calibri"/>
            </a:endParaRPr>
          </a:p>
          <a:p>
            <a:pPr marL="355600" indent="-342900">
              <a:lnSpc>
                <a:spcPct val="100000"/>
              </a:lnSpc>
              <a:spcBef>
                <a:spcPts val="330"/>
              </a:spcBef>
              <a:buFont typeface="Arial" panose="020B0604020202020204" pitchFamily="34" charset="0"/>
              <a:buChar char="•"/>
            </a:pPr>
            <a:r>
              <a:rPr lang="en-US" dirty="0">
                <a:cs typeface="Calibri"/>
              </a:rPr>
              <a:t>Hence</a:t>
            </a:r>
            <a:r>
              <a:rPr lang="en-US" spc="70" dirty="0">
                <a:cs typeface="Calibri"/>
              </a:rPr>
              <a:t> </a:t>
            </a:r>
            <a:r>
              <a:rPr lang="en-US" dirty="0">
                <a:cs typeface="Calibri"/>
              </a:rPr>
              <a:t>we</a:t>
            </a:r>
            <a:r>
              <a:rPr lang="en-US" spc="75" dirty="0">
                <a:cs typeface="Calibri"/>
              </a:rPr>
              <a:t> </a:t>
            </a:r>
            <a:r>
              <a:rPr lang="en-US" dirty="0">
                <a:cs typeface="Calibri"/>
              </a:rPr>
              <a:t>need</a:t>
            </a:r>
            <a:r>
              <a:rPr lang="en-US" spc="75" dirty="0">
                <a:cs typeface="Calibri"/>
              </a:rPr>
              <a:t> </a:t>
            </a:r>
            <a:r>
              <a:rPr lang="en-US" dirty="0">
                <a:cs typeface="Calibri"/>
              </a:rPr>
              <a:t>some</a:t>
            </a:r>
            <a:r>
              <a:rPr lang="en-US" spc="75" dirty="0">
                <a:cs typeface="Calibri"/>
              </a:rPr>
              <a:t> </a:t>
            </a:r>
            <a:r>
              <a:rPr lang="en-US" dirty="0">
                <a:cs typeface="Calibri"/>
              </a:rPr>
              <a:t>form</a:t>
            </a:r>
            <a:r>
              <a:rPr lang="en-US" spc="70" dirty="0">
                <a:cs typeface="Calibri"/>
              </a:rPr>
              <a:t> </a:t>
            </a:r>
            <a:r>
              <a:rPr lang="en-US" dirty="0">
                <a:cs typeface="Calibri"/>
              </a:rPr>
              <a:t>of</a:t>
            </a:r>
            <a:r>
              <a:rPr lang="en-US" spc="70" dirty="0">
                <a:cs typeface="Calibri"/>
              </a:rPr>
              <a:t> </a:t>
            </a:r>
            <a:r>
              <a:rPr lang="en-US" spc="-10" dirty="0">
                <a:cs typeface="Calibri"/>
              </a:rPr>
              <a:t>regularization.</a:t>
            </a:r>
            <a:endParaRPr lang="en-US" dirty="0">
              <a:cs typeface="Calibri"/>
            </a:endParaRPr>
          </a:p>
          <a:p>
            <a:pPr marL="342900" indent="-342900">
              <a:buFont typeface="Arial" panose="020B0604020202020204" pitchFamily="34" charset="0"/>
              <a:buChar char="•"/>
            </a:pPr>
            <a:endParaRPr lang="en-IN" dirty="0"/>
          </a:p>
        </p:txBody>
      </p:sp>
      <p:sp>
        <p:nvSpPr>
          <p:cNvPr id="4" name="Content Placeholder 2"/>
          <p:cNvSpPr>
            <a:spLocks noGrp="1"/>
          </p:cNvSpPr>
          <p:nvPr>
            <p:ph type="title"/>
          </p:nvPr>
        </p:nvSpPr>
        <p:spPr>
          <a:noFill/>
          <a:ln w="9525">
            <a:noFill/>
            <a:miter lim="800000"/>
            <a:headEnd/>
            <a:tailEnd/>
          </a:ln>
        </p:spPr>
        <p:txBody>
          <a:bodyPr vert="horz" wrap="square" lIns="91440" tIns="45720" rIns="91440" bIns="45720" numCol="1" rtlCol="0" anchor="ctr" anchorCtr="0" compatLnSpc="1">
            <a:prstTxWarp prst="textNoShape">
              <a:avLst/>
            </a:prstTxWarp>
            <a:normAutofit fontScale="97500"/>
          </a:bodyPr>
          <a:lstStyle/>
          <a:p>
            <a:r>
              <a:rPr lang="en-US" sz="3600" b="0" dirty="0">
                <a:latin typeface="Cambria" panose="02040503050406030204" pitchFamily="18" charset="0"/>
                <a:ea typeface="Cambria" panose="02040503050406030204" pitchFamily="18" charset="0"/>
                <a:cs typeface="+mj-cs"/>
              </a:rPr>
              <a:t>Model complexity</a:t>
            </a:r>
            <a:endParaRPr lang="en-IN" sz="3600" b="0" dirty="0">
              <a:latin typeface="Cambria" panose="02040503050406030204" pitchFamily="18" charset="0"/>
              <a:ea typeface="Cambria" panose="02040503050406030204" pitchFamily="18" charset="0"/>
              <a:cs typeface="+mj-cs"/>
            </a:endParaRPr>
          </a:p>
        </p:txBody>
      </p:sp>
    </p:spTree>
    <p:extLst>
      <p:ext uri="{BB962C8B-B14F-4D97-AF65-F5344CB8AC3E}">
        <p14:creationId xmlns:p14="http://schemas.microsoft.com/office/powerpoint/2010/main" val="2225332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vert="horz" lIns="91440" tIns="45720" rIns="91440" bIns="45720" rtlCol="0">
            <a:normAutofit/>
          </a:bodyPr>
          <a:lstStyle/>
          <a:p>
            <a:pPr marL="342900" indent="-342900">
              <a:buFont typeface="Arial" panose="020B0604020202020204" pitchFamily="34" charset="0"/>
              <a:buChar char="•"/>
            </a:pPr>
            <a:r>
              <a:rPr lang="en-US" spc="70" dirty="0"/>
              <a:t>l</a:t>
            </a:r>
            <a:r>
              <a:rPr lang="en-US" spc="70" baseline="-25000" dirty="0"/>
              <a:t>2</a:t>
            </a:r>
            <a:r>
              <a:rPr lang="en-US" spc="70" dirty="0"/>
              <a:t> regularization </a:t>
            </a:r>
          </a:p>
          <a:p>
            <a:pPr marL="342900" indent="-342900">
              <a:buFont typeface="Arial" panose="020B0604020202020204" pitchFamily="34" charset="0"/>
              <a:buChar char="•"/>
            </a:pPr>
            <a:r>
              <a:rPr lang="en-US" spc="70" dirty="0"/>
              <a:t>Dataset augmentation</a:t>
            </a:r>
          </a:p>
          <a:p>
            <a:pPr marL="342900" indent="-342900">
              <a:buFont typeface="Arial" panose="020B0604020202020204" pitchFamily="34" charset="0"/>
              <a:buChar char="•"/>
            </a:pPr>
            <a:r>
              <a:rPr lang="en-US" spc="70" dirty="0"/>
              <a:t>Early stopping</a:t>
            </a:r>
          </a:p>
          <a:p>
            <a:pPr marL="342900" indent="-342900">
              <a:buFont typeface="Arial" panose="020B0604020202020204" pitchFamily="34" charset="0"/>
              <a:buChar char="•"/>
            </a:pPr>
            <a:r>
              <a:rPr lang="en-US" spc="70" dirty="0"/>
              <a:t>Ensemble methods </a:t>
            </a:r>
          </a:p>
          <a:p>
            <a:pPr marL="342900" indent="-342900">
              <a:buFont typeface="Arial" panose="020B0604020202020204" pitchFamily="34" charset="0"/>
              <a:buChar char="•"/>
            </a:pPr>
            <a:r>
              <a:rPr lang="en-US" spc="70" dirty="0"/>
              <a:t>Dropout</a:t>
            </a:r>
          </a:p>
        </p:txBody>
      </p:sp>
      <p:sp>
        <p:nvSpPr>
          <p:cNvPr id="3" name="Title 2"/>
          <p:cNvSpPr>
            <a:spLocks noGrp="1"/>
          </p:cNvSpPr>
          <p:nvPr>
            <p:ph type="title"/>
          </p:nvPr>
        </p:nvSpPr>
        <p:spPr/>
        <p:txBody>
          <a:bodyPr/>
          <a:lstStyle/>
          <a:p>
            <a:r>
              <a:rPr lang="en-US" spc="70" dirty="0"/>
              <a:t>Different forms of regularization</a:t>
            </a:r>
            <a:br>
              <a:rPr lang="en-US" spc="70" dirty="0"/>
            </a:br>
            <a:endParaRPr lang="en-IN" dirty="0"/>
          </a:p>
        </p:txBody>
      </p:sp>
    </p:spTree>
    <p:extLst>
      <p:ext uri="{BB962C8B-B14F-4D97-AF65-F5344CB8AC3E}">
        <p14:creationId xmlns:p14="http://schemas.microsoft.com/office/powerpoint/2010/main" val="3717120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pc="70" dirty="0"/>
              <a:t>l</a:t>
            </a:r>
            <a:r>
              <a:rPr lang="en-US" spc="70" baseline="-25000" dirty="0"/>
              <a:t>2</a:t>
            </a:r>
            <a:r>
              <a:rPr lang="en-US" spc="70" dirty="0"/>
              <a:t> regularization- weight decay </a:t>
            </a:r>
            <a:endParaRPr lang="en-IN" dirty="0"/>
          </a:p>
        </p:txBody>
      </p:sp>
      <p:pic>
        <p:nvPicPr>
          <p:cNvPr id="5" name="Picture 4"/>
          <p:cNvPicPr>
            <a:picLocks noChangeAspect="1"/>
          </p:cNvPicPr>
          <p:nvPr/>
        </p:nvPicPr>
        <p:blipFill>
          <a:blip r:embed="rId3"/>
          <a:stretch>
            <a:fillRect/>
          </a:stretch>
        </p:blipFill>
        <p:spPr>
          <a:xfrm>
            <a:off x="170775" y="4906784"/>
            <a:ext cx="8385496" cy="1272458"/>
          </a:xfrm>
          <a:prstGeom prst="rect">
            <a:avLst/>
          </a:prstGeom>
        </p:spPr>
      </p:pic>
      <p:pic>
        <p:nvPicPr>
          <p:cNvPr id="6" name="Content Placeholder 4"/>
          <p:cNvPicPr>
            <a:picLocks noChangeAspect="1"/>
          </p:cNvPicPr>
          <p:nvPr/>
        </p:nvPicPr>
        <p:blipFill>
          <a:blip r:embed="rId4"/>
          <a:stretch>
            <a:fillRect/>
          </a:stretch>
        </p:blipFill>
        <p:spPr>
          <a:xfrm>
            <a:off x="178796" y="3282569"/>
            <a:ext cx="8545913" cy="659068"/>
          </a:xfrm>
          <a:prstGeom prst="rect">
            <a:avLst/>
          </a:prstGeom>
          <a:ln>
            <a:noFill/>
          </a:ln>
        </p:spPr>
      </p:pic>
      <p:sp>
        <p:nvSpPr>
          <p:cNvPr id="7" name="TextBox 6"/>
          <p:cNvSpPr txBox="1"/>
          <p:nvPr/>
        </p:nvSpPr>
        <p:spPr>
          <a:xfrm>
            <a:off x="170775" y="1320411"/>
            <a:ext cx="2991525" cy="400110"/>
          </a:xfrm>
          <a:prstGeom prst="rect">
            <a:avLst/>
          </a:prstGeom>
          <a:noFill/>
        </p:spPr>
        <p:txBody>
          <a:bodyPr wrap="none" rtlCol="0">
            <a:spAutoFit/>
          </a:bodyPr>
          <a:lstStyle/>
          <a:p>
            <a:r>
              <a:rPr lang="en-US" sz="2000" dirty="0">
                <a:solidFill>
                  <a:srgbClr val="FF0000"/>
                </a:solidFill>
                <a:latin typeface="Cambria" panose="02040503050406030204" pitchFamily="18" charset="0"/>
                <a:ea typeface="Cambria" panose="02040503050406030204" pitchFamily="18" charset="0"/>
              </a:rPr>
              <a:t>Regularized Cost function</a:t>
            </a:r>
            <a:endParaRPr lang="en-IN" sz="2000" dirty="0">
              <a:solidFill>
                <a:srgbClr val="FF0000"/>
              </a:solidFill>
              <a:latin typeface="Cambria" panose="02040503050406030204" pitchFamily="18" charset="0"/>
              <a:ea typeface="Cambria" panose="02040503050406030204" pitchFamily="18" charset="0"/>
            </a:endParaRPr>
          </a:p>
        </p:txBody>
      </p:sp>
      <p:sp>
        <p:nvSpPr>
          <p:cNvPr id="8" name="TextBox 7"/>
          <p:cNvSpPr txBox="1"/>
          <p:nvPr/>
        </p:nvSpPr>
        <p:spPr>
          <a:xfrm>
            <a:off x="170775" y="2862937"/>
            <a:ext cx="5299849" cy="400110"/>
          </a:xfrm>
          <a:prstGeom prst="rect">
            <a:avLst/>
          </a:prstGeom>
          <a:noFill/>
        </p:spPr>
        <p:txBody>
          <a:bodyPr wrap="none" rtlCol="0">
            <a:spAutoFit/>
          </a:bodyPr>
          <a:lstStyle/>
          <a:p>
            <a:r>
              <a:rPr lang="en-US" sz="2000" dirty="0">
                <a:solidFill>
                  <a:srgbClr val="FF0000"/>
                </a:solidFill>
                <a:latin typeface="Cambria" panose="02040503050406030204" pitchFamily="18" charset="0"/>
                <a:ea typeface="Cambria" panose="02040503050406030204" pitchFamily="18" charset="0"/>
              </a:rPr>
              <a:t>Regularized Cost function – Logistic regression</a:t>
            </a:r>
            <a:endParaRPr lang="en-IN" sz="2000" dirty="0">
              <a:solidFill>
                <a:srgbClr val="FF0000"/>
              </a:solidFill>
              <a:latin typeface="Cambria" panose="02040503050406030204" pitchFamily="18" charset="0"/>
              <a:ea typeface="Cambria" panose="02040503050406030204" pitchFamily="18" charset="0"/>
            </a:endParaRPr>
          </a:p>
        </p:txBody>
      </p:sp>
      <p:sp>
        <p:nvSpPr>
          <p:cNvPr id="9" name="TextBox 8"/>
          <p:cNvSpPr txBox="1"/>
          <p:nvPr/>
        </p:nvSpPr>
        <p:spPr>
          <a:xfrm>
            <a:off x="228600" y="4541994"/>
            <a:ext cx="4958409" cy="400110"/>
          </a:xfrm>
          <a:prstGeom prst="rect">
            <a:avLst/>
          </a:prstGeom>
          <a:noFill/>
        </p:spPr>
        <p:txBody>
          <a:bodyPr wrap="none" rtlCol="0">
            <a:spAutoFit/>
          </a:bodyPr>
          <a:lstStyle/>
          <a:p>
            <a:r>
              <a:rPr lang="en-US" sz="2000" dirty="0">
                <a:solidFill>
                  <a:srgbClr val="FF0000"/>
                </a:solidFill>
                <a:latin typeface="Cambria" panose="02040503050406030204" pitchFamily="18" charset="0"/>
                <a:ea typeface="Cambria" panose="02040503050406030204" pitchFamily="18" charset="0"/>
              </a:rPr>
              <a:t>Regularized Cost function – Neural network</a:t>
            </a:r>
            <a:endParaRPr lang="en-IN" sz="2000" dirty="0">
              <a:solidFill>
                <a:srgbClr val="FF0000"/>
              </a:solidFill>
              <a:latin typeface="Cambria" panose="02040503050406030204" pitchFamily="18" charset="0"/>
              <a:ea typeface="Cambria" panose="02040503050406030204" pitchFamily="18" charset="0"/>
            </a:endParaRPr>
          </a:p>
        </p:txBody>
      </p:sp>
      <p:sp>
        <p:nvSpPr>
          <p:cNvPr id="10" name="Rectangle 9"/>
          <p:cNvSpPr/>
          <p:nvPr/>
        </p:nvSpPr>
        <p:spPr>
          <a:xfrm>
            <a:off x="6061677" y="4224155"/>
            <a:ext cx="2621230" cy="400110"/>
          </a:xfrm>
          <a:prstGeom prst="rect">
            <a:avLst/>
          </a:prstGeom>
          <a:noFill/>
          <a:ln>
            <a:solidFill>
              <a:srgbClr val="C00000"/>
            </a:solidFill>
          </a:ln>
        </p:spPr>
        <p:txBody>
          <a:bodyPr wrap="none" rtlCol="0">
            <a:spAutoFit/>
          </a:bodyPr>
          <a:lstStyle/>
          <a:p>
            <a:r>
              <a:rPr lang="en-US" sz="2000" b="1" dirty="0">
                <a:solidFill>
                  <a:srgbClr val="00B0F0"/>
                </a:solidFill>
                <a:latin typeface="Cambria" panose="02040503050406030204" pitchFamily="18" charset="0"/>
                <a:ea typeface="Cambria" panose="02040503050406030204" pitchFamily="18" charset="0"/>
                <a:sym typeface="Symbol" panose="05050102010706020507" pitchFamily="18" charset="2"/>
              </a:rPr>
              <a:t>w</a:t>
            </a:r>
            <a:r>
              <a:rPr lang="en-US" sz="2000" b="1" baseline="-25000" dirty="0">
                <a:solidFill>
                  <a:srgbClr val="00B0F0"/>
                </a:solidFill>
                <a:latin typeface="Cambria" panose="02040503050406030204" pitchFamily="18" charset="0"/>
                <a:ea typeface="Cambria" panose="02040503050406030204" pitchFamily="18" charset="0"/>
                <a:sym typeface="Symbol" panose="05050102010706020507" pitchFamily="18" charset="2"/>
              </a:rPr>
              <a:t>0</a:t>
            </a:r>
            <a:r>
              <a:rPr lang="en-US" sz="2000" b="1" dirty="0">
                <a:solidFill>
                  <a:srgbClr val="00B0F0"/>
                </a:solidFill>
                <a:latin typeface="Cambria" panose="02040503050406030204" pitchFamily="18" charset="0"/>
                <a:ea typeface="Cambria" panose="02040503050406030204" pitchFamily="18" charset="0"/>
              </a:rPr>
              <a:t>​ is not regularized</a:t>
            </a:r>
            <a:endParaRPr lang="en-IN" sz="2000" b="1" dirty="0">
              <a:solidFill>
                <a:srgbClr val="00B0F0"/>
              </a:solidFill>
              <a:latin typeface="Cambria" panose="02040503050406030204" pitchFamily="18" charset="0"/>
              <a:ea typeface="Cambria" panose="02040503050406030204" pitchFamily="18" charset="0"/>
            </a:endParaRPr>
          </a:p>
        </p:txBody>
      </p:sp>
      <p:sp>
        <p:nvSpPr>
          <p:cNvPr id="11" name="Rectangle 10"/>
          <p:cNvSpPr/>
          <p:nvPr/>
        </p:nvSpPr>
        <p:spPr>
          <a:xfrm>
            <a:off x="762828" y="3881504"/>
            <a:ext cx="4115742" cy="461665"/>
          </a:xfrm>
          <a:prstGeom prst="rect">
            <a:avLst/>
          </a:prstGeom>
        </p:spPr>
        <p:txBody>
          <a:bodyPr wrap="none">
            <a:spAutoFit/>
          </a:bodyPr>
          <a:lstStyle/>
          <a:p>
            <a:pPr algn="ctr">
              <a:lnSpc>
                <a:spcPct val="100000"/>
              </a:lnSpc>
            </a:pPr>
            <a:r>
              <a:rPr lang="en-IN" sz="2400" i="1" spc="75" dirty="0">
                <a:latin typeface="Cambria" panose="02040503050406030204" pitchFamily="18" charset="0"/>
                <a:ea typeface="Cambria" panose="02040503050406030204" pitchFamily="18" charset="0"/>
                <a:cs typeface="Calibri"/>
              </a:rPr>
              <a:t>w</a:t>
            </a:r>
            <a:r>
              <a:rPr lang="en-IN" sz="2400" i="1" spc="112" baseline="-25000" dirty="0">
                <a:latin typeface="Cambria" panose="02040503050406030204" pitchFamily="18" charset="0"/>
                <a:ea typeface="Cambria" panose="02040503050406030204" pitchFamily="18" charset="0"/>
                <a:cs typeface="Calibri"/>
              </a:rPr>
              <a:t>t</a:t>
            </a:r>
            <a:r>
              <a:rPr lang="en-IN" sz="2400" spc="112" baseline="-25000" dirty="0">
                <a:latin typeface="Cambria" panose="02040503050406030204" pitchFamily="18" charset="0"/>
                <a:ea typeface="Cambria" panose="02040503050406030204" pitchFamily="18" charset="0"/>
                <a:cs typeface="Calibri"/>
              </a:rPr>
              <a:t>+1</a:t>
            </a:r>
            <a:r>
              <a:rPr lang="en-IN" sz="2400" spc="262" baseline="-25000" dirty="0">
                <a:latin typeface="Cambria" panose="02040503050406030204" pitchFamily="18" charset="0"/>
                <a:ea typeface="Cambria" panose="02040503050406030204" pitchFamily="18" charset="0"/>
                <a:cs typeface="Calibri"/>
              </a:rPr>
              <a:t> </a:t>
            </a:r>
            <a:r>
              <a:rPr lang="en-IN" sz="2400" spc="295" dirty="0">
                <a:latin typeface="Cambria" panose="02040503050406030204" pitchFamily="18" charset="0"/>
                <a:ea typeface="Cambria" panose="02040503050406030204" pitchFamily="18" charset="0"/>
                <a:cs typeface="Calibri"/>
              </a:rPr>
              <a:t>=</a:t>
            </a:r>
            <a:r>
              <a:rPr lang="en-IN" sz="2400" spc="70" dirty="0">
                <a:latin typeface="Cambria" panose="02040503050406030204" pitchFamily="18" charset="0"/>
                <a:ea typeface="Cambria" panose="02040503050406030204" pitchFamily="18" charset="0"/>
                <a:cs typeface="Calibri"/>
              </a:rPr>
              <a:t> </a:t>
            </a:r>
            <a:r>
              <a:rPr lang="en-IN" sz="2400" i="1" dirty="0" err="1">
                <a:latin typeface="Cambria" panose="02040503050406030204" pitchFamily="18" charset="0"/>
                <a:ea typeface="Cambria" panose="02040503050406030204" pitchFamily="18" charset="0"/>
                <a:cs typeface="Calibri"/>
              </a:rPr>
              <a:t>w</a:t>
            </a:r>
            <a:r>
              <a:rPr lang="en-IN" sz="2400" i="1" baseline="-25000" dirty="0" err="1">
                <a:latin typeface="Cambria" panose="02040503050406030204" pitchFamily="18" charset="0"/>
                <a:ea typeface="Cambria" panose="02040503050406030204" pitchFamily="18" charset="0"/>
                <a:cs typeface="Calibri"/>
              </a:rPr>
              <a:t>t</a:t>
            </a:r>
            <a:r>
              <a:rPr lang="en-IN" sz="2400" i="1" spc="172" baseline="-10416" dirty="0">
                <a:latin typeface="Cambria" panose="02040503050406030204" pitchFamily="18" charset="0"/>
                <a:ea typeface="Cambria" panose="02040503050406030204" pitchFamily="18" charset="0"/>
                <a:cs typeface="Calibri"/>
              </a:rPr>
              <a:t> </a:t>
            </a:r>
            <a:r>
              <a:rPr lang="en-IN" sz="2400" spc="-254" dirty="0">
                <a:latin typeface="Cambria" panose="02040503050406030204" pitchFamily="18" charset="0"/>
                <a:ea typeface="Cambria" panose="02040503050406030204" pitchFamily="18" charset="0"/>
                <a:cs typeface="Lucida Sans Unicode"/>
              </a:rPr>
              <a:t>—</a:t>
            </a:r>
            <a:r>
              <a:rPr lang="en-IN" sz="2400" spc="-95" dirty="0">
                <a:latin typeface="Cambria" panose="02040503050406030204" pitchFamily="18" charset="0"/>
                <a:ea typeface="Cambria" panose="02040503050406030204" pitchFamily="18" charset="0"/>
                <a:cs typeface="Lucida Sans Unicode"/>
              </a:rPr>
              <a:t> </a:t>
            </a:r>
            <a:r>
              <a:rPr lang="el-GR" sz="2400" i="1" spc="70" dirty="0">
                <a:latin typeface="Cambria" panose="02040503050406030204" pitchFamily="18" charset="0"/>
                <a:ea typeface="Cambria" panose="02040503050406030204" pitchFamily="18" charset="0"/>
                <a:cs typeface="Calibri"/>
              </a:rPr>
              <a:t>η</a:t>
            </a:r>
            <a:r>
              <a:rPr lang="el-GR" sz="2400" spc="70" dirty="0">
                <a:latin typeface="Cambria" panose="02040503050406030204" pitchFamily="18" charset="0"/>
                <a:ea typeface="Cambria" panose="02040503050406030204" pitchFamily="18" charset="0"/>
                <a:cs typeface="Lucida Sans Unicode"/>
              </a:rPr>
              <a:t>∇</a:t>
            </a:r>
            <a:r>
              <a:rPr lang="en-IN" sz="2400" i="1" spc="70" dirty="0">
                <a:latin typeface="Cambria" panose="02040503050406030204" pitchFamily="18" charset="0"/>
                <a:ea typeface="Cambria" panose="02040503050406030204" pitchFamily="18" charset="0"/>
                <a:cs typeface="Georgia"/>
              </a:rPr>
              <a:t>L</a:t>
            </a:r>
            <a:r>
              <a:rPr lang="en-IN" sz="2400" i="1" spc="-55" dirty="0">
                <a:latin typeface="Cambria" panose="02040503050406030204" pitchFamily="18" charset="0"/>
                <a:ea typeface="Cambria" panose="02040503050406030204" pitchFamily="18" charset="0"/>
                <a:cs typeface="Georgia"/>
              </a:rPr>
              <a:t> </a:t>
            </a:r>
            <a:r>
              <a:rPr lang="en-IN" sz="2400" spc="60" dirty="0">
                <a:latin typeface="Cambria" panose="02040503050406030204" pitchFamily="18" charset="0"/>
                <a:ea typeface="Cambria" panose="02040503050406030204" pitchFamily="18" charset="0"/>
                <a:cs typeface="Calibri"/>
              </a:rPr>
              <a:t>(</a:t>
            </a:r>
            <a:r>
              <a:rPr lang="en-IN" sz="2400" i="1" spc="60" dirty="0" err="1">
                <a:latin typeface="Cambria" panose="02040503050406030204" pitchFamily="18" charset="0"/>
                <a:ea typeface="Cambria" panose="02040503050406030204" pitchFamily="18" charset="0"/>
                <a:cs typeface="Calibri"/>
              </a:rPr>
              <a:t>w</a:t>
            </a:r>
            <a:r>
              <a:rPr lang="en-IN" sz="2400" i="1" spc="89" baseline="-25000" dirty="0" err="1">
                <a:latin typeface="Cambria" panose="02040503050406030204" pitchFamily="18" charset="0"/>
                <a:ea typeface="Cambria" panose="02040503050406030204" pitchFamily="18" charset="0"/>
                <a:cs typeface="Calibri"/>
              </a:rPr>
              <a:t>t</a:t>
            </a:r>
            <a:r>
              <a:rPr lang="en-IN" sz="2400" spc="60" dirty="0">
                <a:latin typeface="Cambria" panose="02040503050406030204" pitchFamily="18" charset="0"/>
                <a:ea typeface="Cambria" panose="02040503050406030204" pitchFamily="18" charset="0"/>
                <a:cs typeface="Calibri"/>
              </a:rPr>
              <a:t>)</a:t>
            </a:r>
            <a:r>
              <a:rPr lang="en-IN" sz="2400" dirty="0">
                <a:latin typeface="Cambria" panose="02040503050406030204" pitchFamily="18" charset="0"/>
                <a:ea typeface="Cambria" panose="02040503050406030204" pitchFamily="18" charset="0"/>
                <a:cs typeface="Calibri"/>
              </a:rPr>
              <a:t> </a:t>
            </a:r>
            <a:r>
              <a:rPr lang="en-IN" sz="2400" spc="-254" dirty="0">
                <a:latin typeface="Cambria" panose="02040503050406030204" pitchFamily="18" charset="0"/>
                <a:ea typeface="Cambria" panose="02040503050406030204" pitchFamily="18" charset="0"/>
                <a:cs typeface="Lucida Sans Unicode"/>
              </a:rPr>
              <a:t>—</a:t>
            </a:r>
            <a:r>
              <a:rPr lang="en-IN" sz="2400" spc="-95" dirty="0">
                <a:latin typeface="Cambria" panose="02040503050406030204" pitchFamily="18" charset="0"/>
                <a:ea typeface="Cambria" panose="02040503050406030204" pitchFamily="18" charset="0"/>
                <a:cs typeface="Lucida Sans Unicode"/>
              </a:rPr>
              <a:t> </a:t>
            </a:r>
            <a:r>
              <a:rPr lang="el-GR" sz="2400" i="1" spc="-20" dirty="0">
                <a:latin typeface="Cambria" panose="02040503050406030204" pitchFamily="18" charset="0"/>
                <a:ea typeface="Cambria" panose="02040503050406030204" pitchFamily="18" charset="0"/>
                <a:cs typeface="Calibri"/>
              </a:rPr>
              <a:t>η</a:t>
            </a:r>
            <a:r>
              <a:rPr lang="en-US" sz="2400" i="1" spc="-20" dirty="0">
                <a:latin typeface="Cambria" panose="02040503050406030204" pitchFamily="18" charset="0"/>
                <a:ea typeface="Cambria" panose="02040503050406030204" pitchFamily="18" charset="0"/>
                <a:cs typeface="Calibri"/>
              </a:rPr>
              <a:t> </a:t>
            </a:r>
            <a:r>
              <a:rPr lang="el-GR" sz="2400" i="1" spc="-20" dirty="0">
                <a:latin typeface="Cambria" panose="02040503050406030204" pitchFamily="18" charset="0"/>
                <a:ea typeface="Cambria" panose="02040503050406030204" pitchFamily="18" charset="0"/>
                <a:cs typeface="Calibri"/>
                <a:sym typeface="Symbol" panose="05050102010706020507" pitchFamily="18" charset="2"/>
              </a:rPr>
              <a:t></a:t>
            </a:r>
            <a:r>
              <a:rPr lang="en-US" sz="2400" i="1" spc="-20" dirty="0">
                <a:latin typeface="Cambria" panose="02040503050406030204" pitchFamily="18" charset="0"/>
                <a:ea typeface="Cambria" panose="02040503050406030204" pitchFamily="18" charset="0"/>
                <a:cs typeface="Calibri"/>
              </a:rPr>
              <a:t> </a:t>
            </a:r>
            <a:r>
              <a:rPr lang="en-IN" sz="2400" i="1" spc="-20" dirty="0" err="1">
                <a:latin typeface="Cambria" panose="02040503050406030204" pitchFamily="18" charset="0"/>
                <a:ea typeface="Cambria" panose="02040503050406030204" pitchFamily="18" charset="0"/>
                <a:cs typeface="Calibri"/>
              </a:rPr>
              <a:t>w</a:t>
            </a:r>
            <a:r>
              <a:rPr lang="en-IN" sz="2400" i="1" spc="-30" baseline="-25000" dirty="0" err="1">
                <a:latin typeface="Cambria" panose="02040503050406030204" pitchFamily="18" charset="0"/>
                <a:ea typeface="Cambria" panose="02040503050406030204" pitchFamily="18" charset="0"/>
                <a:cs typeface="Calibri"/>
              </a:rPr>
              <a:t>t</a:t>
            </a:r>
            <a:endParaRPr lang="en-IN" sz="2400" baseline="-25000" dirty="0">
              <a:latin typeface="Cambria" panose="02040503050406030204" pitchFamily="18" charset="0"/>
              <a:ea typeface="Cambria" panose="02040503050406030204" pitchFamily="18" charset="0"/>
              <a:cs typeface="Calibri"/>
            </a:endParaRPr>
          </a:p>
        </p:txBody>
      </p:sp>
      <p:sp>
        <p:nvSpPr>
          <p:cNvPr id="12" name="Rectangle 11"/>
          <p:cNvSpPr/>
          <p:nvPr/>
        </p:nvSpPr>
        <p:spPr>
          <a:xfrm>
            <a:off x="5470624" y="1381064"/>
            <a:ext cx="3520975" cy="1200329"/>
          </a:xfrm>
          <a:prstGeom prst="rect">
            <a:avLst/>
          </a:prstGeom>
        </p:spPr>
        <p:txBody>
          <a:bodyPr wrap="square">
            <a:spAutoFit/>
          </a:bodyPr>
          <a:lstStyle/>
          <a:p>
            <a:pPr algn="l"/>
            <a:r>
              <a:rPr lang="en-US" b="1" i="0" u="none" strike="noStrike" baseline="0" dirty="0">
                <a:solidFill>
                  <a:srgbClr val="00B0F0"/>
                </a:solidFill>
                <a:latin typeface="Cambria" panose="02040503050406030204" pitchFamily="18" charset="0"/>
                <a:ea typeface="Cambria" panose="02040503050406030204" pitchFamily="18" charset="0"/>
              </a:rPr>
              <a:t>Add the norm as a penalty term to the problem of minimizing the loss. This will ensure that the weight vector is small.</a:t>
            </a:r>
            <a:endParaRPr lang="en-IN" b="1" dirty="0">
              <a:solidFill>
                <a:srgbClr val="00B0F0"/>
              </a:solidFill>
              <a:latin typeface="Cambria" panose="02040503050406030204" pitchFamily="18" charset="0"/>
              <a:ea typeface="Cambria" panose="02040503050406030204" pitchFamily="18" charset="0"/>
            </a:endParaRPr>
          </a:p>
        </p:txBody>
      </p:sp>
      <p:pic>
        <p:nvPicPr>
          <p:cNvPr id="14" name="Picture 13"/>
          <p:cNvPicPr>
            <a:picLocks noChangeAspect="1"/>
          </p:cNvPicPr>
          <p:nvPr/>
        </p:nvPicPr>
        <p:blipFill>
          <a:blip r:embed="rId5"/>
          <a:stretch>
            <a:fillRect/>
          </a:stretch>
        </p:blipFill>
        <p:spPr>
          <a:xfrm>
            <a:off x="273858" y="1800452"/>
            <a:ext cx="5196766" cy="496643"/>
          </a:xfrm>
          <a:prstGeom prst="rect">
            <a:avLst/>
          </a:prstGeom>
        </p:spPr>
      </p:pic>
    </p:spTree>
    <p:extLst>
      <p:ext uri="{BB962C8B-B14F-4D97-AF65-F5344CB8AC3E}">
        <p14:creationId xmlns:p14="http://schemas.microsoft.com/office/powerpoint/2010/main" val="3550451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34735" y="1588849"/>
            <a:ext cx="865055" cy="865055"/>
            <a:chOff x="723477" y="808572"/>
            <a:chExt cx="545465" cy="545465"/>
          </a:xfrm>
        </p:grpSpPr>
        <p:sp>
          <p:nvSpPr>
            <p:cNvPr id="3" name="object 3"/>
            <p:cNvSpPr/>
            <p:nvPr/>
          </p:nvSpPr>
          <p:spPr>
            <a:xfrm>
              <a:off x="726008" y="811102"/>
              <a:ext cx="540385" cy="540385"/>
            </a:xfrm>
            <a:custGeom>
              <a:avLst/>
              <a:gdLst/>
              <a:ahLst/>
              <a:cxnLst/>
              <a:rect l="l" t="t" r="r" b="b"/>
              <a:pathLst>
                <a:path w="540385" h="540385">
                  <a:moveTo>
                    <a:pt x="0" y="540006"/>
                  </a:moveTo>
                  <a:lnTo>
                    <a:pt x="0" y="0"/>
                  </a:lnTo>
                  <a:lnTo>
                    <a:pt x="540006" y="0"/>
                  </a:lnTo>
                  <a:lnTo>
                    <a:pt x="540006" y="540006"/>
                  </a:lnTo>
                  <a:lnTo>
                    <a:pt x="0" y="540006"/>
                  </a:lnTo>
                  <a:close/>
                </a:path>
              </a:pathLst>
            </a:custGeom>
            <a:ln w="5060">
              <a:solidFill>
                <a:srgbClr val="000000"/>
              </a:solidFill>
            </a:ln>
          </p:spPr>
          <p:txBody>
            <a:bodyPr wrap="square" lIns="0" tIns="0" rIns="0" bIns="0" rtlCol="0"/>
            <a:lstStyle/>
            <a:p>
              <a:endParaRPr/>
            </a:p>
          </p:txBody>
        </p:sp>
        <p:pic>
          <p:nvPicPr>
            <p:cNvPr id="4" name="object 4"/>
            <p:cNvPicPr/>
            <p:nvPr/>
          </p:nvPicPr>
          <p:blipFill>
            <a:blip r:embed="rId3" cstate="print"/>
            <a:stretch>
              <a:fillRect/>
            </a:stretch>
          </p:blipFill>
          <p:spPr>
            <a:xfrm>
              <a:off x="781697" y="866800"/>
              <a:ext cx="428624" cy="428625"/>
            </a:xfrm>
            <a:prstGeom prst="rect">
              <a:avLst/>
            </a:prstGeom>
          </p:spPr>
        </p:pic>
      </p:grpSp>
      <p:sp>
        <p:nvSpPr>
          <p:cNvPr id="5" name="object 5"/>
          <p:cNvSpPr txBox="1"/>
          <p:nvPr/>
        </p:nvSpPr>
        <p:spPr>
          <a:xfrm>
            <a:off x="682355" y="1261984"/>
            <a:ext cx="913393" cy="286711"/>
          </a:xfrm>
          <a:prstGeom prst="rect">
            <a:avLst/>
          </a:prstGeom>
        </p:spPr>
        <p:txBody>
          <a:bodyPr vert="horz" wrap="square" lIns="0" tIns="18127" rIns="0" bIns="0" rtlCol="0">
            <a:spAutoFit/>
          </a:bodyPr>
          <a:lstStyle/>
          <a:p>
            <a:pPr marL="20141">
              <a:spcBef>
                <a:spcPts val="143"/>
              </a:spcBef>
            </a:pPr>
            <a:r>
              <a:rPr sz="1744" dirty="0">
                <a:latin typeface="Calibri"/>
                <a:cs typeface="Calibri"/>
              </a:rPr>
              <a:t>label</a:t>
            </a:r>
            <a:r>
              <a:rPr sz="1744" spc="278" dirty="0">
                <a:latin typeface="Calibri"/>
                <a:cs typeface="Calibri"/>
              </a:rPr>
              <a:t> </a:t>
            </a:r>
            <a:r>
              <a:rPr sz="1744" spc="468" dirty="0">
                <a:latin typeface="Calibri"/>
                <a:cs typeface="Calibri"/>
              </a:rPr>
              <a:t>=</a:t>
            </a:r>
            <a:r>
              <a:rPr sz="1744" spc="167" dirty="0">
                <a:latin typeface="Calibri"/>
                <a:cs typeface="Calibri"/>
              </a:rPr>
              <a:t> </a:t>
            </a:r>
            <a:r>
              <a:rPr sz="1744" spc="-79" dirty="0">
                <a:latin typeface="Calibri"/>
                <a:cs typeface="Calibri"/>
              </a:rPr>
              <a:t>2</a:t>
            </a:r>
            <a:endParaRPr sz="1744" dirty="0">
              <a:latin typeface="Calibri"/>
              <a:cs typeface="Calibri"/>
            </a:endParaRPr>
          </a:p>
        </p:txBody>
      </p:sp>
      <p:sp>
        <p:nvSpPr>
          <p:cNvPr id="6" name="object 6"/>
          <p:cNvSpPr txBox="1"/>
          <p:nvPr/>
        </p:nvSpPr>
        <p:spPr>
          <a:xfrm>
            <a:off x="236901" y="2596973"/>
            <a:ext cx="3725499" cy="1279226"/>
          </a:xfrm>
          <a:prstGeom prst="rect">
            <a:avLst/>
          </a:prstGeom>
        </p:spPr>
        <p:txBody>
          <a:bodyPr vert="horz" wrap="square" lIns="0" tIns="11078" rIns="0" bIns="0" rtlCol="0">
            <a:spAutoFit/>
          </a:bodyPr>
          <a:lstStyle/>
          <a:p>
            <a:pPr marL="20141" marR="8056" indent="219536">
              <a:lnSpc>
                <a:spcPct val="102600"/>
              </a:lnSpc>
              <a:spcBef>
                <a:spcPts val="87"/>
              </a:spcBef>
            </a:pPr>
            <a:r>
              <a:rPr sz="2000" dirty="0">
                <a:latin typeface="Cambria" panose="02040503050406030204" pitchFamily="18" charset="0"/>
                <a:ea typeface="Cambria" panose="02040503050406030204" pitchFamily="18" charset="0"/>
                <a:cs typeface="Calibri"/>
              </a:rPr>
              <a:t>[given</a:t>
            </a:r>
            <a:r>
              <a:rPr sz="2000" spc="452"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training</a:t>
            </a:r>
            <a:r>
              <a:rPr sz="2000" spc="460" dirty="0">
                <a:latin typeface="Cambria" panose="02040503050406030204" pitchFamily="18" charset="0"/>
                <a:ea typeface="Cambria" panose="02040503050406030204" pitchFamily="18" charset="0"/>
                <a:cs typeface="Calibri"/>
              </a:rPr>
              <a:t> </a:t>
            </a:r>
            <a:r>
              <a:rPr sz="2000" spc="-16" dirty="0">
                <a:latin typeface="Cambria" panose="02040503050406030204" pitchFamily="18" charset="0"/>
                <a:ea typeface="Cambria" panose="02040503050406030204" pitchFamily="18" charset="0"/>
                <a:cs typeface="Calibri"/>
              </a:rPr>
              <a:t>data] </a:t>
            </a:r>
            <a:r>
              <a:rPr sz="2000" dirty="0">
                <a:latin typeface="Cambria" panose="02040503050406030204" pitchFamily="18" charset="0"/>
                <a:ea typeface="Cambria" panose="02040503050406030204" pitchFamily="18" charset="0"/>
                <a:cs typeface="Calibri"/>
              </a:rPr>
              <a:t>We</a:t>
            </a:r>
            <a:r>
              <a:rPr sz="2000" spc="28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exploit</a:t>
            </a:r>
            <a:r>
              <a:rPr sz="2000" spc="28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the</a:t>
            </a:r>
            <a:r>
              <a:rPr sz="2000" spc="285"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fact</a:t>
            </a:r>
            <a:r>
              <a:rPr sz="2000" spc="285" dirty="0">
                <a:latin typeface="Cambria" panose="02040503050406030204" pitchFamily="18" charset="0"/>
                <a:ea typeface="Cambria" panose="02040503050406030204" pitchFamily="18" charset="0"/>
                <a:cs typeface="Calibri"/>
              </a:rPr>
              <a:t> </a:t>
            </a:r>
            <a:r>
              <a:rPr sz="2000" spc="-32" dirty="0">
                <a:latin typeface="Cambria" panose="02040503050406030204" pitchFamily="18" charset="0"/>
                <a:ea typeface="Cambria" panose="02040503050406030204" pitchFamily="18" charset="0"/>
                <a:cs typeface="Calibri"/>
              </a:rPr>
              <a:t>that </a:t>
            </a:r>
            <a:r>
              <a:rPr sz="2000" dirty="0">
                <a:latin typeface="Cambria" panose="02040503050406030204" pitchFamily="18" charset="0"/>
                <a:ea typeface="Cambria" panose="02040503050406030204" pitchFamily="18" charset="0"/>
                <a:cs typeface="Calibri"/>
              </a:rPr>
              <a:t>certain</a:t>
            </a:r>
            <a:r>
              <a:rPr sz="2000" spc="428" dirty="0">
                <a:latin typeface="Cambria" panose="02040503050406030204" pitchFamily="18" charset="0"/>
                <a:ea typeface="Cambria" panose="02040503050406030204" pitchFamily="18" charset="0"/>
                <a:cs typeface="Calibri"/>
              </a:rPr>
              <a:t> </a:t>
            </a:r>
            <a:r>
              <a:rPr sz="2000" spc="-16" dirty="0">
                <a:latin typeface="Cambria" panose="02040503050406030204" pitchFamily="18" charset="0"/>
                <a:ea typeface="Cambria" panose="02040503050406030204" pitchFamily="18" charset="0"/>
                <a:cs typeface="Calibri"/>
              </a:rPr>
              <a:t>transformations </a:t>
            </a:r>
            <a:r>
              <a:rPr sz="2000" dirty="0">
                <a:latin typeface="Cambria" panose="02040503050406030204" pitchFamily="18" charset="0"/>
                <a:ea typeface="Cambria" panose="02040503050406030204" pitchFamily="18" charset="0"/>
                <a:cs typeface="Calibri"/>
              </a:rPr>
              <a:t>to</a:t>
            </a:r>
            <a:r>
              <a:rPr sz="2000" spc="206"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the</a:t>
            </a:r>
            <a:r>
              <a:rPr sz="2000" spc="222"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image</a:t>
            </a:r>
            <a:r>
              <a:rPr sz="2000" spc="222"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do</a:t>
            </a:r>
            <a:r>
              <a:rPr sz="2000" spc="214" dirty="0">
                <a:latin typeface="Cambria" panose="02040503050406030204" pitchFamily="18" charset="0"/>
                <a:ea typeface="Cambria" panose="02040503050406030204" pitchFamily="18" charset="0"/>
                <a:cs typeface="Calibri"/>
              </a:rPr>
              <a:t> </a:t>
            </a:r>
            <a:r>
              <a:rPr sz="2000" spc="-40" dirty="0">
                <a:latin typeface="Cambria" panose="02040503050406030204" pitchFamily="18" charset="0"/>
                <a:ea typeface="Cambria" panose="02040503050406030204" pitchFamily="18" charset="0"/>
                <a:cs typeface="Calibri"/>
              </a:rPr>
              <a:t>not </a:t>
            </a:r>
            <a:r>
              <a:rPr sz="2000" dirty="0">
                <a:latin typeface="Cambria" panose="02040503050406030204" pitchFamily="18" charset="0"/>
                <a:ea typeface="Cambria" panose="02040503050406030204" pitchFamily="18" charset="0"/>
                <a:cs typeface="Calibri"/>
              </a:rPr>
              <a:t>change</a:t>
            </a:r>
            <a:r>
              <a:rPr sz="2000" spc="214"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the</a:t>
            </a:r>
            <a:r>
              <a:rPr sz="2000" spc="222"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label</a:t>
            </a:r>
            <a:r>
              <a:rPr sz="2000" spc="222" dirty="0">
                <a:latin typeface="Cambria" panose="02040503050406030204" pitchFamily="18" charset="0"/>
                <a:ea typeface="Cambria" panose="02040503050406030204" pitchFamily="18" charset="0"/>
                <a:cs typeface="Calibri"/>
              </a:rPr>
              <a:t> </a:t>
            </a:r>
            <a:r>
              <a:rPr sz="2000" dirty="0">
                <a:latin typeface="Cambria" panose="02040503050406030204" pitchFamily="18" charset="0"/>
                <a:ea typeface="Cambria" panose="02040503050406030204" pitchFamily="18" charset="0"/>
                <a:cs typeface="Calibri"/>
              </a:rPr>
              <a:t>of</a:t>
            </a:r>
            <a:r>
              <a:rPr sz="2000" spc="222" dirty="0">
                <a:latin typeface="Cambria" panose="02040503050406030204" pitchFamily="18" charset="0"/>
                <a:ea typeface="Cambria" panose="02040503050406030204" pitchFamily="18" charset="0"/>
                <a:cs typeface="Calibri"/>
              </a:rPr>
              <a:t> </a:t>
            </a:r>
            <a:r>
              <a:rPr sz="2000" spc="-40" dirty="0">
                <a:latin typeface="Cambria" panose="02040503050406030204" pitchFamily="18" charset="0"/>
                <a:ea typeface="Cambria" panose="02040503050406030204" pitchFamily="18" charset="0"/>
                <a:cs typeface="Calibri"/>
              </a:rPr>
              <a:t>the </a:t>
            </a:r>
            <a:r>
              <a:rPr sz="2000" spc="-16" dirty="0">
                <a:latin typeface="Cambria" panose="02040503050406030204" pitchFamily="18" charset="0"/>
                <a:ea typeface="Cambria" panose="02040503050406030204" pitchFamily="18" charset="0"/>
                <a:cs typeface="Calibri"/>
              </a:rPr>
              <a:t>image.</a:t>
            </a:r>
            <a:endParaRPr sz="2000" dirty="0">
              <a:latin typeface="Cambria" panose="02040503050406030204" pitchFamily="18" charset="0"/>
              <a:ea typeface="Cambria" panose="02040503050406030204" pitchFamily="18" charset="0"/>
              <a:cs typeface="Calibri"/>
            </a:endParaRPr>
          </a:p>
        </p:txBody>
      </p:sp>
      <p:sp>
        <p:nvSpPr>
          <p:cNvPr id="26" name="object 26"/>
          <p:cNvSpPr txBox="1"/>
          <p:nvPr/>
        </p:nvSpPr>
        <p:spPr>
          <a:xfrm>
            <a:off x="4690614" y="4849447"/>
            <a:ext cx="4015127" cy="645206"/>
          </a:xfrm>
          <a:prstGeom prst="rect">
            <a:avLst/>
          </a:prstGeom>
        </p:spPr>
        <p:txBody>
          <a:bodyPr vert="horz" wrap="square" lIns="0" tIns="11078" rIns="0" bIns="0" rtlCol="0">
            <a:spAutoFit/>
          </a:bodyPr>
          <a:lstStyle>
            <a:defPPr>
              <a:defRPr kern="0"/>
            </a:defPPr>
            <a:lvl1pPr marL="20141" marR="8056" indent="219536">
              <a:lnSpc>
                <a:spcPct val="102600"/>
              </a:lnSpc>
              <a:spcBef>
                <a:spcPts val="87"/>
              </a:spcBef>
              <a:defRPr sz="2000">
                <a:latin typeface="Cambria" panose="02040503050406030204" pitchFamily="18" charset="0"/>
                <a:ea typeface="Cambria" panose="02040503050406030204" pitchFamily="18" charset="0"/>
                <a:cs typeface="Calibri"/>
              </a:defRPr>
            </a:lvl1pPr>
          </a:lstStyle>
          <a:p>
            <a:r>
              <a:rPr dirty="0"/>
              <a:t>[augmented data = created using some knowledge of the task]</a:t>
            </a:r>
          </a:p>
        </p:txBody>
      </p:sp>
      <p:sp>
        <p:nvSpPr>
          <p:cNvPr id="33" name="Title 32"/>
          <p:cNvSpPr>
            <a:spLocks noGrp="1"/>
          </p:cNvSpPr>
          <p:nvPr>
            <p:ph type="title"/>
          </p:nvPr>
        </p:nvSpPr>
        <p:spPr>
          <a:xfrm>
            <a:off x="196662" y="63453"/>
            <a:ext cx="8160907" cy="1219200"/>
          </a:xfrm>
        </p:spPr>
        <p:txBody>
          <a:bodyPr/>
          <a:lstStyle/>
          <a:p>
            <a:r>
              <a:rPr lang="en-US" spc="70" dirty="0"/>
              <a:t>Dataset augmentation</a:t>
            </a:r>
            <a:br>
              <a:rPr lang="en-US" spc="70" dirty="0"/>
            </a:br>
            <a:endParaRPr lang="en-IN" dirty="0"/>
          </a:p>
        </p:txBody>
      </p:sp>
      <p:sp>
        <p:nvSpPr>
          <p:cNvPr id="36" name="Rectangle 35"/>
          <p:cNvSpPr/>
          <p:nvPr/>
        </p:nvSpPr>
        <p:spPr>
          <a:xfrm>
            <a:off x="0" y="4023312"/>
            <a:ext cx="4532336" cy="2516073"/>
          </a:xfrm>
          <a:prstGeom prst="rect">
            <a:avLst/>
          </a:prstGeom>
        </p:spPr>
        <p:txBody>
          <a:bodyPr wrap="square">
            <a:spAutoFit/>
          </a:bodyPr>
          <a:lstStyle/>
          <a:p>
            <a:pPr marL="298450" indent="-285750">
              <a:lnSpc>
                <a:spcPct val="100000"/>
              </a:lnSpc>
              <a:spcBef>
                <a:spcPts val="434"/>
              </a:spcBef>
              <a:buFont typeface="Arial" panose="020B0604020202020204" pitchFamily="34" charset="0"/>
              <a:buChar char="•"/>
            </a:pPr>
            <a:r>
              <a:rPr lang="en-US" sz="2000" spc="50" dirty="0">
                <a:solidFill>
                  <a:srgbClr val="FF0000"/>
                </a:solidFill>
                <a:latin typeface="Cambria" panose="02040503050406030204" pitchFamily="18" charset="0"/>
                <a:ea typeface="Cambria" panose="02040503050406030204" pitchFamily="18" charset="0"/>
                <a:cs typeface="Calibri"/>
              </a:rPr>
              <a:t>Typically,</a:t>
            </a:r>
            <a:r>
              <a:rPr lang="en-US" sz="2000" spc="15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More</a:t>
            </a:r>
            <a:r>
              <a:rPr lang="en-US" sz="2000" spc="16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data</a:t>
            </a:r>
            <a:r>
              <a:rPr lang="en-US" sz="2000" spc="155" dirty="0">
                <a:solidFill>
                  <a:srgbClr val="FF0000"/>
                </a:solidFill>
                <a:latin typeface="Cambria" panose="02040503050406030204" pitchFamily="18" charset="0"/>
                <a:ea typeface="Cambria" panose="02040503050406030204" pitchFamily="18" charset="0"/>
                <a:cs typeface="Calibri"/>
              </a:rPr>
              <a:t> </a:t>
            </a:r>
            <a:r>
              <a:rPr lang="en-US" sz="2000" spc="295" dirty="0">
                <a:solidFill>
                  <a:srgbClr val="FF0000"/>
                </a:solidFill>
                <a:latin typeface="Cambria" panose="02040503050406030204" pitchFamily="18" charset="0"/>
                <a:ea typeface="Cambria" panose="02040503050406030204" pitchFamily="18" charset="0"/>
                <a:cs typeface="Calibri"/>
              </a:rPr>
              <a:t>=</a:t>
            </a:r>
            <a:r>
              <a:rPr lang="en-US" sz="2000" spc="16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better</a:t>
            </a:r>
            <a:r>
              <a:rPr lang="en-US" sz="2000" spc="155" dirty="0">
                <a:solidFill>
                  <a:srgbClr val="FF0000"/>
                </a:solidFill>
                <a:latin typeface="Cambria" panose="02040503050406030204" pitchFamily="18" charset="0"/>
                <a:ea typeface="Cambria" panose="02040503050406030204" pitchFamily="18" charset="0"/>
                <a:cs typeface="Calibri"/>
              </a:rPr>
              <a:t> </a:t>
            </a:r>
            <a:r>
              <a:rPr lang="en-US" sz="2000" spc="-10" dirty="0">
                <a:solidFill>
                  <a:srgbClr val="FF0000"/>
                </a:solidFill>
                <a:latin typeface="Cambria" panose="02040503050406030204" pitchFamily="18" charset="0"/>
                <a:ea typeface="Cambria" panose="02040503050406030204" pitchFamily="18" charset="0"/>
                <a:cs typeface="Calibri"/>
              </a:rPr>
              <a:t>learning</a:t>
            </a:r>
            <a:endParaRPr lang="en-US" sz="2000" dirty="0">
              <a:solidFill>
                <a:srgbClr val="FF0000"/>
              </a:solidFill>
              <a:latin typeface="Cambria" panose="02040503050406030204" pitchFamily="18" charset="0"/>
              <a:ea typeface="Cambria" panose="02040503050406030204" pitchFamily="18" charset="0"/>
              <a:cs typeface="Calibri"/>
            </a:endParaRPr>
          </a:p>
          <a:p>
            <a:pPr marL="298450" marR="62865" indent="-285750">
              <a:lnSpc>
                <a:spcPct val="125299"/>
              </a:lnSpc>
              <a:buFont typeface="Arial" panose="020B0604020202020204" pitchFamily="34" charset="0"/>
              <a:buChar char="•"/>
            </a:pPr>
            <a:r>
              <a:rPr lang="en-US" sz="2000" dirty="0">
                <a:solidFill>
                  <a:srgbClr val="FF0000"/>
                </a:solidFill>
                <a:latin typeface="Cambria" panose="02040503050406030204" pitchFamily="18" charset="0"/>
                <a:ea typeface="Cambria" panose="02040503050406030204" pitchFamily="18" charset="0"/>
                <a:cs typeface="Calibri"/>
              </a:rPr>
              <a:t>Works</a:t>
            </a:r>
            <a:r>
              <a:rPr lang="en-US" sz="2000" spc="204"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well</a:t>
            </a:r>
            <a:r>
              <a:rPr lang="en-US" sz="2000" spc="21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for</a:t>
            </a:r>
            <a:r>
              <a:rPr lang="en-US" sz="2000" spc="204"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image</a:t>
            </a:r>
            <a:r>
              <a:rPr lang="en-US" sz="2000" spc="21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classification</a:t>
            </a:r>
            <a:r>
              <a:rPr lang="en-US" sz="2000" spc="210" dirty="0">
                <a:solidFill>
                  <a:srgbClr val="FF0000"/>
                </a:solidFill>
                <a:latin typeface="Cambria" panose="02040503050406030204" pitchFamily="18" charset="0"/>
                <a:ea typeface="Cambria" panose="02040503050406030204" pitchFamily="18" charset="0"/>
                <a:cs typeface="Calibri"/>
              </a:rPr>
              <a:t> </a:t>
            </a:r>
            <a:r>
              <a:rPr lang="en-US" sz="2000" spc="114" dirty="0">
                <a:solidFill>
                  <a:srgbClr val="FF0000"/>
                </a:solidFill>
                <a:latin typeface="Cambria" panose="02040503050406030204" pitchFamily="18" charset="0"/>
                <a:ea typeface="Cambria" panose="02040503050406030204" pitchFamily="18" charset="0"/>
                <a:cs typeface="Calibri"/>
              </a:rPr>
              <a:t>/</a:t>
            </a:r>
            <a:r>
              <a:rPr lang="en-US" sz="2000" spc="20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object</a:t>
            </a:r>
            <a:r>
              <a:rPr lang="en-US" sz="2000" spc="204"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recognition</a:t>
            </a:r>
            <a:r>
              <a:rPr lang="en-US" sz="2000" spc="210" dirty="0">
                <a:solidFill>
                  <a:srgbClr val="FF0000"/>
                </a:solidFill>
                <a:latin typeface="Cambria" panose="02040503050406030204" pitchFamily="18" charset="0"/>
                <a:ea typeface="Cambria" panose="02040503050406030204" pitchFamily="18" charset="0"/>
                <a:cs typeface="Calibri"/>
              </a:rPr>
              <a:t> </a:t>
            </a:r>
            <a:r>
              <a:rPr lang="en-US" sz="2000" spc="-10" dirty="0">
                <a:solidFill>
                  <a:srgbClr val="FF0000"/>
                </a:solidFill>
                <a:latin typeface="Cambria" panose="02040503050406030204" pitchFamily="18" charset="0"/>
                <a:ea typeface="Cambria" panose="02040503050406030204" pitchFamily="18" charset="0"/>
                <a:cs typeface="Calibri"/>
              </a:rPr>
              <a:t>tasks </a:t>
            </a:r>
            <a:r>
              <a:rPr lang="en-US" sz="2000" spc="50" dirty="0">
                <a:solidFill>
                  <a:srgbClr val="FF0000"/>
                </a:solidFill>
                <a:latin typeface="Cambria" panose="02040503050406030204" pitchFamily="18" charset="0"/>
                <a:ea typeface="Cambria" panose="02040503050406030204" pitchFamily="18" charset="0"/>
                <a:cs typeface="Calibri"/>
              </a:rPr>
              <a:t>Also</a:t>
            </a:r>
            <a:r>
              <a:rPr lang="en-US" sz="2000" spc="12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shown</a:t>
            </a:r>
            <a:r>
              <a:rPr lang="en-US" sz="2000" spc="12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to</a:t>
            </a:r>
            <a:r>
              <a:rPr lang="en-US" sz="2000" spc="12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work</a:t>
            </a:r>
            <a:r>
              <a:rPr lang="en-US" sz="2000" spc="13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well</a:t>
            </a:r>
            <a:r>
              <a:rPr lang="en-US" sz="2000" spc="12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for</a:t>
            </a:r>
            <a:r>
              <a:rPr lang="en-US" sz="2000" spc="125" dirty="0">
                <a:solidFill>
                  <a:srgbClr val="FF0000"/>
                </a:solidFill>
                <a:latin typeface="Cambria" panose="02040503050406030204" pitchFamily="18" charset="0"/>
                <a:ea typeface="Cambria" panose="02040503050406030204" pitchFamily="18" charset="0"/>
                <a:cs typeface="Calibri"/>
              </a:rPr>
              <a:t> </a:t>
            </a:r>
            <a:r>
              <a:rPr lang="en-US" sz="2000" spc="-10" dirty="0">
                <a:solidFill>
                  <a:srgbClr val="FF0000"/>
                </a:solidFill>
                <a:latin typeface="Cambria" panose="02040503050406030204" pitchFamily="18" charset="0"/>
                <a:ea typeface="Cambria" panose="02040503050406030204" pitchFamily="18" charset="0"/>
                <a:cs typeface="Calibri"/>
              </a:rPr>
              <a:t>speech</a:t>
            </a:r>
            <a:endParaRPr lang="en-US" sz="2000" dirty="0">
              <a:solidFill>
                <a:srgbClr val="FF0000"/>
              </a:solidFill>
              <a:latin typeface="Cambria" panose="02040503050406030204" pitchFamily="18" charset="0"/>
              <a:ea typeface="Cambria" panose="02040503050406030204" pitchFamily="18" charset="0"/>
              <a:cs typeface="Calibri"/>
            </a:endParaRPr>
          </a:p>
          <a:p>
            <a:pPr marL="298450" indent="-285750">
              <a:lnSpc>
                <a:spcPct val="100000"/>
              </a:lnSpc>
              <a:spcBef>
                <a:spcPts val="334"/>
              </a:spcBef>
              <a:buFont typeface="Arial" panose="020B0604020202020204" pitchFamily="34" charset="0"/>
              <a:buChar char="•"/>
            </a:pPr>
            <a:r>
              <a:rPr lang="en-US" sz="2000" dirty="0">
                <a:solidFill>
                  <a:srgbClr val="FF0000"/>
                </a:solidFill>
                <a:latin typeface="Cambria" panose="02040503050406030204" pitchFamily="18" charset="0"/>
                <a:ea typeface="Cambria" panose="02040503050406030204" pitchFamily="18" charset="0"/>
                <a:cs typeface="Calibri"/>
              </a:rPr>
              <a:t>For</a:t>
            </a:r>
            <a:r>
              <a:rPr lang="en-US" sz="2000" spc="14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some</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tasks</a:t>
            </a:r>
            <a:r>
              <a:rPr lang="en-US" sz="2000" spc="145" dirty="0">
                <a:solidFill>
                  <a:srgbClr val="FF0000"/>
                </a:solidFill>
                <a:latin typeface="Cambria" panose="02040503050406030204" pitchFamily="18" charset="0"/>
                <a:ea typeface="Cambria" panose="02040503050406030204" pitchFamily="18" charset="0"/>
                <a:cs typeface="Calibri"/>
              </a:rPr>
              <a:t> </a:t>
            </a:r>
            <a:r>
              <a:rPr lang="en-US" sz="2000" spc="55" dirty="0">
                <a:solidFill>
                  <a:srgbClr val="FF0000"/>
                </a:solidFill>
                <a:latin typeface="Cambria" panose="02040503050406030204" pitchFamily="18" charset="0"/>
                <a:ea typeface="Cambria" panose="02040503050406030204" pitchFamily="18" charset="0"/>
                <a:cs typeface="Calibri"/>
              </a:rPr>
              <a:t>it</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may</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not</a:t>
            </a:r>
            <a:r>
              <a:rPr lang="en-US" sz="2000" spc="14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be</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clear</a:t>
            </a:r>
            <a:r>
              <a:rPr lang="en-US" sz="2000" spc="14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how</a:t>
            </a:r>
            <a:r>
              <a:rPr lang="en-US" sz="2000" spc="145"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to</a:t>
            </a:r>
            <a:r>
              <a:rPr lang="en-US" sz="2000" spc="14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generate</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dirty="0">
                <a:solidFill>
                  <a:srgbClr val="FF0000"/>
                </a:solidFill>
                <a:latin typeface="Cambria" panose="02040503050406030204" pitchFamily="18" charset="0"/>
                <a:ea typeface="Cambria" panose="02040503050406030204" pitchFamily="18" charset="0"/>
                <a:cs typeface="Calibri"/>
              </a:rPr>
              <a:t>such</a:t>
            </a:r>
            <a:r>
              <a:rPr lang="en-US" sz="2000" spc="150" dirty="0">
                <a:solidFill>
                  <a:srgbClr val="FF0000"/>
                </a:solidFill>
                <a:latin typeface="Cambria" panose="02040503050406030204" pitchFamily="18" charset="0"/>
                <a:ea typeface="Cambria" panose="02040503050406030204" pitchFamily="18" charset="0"/>
                <a:cs typeface="Calibri"/>
              </a:rPr>
              <a:t> </a:t>
            </a:r>
            <a:r>
              <a:rPr lang="en-US" sz="2000" spc="-20" dirty="0">
                <a:solidFill>
                  <a:srgbClr val="FF0000"/>
                </a:solidFill>
                <a:latin typeface="Cambria" panose="02040503050406030204" pitchFamily="18" charset="0"/>
                <a:ea typeface="Cambria" panose="02040503050406030204" pitchFamily="18" charset="0"/>
                <a:cs typeface="Calibri"/>
              </a:rPr>
              <a:t>data</a:t>
            </a:r>
            <a:endParaRPr lang="en-US" sz="2000" dirty="0">
              <a:solidFill>
                <a:srgbClr val="FF0000"/>
              </a:solidFill>
              <a:latin typeface="Cambria" panose="02040503050406030204" pitchFamily="18" charset="0"/>
              <a:ea typeface="Cambria" panose="02040503050406030204" pitchFamily="18" charset="0"/>
              <a:cs typeface="Calibri"/>
            </a:endParaRPr>
          </a:p>
        </p:txBody>
      </p:sp>
      <p:pic>
        <p:nvPicPr>
          <p:cNvPr id="37" name="Picture 36"/>
          <p:cNvPicPr>
            <a:picLocks noChangeAspect="1"/>
          </p:cNvPicPr>
          <p:nvPr/>
        </p:nvPicPr>
        <p:blipFill>
          <a:blip r:embed="rId4"/>
          <a:stretch>
            <a:fillRect/>
          </a:stretch>
        </p:blipFill>
        <p:spPr>
          <a:xfrm>
            <a:off x="4187634" y="1409350"/>
            <a:ext cx="4486023" cy="3039347"/>
          </a:xfrm>
          <a:prstGeom prst="rect">
            <a:avLst/>
          </a:prstGeom>
        </p:spPr>
      </p:pic>
      <p:sp>
        <p:nvSpPr>
          <p:cNvPr id="38" name="TextBox 37"/>
          <p:cNvSpPr txBox="1"/>
          <p:nvPr/>
        </p:nvSpPr>
        <p:spPr>
          <a:xfrm>
            <a:off x="7771" y="6616858"/>
            <a:ext cx="1638590" cy="246221"/>
          </a:xfrm>
          <a:prstGeom prst="rect">
            <a:avLst/>
          </a:prstGeom>
          <a:noFill/>
        </p:spPr>
        <p:txBody>
          <a:bodyPr wrap="none" rtlCol="0">
            <a:spAutoFit/>
          </a:bodyPr>
          <a:lstStyle/>
          <a:p>
            <a:r>
              <a:rPr lang="en-IN" sz="1000" dirty="0"/>
              <a:t>Slide credit: IITM CS7015</a:t>
            </a:r>
          </a:p>
        </p:txBody>
      </p:sp>
    </p:spTree>
    <p:extLst>
      <p:ext uri="{BB962C8B-B14F-4D97-AF65-F5344CB8AC3E}">
        <p14:creationId xmlns:p14="http://schemas.microsoft.com/office/powerpoint/2010/main" val="1693520302"/>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228600" y="1664364"/>
            <a:ext cx="4452341" cy="2983836"/>
            <a:chOff x="409526" y="1114044"/>
            <a:chExt cx="4796309" cy="3094834"/>
          </a:xfrm>
        </p:grpSpPr>
        <p:sp>
          <p:nvSpPr>
            <p:cNvPr id="5" name="object 5"/>
            <p:cNvSpPr txBox="1"/>
            <p:nvPr/>
          </p:nvSpPr>
          <p:spPr>
            <a:xfrm>
              <a:off x="4385618" y="3532699"/>
              <a:ext cx="820217" cy="234764"/>
            </a:xfrm>
            <a:prstGeom prst="rect">
              <a:avLst/>
            </a:prstGeom>
          </p:spPr>
          <p:txBody>
            <a:bodyPr vert="horz" wrap="square" lIns="0" tIns="19134" rIns="0" bIns="0" rtlCol="0">
              <a:spAutoFit/>
            </a:bodyPr>
            <a:lstStyle/>
            <a:p>
              <a:pPr marL="20141">
                <a:spcBef>
                  <a:spcPts val="151"/>
                </a:spcBef>
              </a:pPr>
              <a:r>
                <a:rPr sz="1400" spc="103" dirty="0">
                  <a:latin typeface="Calibri"/>
                  <a:cs typeface="Calibri"/>
                </a:rPr>
                <a:t>Steps</a:t>
              </a:r>
              <a:endParaRPr sz="1400" dirty="0">
                <a:latin typeface="Calibri"/>
                <a:cs typeface="Calibri"/>
              </a:endParaRPr>
            </a:p>
          </p:txBody>
        </p:sp>
        <p:sp>
          <p:nvSpPr>
            <p:cNvPr id="12" name="object 12"/>
            <p:cNvSpPr/>
            <p:nvPr/>
          </p:nvSpPr>
          <p:spPr>
            <a:xfrm>
              <a:off x="739703" y="1311627"/>
              <a:ext cx="3060419" cy="1630411"/>
            </a:xfrm>
            <a:custGeom>
              <a:avLst/>
              <a:gdLst/>
              <a:ahLst/>
              <a:cxnLst/>
              <a:rect l="l" t="t" r="r" b="b"/>
              <a:pathLst>
                <a:path w="1929764" h="1028065">
                  <a:moveTo>
                    <a:pt x="0" y="0"/>
                  </a:moveTo>
                  <a:lnTo>
                    <a:pt x="9593" y="52395"/>
                  </a:lnTo>
                  <a:lnTo>
                    <a:pt x="19750" y="103491"/>
                  </a:lnTo>
                  <a:lnTo>
                    <a:pt x="30600" y="153293"/>
                  </a:lnTo>
                  <a:lnTo>
                    <a:pt x="42269" y="201806"/>
                  </a:lnTo>
                  <a:lnTo>
                    <a:pt x="54886" y="249038"/>
                  </a:lnTo>
                  <a:lnTo>
                    <a:pt x="68576" y="294993"/>
                  </a:lnTo>
                  <a:lnTo>
                    <a:pt x="83469" y="339678"/>
                  </a:lnTo>
                  <a:lnTo>
                    <a:pt x="99692" y="383098"/>
                  </a:lnTo>
                  <a:lnTo>
                    <a:pt x="117372" y="425261"/>
                  </a:lnTo>
                  <a:lnTo>
                    <a:pt x="136636" y="466170"/>
                  </a:lnTo>
                  <a:lnTo>
                    <a:pt x="157613" y="505833"/>
                  </a:lnTo>
                  <a:lnTo>
                    <a:pt x="180429" y="544256"/>
                  </a:lnTo>
                  <a:lnTo>
                    <a:pt x="205213" y="581444"/>
                  </a:lnTo>
                  <a:lnTo>
                    <a:pt x="232091" y="617403"/>
                  </a:lnTo>
                  <a:lnTo>
                    <a:pt x="261192" y="652139"/>
                  </a:lnTo>
                  <a:lnTo>
                    <a:pt x="292643" y="685659"/>
                  </a:lnTo>
                  <a:lnTo>
                    <a:pt x="326571" y="717967"/>
                  </a:lnTo>
                  <a:lnTo>
                    <a:pt x="363104" y="749071"/>
                  </a:lnTo>
                  <a:lnTo>
                    <a:pt x="402369" y="778976"/>
                  </a:lnTo>
                  <a:lnTo>
                    <a:pt x="444494" y="807687"/>
                  </a:lnTo>
                  <a:lnTo>
                    <a:pt x="489607" y="835211"/>
                  </a:lnTo>
                </a:path>
                <a:path w="1929764" h="1028065">
                  <a:moveTo>
                    <a:pt x="489607" y="835211"/>
                  </a:moveTo>
                  <a:lnTo>
                    <a:pt x="536654" y="861429"/>
                  </a:lnTo>
                  <a:lnTo>
                    <a:pt x="583324" y="885553"/>
                  </a:lnTo>
                  <a:lnTo>
                    <a:pt x="629649" y="907625"/>
                  </a:lnTo>
                  <a:lnTo>
                    <a:pt x="675667" y="927688"/>
                  </a:lnTo>
                  <a:lnTo>
                    <a:pt x="721411" y="945783"/>
                  </a:lnTo>
                  <a:lnTo>
                    <a:pt x="766918" y="961953"/>
                  </a:lnTo>
                  <a:lnTo>
                    <a:pt x="812221" y="976240"/>
                  </a:lnTo>
                  <a:lnTo>
                    <a:pt x="857355" y="988687"/>
                  </a:lnTo>
                  <a:lnTo>
                    <a:pt x="902357" y="999335"/>
                  </a:lnTo>
                  <a:lnTo>
                    <a:pt x="947261" y="1008227"/>
                  </a:lnTo>
                  <a:lnTo>
                    <a:pt x="992102" y="1015405"/>
                  </a:lnTo>
                  <a:lnTo>
                    <a:pt x="1036914" y="1020911"/>
                  </a:lnTo>
                  <a:lnTo>
                    <a:pt x="1081734" y="1024787"/>
                  </a:lnTo>
                  <a:lnTo>
                    <a:pt x="1126596" y="1027076"/>
                  </a:lnTo>
                  <a:lnTo>
                    <a:pt x="1171535" y="1027820"/>
                  </a:lnTo>
                  <a:lnTo>
                    <a:pt x="1216586" y="1027061"/>
                  </a:lnTo>
                  <a:lnTo>
                    <a:pt x="1261784" y="1024841"/>
                  </a:lnTo>
                  <a:lnTo>
                    <a:pt x="1307164" y="1021202"/>
                  </a:lnTo>
                  <a:lnTo>
                    <a:pt x="1352762" y="1016187"/>
                  </a:lnTo>
                  <a:lnTo>
                    <a:pt x="1398612" y="1009838"/>
                  </a:lnTo>
                  <a:lnTo>
                    <a:pt x="1444749" y="1002197"/>
                  </a:lnTo>
                  <a:lnTo>
                    <a:pt x="1491209" y="993306"/>
                  </a:lnTo>
                  <a:lnTo>
                    <a:pt x="1538026" y="983207"/>
                  </a:lnTo>
                  <a:lnTo>
                    <a:pt x="1585235" y="971944"/>
                  </a:lnTo>
                  <a:lnTo>
                    <a:pt x="1632872" y="959557"/>
                  </a:lnTo>
                  <a:lnTo>
                    <a:pt x="1680971" y="946089"/>
                  </a:lnTo>
                  <a:lnTo>
                    <a:pt x="1729568" y="931582"/>
                  </a:lnTo>
                  <a:lnTo>
                    <a:pt x="1778697" y="916079"/>
                  </a:lnTo>
                  <a:lnTo>
                    <a:pt x="1828394" y="899622"/>
                  </a:lnTo>
                  <a:lnTo>
                    <a:pt x="1878693" y="882253"/>
                  </a:lnTo>
                  <a:lnTo>
                    <a:pt x="1929630" y="864014"/>
                  </a:lnTo>
                </a:path>
              </a:pathLst>
            </a:custGeom>
            <a:ln w="10122">
              <a:solidFill>
                <a:srgbClr val="FF0000"/>
              </a:solidFill>
            </a:ln>
          </p:spPr>
          <p:txBody>
            <a:bodyPr wrap="square" lIns="0" tIns="0" rIns="0" bIns="0" rtlCol="0"/>
            <a:lstStyle/>
            <a:p>
              <a:endParaRPr/>
            </a:p>
          </p:txBody>
        </p:sp>
        <p:grpSp>
          <p:nvGrpSpPr>
            <p:cNvPr id="32" name="Group 31"/>
            <p:cNvGrpSpPr/>
            <p:nvPr/>
          </p:nvGrpSpPr>
          <p:grpSpPr>
            <a:xfrm>
              <a:off x="409526" y="1114044"/>
              <a:ext cx="3840858" cy="3094834"/>
              <a:chOff x="409526" y="1114044"/>
              <a:chExt cx="3840858" cy="3094834"/>
            </a:xfrm>
          </p:grpSpPr>
          <p:grpSp>
            <p:nvGrpSpPr>
              <p:cNvPr id="2" name="object 2"/>
              <p:cNvGrpSpPr/>
              <p:nvPr/>
            </p:nvGrpSpPr>
            <p:grpSpPr>
              <a:xfrm>
                <a:off x="602679" y="3553613"/>
                <a:ext cx="3647705" cy="83585"/>
                <a:chOff x="380022" y="1701007"/>
                <a:chExt cx="2300081" cy="52705"/>
              </a:xfrm>
            </p:grpSpPr>
            <p:sp>
              <p:nvSpPr>
                <p:cNvPr id="3" name="object 3"/>
                <p:cNvSpPr/>
                <p:nvPr/>
              </p:nvSpPr>
              <p:spPr>
                <a:xfrm>
                  <a:off x="380022" y="1727327"/>
                  <a:ext cx="2295525" cy="0"/>
                </a:xfrm>
                <a:custGeom>
                  <a:avLst/>
                  <a:gdLst/>
                  <a:ahLst/>
                  <a:cxnLst/>
                  <a:rect l="l" t="t" r="r" b="b"/>
                  <a:pathLst>
                    <a:path w="2295525">
                      <a:moveTo>
                        <a:pt x="0" y="0"/>
                      </a:moveTo>
                      <a:lnTo>
                        <a:pt x="2295053" y="0"/>
                      </a:lnTo>
                    </a:path>
                  </a:pathLst>
                </a:custGeom>
                <a:ln w="10122">
                  <a:solidFill>
                    <a:srgbClr val="000000"/>
                  </a:solidFill>
                </a:ln>
              </p:spPr>
              <p:txBody>
                <a:bodyPr wrap="square" lIns="0" tIns="0" rIns="0" bIns="0" rtlCol="0"/>
                <a:lstStyle/>
                <a:p>
                  <a:endParaRPr/>
                </a:p>
              </p:txBody>
            </p:sp>
            <p:sp>
              <p:nvSpPr>
                <p:cNvPr id="4" name="object 4"/>
                <p:cNvSpPr/>
                <p:nvPr/>
              </p:nvSpPr>
              <p:spPr>
                <a:xfrm>
                  <a:off x="2655338" y="1701007"/>
                  <a:ext cx="24765" cy="52705"/>
                </a:xfrm>
                <a:custGeom>
                  <a:avLst/>
                  <a:gdLst/>
                  <a:ahLst/>
                  <a:cxnLst/>
                  <a:rect l="l" t="t" r="r" b="b"/>
                  <a:pathLst>
                    <a:path w="24764" h="52705">
                      <a:moveTo>
                        <a:pt x="0" y="0"/>
                      </a:moveTo>
                      <a:lnTo>
                        <a:pt x="3855" y="8044"/>
                      </a:lnTo>
                      <a:lnTo>
                        <a:pt x="11102" y="16242"/>
                      </a:lnTo>
                      <a:lnTo>
                        <a:pt x="18966" y="22898"/>
                      </a:lnTo>
                      <a:lnTo>
                        <a:pt x="24671" y="26316"/>
                      </a:lnTo>
                      <a:lnTo>
                        <a:pt x="18966" y="29734"/>
                      </a:lnTo>
                      <a:lnTo>
                        <a:pt x="11102" y="36391"/>
                      </a:lnTo>
                      <a:lnTo>
                        <a:pt x="3855" y="44589"/>
                      </a:lnTo>
                      <a:lnTo>
                        <a:pt x="0" y="52633"/>
                      </a:lnTo>
                    </a:path>
                  </a:pathLst>
                </a:custGeom>
                <a:ln w="8097">
                  <a:solidFill>
                    <a:srgbClr val="000000"/>
                  </a:solidFill>
                </a:ln>
              </p:spPr>
              <p:txBody>
                <a:bodyPr wrap="square" lIns="0" tIns="0" rIns="0" bIns="0" rtlCol="0"/>
                <a:lstStyle/>
                <a:p>
                  <a:endParaRPr/>
                </a:p>
              </p:txBody>
            </p:sp>
          </p:grpSp>
          <p:grpSp>
            <p:nvGrpSpPr>
              <p:cNvPr id="6" name="object 6"/>
              <p:cNvGrpSpPr/>
              <p:nvPr/>
            </p:nvGrpSpPr>
            <p:grpSpPr>
              <a:xfrm>
                <a:off x="554396" y="1303569"/>
                <a:ext cx="3253774" cy="2300099"/>
                <a:chOff x="349577" y="282223"/>
                <a:chExt cx="2051685" cy="1450340"/>
              </a:xfrm>
            </p:grpSpPr>
            <p:sp>
              <p:nvSpPr>
                <p:cNvPr id="7" name="object 7"/>
                <p:cNvSpPr/>
                <p:nvPr/>
              </p:nvSpPr>
              <p:spPr>
                <a:xfrm>
                  <a:off x="380022" y="296287"/>
                  <a:ext cx="0" cy="1431290"/>
                </a:xfrm>
                <a:custGeom>
                  <a:avLst/>
                  <a:gdLst/>
                  <a:ahLst/>
                  <a:cxnLst/>
                  <a:rect l="l" t="t" r="r" b="b"/>
                  <a:pathLst>
                    <a:path h="1431289">
                      <a:moveTo>
                        <a:pt x="0" y="1431039"/>
                      </a:moveTo>
                      <a:lnTo>
                        <a:pt x="0" y="0"/>
                      </a:lnTo>
                    </a:path>
                  </a:pathLst>
                </a:custGeom>
                <a:ln w="10122">
                  <a:solidFill>
                    <a:srgbClr val="000000"/>
                  </a:solidFill>
                </a:ln>
              </p:spPr>
              <p:txBody>
                <a:bodyPr wrap="square" lIns="0" tIns="0" rIns="0" bIns="0" rtlCol="0"/>
                <a:lstStyle/>
                <a:p>
                  <a:endParaRPr/>
                </a:p>
              </p:txBody>
            </p:sp>
            <p:sp>
              <p:nvSpPr>
                <p:cNvPr id="8" name="object 8"/>
                <p:cNvSpPr/>
                <p:nvPr/>
              </p:nvSpPr>
              <p:spPr>
                <a:xfrm>
                  <a:off x="353705" y="291352"/>
                  <a:ext cx="52705" cy="24765"/>
                </a:xfrm>
                <a:custGeom>
                  <a:avLst/>
                  <a:gdLst/>
                  <a:ahLst/>
                  <a:cxnLst/>
                  <a:rect l="l" t="t" r="r" b="b"/>
                  <a:pathLst>
                    <a:path w="52704" h="24764">
                      <a:moveTo>
                        <a:pt x="0" y="24671"/>
                      </a:moveTo>
                      <a:lnTo>
                        <a:pt x="8044" y="20816"/>
                      </a:lnTo>
                      <a:lnTo>
                        <a:pt x="16242" y="13569"/>
                      </a:lnTo>
                      <a:lnTo>
                        <a:pt x="22898" y="5705"/>
                      </a:lnTo>
                      <a:lnTo>
                        <a:pt x="26316" y="0"/>
                      </a:lnTo>
                      <a:lnTo>
                        <a:pt x="29734" y="5705"/>
                      </a:lnTo>
                      <a:lnTo>
                        <a:pt x="36391" y="13569"/>
                      </a:lnTo>
                      <a:lnTo>
                        <a:pt x="44589" y="20816"/>
                      </a:lnTo>
                      <a:lnTo>
                        <a:pt x="52633" y="24671"/>
                      </a:lnTo>
                    </a:path>
                  </a:pathLst>
                </a:custGeom>
                <a:ln w="8097">
                  <a:solidFill>
                    <a:srgbClr val="000000"/>
                  </a:solidFill>
                </a:ln>
              </p:spPr>
              <p:txBody>
                <a:bodyPr wrap="square" lIns="0" tIns="0" rIns="0" bIns="0" rtlCol="0"/>
                <a:lstStyle/>
                <a:p>
                  <a:endParaRPr/>
                </a:p>
              </p:txBody>
            </p:sp>
            <p:sp>
              <p:nvSpPr>
                <p:cNvPr id="9" name="object 9"/>
                <p:cNvSpPr/>
                <p:nvPr/>
              </p:nvSpPr>
              <p:spPr>
                <a:xfrm>
                  <a:off x="437622" y="287303"/>
                  <a:ext cx="1958975" cy="1411605"/>
                </a:xfrm>
                <a:custGeom>
                  <a:avLst/>
                  <a:gdLst/>
                  <a:ahLst/>
                  <a:cxnLst/>
                  <a:rect l="l" t="t" r="r" b="b"/>
                  <a:pathLst>
                    <a:path w="1958975" h="1411605">
                      <a:moveTo>
                        <a:pt x="0" y="0"/>
                      </a:moveTo>
                      <a:lnTo>
                        <a:pt x="272" y="48698"/>
                      </a:lnTo>
                      <a:lnTo>
                        <a:pt x="1120" y="97678"/>
                      </a:lnTo>
                      <a:lnTo>
                        <a:pt x="2587" y="146854"/>
                      </a:lnTo>
                      <a:lnTo>
                        <a:pt x="4718" y="196142"/>
                      </a:lnTo>
                      <a:lnTo>
                        <a:pt x="7559" y="245456"/>
                      </a:lnTo>
                      <a:lnTo>
                        <a:pt x="11153" y="294713"/>
                      </a:lnTo>
                      <a:lnTo>
                        <a:pt x="15545" y="343827"/>
                      </a:lnTo>
                      <a:lnTo>
                        <a:pt x="20781" y="392713"/>
                      </a:lnTo>
                      <a:lnTo>
                        <a:pt x="26905" y="441287"/>
                      </a:lnTo>
                      <a:lnTo>
                        <a:pt x="33961" y="489464"/>
                      </a:lnTo>
                      <a:lnTo>
                        <a:pt x="41995" y="537158"/>
                      </a:lnTo>
                      <a:lnTo>
                        <a:pt x="51050" y="584286"/>
                      </a:lnTo>
                      <a:lnTo>
                        <a:pt x="61173" y="630762"/>
                      </a:lnTo>
                      <a:lnTo>
                        <a:pt x="72406" y="676502"/>
                      </a:lnTo>
                      <a:lnTo>
                        <a:pt x="84796" y="721421"/>
                      </a:lnTo>
                      <a:lnTo>
                        <a:pt x="98386" y="765433"/>
                      </a:lnTo>
                      <a:lnTo>
                        <a:pt x="113222" y="808455"/>
                      </a:lnTo>
                      <a:lnTo>
                        <a:pt x="129349" y="850401"/>
                      </a:lnTo>
                      <a:lnTo>
                        <a:pt x="146810" y="891187"/>
                      </a:lnTo>
                      <a:lnTo>
                        <a:pt x="165651" y="930727"/>
                      </a:lnTo>
                      <a:lnTo>
                        <a:pt x="185916" y="968938"/>
                      </a:lnTo>
                      <a:lnTo>
                        <a:pt x="207650" y="1005733"/>
                      </a:lnTo>
                      <a:lnTo>
                        <a:pt x="230898" y="1041029"/>
                      </a:lnTo>
                      <a:lnTo>
                        <a:pt x="255704" y="1074741"/>
                      </a:lnTo>
                      <a:lnTo>
                        <a:pt x="282114" y="1106783"/>
                      </a:lnTo>
                      <a:lnTo>
                        <a:pt x="310171" y="1137071"/>
                      </a:lnTo>
                      <a:lnTo>
                        <a:pt x="339921" y="1165520"/>
                      </a:lnTo>
                      <a:lnTo>
                        <a:pt x="371408" y="1192046"/>
                      </a:lnTo>
                      <a:lnTo>
                        <a:pt x="404678" y="1216563"/>
                      </a:lnTo>
                      <a:lnTo>
                        <a:pt x="439774" y="1238987"/>
                      </a:lnTo>
                      <a:lnTo>
                        <a:pt x="476741" y="1259233"/>
                      </a:lnTo>
                      <a:lnTo>
                        <a:pt x="515624" y="1277216"/>
                      </a:lnTo>
                      <a:lnTo>
                        <a:pt x="556469" y="1292851"/>
                      </a:lnTo>
                      <a:lnTo>
                        <a:pt x="599318" y="1306054"/>
                      </a:lnTo>
                      <a:lnTo>
                        <a:pt x="644218" y="1316739"/>
                      </a:lnTo>
                      <a:lnTo>
                        <a:pt x="691213" y="1324823"/>
                      </a:lnTo>
                    </a:path>
                    <a:path w="1958975" h="1411605">
                      <a:moveTo>
                        <a:pt x="691213" y="1324823"/>
                      </a:moveTo>
                      <a:lnTo>
                        <a:pt x="748960" y="1334202"/>
                      </a:lnTo>
                      <a:lnTo>
                        <a:pt x="804879" y="1342720"/>
                      </a:lnTo>
                      <a:lnTo>
                        <a:pt x="859133" y="1350425"/>
                      </a:lnTo>
                      <a:lnTo>
                        <a:pt x="911883" y="1357364"/>
                      </a:lnTo>
                      <a:lnTo>
                        <a:pt x="963291" y="1363587"/>
                      </a:lnTo>
                      <a:lnTo>
                        <a:pt x="1013518" y="1369141"/>
                      </a:lnTo>
                      <a:lnTo>
                        <a:pt x="1062726" y="1374073"/>
                      </a:lnTo>
                      <a:lnTo>
                        <a:pt x="1111076" y="1378431"/>
                      </a:lnTo>
                      <a:lnTo>
                        <a:pt x="1158731" y="1382264"/>
                      </a:lnTo>
                      <a:lnTo>
                        <a:pt x="1205852" y="1385620"/>
                      </a:lnTo>
                      <a:lnTo>
                        <a:pt x="1252599" y="1388546"/>
                      </a:lnTo>
                      <a:lnTo>
                        <a:pt x="1299136" y="1391090"/>
                      </a:lnTo>
                      <a:lnTo>
                        <a:pt x="1345623" y="1393300"/>
                      </a:lnTo>
                      <a:lnTo>
                        <a:pt x="1392223" y="1395224"/>
                      </a:lnTo>
                      <a:lnTo>
                        <a:pt x="1439096" y="1396910"/>
                      </a:lnTo>
                      <a:lnTo>
                        <a:pt x="1486404" y="1398406"/>
                      </a:lnTo>
                      <a:lnTo>
                        <a:pt x="1534309" y="1399760"/>
                      </a:lnTo>
                      <a:lnTo>
                        <a:pt x="1582973" y="1401020"/>
                      </a:lnTo>
                      <a:lnTo>
                        <a:pt x="1632557" y="1402233"/>
                      </a:lnTo>
                      <a:lnTo>
                        <a:pt x="1683223" y="1403448"/>
                      </a:lnTo>
                      <a:lnTo>
                        <a:pt x="1735132" y="1404712"/>
                      </a:lnTo>
                      <a:lnTo>
                        <a:pt x="1788446" y="1406073"/>
                      </a:lnTo>
                      <a:lnTo>
                        <a:pt x="1843326" y="1407580"/>
                      </a:lnTo>
                      <a:lnTo>
                        <a:pt x="1899934" y="1409280"/>
                      </a:lnTo>
                      <a:lnTo>
                        <a:pt x="1958432" y="1411221"/>
                      </a:lnTo>
                    </a:path>
                  </a:pathLst>
                </a:custGeom>
                <a:ln w="10122">
                  <a:solidFill>
                    <a:srgbClr val="0000FF"/>
                  </a:solidFill>
                </a:ln>
              </p:spPr>
              <p:txBody>
                <a:bodyPr wrap="square" lIns="0" tIns="0" rIns="0" bIns="0" rtlCol="0"/>
                <a:lstStyle/>
                <a:p>
                  <a:endParaRPr/>
                </a:p>
              </p:txBody>
            </p:sp>
          </p:grpSp>
          <p:sp>
            <p:nvSpPr>
              <p:cNvPr id="10" name="object 10"/>
              <p:cNvSpPr txBox="1"/>
              <p:nvPr/>
            </p:nvSpPr>
            <p:spPr>
              <a:xfrm>
                <a:off x="409526" y="1114044"/>
                <a:ext cx="657274" cy="234764"/>
              </a:xfrm>
              <a:prstGeom prst="rect">
                <a:avLst/>
              </a:prstGeom>
            </p:spPr>
            <p:txBody>
              <a:bodyPr vert="horz" wrap="square" lIns="0" tIns="19134" rIns="0" bIns="0" rtlCol="0">
                <a:spAutoFit/>
              </a:bodyPr>
              <a:lstStyle/>
              <a:p>
                <a:pPr marL="20141">
                  <a:spcBef>
                    <a:spcPts val="151"/>
                  </a:spcBef>
                </a:pPr>
                <a:r>
                  <a:rPr sz="1400" spc="127" dirty="0">
                    <a:latin typeface="Calibri"/>
                    <a:cs typeface="Calibri"/>
                  </a:rPr>
                  <a:t>Error</a:t>
                </a:r>
                <a:endParaRPr sz="1400" dirty="0">
                  <a:latin typeface="Calibri"/>
                  <a:cs typeface="Calibri"/>
                </a:endParaRPr>
              </a:p>
            </p:txBody>
          </p:sp>
          <p:sp>
            <p:nvSpPr>
              <p:cNvPr id="11" name="object 11"/>
              <p:cNvSpPr txBox="1"/>
              <p:nvPr/>
            </p:nvSpPr>
            <p:spPr>
              <a:xfrm>
                <a:off x="1400575" y="3093038"/>
                <a:ext cx="1497277" cy="234764"/>
              </a:xfrm>
              <a:prstGeom prst="rect">
                <a:avLst/>
              </a:prstGeom>
            </p:spPr>
            <p:txBody>
              <a:bodyPr vert="horz" wrap="square" lIns="0" tIns="19134" rIns="0" bIns="0" rtlCol="0">
                <a:spAutoFit/>
              </a:bodyPr>
              <a:lstStyle>
                <a:defPPr>
                  <a:defRPr kern="0"/>
                </a:defPPr>
                <a:lvl1pPr marL="20141">
                  <a:spcBef>
                    <a:spcPts val="151"/>
                  </a:spcBef>
                  <a:defRPr sz="1400" i="1" spc="151">
                    <a:latin typeface="Cambria" panose="02040503050406030204" pitchFamily="18" charset="0"/>
                    <a:ea typeface="Cambria" panose="02040503050406030204" pitchFamily="18" charset="0"/>
                    <a:cs typeface="Calibri"/>
                  </a:defRPr>
                </a:lvl1pPr>
              </a:lstStyle>
              <a:p>
                <a:r>
                  <a:rPr dirty="0"/>
                  <a:t>Training error</a:t>
                </a:r>
              </a:p>
            </p:txBody>
          </p:sp>
          <p:sp>
            <p:nvSpPr>
              <p:cNvPr id="13" name="object 13"/>
              <p:cNvSpPr txBox="1"/>
              <p:nvPr/>
            </p:nvSpPr>
            <p:spPr>
              <a:xfrm>
                <a:off x="1422495" y="2221311"/>
                <a:ext cx="2022611" cy="234764"/>
              </a:xfrm>
              <a:prstGeom prst="rect">
                <a:avLst/>
              </a:prstGeom>
            </p:spPr>
            <p:txBody>
              <a:bodyPr vert="horz" wrap="square" lIns="0" tIns="19134" rIns="0" bIns="0" rtlCol="0">
                <a:spAutoFit/>
              </a:bodyPr>
              <a:lstStyle/>
              <a:p>
                <a:pPr marL="20141">
                  <a:spcBef>
                    <a:spcPts val="151"/>
                  </a:spcBef>
                </a:pPr>
                <a:r>
                  <a:rPr sz="1400" i="1" spc="151" dirty="0">
                    <a:latin typeface="Cambria" panose="02040503050406030204" pitchFamily="18" charset="0"/>
                    <a:ea typeface="Cambria" panose="02040503050406030204" pitchFamily="18" charset="0"/>
                    <a:cs typeface="Calibri"/>
                  </a:rPr>
                  <a:t>V</a:t>
                </a:r>
                <a:r>
                  <a:rPr sz="1400" i="1" spc="48" dirty="0">
                    <a:latin typeface="Cambria" panose="02040503050406030204" pitchFamily="18" charset="0"/>
                    <a:ea typeface="Cambria" panose="02040503050406030204" pitchFamily="18" charset="0"/>
                    <a:cs typeface="Calibri"/>
                  </a:rPr>
                  <a:t> </a:t>
                </a:r>
                <a:r>
                  <a:rPr sz="1400" i="1" spc="151" dirty="0">
                    <a:latin typeface="Cambria" panose="02040503050406030204" pitchFamily="18" charset="0"/>
                    <a:ea typeface="Cambria" panose="02040503050406030204" pitchFamily="18" charset="0"/>
                    <a:cs typeface="Calibri"/>
                  </a:rPr>
                  <a:t>alidation</a:t>
                </a:r>
                <a:r>
                  <a:rPr sz="1400" i="1" spc="206" dirty="0">
                    <a:latin typeface="Cambria" panose="02040503050406030204" pitchFamily="18" charset="0"/>
                    <a:ea typeface="Cambria" panose="02040503050406030204" pitchFamily="18" charset="0"/>
                    <a:cs typeface="Calibri"/>
                  </a:rPr>
                  <a:t> </a:t>
                </a:r>
                <a:r>
                  <a:rPr sz="1400" i="1" spc="167" dirty="0">
                    <a:latin typeface="Cambria" panose="02040503050406030204" pitchFamily="18" charset="0"/>
                    <a:ea typeface="Cambria" panose="02040503050406030204" pitchFamily="18" charset="0"/>
                    <a:cs typeface="Calibri"/>
                  </a:rPr>
                  <a:t>error</a:t>
                </a:r>
                <a:endParaRPr sz="1400" dirty="0">
                  <a:latin typeface="Cambria" panose="02040503050406030204" pitchFamily="18" charset="0"/>
                  <a:ea typeface="Cambria" panose="02040503050406030204" pitchFamily="18" charset="0"/>
                  <a:cs typeface="Calibri"/>
                </a:endParaRPr>
              </a:p>
            </p:txBody>
          </p:sp>
          <p:sp>
            <p:nvSpPr>
              <p:cNvPr id="14" name="object 14"/>
              <p:cNvSpPr/>
              <p:nvPr/>
            </p:nvSpPr>
            <p:spPr>
              <a:xfrm>
                <a:off x="2658042" y="2590521"/>
                <a:ext cx="1141993" cy="1005034"/>
              </a:xfrm>
              <a:custGeom>
                <a:avLst/>
                <a:gdLst/>
                <a:ahLst/>
                <a:cxnLst/>
                <a:rect l="l" t="t" r="r" b="b"/>
                <a:pathLst>
                  <a:path w="720089" h="633730">
                    <a:moveTo>
                      <a:pt x="0" y="633609"/>
                    </a:moveTo>
                    <a:lnTo>
                      <a:pt x="0" y="172800"/>
                    </a:lnTo>
                  </a:path>
                  <a:path w="720089" h="633730">
                    <a:moveTo>
                      <a:pt x="720011" y="633609"/>
                    </a:moveTo>
                    <a:lnTo>
                      <a:pt x="720011" y="0"/>
                    </a:lnTo>
                  </a:path>
                </a:pathLst>
              </a:custGeom>
              <a:ln w="10122">
                <a:solidFill>
                  <a:srgbClr val="000000"/>
                </a:solidFill>
                <a:prstDash val="dash"/>
              </a:ln>
            </p:spPr>
            <p:txBody>
              <a:bodyPr wrap="square" lIns="0" tIns="0" rIns="0" bIns="0" rtlCol="0"/>
              <a:lstStyle/>
              <a:p>
                <a:endParaRPr/>
              </a:p>
            </p:txBody>
          </p:sp>
          <p:sp>
            <p:nvSpPr>
              <p:cNvPr id="15" name="object 15"/>
              <p:cNvSpPr txBox="1"/>
              <p:nvPr/>
            </p:nvSpPr>
            <p:spPr>
              <a:xfrm>
                <a:off x="3695747" y="3595493"/>
                <a:ext cx="472384" cy="387977"/>
              </a:xfrm>
              <a:prstGeom prst="rect">
                <a:avLst/>
              </a:prstGeom>
            </p:spPr>
            <p:txBody>
              <a:bodyPr vert="horz" wrap="square" lIns="0" tIns="51358" rIns="0" bIns="0" rtlCol="0">
                <a:spAutoFit/>
              </a:bodyPr>
              <a:lstStyle/>
              <a:p>
                <a:pPr marL="20141" marR="8056" indent="42296">
                  <a:lnSpc>
                    <a:spcPct val="77900"/>
                  </a:lnSpc>
                  <a:spcBef>
                    <a:spcPts val="403"/>
                  </a:spcBef>
                </a:pPr>
                <a:r>
                  <a:rPr sz="1400" i="1" spc="103" dirty="0">
                    <a:latin typeface="Cambria" panose="02040503050406030204" pitchFamily="18" charset="0"/>
                    <a:ea typeface="Cambria" panose="02040503050406030204" pitchFamily="18" charset="0"/>
                    <a:cs typeface="Calibri"/>
                  </a:rPr>
                  <a:t>k </a:t>
                </a:r>
                <a:r>
                  <a:rPr sz="1400" i="1" spc="87" dirty="0">
                    <a:latin typeface="Cambria" panose="02040503050406030204" pitchFamily="18" charset="0"/>
                    <a:ea typeface="Cambria" panose="02040503050406030204" pitchFamily="18" charset="0"/>
                    <a:cs typeface="Calibri"/>
                  </a:rPr>
                  <a:t>stop</a:t>
                </a:r>
                <a:endParaRPr sz="1400" dirty="0">
                  <a:latin typeface="Cambria" panose="02040503050406030204" pitchFamily="18" charset="0"/>
                  <a:ea typeface="Cambria" panose="02040503050406030204" pitchFamily="18" charset="0"/>
                  <a:cs typeface="Calibri"/>
                </a:endParaRPr>
              </a:p>
            </p:txBody>
          </p:sp>
          <p:sp>
            <p:nvSpPr>
              <p:cNvPr id="16" name="object 16"/>
              <p:cNvSpPr txBox="1"/>
              <p:nvPr/>
            </p:nvSpPr>
            <p:spPr>
              <a:xfrm>
                <a:off x="1984970" y="3709588"/>
                <a:ext cx="1710777" cy="499290"/>
              </a:xfrm>
              <a:prstGeom prst="rect">
                <a:avLst/>
              </a:prstGeom>
            </p:spPr>
            <p:txBody>
              <a:bodyPr vert="horz" wrap="square" lIns="0" tIns="37261" rIns="0" bIns="0" rtlCol="0">
                <a:spAutoFit/>
              </a:bodyPr>
              <a:lstStyle/>
              <a:p>
                <a:pPr marL="20141" marR="8056" indent="459213">
                  <a:lnSpc>
                    <a:spcPts val="1015"/>
                  </a:lnSpc>
                  <a:spcBef>
                    <a:spcPts val="293"/>
                  </a:spcBef>
                </a:pPr>
                <a:r>
                  <a:rPr sz="1400" i="1" spc="181" dirty="0">
                    <a:latin typeface="Cambria" panose="02040503050406030204" pitchFamily="18" charset="0"/>
                    <a:ea typeface="Cambria" panose="02040503050406030204" pitchFamily="18" charset="0"/>
                    <a:cs typeface="Calibri"/>
                  </a:rPr>
                  <a:t>k</a:t>
                </a:r>
                <a:r>
                  <a:rPr sz="1400" i="1" spc="71" dirty="0">
                    <a:latin typeface="Cambria" panose="02040503050406030204" pitchFamily="18" charset="0"/>
                    <a:ea typeface="Cambria" panose="02040503050406030204" pitchFamily="18" charset="0"/>
                    <a:cs typeface="Calibri"/>
                  </a:rPr>
                  <a:t> </a:t>
                </a:r>
                <a:r>
                  <a:rPr sz="1400" i="1" spc="349" dirty="0">
                    <a:latin typeface="Cambria" panose="02040503050406030204" pitchFamily="18" charset="0"/>
                    <a:ea typeface="Cambria" panose="02040503050406030204" pitchFamily="18" charset="0"/>
                    <a:cs typeface="Arial"/>
                  </a:rPr>
                  <a:t>−</a:t>
                </a:r>
                <a:r>
                  <a:rPr sz="1400" i="1" spc="8" dirty="0">
                    <a:latin typeface="Cambria" panose="02040503050406030204" pitchFamily="18" charset="0"/>
                    <a:ea typeface="Cambria" panose="02040503050406030204" pitchFamily="18" charset="0"/>
                    <a:cs typeface="Arial"/>
                  </a:rPr>
                  <a:t> </a:t>
                </a:r>
                <a:r>
                  <a:rPr sz="1400" i="1" spc="24" dirty="0">
                    <a:latin typeface="Cambria" panose="02040503050406030204" pitchFamily="18" charset="0"/>
                    <a:ea typeface="Cambria" panose="02040503050406030204" pitchFamily="18" charset="0"/>
                    <a:cs typeface="Calibri"/>
                  </a:rPr>
                  <a:t>p</a:t>
                </a:r>
                <a:r>
                  <a:rPr sz="1400" i="1" spc="190" dirty="0">
                    <a:latin typeface="Cambria" panose="02040503050406030204" pitchFamily="18" charset="0"/>
                    <a:ea typeface="Cambria" panose="02040503050406030204" pitchFamily="18" charset="0"/>
                    <a:cs typeface="Calibri"/>
                  </a:rPr>
                  <a:t> </a:t>
                </a:r>
                <a:endParaRPr lang="en-US" sz="1400" i="1" spc="190" dirty="0">
                  <a:latin typeface="Cambria" panose="02040503050406030204" pitchFamily="18" charset="0"/>
                  <a:ea typeface="Cambria" panose="02040503050406030204" pitchFamily="18" charset="0"/>
                  <a:cs typeface="Calibri"/>
                </a:endParaRPr>
              </a:p>
              <a:p>
                <a:pPr marL="20141" marR="8056" indent="459213" algn="l">
                  <a:lnSpc>
                    <a:spcPts val="1015"/>
                  </a:lnSpc>
                  <a:spcBef>
                    <a:spcPts val="293"/>
                  </a:spcBef>
                </a:pPr>
                <a:r>
                  <a:rPr sz="1400" i="1" spc="190" dirty="0">
                    <a:latin typeface="Cambria" panose="02040503050406030204" pitchFamily="18" charset="0"/>
                    <a:ea typeface="Cambria" panose="02040503050406030204" pitchFamily="18" charset="0"/>
                    <a:cs typeface="Calibri"/>
                  </a:rPr>
                  <a:t>return</a:t>
                </a:r>
                <a:r>
                  <a:rPr sz="1400" i="1" spc="198" dirty="0">
                    <a:latin typeface="Cambria" panose="02040503050406030204" pitchFamily="18" charset="0"/>
                    <a:ea typeface="Cambria" panose="02040503050406030204" pitchFamily="18" charset="0"/>
                    <a:cs typeface="Calibri"/>
                  </a:rPr>
                  <a:t> </a:t>
                </a:r>
                <a:endParaRPr lang="en-US" sz="1400" i="1" spc="198" dirty="0">
                  <a:latin typeface="Cambria" panose="02040503050406030204" pitchFamily="18" charset="0"/>
                  <a:ea typeface="Cambria" panose="02040503050406030204" pitchFamily="18" charset="0"/>
                  <a:cs typeface="Calibri"/>
                </a:endParaRPr>
              </a:p>
              <a:p>
                <a:pPr marL="20141" marR="8056" indent="459213" algn="l">
                  <a:lnSpc>
                    <a:spcPts val="1015"/>
                  </a:lnSpc>
                  <a:spcBef>
                    <a:spcPts val="293"/>
                  </a:spcBef>
                </a:pPr>
                <a:r>
                  <a:rPr sz="1400" i="1" spc="174" dirty="0">
                    <a:latin typeface="Cambria" panose="02040503050406030204" pitchFamily="18" charset="0"/>
                    <a:ea typeface="Cambria" panose="02040503050406030204" pitchFamily="18" charset="0"/>
                    <a:cs typeface="Calibri"/>
                  </a:rPr>
                  <a:t>this</a:t>
                </a:r>
                <a:r>
                  <a:rPr sz="1400" i="1" spc="198" dirty="0">
                    <a:latin typeface="Cambria" panose="02040503050406030204" pitchFamily="18" charset="0"/>
                    <a:ea typeface="Cambria" panose="02040503050406030204" pitchFamily="18" charset="0"/>
                    <a:cs typeface="Calibri"/>
                  </a:rPr>
                  <a:t> </a:t>
                </a:r>
                <a:r>
                  <a:rPr sz="1400" i="1" spc="127" dirty="0">
                    <a:latin typeface="Cambria" panose="02040503050406030204" pitchFamily="18" charset="0"/>
                    <a:ea typeface="Cambria" panose="02040503050406030204" pitchFamily="18" charset="0"/>
                    <a:cs typeface="Calibri"/>
                  </a:rPr>
                  <a:t>model</a:t>
                </a:r>
                <a:endParaRPr sz="1400" dirty="0">
                  <a:latin typeface="Cambria" panose="02040503050406030204" pitchFamily="18" charset="0"/>
                  <a:ea typeface="Cambria" panose="02040503050406030204" pitchFamily="18" charset="0"/>
                  <a:cs typeface="Calibri"/>
                </a:endParaRPr>
              </a:p>
            </p:txBody>
          </p:sp>
        </p:grpSp>
      </p:grpSp>
      <p:sp>
        <p:nvSpPr>
          <p:cNvPr id="27" name="object 27"/>
          <p:cNvSpPr txBox="1">
            <a:spLocks noGrp="1"/>
          </p:cNvSpPr>
          <p:nvPr>
            <p:ph type="ftr" sz="quarter" idx="5"/>
          </p:nvPr>
        </p:nvSpPr>
        <p:spPr>
          <a:prstGeom prst="rect">
            <a:avLst/>
          </a:prstGeom>
        </p:spPr>
        <p:txBody>
          <a:bodyPr vert="horz" wrap="square" lIns="0" tIns="0" rIns="0" bIns="0" rtlCol="0">
            <a:spAutoFit/>
          </a:bodyPr>
          <a:lstStyle/>
          <a:p>
            <a:pPr marL="20141">
              <a:lnSpc>
                <a:spcPts val="1063"/>
              </a:lnSpc>
            </a:pPr>
            <a:r>
              <a:rPr spc="119" dirty="0"/>
              <a:t>Mitesh</a:t>
            </a:r>
            <a:r>
              <a:rPr spc="181" dirty="0"/>
              <a:t> </a:t>
            </a:r>
            <a:r>
              <a:rPr spc="151" dirty="0"/>
              <a:t>M.</a:t>
            </a:r>
            <a:r>
              <a:rPr spc="190" dirty="0"/>
              <a:t> </a:t>
            </a:r>
            <a:r>
              <a:rPr spc="151" dirty="0"/>
              <a:t>Khapra</a:t>
            </a:r>
          </a:p>
        </p:txBody>
      </p:sp>
      <p:sp>
        <p:nvSpPr>
          <p:cNvPr id="31" name="Content Placeholder 30"/>
          <p:cNvSpPr>
            <a:spLocks noGrp="1"/>
          </p:cNvSpPr>
          <p:nvPr>
            <p:ph idx="10"/>
          </p:nvPr>
        </p:nvSpPr>
        <p:spPr>
          <a:xfrm>
            <a:off x="4530835" y="1422570"/>
            <a:ext cx="4534043" cy="4525963"/>
          </a:xfrm>
        </p:spPr>
        <p:txBody>
          <a:bodyPr>
            <a:normAutofit lnSpcReduction="10000"/>
          </a:bodyPr>
          <a:lstStyle/>
          <a:p>
            <a:pPr marL="342900" indent="-342900">
              <a:buFont typeface="Arial" panose="020B0604020202020204" pitchFamily="34" charset="0"/>
              <a:buChar char="•"/>
            </a:pPr>
            <a:r>
              <a:rPr lang="en-US" spc="79" dirty="0"/>
              <a:t>Track</a:t>
            </a:r>
            <a:r>
              <a:rPr lang="en-US" spc="333" dirty="0"/>
              <a:t> </a:t>
            </a:r>
            <a:r>
              <a:rPr lang="en-US" dirty="0"/>
              <a:t>the</a:t>
            </a:r>
            <a:r>
              <a:rPr lang="en-US" spc="341" dirty="0"/>
              <a:t> </a:t>
            </a:r>
            <a:r>
              <a:rPr lang="en-US" dirty="0"/>
              <a:t>validation</a:t>
            </a:r>
            <a:r>
              <a:rPr lang="en-US" spc="341" dirty="0"/>
              <a:t> </a:t>
            </a:r>
            <a:r>
              <a:rPr lang="en-US" spc="-16" dirty="0"/>
              <a:t>error </a:t>
            </a:r>
          </a:p>
          <a:p>
            <a:pPr marL="342900" indent="-342900">
              <a:buFont typeface="Arial" panose="020B0604020202020204" pitchFamily="34" charset="0"/>
              <a:buChar char="•"/>
            </a:pPr>
            <a:r>
              <a:rPr lang="en-US" dirty="0"/>
              <a:t>Have</a:t>
            </a:r>
            <a:r>
              <a:rPr lang="en-US" spc="285" dirty="0"/>
              <a:t> </a:t>
            </a:r>
            <a:r>
              <a:rPr lang="en-US" dirty="0"/>
              <a:t>a</a:t>
            </a:r>
            <a:r>
              <a:rPr lang="en-US" spc="270" dirty="0"/>
              <a:t> </a:t>
            </a:r>
            <a:r>
              <a:rPr lang="en-US" dirty="0"/>
              <a:t>patience</a:t>
            </a:r>
            <a:r>
              <a:rPr lang="en-US" spc="285" dirty="0"/>
              <a:t> </a:t>
            </a:r>
            <a:r>
              <a:rPr lang="en-US" dirty="0"/>
              <a:t>parameter</a:t>
            </a:r>
            <a:r>
              <a:rPr lang="en-US" spc="285" dirty="0"/>
              <a:t> </a:t>
            </a:r>
            <a:r>
              <a:rPr lang="en-US" i="1" spc="-79" dirty="0">
                <a:cs typeface="Calibri"/>
              </a:rPr>
              <a:t>p</a:t>
            </a:r>
          </a:p>
          <a:p>
            <a:pPr marL="363041" marR="8056" indent="-342900" algn="just">
              <a:lnSpc>
                <a:spcPct val="102600"/>
              </a:lnSpc>
              <a:spcBef>
                <a:spcPts val="87"/>
              </a:spcBef>
              <a:buFont typeface="Arial" panose="020B0604020202020204" pitchFamily="34" charset="0"/>
              <a:buChar char="•"/>
            </a:pPr>
            <a:r>
              <a:rPr lang="en-US" spc="87" dirty="0">
                <a:cs typeface="Calibri"/>
              </a:rPr>
              <a:t>If</a:t>
            </a:r>
            <a:r>
              <a:rPr lang="en-US" spc="500" dirty="0">
                <a:cs typeface="Calibri"/>
              </a:rPr>
              <a:t> </a:t>
            </a:r>
            <a:r>
              <a:rPr lang="en-US" dirty="0">
                <a:cs typeface="Calibri"/>
              </a:rPr>
              <a:t>you</a:t>
            </a:r>
            <a:r>
              <a:rPr lang="en-US" spc="500" dirty="0">
                <a:cs typeface="Calibri"/>
              </a:rPr>
              <a:t> </a:t>
            </a:r>
            <a:r>
              <a:rPr lang="en-US" dirty="0">
                <a:cs typeface="Calibri"/>
              </a:rPr>
              <a:t>are</a:t>
            </a:r>
            <a:r>
              <a:rPr lang="en-US" spc="500" dirty="0">
                <a:cs typeface="Calibri"/>
              </a:rPr>
              <a:t> </a:t>
            </a:r>
            <a:r>
              <a:rPr lang="en-US" dirty="0">
                <a:cs typeface="Calibri"/>
              </a:rPr>
              <a:t>at</a:t>
            </a:r>
            <a:r>
              <a:rPr lang="en-US" spc="500" dirty="0">
                <a:cs typeface="Calibri"/>
              </a:rPr>
              <a:t> </a:t>
            </a:r>
            <a:r>
              <a:rPr lang="en-US" dirty="0">
                <a:cs typeface="Calibri"/>
              </a:rPr>
              <a:t>step</a:t>
            </a:r>
            <a:r>
              <a:rPr lang="en-US" spc="492" dirty="0">
                <a:cs typeface="Calibri"/>
              </a:rPr>
              <a:t> </a:t>
            </a:r>
            <a:r>
              <a:rPr lang="en-US" i="1" spc="103" dirty="0">
                <a:cs typeface="Calibri"/>
              </a:rPr>
              <a:t>k</a:t>
            </a:r>
            <a:r>
              <a:rPr lang="en-US" i="1" spc="563" dirty="0">
                <a:cs typeface="Calibri"/>
              </a:rPr>
              <a:t> </a:t>
            </a:r>
            <a:r>
              <a:rPr lang="en-US" dirty="0">
                <a:cs typeface="Calibri"/>
              </a:rPr>
              <a:t>and</a:t>
            </a:r>
            <a:r>
              <a:rPr lang="en-US" spc="500" dirty="0">
                <a:cs typeface="Calibri"/>
              </a:rPr>
              <a:t> </a:t>
            </a:r>
            <a:r>
              <a:rPr lang="en-US" dirty="0">
                <a:cs typeface="Calibri"/>
              </a:rPr>
              <a:t>there</a:t>
            </a:r>
            <a:r>
              <a:rPr lang="en-US" spc="500" dirty="0">
                <a:cs typeface="Calibri"/>
              </a:rPr>
              <a:t> </a:t>
            </a:r>
            <a:r>
              <a:rPr lang="en-US" spc="-40" dirty="0">
                <a:cs typeface="Calibri"/>
              </a:rPr>
              <a:t>was </a:t>
            </a:r>
            <a:r>
              <a:rPr lang="en-US" dirty="0">
                <a:cs typeface="Calibri"/>
              </a:rPr>
              <a:t>no</a:t>
            </a:r>
            <a:r>
              <a:rPr lang="en-US" spc="206" dirty="0">
                <a:cs typeface="Calibri"/>
              </a:rPr>
              <a:t> </a:t>
            </a:r>
            <a:r>
              <a:rPr lang="en-US" dirty="0">
                <a:cs typeface="Calibri"/>
              </a:rPr>
              <a:t>improvement</a:t>
            </a:r>
            <a:r>
              <a:rPr lang="en-US" spc="214" dirty="0">
                <a:cs typeface="Calibri"/>
              </a:rPr>
              <a:t> </a:t>
            </a:r>
            <a:r>
              <a:rPr lang="en-US" dirty="0">
                <a:cs typeface="Calibri"/>
              </a:rPr>
              <a:t>in</a:t>
            </a:r>
            <a:r>
              <a:rPr lang="en-US" spc="214" dirty="0">
                <a:cs typeface="Calibri"/>
              </a:rPr>
              <a:t> </a:t>
            </a:r>
            <a:r>
              <a:rPr lang="en-US" dirty="0">
                <a:cs typeface="Calibri"/>
              </a:rPr>
              <a:t>validation</a:t>
            </a:r>
            <a:r>
              <a:rPr lang="en-US" spc="214" dirty="0">
                <a:cs typeface="Calibri"/>
              </a:rPr>
              <a:t> </a:t>
            </a:r>
            <a:r>
              <a:rPr lang="en-US" dirty="0">
                <a:cs typeface="Calibri"/>
              </a:rPr>
              <a:t>error</a:t>
            </a:r>
            <a:r>
              <a:rPr lang="en-US" spc="206" dirty="0">
                <a:cs typeface="Calibri"/>
              </a:rPr>
              <a:t> </a:t>
            </a:r>
            <a:r>
              <a:rPr lang="en-US" spc="-40" dirty="0">
                <a:cs typeface="Calibri"/>
              </a:rPr>
              <a:t>in </a:t>
            </a:r>
            <a:r>
              <a:rPr lang="en-US" dirty="0">
                <a:cs typeface="Calibri"/>
              </a:rPr>
              <a:t>the</a:t>
            </a:r>
            <a:r>
              <a:rPr lang="en-US" spc="309" dirty="0">
                <a:cs typeface="Calibri"/>
              </a:rPr>
              <a:t> </a:t>
            </a:r>
            <a:r>
              <a:rPr lang="en-US" dirty="0">
                <a:cs typeface="Calibri"/>
              </a:rPr>
              <a:t>previous</a:t>
            </a:r>
            <a:r>
              <a:rPr lang="en-US" spc="317" dirty="0">
                <a:cs typeface="Calibri"/>
              </a:rPr>
              <a:t> </a:t>
            </a:r>
            <a:r>
              <a:rPr lang="en-US" i="1" dirty="0">
                <a:cs typeface="Calibri"/>
              </a:rPr>
              <a:t>p</a:t>
            </a:r>
            <a:r>
              <a:rPr lang="en-US" i="1" spc="317" dirty="0">
                <a:cs typeface="Calibri"/>
              </a:rPr>
              <a:t> </a:t>
            </a:r>
            <a:r>
              <a:rPr lang="en-US" dirty="0">
                <a:cs typeface="Calibri"/>
              </a:rPr>
              <a:t>steps</a:t>
            </a:r>
            <a:r>
              <a:rPr lang="en-US" spc="317" dirty="0">
                <a:cs typeface="Calibri"/>
              </a:rPr>
              <a:t> </a:t>
            </a:r>
            <a:r>
              <a:rPr lang="en-US" dirty="0">
                <a:cs typeface="Calibri"/>
              </a:rPr>
              <a:t>then</a:t>
            </a:r>
            <a:r>
              <a:rPr lang="en-US" spc="317" dirty="0">
                <a:cs typeface="Calibri"/>
              </a:rPr>
              <a:t> </a:t>
            </a:r>
            <a:r>
              <a:rPr lang="en-US" dirty="0">
                <a:cs typeface="Calibri"/>
              </a:rPr>
              <a:t>stop</a:t>
            </a:r>
            <a:r>
              <a:rPr lang="en-US" spc="317" dirty="0">
                <a:cs typeface="Calibri"/>
              </a:rPr>
              <a:t> </a:t>
            </a:r>
            <a:r>
              <a:rPr lang="en-US" spc="-16" dirty="0">
                <a:cs typeface="Calibri"/>
              </a:rPr>
              <a:t>train</a:t>
            </a:r>
            <a:r>
              <a:rPr lang="en-US" dirty="0">
                <a:cs typeface="Calibri"/>
              </a:rPr>
              <a:t>ing</a:t>
            </a:r>
            <a:r>
              <a:rPr lang="en-US" spc="539" dirty="0">
                <a:cs typeface="Calibri"/>
              </a:rPr>
              <a:t> </a:t>
            </a:r>
            <a:r>
              <a:rPr lang="en-US" dirty="0">
                <a:cs typeface="Calibri"/>
              </a:rPr>
              <a:t>and</a:t>
            </a:r>
            <a:r>
              <a:rPr lang="en-US" spc="555" dirty="0">
                <a:cs typeface="Calibri"/>
              </a:rPr>
              <a:t> </a:t>
            </a:r>
            <a:r>
              <a:rPr lang="en-US" dirty="0">
                <a:cs typeface="Calibri"/>
              </a:rPr>
              <a:t>return</a:t>
            </a:r>
            <a:r>
              <a:rPr lang="en-US" spc="539" dirty="0">
                <a:cs typeface="Calibri"/>
              </a:rPr>
              <a:t> </a:t>
            </a:r>
            <a:r>
              <a:rPr lang="en-US" dirty="0">
                <a:cs typeface="Calibri"/>
              </a:rPr>
              <a:t>the</a:t>
            </a:r>
            <a:r>
              <a:rPr lang="en-US" spc="547" dirty="0">
                <a:cs typeface="Calibri"/>
              </a:rPr>
              <a:t> </a:t>
            </a:r>
            <a:r>
              <a:rPr lang="en-US" dirty="0">
                <a:cs typeface="Calibri"/>
              </a:rPr>
              <a:t>model</a:t>
            </a:r>
            <a:r>
              <a:rPr lang="en-US" spc="547" dirty="0">
                <a:cs typeface="Calibri"/>
              </a:rPr>
              <a:t> </a:t>
            </a:r>
            <a:r>
              <a:rPr lang="en-US" dirty="0">
                <a:cs typeface="Calibri"/>
              </a:rPr>
              <a:t>stored</a:t>
            </a:r>
            <a:r>
              <a:rPr lang="en-US" spc="547" dirty="0">
                <a:cs typeface="Calibri"/>
              </a:rPr>
              <a:t> </a:t>
            </a:r>
            <a:r>
              <a:rPr lang="en-US" spc="-40" dirty="0">
                <a:cs typeface="Calibri"/>
              </a:rPr>
              <a:t>at </a:t>
            </a:r>
            <a:r>
              <a:rPr lang="en-US" dirty="0">
                <a:cs typeface="Calibri"/>
              </a:rPr>
              <a:t>step</a:t>
            </a:r>
            <a:r>
              <a:rPr lang="en-US" spc="190" dirty="0">
                <a:cs typeface="Calibri"/>
              </a:rPr>
              <a:t> </a:t>
            </a:r>
            <a:r>
              <a:rPr lang="en-US" i="1" spc="103" dirty="0">
                <a:cs typeface="Calibri"/>
              </a:rPr>
              <a:t>k</a:t>
            </a:r>
            <a:r>
              <a:rPr lang="en-US" i="1" spc="56" dirty="0">
                <a:cs typeface="Calibri"/>
              </a:rPr>
              <a:t> </a:t>
            </a:r>
            <a:r>
              <a:rPr lang="en-US" spc="-403" dirty="0">
                <a:cs typeface="Lucida Sans Unicode"/>
              </a:rPr>
              <a:t>—</a:t>
            </a:r>
            <a:r>
              <a:rPr lang="en-US" spc="-159" dirty="0">
                <a:cs typeface="Lucida Sans Unicode"/>
              </a:rPr>
              <a:t> </a:t>
            </a:r>
            <a:r>
              <a:rPr lang="en-US" i="1" spc="-79" dirty="0">
                <a:cs typeface="Calibri"/>
              </a:rPr>
              <a:t>p</a:t>
            </a:r>
            <a:endParaRPr lang="en-US" dirty="0">
              <a:cs typeface="Calibri"/>
            </a:endParaRPr>
          </a:p>
          <a:p>
            <a:pPr marL="363041" marR="8056" indent="-342900" algn="just">
              <a:lnSpc>
                <a:spcPct val="102600"/>
              </a:lnSpc>
              <a:spcBef>
                <a:spcPts val="476"/>
              </a:spcBef>
              <a:buFont typeface="Arial" panose="020B0604020202020204" pitchFamily="34" charset="0"/>
              <a:buChar char="•"/>
            </a:pPr>
            <a:r>
              <a:rPr lang="en-US" dirty="0">
                <a:cs typeface="Calibri"/>
              </a:rPr>
              <a:t>Basically,</a:t>
            </a:r>
            <a:r>
              <a:rPr lang="en-US" spc="563" dirty="0">
                <a:cs typeface="Calibri"/>
              </a:rPr>
              <a:t> </a:t>
            </a:r>
            <a:r>
              <a:rPr lang="en-US" dirty="0">
                <a:cs typeface="Calibri"/>
              </a:rPr>
              <a:t>stop</a:t>
            </a:r>
            <a:r>
              <a:rPr lang="en-US" spc="539" dirty="0">
                <a:cs typeface="Calibri"/>
              </a:rPr>
              <a:t> </a:t>
            </a:r>
            <a:r>
              <a:rPr lang="en-US" dirty="0">
                <a:cs typeface="Calibri"/>
              </a:rPr>
              <a:t>the</a:t>
            </a:r>
            <a:r>
              <a:rPr lang="en-US" spc="539" dirty="0">
                <a:cs typeface="Calibri"/>
              </a:rPr>
              <a:t> </a:t>
            </a:r>
            <a:r>
              <a:rPr lang="en-US" dirty="0">
                <a:cs typeface="Calibri"/>
              </a:rPr>
              <a:t>training</a:t>
            </a:r>
            <a:r>
              <a:rPr lang="en-US" spc="531" dirty="0">
                <a:cs typeface="Calibri"/>
              </a:rPr>
              <a:t> </a:t>
            </a:r>
            <a:r>
              <a:rPr lang="en-US" dirty="0">
                <a:cs typeface="Calibri"/>
              </a:rPr>
              <a:t>early</a:t>
            </a:r>
            <a:r>
              <a:rPr lang="en-US" spc="539" dirty="0">
                <a:cs typeface="Calibri"/>
              </a:rPr>
              <a:t> </a:t>
            </a:r>
            <a:r>
              <a:rPr lang="en-US" spc="-40" dirty="0">
                <a:cs typeface="Calibri"/>
              </a:rPr>
              <a:t>be</a:t>
            </a:r>
            <a:r>
              <a:rPr lang="en-US" dirty="0">
                <a:cs typeface="Calibri"/>
              </a:rPr>
              <a:t>fore</a:t>
            </a:r>
            <a:r>
              <a:rPr lang="en-US" spc="420" dirty="0">
                <a:cs typeface="Calibri"/>
              </a:rPr>
              <a:t> </a:t>
            </a:r>
            <a:r>
              <a:rPr lang="en-US" spc="87" dirty="0">
                <a:cs typeface="Calibri"/>
              </a:rPr>
              <a:t>it</a:t>
            </a:r>
            <a:r>
              <a:rPr lang="en-US" spc="420" dirty="0">
                <a:cs typeface="Calibri"/>
              </a:rPr>
              <a:t> </a:t>
            </a:r>
            <a:r>
              <a:rPr lang="en-US" dirty="0">
                <a:cs typeface="Calibri"/>
              </a:rPr>
              <a:t>drives</a:t>
            </a:r>
            <a:r>
              <a:rPr lang="en-US" spc="420" dirty="0">
                <a:cs typeface="Calibri"/>
              </a:rPr>
              <a:t> </a:t>
            </a:r>
            <a:r>
              <a:rPr lang="en-US" dirty="0">
                <a:cs typeface="Calibri"/>
              </a:rPr>
              <a:t>the</a:t>
            </a:r>
            <a:r>
              <a:rPr lang="en-US" spc="420" dirty="0">
                <a:cs typeface="Calibri"/>
              </a:rPr>
              <a:t> </a:t>
            </a:r>
            <a:r>
              <a:rPr lang="en-US" dirty="0">
                <a:cs typeface="Calibri"/>
              </a:rPr>
              <a:t>training</a:t>
            </a:r>
            <a:r>
              <a:rPr lang="en-US" spc="420" dirty="0">
                <a:cs typeface="Calibri"/>
              </a:rPr>
              <a:t> </a:t>
            </a:r>
            <a:r>
              <a:rPr lang="en-US" dirty="0">
                <a:cs typeface="Calibri"/>
              </a:rPr>
              <a:t>error</a:t>
            </a:r>
            <a:r>
              <a:rPr lang="en-US" spc="428" dirty="0">
                <a:cs typeface="Calibri"/>
              </a:rPr>
              <a:t> </a:t>
            </a:r>
            <a:r>
              <a:rPr lang="en-US" dirty="0">
                <a:cs typeface="Calibri"/>
              </a:rPr>
              <a:t>to</a:t>
            </a:r>
            <a:r>
              <a:rPr lang="en-US" spc="420" dirty="0">
                <a:cs typeface="Calibri"/>
              </a:rPr>
              <a:t> </a:t>
            </a:r>
            <a:r>
              <a:rPr lang="en-US" spc="-79" dirty="0">
                <a:cs typeface="Calibri"/>
              </a:rPr>
              <a:t>0</a:t>
            </a:r>
            <a:r>
              <a:rPr lang="en-US" dirty="0">
                <a:cs typeface="Calibri"/>
              </a:rPr>
              <a:t> and</a:t>
            </a:r>
            <a:r>
              <a:rPr lang="en-US" spc="317" dirty="0">
                <a:cs typeface="Calibri"/>
              </a:rPr>
              <a:t> </a:t>
            </a:r>
            <a:r>
              <a:rPr lang="en-US" dirty="0">
                <a:cs typeface="Calibri"/>
              </a:rPr>
              <a:t>blows</a:t>
            </a:r>
            <a:r>
              <a:rPr lang="en-US" spc="317" dirty="0">
                <a:cs typeface="Calibri"/>
              </a:rPr>
              <a:t> </a:t>
            </a:r>
            <a:r>
              <a:rPr lang="en-US" dirty="0">
                <a:cs typeface="Calibri"/>
              </a:rPr>
              <a:t>up</a:t>
            </a:r>
            <a:r>
              <a:rPr lang="en-US" spc="317" dirty="0">
                <a:cs typeface="Calibri"/>
              </a:rPr>
              <a:t> </a:t>
            </a:r>
            <a:r>
              <a:rPr lang="en-US" dirty="0">
                <a:cs typeface="Calibri"/>
              </a:rPr>
              <a:t>the</a:t>
            </a:r>
            <a:r>
              <a:rPr lang="en-US" spc="317" dirty="0">
                <a:cs typeface="Calibri"/>
              </a:rPr>
              <a:t> </a:t>
            </a:r>
            <a:r>
              <a:rPr lang="en-US" dirty="0">
                <a:cs typeface="Calibri"/>
              </a:rPr>
              <a:t>validation</a:t>
            </a:r>
            <a:r>
              <a:rPr lang="en-US" spc="317" dirty="0">
                <a:cs typeface="Calibri"/>
              </a:rPr>
              <a:t> </a:t>
            </a:r>
            <a:r>
              <a:rPr lang="en-US" spc="-16" dirty="0">
                <a:cs typeface="Calibri"/>
              </a:rPr>
              <a:t>error</a:t>
            </a:r>
            <a:endParaRPr lang="en-US" dirty="0">
              <a:cs typeface="Calibri"/>
            </a:endParaRP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
        <p:nvSpPr>
          <p:cNvPr id="30" name="Title 29"/>
          <p:cNvSpPr>
            <a:spLocks noGrp="1"/>
          </p:cNvSpPr>
          <p:nvPr>
            <p:ph type="title"/>
          </p:nvPr>
        </p:nvSpPr>
        <p:spPr>
          <a:xfrm>
            <a:off x="50848" y="12128"/>
            <a:ext cx="8160907" cy="1219200"/>
          </a:xfrm>
        </p:spPr>
        <p:txBody>
          <a:bodyPr/>
          <a:lstStyle/>
          <a:p>
            <a:r>
              <a:rPr lang="en-US" spc="70" dirty="0"/>
              <a:t>Early stopping</a:t>
            </a:r>
            <a:br>
              <a:rPr lang="en-US" spc="70" dirty="0"/>
            </a:br>
            <a:endParaRPr lang="en-IN" dirty="0"/>
          </a:p>
        </p:txBody>
      </p:sp>
    </p:spTree>
    <p:extLst>
      <p:ext uri="{BB962C8B-B14F-4D97-AF65-F5344CB8AC3E}">
        <p14:creationId xmlns:p14="http://schemas.microsoft.com/office/powerpoint/2010/main" val="3713181197"/>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76200" y="2133600"/>
            <a:ext cx="8610600" cy="2979096"/>
          </a:xfrm>
          <a:prstGeom prst="rect">
            <a:avLst/>
          </a:prstGeom>
        </p:spPr>
      </p:pic>
      <p:sp>
        <p:nvSpPr>
          <p:cNvPr id="3" name="Title 2"/>
          <p:cNvSpPr>
            <a:spLocks noGrp="1"/>
          </p:cNvSpPr>
          <p:nvPr>
            <p:ph type="title"/>
          </p:nvPr>
        </p:nvSpPr>
        <p:spPr/>
        <p:txBody>
          <a:bodyPr/>
          <a:lstStyle/>
          <a:p>
            <a:r>
              <a:rPr lang="en-US" spc="70" dirty="0"/>
              <a:t>Early stopping</a:t>
            </a:r>
            <a:br>
              <a:rPr lang="en-US" spc="70" dirty="0"/>
            </a:br>
            <a:endParaRPr lang="en-IN" dirty="0"/>
          </a:p>
        </p:txBody>
      </p:sp>
    </p:spTree>
    <p:extLst>
      <p:ext uri="{BB962C8B-B14F-4D97-AF65-F5344CB8AC3E}">
        <p14:creationId xmlns:p14="http://schemas.microsoft.com/office/powerpoint/2010/main" val="463240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1600200" y="1524000"/>
            <a:ext cx="4534965" cy="3303753"/>
          </a:xfrm>
          <a:prstGeom prst="rect">
            <a:avLst/>
          </a:prstGeom>
        </p:spPr>
      </p:pic>
      <p:sp>
        <p:nvSpPr>
          <p:cNvPr id="3" name="Title 2"/>
          <p:cNvSpPr>
            <a:spLocks noGrp="1"/>
          </p:cNvSpPr>
          <p:nvPr>
            <p:ph type="title"/>
          </p:nvPr>
        </p:nvSpPr>
        <p:spPr/>
        <p:txBody>
          <a:bodyPr/>
          <a:lstStyle/>
          <a:p>
            <a:r>
              <a:rPr lang="en-US" dirty="0"/>
              <a:t>Ensemble - Bagging</a:t>
            </a:r>
            <a:endParaRPr lang="en-IN" dirty="0"/>
          </a:p>
        </p:txBody>
      </p:sp>
      <p:sp>
        <p:nvSpPr>
          <p:cNvPr id="5" name="Rectangle 4"/>
          <p:cNvSpPr/>
          <p:nvPr/>
        </p:nvSpPr>
        <p:spPr>
          <a:xfrm>
            <a:off x="1905000" y="5334000"/>
            <a:ext cx="4572000" cy="663002"/>
          </a:xfrm>
          <a:prstGeom prst="rect">
            <a:avLst/>
          </a:prstGeom>
        </p:spPr>
        <p:txBody>
          <a:bodyPr>
            <a:spAutoFit/>
          </a:bodyPr>
          <a:lstStyle/>
          <a:p>
            <a:pPr marL="12700" marR="5080">
              <a:lnSpc>
                <a:spcPct val="102600"/>
              </a:lnSpc>
              <a:spcBef>
                <a:spcPts val="55"/>
              </a:spcBef>
            </a:pPr>
            <a:r>
              <a:rPr lang="en-US" spc="55" dirty="0">
                <a:latin typeface="Calibri"/>
                <a:cs typeface="Calibri"/>
              </a:rPr>
              <a:t>Each</a:t>
            </a:r>
            <a:r>
              <a:rPr lang="en-US" spc="185" dirty="0">
                <a:latin typeface="Calibri"/>
                <a:cs typeface="Calibri"/>
              </a:rPr>
              <a:t> </a:t>
            </a:r>
            <a:r>
              <a:rPr lang="en-US" dirty="0">
                <a:latin typeface="Calibri"/>
                <a:cs typeface="Calibri"/>
              </a:rPr>
              <a:t>model</a:t>
            </a:r>
            <a:r>
              <a:rPr lang="en-US" spc="190" dirty="0">
                <a:latin typeface="Calibri"/>
                <a:cs typeface="Calibri"/>
              </a:rPr>
              <a:t> </a:t>
            </a:r>
            <a:r>
              <a:rPr lang="en-US" dirty="0">
                <a:latin typeface="Calibri"/>
                <a:cs typeface="Calibri"/>
              </a:rPr>
              <a:t>trained</a:t>
            </a:r>
            <a:r>
              <a:rPr lang="en-US" spc="185" dirty="0">
                <a:latin typeface="Calibri"/>
                <a:cs typeface="Calibri"/>
              </a:rPr>
              <a:t> </a:t>
            </a:r>
            <a:r>
              <a:rPr lang="en-US" dirty="0">
                <a:latin typeface="Calibri"/>
                <a:cs typeface="Calibri"/>
              </a:rPr>
              <a:t>with</a:t>
            </a:r>
            <a:r>
              <a:rPr lang="en-US" spc="190" dirty="0">
                <a:latin typeface="Calibri"/>
                <a:cs typeface="Calibri"/>
              </a:rPr>
              <a:t> </a:t>
            </a:r>
            <a:r>
              <a:rPr lang="en-US" dirty="0">
                <a:latin typeface="Calibri"/>
                <a:cs typeface="Calibri"/>
              </a:rPr>
              <a:t>a</a:t>
            </a:r>
            <a:r>
              <a:rPr lang="en-US" spc="180" dirty="0">
                <a:latin typeface="Calibri"/>
                <a:cs typeface="Calibri"/>
              </a:rPr>
              <a:t> </a:t>
            </a:r>
            <a:r>
              <a:rPr lang="en-US" spc="-10" dirty="0">
                <a:latin typeface="Calibri"/>
                <a:cs typeface="Calibri"/>
              </a:rPr>
              <a:t>different </a:t>
            </a:r>
            <a:r>
              <a:rPr lang="en-US" dirty="0">
                <a:latin typeface="Calibri"/>
                <a:cs typeface="Calibri"/>
              </a:rPr>
              <a:t>sample</a:t>
            </a:r>
            <a:r>
              <a:rPr lang="en-US" spc="204" dirty="0">
                <a:latin typeface="Calibri"/>
                <a:cs typeface="Calibri"/>
              </a:rPr>
              <a:t> </a:t>
            </a:r>
            <a:r>
              <a:rPr lang="en-US" dirty="0">
                <a:latin typeface="Calibri"/>
                <a:cs typeface="Calibri"/>
              </a:rPr>
              <a:t>of</a:t>
            </a:r>
            <a:r>
              <a:rPr lang="en-US" spc="210" dirty="0">
                <a:latin typeface="Calibri"/>
                <a:cs typeface="Calibri"/>
              </a:rPr>
              <a:t> </a:t>
            </a:r>
            <a:r>
              <a:rPr lang="en-US" dirty="0">
                <a:latin typeface="Calibri"/>
                <a:cs typeface="Calibri"/>
              </a:rPr>
              <a:t>the</a:t>
            </a:r>
            <a:r>
              <a:rPr lang="en-US" spc="204" dirty="0">
                <a:latin typeface="Calibri"/>
                <a:cs typeface="Calibri"/>
              </a:rPr>
              <a:t> </a:t>
            </a:r>
            <a:r>
              <a:rPr lang="en-US" dirty="0">
                <a:latin typeface="Calibri"/>
                <a:cs typeface="Calibri"/>
              </a:rPr>
              <a:t>data</a:t>
            </a:r>
            <a:r>
              <a:rPr lang="en-US" spc="204" dirty="0">
                <a:latin typeface="Calibri"/>
                <a:cs typeface="Calibri"/>
              </a:rPr>
              <a:t> </a:t>
            </a:r>
            <a:r>
              <a:rPr lang="en-US" dirty="0">
                <a:latin typeface="Calibri"/>
                <a:cs typeface="Calibri"/>
              </a:rPr>
              <a:t>(sampling</a:t>
            </a:r>
            <a:r>
              <a:rPr lang="en-US" spc="204" dirty="0">
                <a:latin typeface="Calibri"/>
                <a:cs typeface="Calibri"/>
              </a:rPr>
              <a:t> </a:t>
            </a:r>
            <a:r>
              <a:rPr lang="en-US" spc="-20" dirty="0">
                <a:latin typeface="Calibri"/>
                <a:cs typeface="Calibri"/>
              </a:rPr>
              <a:t>with </a:t>
            </a:r>
            <a:r>
              <a:rPr lang="en-US" spc="-10" dirty="0">
                <a:latin typeface="Calibri"/>
                <a:cs typeface="Calibri"/>
              </a:rPr>
              <a:t>replacement)</a:t>
            </a:r>
            <a:endParaRPr lang="en-US" dirty="0">
              <a:latin typeface="Calibri"/>
              <a:cs typeface="Calibri"/>
            </a:endParaRPr>
          </a:p>
        </p:txBody>
      </p:sp>
    </p:spTree>
    <p:extLst>
      <p:ext uri="{BB962C8B-B14F-4D97-AF65-F5344CB8AC3E}">
        <p14:creationId xmlns:p14="http://schemas.microsoft.com/office/powerpoint/2010/main" val="1954131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286000" y="5006323"/>
            <a:ext cx="3255671" cy="1311322"/>
            <a:chOff x="380612" y="2535139"/>
            <a:chExt cx="3636671" cy="1588085"/>
          </a:xfrm>
        </p:grpSpPr>
        <p:pic>
          <p:nvPicPr>
            <p:cNvPr id="2" name="object 2"/>
            <p:cNvPicPr/>
            <p:nvPr/>
          </p:nvPicPr>
          <p:blipFill>
            <a:blip r:embed="rId2" cstate="print"/>
            <a:stretch>
              <a:fillRect/>
            </a:stretch>
          </p:blipFill>
          <p:spPr>
            <a:xfrm>
              <a:off x="380612" y="2535139"/>
              <a:ext cx="1012402" cy="1588085"/>
            </a:xfrm>
            <a:prstGeom prst="rect">
              <a:avLst/>
            </a:prstGeom>
          </p:spPr>
        </p:pic>
        <p:pic>
          <p:nvPicPr>
            <p:cNvPr id="3" name="object 3"/>
            <p:cNvPicPr/>
            <p:nvPr/>
          </p:nvPicPr>
          <p:blipFill>
            <a:blip r:embed="rId3" cstate="print"/>
            <a:stretch>
              <a:fillRect/>
            </a:stretch>
          </p:blipFill>
          <p:spPr>
            <a:xfrm>
              <a:off x="1692747" y="2535139"/>
              <a:ext cx="1012412" cy="1588085"/>
            </a:xfrm>
            <a:prstGeom prst="rect">
              <a:avLst/>
            </a:prstGeom>
          </p:spPr>
        </p:pic>
        <p:pic>
          <p:nvPicPr>
            <p:cNvPr id="4" name="object 4"/>
            <p:cNvPicPr/>
            <p:nvPr/>
          </p:nvPicPr>
          <p:blipFill>
            <a:blip r:embed="rId4" cstate="print"/>
            <a:stretch>
              <a:fillRect/>
            </a:stretch>
          </p:blipFill>
          <p:spPr>
            <a:xfrm>
              <a:off x="3004881" y="2535139"/>
              <a:ext cx="1012402" cy="1588085"/>
            </a:xfrm>
            <a:prstGeom prst="rect">
              <a:avLst/>
            </a:prstGeom>
          </p:spPr>
        </p:pic>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20141">
              <a:lnSpc>
                <a:spcPts val="1063"/>
              </a:lnSpc>
            </a:pPr>
            <a:r>
              <a:rPr spc="119" dirty="0"/>
              <a:t>Mitesh</a:t>
            </a:r>
            <a:r>
              <a:rPr spc="181" dirty="0"/>
              <a:t> </a:t>
            </a:r>
            <a:r>
              <a:rPr spc="151" dirty="0"/>
              <a:t>M.</a:t>
            </a:r>
            <a:r>
              <a:rPr spc="190" dirty="0"/>
              <a:t> </a:t>
            </a:r>
            <a:r>
              <a:rPr spc="151" dirty="0"/>
              <a:t>Khapra</a:t>
            </a:r>
          </a:p>
        </p:txBody>
      </p:sp>
      <p:sp>
        <p:nvSpPr>
          <p:cNvPr id="18" name="Content Placeholder 17"/>
          <p:cNvSpPr>
            <a:spLocks noGrp="1"/>
          </p:cNvSpPr>
          <p:nvPr>
            <p:ph idx="10"/>
          </p:nvPr>
        </p:nvSpPr>
        <p:spPr>
          <a:xfrm>
            <a:off x="0" y="1469592"/>
            <a:ext cx="9064878" cy="4525963"/>
          </a:xfrm>
        </p:spPr>
        <p:txBody>
          <a:bodyPr>
            <a:normAutofit/>
          </a:bodyPr>
          <a:lstStyle/>
          <a:p>
            <a:pPr marL="363041" marR="8056" indent="-342900" algn="just">
              <a:lnSpc>
                <a:spcPct val="102600"/>
              </a:lnSpc>
              <a:spcBef>
                <a:spcPts val="87"/>
              </a:spcBef>
              <a:buFont typeface="Arial" panose="020B0604020202020204" pitchFamily="34" charset="0"/>
              <a:buChar char="•"/>
            </a:pPr>
            <a:r>
              <a:rPr lang="en-US" sz="2200" spc="95" dirty="0">
                <a:cs typeface="Calibri"/>
              </a:rPr>
              <a:t>Typically</a:t>
            </a:r>
            <a:r>
              <a:rPr lang="en-US" sz="2200" spc="301" dirty="0">
                <a:cs typeface="Calibri"/>
              </a:rPr>
              <a:t>  </a:t>
            </a:r>
            <a:r>
              <a:rPr lang="en-US" sz="2200" dirty="0">
                <a:cs typeface="Calibri"/>
              </a:rPr>
              <a:t>model</a:t>
            </a:r>
            <a:r>
              <a:rPr lang="en-US" sz="2200" spc="309" dirty="0">
                <a:cs typeface="Calibri"/>
              </a:rPr>
              <a:t>  </a:t>
            </a:r>
            <a:r>
              <a:rPr lang="en-US" sz="2200" spc="-16" dirty="0">
                <a:cs typeface="Calibri"/>
              </a:rPr>
              <a:t>averaging(bagging </a:t>
            </a:r>
            <a:r>
              <a:rPr lang="en-US" sz="2200" dirty="0">
                <a:cs typeface="Calibri"/>
              </a:rPr>
              <a:t>ensemble)</a:t>
            </a:r>
            <a:r>
              <a:rPr lang="en-US" sz="2200" spc="230" dirty="0">
                <a:cs typeface="Calibri"/>
              </a:rPr>
              <a:t> </a:t>
            </a:r>
            <a:r>
              <a:rPr lang="en-US" sz="2200" dirty="0">
                <a:cs typeface="Calibri"/>
              </a:rPr>
              <a:t>always</a:t>
            </a:r>
            <a:r>
              <a:rPr lang="en-US" sz="2200" spc="230" dirty="0">
                <a:cs typeface="Calibri"/>
              </a:rPr>
              <a:t> </a:t>
            </a:r>
            <a:r>
              <a:rPr lang="en-US" sz="2200" spc="-16" dirty="0">
                <a:cs typeface="Calibri"/>
              </a:rPr>
              <a:t>helps</a:t>
            </a:r>
            <a:endParaRPr lang="en-US" sz="2200" dirty="0">
              <a:cs typeface="Calibri"/>
            </a:endParaRPr>
          </a:p>
          <a:p>
            <a:pPr marL="363041" marR="9063" indent="-342900" algn="just">
              <a:lnSpc>
                <a:spcPct val="102600"/>
              </a:lnSpc>
              <a:spcBef>
                <a:spcPts val="476"/>
              </a:spcBef>
              <a:buFont typeface="Arial" panose="020B0604020202020204" pitchFamily="34" charset="0"/>
              <a:buChar char="•"/>
            </a:pPr>
            <a:r>
              <a:rPr lang="en-US" sz="2200" dirty="0">
                <a:cs typeface="Calibri"/>
              </a:rPr>
              <a:t>Training</a:t>
            </a:r>
            <a:r>
              <a:rPr lang="en-US" sz="2200" spc="357" dirty="0">
                <a:cs typeface="Calibri"/>
              </a:rPr>
              <a:t>  </a:t>
            </a:r>
            <a:r>
              <a:rPr lang="en-US" sz="2200" dirty="0">
                <a:cs typeface="Calibri"/>
              </a:rPr>
              <a:t>several</a:t>
            </a:r>
            <a:r>
              <a:rPr lang="en-US" sz="2200" spc="357" dirty="0">
                <a:cs typeface="Calibri"/>
              </a:rPr>
              <a:t>  </a:t>
            </a:r>
            <a:r>
              <a:rPr lang="en-US" sz="2200" dirty="0">
                <a:cs typeface="Calibri"/>
              </a:rPr>
              <a:t>large</a:t>
            </a:r>
            <a:r>
              <a:rPr lang="en-US" sz="2200" spc="363" dirty="0">
                <a:cs typeface="Calibri"/>
              </a:rPr>
              <a:t>  </a:t>
            </a:r>
            <a:r>
              <a:rPr lang="en-US" sz="2200" dirty="0">
                <a:cs typeface="Calibri"/>
              </a:rPr>
              <a:t>neural</a:t>
            </a:r>
            <a:r>
              <a:rPr lang="en-US" sz="2200" spc="357" dirty="0">
                <a:cs typeface="Calibri"/>
              </a:rPr>
              <a:t>  </a:t>
            </a:r>
            <a:r>
              <a:rPr lang="en-US" sz="2200" spc="-32" dirty="0">
                <a:cs typeface="Calibri"/>
              </a:rPr>
              <a:t>net- </a:t>
            </a:r>
            <a:r>
              <a:rPr lang="en-US" sz="2200" dirty="0">
                <a:cs typeface="Calibri"/>
              </a:rPr>
              <a:t>works</a:t>
            </a:r>
            <a:r>
              <a:rPr lang="en-US" sz="2200" spc="198" dirty="0">
                <a:cs typeface="Calibri"/>
              </a:rPr>
              <a:t> </a:t>
            </a:r>
            <a:r>
              <a:rPr lang="en-US" sz="2200" dirty="0">
                <a:cs typeface="Calibri"/>
              </a:rPr>
              <a:t>for</a:t>
            </a:r>
            <a:r>
              <a:rPr lang="en-US" sz="2200" spc="214" dirty="0">
                <a:cs typeface="Calibri"/>
              </a:rPr>
              <a:t> </a:t>
            </a:r>
            <a:r>
              <a:rPr lang="en-US" sz="2200" dirty="0">
                <a:cs typeface="Calibri"/>
              </a:rPr>
              <a:t>making</a:t>
            </a:r>
            <a:r>
              <a:rPr lang="en-US" sz="2200" spc="198" dirty="0">
                <a:cs typeface="Calibri"/>
              </a:rPr>
              <a:t> </a:t>
            </a:r>
            <a:r>
              <a:rPr lang="en-US" sz="2200" dirty="0">
                <a:cs typeface="Calibri"/>
              </a:rPr>
              <a:t>an</a:t>
            </a:r>
            <a:r>
              <a:rPr lang="en-US" sz="2200" spc="214" dirty="0">
                <a:cs typeface="Calibri"/>
              </a:rPr>
              <a:t> </a:t>
            </a:r>
            <a:r>
              <a:rPr lang="en-US" sz="2200" dirty="0">
                <a:cs typeface="Calibri"/>
              </a:rPr>
              <a:t>ensemble</a:t>
            </a:r>
            <a:r>
              <a:rPr lang="en-US" sz="2200" spc="198" dirty="0">
                <a:cs typeface="Calibri"/>
              </a:rPr>
              <a:t> </a:t>
            </a:r>
            <a:r>
              <a:rPr lang="en-US" sz="2200" dirty="0">
                <a:cs typeface="Calibri"/>
              </a:rPr>
              <a:t>is</a:t>
            </a:r>
            <a:r>
              <a:rPr lang="en-US" sz="2200" spc="198" dirty="0">
                <a:cs typeface="Calibri"/>
              </a:rPr>
              <a:t> </a:t>
            </a:r>
            <a:r>
              <a:rPr lang="en-US" sz="2200" spc="-32" dirty="0">
                <a:cs typeface="Calibri"/>
              </a:rPr>
              <a:t>pro</a:t>
            </a:r>
            <a:r>
              <a:rPr lang="en-US" sz="2200" dirty="0">
                <a:cs typeface="Calibri"/>
              </a:rPr>
              <a:t>hibitively</a:t>
            </a:r>
            <a:r>
              <a:rPr lang="en-US" sz="2200" spc="737" dirty="0">
                <a:cs typeface="Calibri"/>
              </a:rPr>
              <a:t> </a:t>
            </a:r>
            <a:r>
              <a:rPr lang="en-US" sz="2200" spc="-16" dirty="0">
                <a:cs typeface="Calibri"/>
              </a:rPr>
              <a:t>expensive</a:t>
            </a:r>
            <a:endParaRPr lang="en-US" sz="2200" dirty="0">
              <a:cs typeface="Calibri"/>
            </a:endParaRPr>
          </a:p>
          <a:p>
            <a:pPr marL="363041" marR="8056" indent="-342900" algn="just">
              <a:lnSpc>
                <a:spcPct val="102600"/>
              </a:lnSpc>
              <a:spcBef>
                <a:spcPts val="476"/>
              </a:spcBef>
              <a:buFont typeface="Arial" panose="020B0604020202020204" pitchFamily="34" charset="0"/>
              <a:buChar char="•"/>
            </a:pPr>
            <a:r>
              <a:rPr lang="en-US" sz="2200" dirty="0">
                <a:cs typeface="Calibri"/>
              </a:rPr>
              <a:t>Option</a:t>
            </a:r>
            <a:r>
              <a:rPr lang="en-US" sz="2200" spc="428" dirty="0">
                <a:cs typeface="Calibri"/>
              </a:rPr>
              <a:t>  </a:t>
            </a:r>
            <a:r>
              <a:rPr lang="en-US" sz="2200" dirty="0">
                <a:cs typeface="Calibri"/>
              </a:rPr>
              <a:t>1:</a:t>
            </a:r>
            <a:r>
              <a:rPr lang="en-US" sz="2200" spc="571" dirty="0">
                <a:cs typeface="Calibri"/>
              </a:rPr>
              <a:t>   </a:t>
            </a:r>
            <a:r>
              <a:rPr lang="en-US" sz="2200" spc="87" dirty="0">
                <a:cs typeface="Calibri"/>
              </a:rPr>
              <a:t>Train</a:t>
            </a:r>
            <a:r>
              <a:rPr lang="en-US" sz="2200" spc="444" dirty="0">
                <a:cs typeface="Calibri"/>
              </a:rPr>
              <a:t>  </a:t>
            </a:r>
            <a:r>
              <a:rPr lang="en-US" sz="2200" dirty="0">
                <a:cs typeface="Calibri"/>
              </a:rPr>
              <a:t>several</a:t>
            </a:r>
            <a:r>
              <a:rPr lang="en-US" sz="2200" spc="428" dirty="0">
                <a:cs typeface="Calibri"/>
              </a:rPr>
              <a:t>  </a:t>
            </a:r>
            <a:r>
              <a:rPr lang="en-US" sz="2200" spc="-16" dirty="0">
                <a:cs typeface="Calibri"/>
              </a:rPr>
              <a:t>neural </a:t>
            </a:r>
            <a:r>
              <a:rPr lang="en-US" sz="2200" dirty="0">
                <a:cs typeface="Calibri"/>
              </a:rPr>
              <a:t>networks</a:t>
            </a:r>
            <a:r>
              <a:rPr lang="en-US" sz="2200" spc="246" dirty="0">
                <a:cs typeface="Calibri"/>
              </a:rPr>
              <a:t>  </a:t>
            </a:r>
            <a:r>
              <a:rPr lang="en-US" sz="2200" dirty="0">
                <a:cs typeface="Calibri"/>
              </a:rPr>
              <a:t>having</a:t>
            </a:r>
            <a:r>
              <a:rPr lang="en-US" sz="2200" spc="254" dirty="0">
                <a:cs typeface="Calibri"/>
              </a:rPr>
              <a:t>  </a:t>
            </a:r>
            <a:r>
              <a:rPr lang="en-US" sz="2200" dirty="0">
                <a:cs typeface="Calibri"/>
              </a:rPr>
              <a:t>different</a:t>
            </a:r>
            <a:r>
              <a:rPr lang="en-US" sz="2200" spc="262" dirty="0">
                <a:cs typeface="Calibri"/>
              </a:rPr>
              <a:t>  </a:t>
            </a:r>
            <a:r>
              <a:rPr lang="en-US" sz="2200" spc="-16" dirty="0">
                <a:cs typeface="Calibri"/>
              </a:rPr>
              <a:t>architec</a:t>
            </a:r>
            <a:r>
              <a:rPr lang="en-US" sz="2200" spc="16" dirty="0">
                <a:cs typeface="Calibri"/>
              </a:rPr>
              <a:t>tures(obviously</a:t>
            </a:r>
            <a:r>
              <a:rPr lang="en-US" sz="2200" spc="523" dirty="0">
                <a:cs typeface="Calibri"/>
              </a:rPr>
              <a:t> </a:t>
            </a:r>
            <a:r>
              <a:rPr lang="en-US" sz="2200" spc="-16" dirty="0">
                <a:cs typeface="Calibri"/>
              </a:rPr>
              <a:t>expensive)</a:t>
            </a:r>
            <a:endParaRPr lang="en-US" sz="2200" dirty="0">
              <a:cs typeface="Calibri"/>
            </a:endParaRPr>
          </a:p>
          <a:p>
            <a:pPr marL="363041" marR="9063" indent="-342900" algn="just">
              <a:lnSpc>
                <a:spcPct val="102600"/>
              </a:lnSpc>
              <a:spcBef>
                <a:spcPts val="476"/>
              </a:spcBef>
              <a:buFont typeface="Arial" panose="020B0604020202020204" pitchFamily="34" charset="0"/>
              <a:buChar char="•"/>
            </a:pPr>
            <a:r>
              <a:rPr lang="en-US" sz="2200" dirty="0">
                <a:cs typeface="Calibri"/>
              </a:rPr>
              <a:t>Option</a:t>
            </a:r>
            <a:r>
              <a:rPr lang="en-US" sz="2200" spc="674" dirty="0">
                <a:cs typeface="Calibri"/>
              </a:rPr>
              <a:t> </a:t>
            </a:r>
            <a:r>
              <a:rPr lang="en-US" sz="2200" dirty="0">
                <a:cs typeface="Calibri"/>
              </a:rPr>
              <a:t>2:</a:t>
            </a:r>
            <a:r>
              <a:rPr lang="en-US" sz="2200" spc="460" dirty="0">
                <a:cs typeface="Calibri"/>
              </a:rPr>
              <a:t>  </a:t>
            </a:r>
            <a:r>
              <a:rPr lang="en-US" sz="2200" spc="87" dirty="0">
                <a:cs typeface="Calibri"/>
              </a:rPr>
              <a:t>Train</a:t>
            </a:r>
            <a:r>
              <a:rPr lang="en-US" sz="2200" spc="682" dirty="0">
                <a:cs typeface="Calibri"/>
              </a:rPr>
              <a:t> </a:t>
            </a:r>
            <a:r>
              <a:rPr lang="en-US" sz="2200" dirty="0">
                <a:cs typeface="Calibri"/>
              </a:rPr>
              <a:t>multiple</a:t>
            </a:r>
            <a:r>
              <a:rPr lang="en-US" sz="2200" spc="682" dirty="0">
                <a:cs typeface="Calibri"/>
              </a:rPr>
              <a:t> </a:t>
            </a:r>
            <a:r>
              <a:rPr lang="en-US" sz="2200" spc="-16" dirty="0">
                <a:cs typeface="Calibri"/>
              </a:rPr>
              <a:t>instances </a:t>
            </a:r>
            <a:r>
              <a:rPr lang="en-US" sz="2200" dirty="0">
                <a:cs typeface="Calibri"/>
              </a:rPr>
              <a:t>of</a:t>
            </a:r>
            <a:r>
              <a:rPr lang="en-US" sz="2200" spc="484" dirty="0">
                <a:cs typeface="Calibri"/>
              </a:rPr>
              <a:t> </a:t>
            </a:r>
            <a:r>
              <a:rPr lang="en-US" sz="2200" dirty="0">
                <a:cs typeface="Calibri"/>
              </a:rPr>
              <a:t>the</a:t>
            </a:r>
            <a:r>
              <a:rPr lang="en-US" sz="2200" spc="484" dirty="0">
                <a:cs typeface="Calibri"/>
              </a:rPr>
              <a:t> </a:t>
            </a:r>
            <a:r>
              <a:rPr lang="en-US" sz="2200" dirty="0">
                <a:cs typeface="Calibri"/>
              </a:rPr>
              <a:t>same</a:t>
            </a:r>
            <a:r>
              <a:rPr lang="en-US" sz="2200" spc="492" dirty="0">
                <a:cs typeface="Calibri"/>
              </a:rPr>
              <a:t> </a:t>
            </a:r>
            <a:r>
              <a:rPr lang="en-US" sz="2200" dirty="0">
                <a:cs typeface="Calibri"/>
              </a:rPr>
              <a:t>network</a:t>
            </a:r>
            <a:r>
              <a:rPr lang="en-US" sz="2200" spc="484" dirty="0">
                <a:cs typeface="Calibri"/>
              </a:rPr>
              <a:t> </a:t>
            </a:r>
            <a:r>
              <a:rPr lang="en-US" sz="2200" dirty="0">
                <a:cs typeface="Calibri"/>
              </a:rPr>
              <a:t>using</a:t>
            </a:r>
            <a:r>
              <a:rPr lang="en-US" sz="2200" spc="492" dirty="0">
                <a:cs typeface="Calibri"/>
              </a:rPr>
              <a:t> </a:t>
            </a:r>
            <a:r>
              <a:rPr lang="en-US" sz="2200" spc="-16" dirty="0">
                <a:cs typeface="Calibri"/>
              </a:rPr>
              <a:t>different </a:t>
            </a:r>
            <a:r>
              <a:rPr lang="en-US" sz="2200" dirty="0">
                <a:cs typeface="Calibri"/>
              </a:rPr>
              <a:t>training</a:t>
            </a:r>
            <a:r>
              <a:rPr lang="en-US" sz="2200" spc="484" dirty="0">
                <a:cs typeface="Calibri"/>
              </a:rPr>
              <a:t> </a:t>
            </a:r>
            <a:r>
              <a:rPr lang="en-US" sz="2200" dirty="0">
                <a:cs typeface="Calibri"/>
              </a:rPr>
              <a:t>samples</a:t>
            </a:r>
            <a:r>
              <a:rPr lang="en-US" sz="2200" spc="500" dirty="0">
                <a:cs typeface="Calibri"/>
              </a:rPr>
              <a:t> </a:t>
            </a:r>
            <a:r>
              <a:rPr lang="en-US" sz="2200" dirty="0">
                <a:cs typeface="Calibri"/>
              </a:rPr>
              <a:t>(again</a:t>
            </a:r>
            <a:r>
              <a:rPr lang="en-US" sz="2200" spc="500" dirty="0">
                <a:cs typeface="Calibri"/>
              </a:rPr>
              <a:t> </a:t>
            </a:r>
            <a:r>
              <a:rPr lang="en-US" sz="2200" spc="-16" dirty="0">
                <a:cs typeface="Calibri"/>
              </a:rPr>
              <a:t>expensive)</a:t>
            </a:r>
            <a:endParaRPr lang="en-US" sz="2200" dirty="0">
              <a:cs typeface="Calibri"/>
            </a:endParaRPr>
          </a:p>
          <a:p>
            <a:pPr marL="363041" marR="9063" indent="-342900" algn="just">
              <a:lnSpc>
                <a:spcPct val="102600"/>
              </a:lnSpc>
              <a:spcBef>
                <a:spcPts val="476"/>
              </a:spcBef>
              <a:buFont typeface="Arial" panose="020B0604020202020204" pitchFamily="34" charset="0"/>
              <a:buChar char="•"/>
            </a:pPr>
            <a:r>
              <a:rPr lang="en-US" sz="2200" dirty="0">
                <a:cs typeface="Calibri"/>
              </a:rPr>
              <a:t>Even</a:t>
            </a:r>
            <a:r>
              <a:rPr lang="en-US" sz="2200" spc="381" dirty="0">
                <a:cs typeface="Calibri"/>
              </a:rPr>
              <a:t> </a:t>
            </a:r>
            <a:r>
              <a:rPr lang="en-US" sz="2200" dirty="0">
                <a:cs typeface="Calibri"/>
              </a:rPr>
              <a:t>if</a:t>
            </a:r>
            <a:r>
              <a:rPr lang="en-US" sz="2200" spc="381" dirty="0">
                <a:cs typeface="Calibri"/>
              </a:rPr>
              <a:t> </a:t>
            </a:r>
            <a:r>
              <a:rPr lang="en-US" sz="2200" dirty="0">
                <a:cs typeface="Calibri"/>
              </a:rPr>
              <a:t>we</a:t>
            </a:r>
            <a:r>
              <a:rPr lang="en-US" sz="2200" spc="381" dirty="0">
                <a:cs typeface="Calibri"/>
              </a:rPr>
              <a:t> </a:t>
            </a:r>
            <a:r>
              <a:rPr lang="en-US" sz="2200" dirty="0">
                <a:cs typeface="Calibri"/>
              </a:rPr>
              <a:t>manage</a:t>
            </a:r>
            <a:r>
              <a:rPr lang="en-US" sz="2200" spc="381" dirty="0">
                <a:cs typeface="Calibri"/>
              </a:rPr>
              <a:t> </a:t>
            </a:r>
            <a:r>
              <a:rPr lang="en-US" sz="2200" dirty="0">
                <a:cs typeface="Calibri"/>
              </a:rPr>
              <a:t>to</a:t>
            </a:r>
            <a:r>
              <a:rPr lang="en-US" sz="2200" spc="381" dirty="0">
                <a:cs typeface="Calibri"/>
              </a:rPr>
              <a:t> </a:t>
            </a:r>
            <a:r>
              <a:rPr lang="en-US" sz="2200" dirty="0">
                <a:cs typeface="Calibri"/>
              </a:rPr>
              <a:t>train</a:t>
            </a:r>
            <a:r>
              <a:rPr lang="en-US" sz="2200" spc="381" dirty="0">
                <a:cs typeface="Calibri"/>
              </a:rPr>
              <a:t> </a:t>
            </a:r>
            <a:r>
              <a:rPr lang="en-US" sz="2200" dirty="0">
                <a:cs typeface="Calibri"/>
              </a:rPr>
              <a:t>with</a:t>
            </a:r>
            <a:r>
              <a:rPr lang="en-US" sz="2200" spc="381" dirty="0">
                <a:cs typeface="Calibri"/>
              </a:rPr>
              <a:t> </a:t>
            </a:r>
            <a:r>
              <a:rPr lang="en-US" sz="2200" spc="-40" dirty="0">
                <a:cs typeface="Calibri"/>
              </a:rPr>
              <a:t>op</a:t>
            </a:r>
            <a:r>
              <a:rPr lang="en-US" sz="2200" dirty="0">
                <a:cs typeface="Calibri"/>
              </a:rPr>
              <a:t>tion</a:t>
            </a:r>
            <a:r>
              <a:rPr lang="en-US" sz="2200" spc="301" dirty="0">
                <a:cs typeface="Calibri"/>
              </a:rPr>
              <a:t> </a:t>
            </a:r>
            <a:r>
              <a:rPr lang="en-US" sz="2200" dirty="0">
                <a:cs typeface="Calibri"/>
              </a:rPr>
              <a:t>1</a:t>
            </a:r>
            <a:r>
              <a:rPr lang="en-US" sz="2200" spc="309" dirty="0">
                <a:cs typeface="Calibri"/>
              </a:rPr>
              <a:t> </a:t>
            </a:r>
            <a:r>
              <a:rPr lang="en-US" sz="2200" dirty="0">
                <a:cs typeface="Calibri"/>
              </a:rPr>
              <a:t>or</a:t>
            </a:r>
            <a:r>
              <a:rPr lang="en-US" sz="2200" spc="309" dirty="0">
                <a:cs typeface="Calibri"/>
              </a:rPr>
              <a:t> </a:t>
            </a:r>
            <a:r>
              <a:rPr lang="en-US" sz="2200" dirty="0">
                <a:cs typeface="Calibri"/>
              </a:rPr>
              <a:t>option</a:t>
            </a:r>
            <a:r>
              <a:rPr lang="en-US" sz="2200" spc="301" dirty="0">
                <a:cs typeface="Calibri"/>
              </a:rPr>
              <a:t> </a:t>
            </a:r>
            <a:r>
              <a:rPr lang="en-US" sz="2200" dirty="0">
                <a:cs typeface="Calibri"/>
              </a:rPr>
              <a:t>2,</a:t>
            </a:r>
            <a:r>
              <a:rPr lang="en-US" sz="2200" spc="317" dirty="0">
                <a:cs typeface="Calibri"/>
              </a:rPr>
              <a:t> </a:t>
            </a:r>
            <a:r>
              <a:rPr lang="en-US" sz="2200" dirty="0">
                <a:cs typeface="Calibri"/>
              </a:rPr>
              <a:t>combining</a:t>
            </a:r>
            <a:r>
              <a:rPr lang="en-US" sz="2200" spc="309" dirty="0">
                <a:cs typeface="Calibri"/>
              </a:rPr>
              <a:t> </a:t>
            </a:r>
            <a:r>
              <a:rPr lang="en-US" sz="2200" spc="-16" dirty="0">
                <a:cs typeface="Calibri"/>
              </a:rPr>
              <a:t>several </a:t>
            </a:r>
            <a:r>
              <a:rPr lang="en-US" sz="2200" dirty="0">
                <a:cs typeface="Calibri"/>
              </a:rPr>
              <a:t>models</a:t>
            </a:r>
            <a:r>
              <a:rPr lang="en-US" sz="2200" spc="611" dirty="0">
                <a:cs typeface="Calibri"/>
              </a:rPr>
              <a:t> </a:t>
            </a:r>
            <a:r>
              <a:rPr lang="en-US" sz="2200" dirty="0">
                <a:cs typeface="Calibri"/>
              </a:rPr>
              <a:t>at</a:t>
            </a:r>
            <a:r>
              <a:rPr lang="en-US" sz="2200" spc="619" dirty="0">
                <a:cs typeface="Calibri"/>
              </a:rPr>
              <a:t> </a:t>
            </a:r>
            <a:r>
              <a:rPr lang="en-US" sz="2200" dirty="0">
                <a:cs typeface="Calibri"/>
              </a:rPr>
              <a:t>test</a:t>
            </a:r>
            <a:r>
              <a:rPr lang="en-US" sz="2200" spc="611" dirty="0">
                <a:cs typeface="Calibri"/>
              </a:rPr>
              <a:t> </a:t>
            </a:r>
            <a:r>
              <a:rPr lang="en-US" sz="2200" dirty="0">
                <a:cs typeface="Calibri"/>
              </a:rPr>
              <a:t>time</a:t>
            </a:r>
            <a:r>
              <a:rPr lang="en-US" sz="2200" spc="619" dirty="0">
                <a:cs typeface="Calibri"/>
              </a:rPr>
              <a:t> </a:t>
            </a:r>
            <a:r>
              <a:rPr lang="en-US" sz="2200" dirty="0">
                <a:cs typeface="Calibri"/>
              </a:rPr>
              <a:t>is</a:t>
            </a:r>
            <a:r>
              <a:rPr lang="en-US" sz="2200" spc="619" dirty="0">
                <a:cs typeface="Calibri"/>
              </a:rPr>
              <a:t> </a:t>
            </a:r>
            <a:r>
              <a:rPr lang="en-US" sz="2200" dirty="0">
                <a:cs typeface="Calibri"/>
              </a:rPr>
              <a:t>infeasible</a:t>
            </a:r>
            <a:r>
              <a:rPr lang="en-US" sz="2200" spc="611" dirty="0">
                <a:cs typeface="Calibri"/>
              </a:rPr>
              <a:t> </a:t>
            </a:r>
            <a:r>
              <a:rPr lang="en-US" sz="2200" spc="-40" dirty="0">
                <a:cs typeface="Calibri"/>
              </a:rPr>
              <a:t>in </a:t>
            </a:r>
            <a:r>
              <a:rPr lang="en-US" sz="2200" dirty="0">
                <a:cs typeface="Calibri"/>
              </a:rPr>
              <a:t>real</a:t>
            </a:r>
            <a:r>
              <a:rPr lang="en-US" sz="2200" spc="254" dirty="0">
                <a:cs typeface="Calibri"/>
              </a:rPr>
              <a:t> </a:t>
            </a:r>
            <a:r>
              <a:rPr lang="en-US" sz="2200" dirty="0">
                <a:cs typeface="Calibri"/>
              </a:rPr>
              <a:t>time</a:t>
            </a:r>
            <a:r>
              <a:rPr lang="en-US" sz="2200" spc="262" dirty="0">
                <a:cs typeface="Calibri"/>
              </a:rPr>
              <a:t> </a:t>
            </a:r>
            <a:r>
              <a:rPr lang="en-US" sz="2200" spc="-16" dirty="0">
                <a:cs typeface="Calibri"/>
              </a:rPr>
              <a:t>applications</a:t>
            </a:r>
            <a:endParaRPr lang="en-US" sz="2200" dirty="0">
              <a:cs typeface="Calibri"/>
            </a:endParaRPr>
          </a:p>
          <a:p>
            <a:pPr marL="342900" indent="-342900">
              <a:buFont typeface="Arial" panose="020B0604020202020204" pitchFamily="34" charset="0"/>
              <a:buChar char="•"/>
            </a:pPr>
            <a:endParaRPr lang="en-IN" sz="2200" dirty="0"/>
          </a:p>
        </p:txBody>
      </p:sp>
      <p:sp>
        <p:nvSpPr>
          <p:cNvPr id="17" name="Title 16"/>
          <p:cNvSpPr>
            <a:spLocks noGrp="1"/>
          </p:cNvSpPr>
          <p:nvPr>
            <p:ph type="title"/>
          </p:nvPr>
        </p:nvSpPr>
        <p:spPr>
          <a:xfrm>
            <a:off x="50848" y="155948"/>
            <a:ext cx="8160907" cy="1219200"/>
          </a:xfrm>
        </p:spPr>
        <p:txBody>
          <a:bodyPr/>
          <a:lstStyle/>
          <a:p>
            <a:r>
              <a:rPr lang="en-US" dirty="0"/>
              <a:t>Ensemble - Bagging</a:t>
            </a:r>
            <a:endParaRPr lang="en-IN" dirty="0"/>
          </a:p>
        </p:txBody>
      </p:sp>
    </p:spTree>
    <p:extLst>
      <p:ext uri="{BB962C8B-B14F-4D97-AF65-F5344CB8AC3E}">
        <p14:creationId xmlns:p14="http://schemas.microsoft.com/office/powerpoint/2010/main" val="3162711437"/>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marL="342900" indent="-342900">
              <a:buFont typeface="Arial" panose="020B0604020202020204" pitchFamily="34" charset="0"/>
              <a:buChar char="•"/>
            </a:pPr>
            <a:r>
              <a:rPr lang="en-US" dirty="0"/>
              <a:t>Dropout is a technique which addresses both these issues.</a:t>
            </a:r>
          </a:p>
          <a:p>
            <a:pPr marL="342900" indent="-342900">
              <a:buFont typeface="Arial" panose="020B0604020202020204" pitchFamily="34" charset="0"/>
              <a:buChar char="•"/>
            </a:pPr>
            <a:r>
              <a:rPr lang="en-US" dirty="0"/>
              <a:t> Effectively it allows training several neural networks without any significant computational overhead. </a:t>
            </a:r>
          </a:p>
          <a:p>
            <a:pPr marL="342900" indent="-342900">
              <a:buFont typeface="Arial" panose="020B0604020202020204" pitchFamily="34" charset="0"/>
              <a:buChar char="•"/>
            </a:pPr>
            <a:r>
              <a:rPr lang="en-US" dirty="0"/>
              <a:t>Also gives an efficient approximate way of combining exponentially many different neural networks.</a:t>
            </a:r>
            <a:endParaRPr lang="en-IN" dirty="0"/>
          </a:p>
        </p:txBody>
      </p:sp>
      <p:sp>
        <p:nvSpPr>
          <p:cNvPr id="3" name="Title 2"/>
          <p:cNvSpPr>
            <a:spLocks noGrp="1"/>
          </p:cNvSpPr>
          <p:nvPr>
            <p:ph type="title"/>
          </p:nvPr>
        </p:nvSpPr>
        <p:spPr/>
        <p:txBody>
          <a:bodyPr/>
          <a:lstStyle/>
          <a:p>
            <a:r>
              <a:rPr lang="en-US" dirty="0"/>
              <a:t>Drop out</a:t>
            </a:r>
            <a:endParaRPr lang="en-IN" dirty="0"/>
          </a:p>
        </p:txBody>
      </p:sp>
    </p:spTree>
    <p:extLst>
      <p:ext uri="{BB962C8B-B14F-4D97-AF65-F5344CB8AC3E}">
        <p14:creationId xmlns:p14="http://schemas.microsoft.com/office/powerpoint/2010/main" val="37905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object 62"/>
          <p:cNvSpPr txBox="1">
            <a:spLocks noGrp="1"/>
          </p:cNvSpPr>
          <p:nvPr>
            <p:ph type="ftr" sz="quarter" idx="5"/>
          </p:nvPr>
        </p:nvSpPr>
        <p:spPr>
          <a:prstGeom prst="rect">
            <a:avLst/>
          </a:prstGeom>
        </p:spPr>
        <p:txBody>
          <a:bodyPr vert="horz" wrap="square" lIns="0" tIns="0" rIns="0" bIns="0" rtlCol="0">
            <a:spAutoFit/>
          </a:bodyPr>
          <a:lstStyle/>
          <a:p>
            <a:pPr marL="20141">
              <a:lnSpc>
                <a:spcPts val="1063"/>
              </a:lnSpc>
            </a:pPr>
            <a:r>
              <a:rPr spc="119" dirty="0"/>
              <a:t>Mitesh</a:t>
            </a:r>
            <a:r>
              <a:rPr spc="181" dirty="0"/>
              <a:t> </a:t>
            </a:r>
            <a:r>
              <a:rPr spc="151" dirty="0"/>
              <a:t>M.</a:t>
            </a:r>
            <a:r>
              <a:rPr spc="190" dirty="0"/>
              <a:t> </a:t>
            </a:r>
            <a:r>
              <a:rPr spc="151" dirty="0"/>
              <a:t>Khapra</a:t>
            </a:r>
          </a:p>
        </p:txBody>
      </p:sp>
      <p:sp>
        <p:nvSpPr>
          <p:cNvPr id="65" name="Content Placeholder 64"/>
          <p:cNvSpPr>
            <a:spLocks noGrp="1"/>
          </p:cNvSpPr>
          <p:nvPr>
            <p:ph idx="10"/>
          </p:nvPr>
        </p:nvSpPr>
        <p:spPr>
          <a:xfrm>
            <a:off x="195654" y="1263910"/>
            <a:ext cx="8610600" cy="2437509"/>
          </a:xfrm>
        </p:spPr>
        <p:txBody>
          <a:bodyPr>
            <a:normAutofit lnSpcReduction="10000"/>
          </a:bodyPr>
          <a:lstStyle/>
          <a:p>
            <a:pPr marL="363041" indent="-342900">
              <a:spcBef>
                <a:spcPts val="688"/>
              </a:spcBef>
              <a:buFont typeface="Arial" panose="020B0604020202020204" pitchFamily="34" charset="0"/>
              <a:buChar char="•"/>
            </a:pPr>
            <a:r>
              <a:rPr lang="en-US" dirty="0">
                <a:cs typeface="Calibri"/>
              </a:rPr>
              <a:t>Dropout</a:t>
            </a:r>
            <a:r>
              <a:rPr lang="en-US" spc="324" dirty="0">
                <a:cs typeface="Calibri"/>
              </a:rPr>
              <a:t> </a:t>
            </a:r>
            <a:r>
              <a:rPr lang="en-US" dirty="0">
                <a:cs typeface="Calibri"/>
              </a:rPr>
              <a:t>refers</a:t>
            </a:r>
            <a:r>
              <a:rPr lang="en-US" spc="324" dirty="0">
                <a:cs typeface="Calibri"/>
              </a:rPr>
              <a:t> </a:t>
            </a:r>
            <a:r>
              <a:rPr lang="en-US" dirty="0">
                <a:cs typeface="Calibri"/>
              </a:rPr>
              <a:t>to</a:t>
            </a:r>
            <a:r>
              <a:rPr lang="en-US" spc="333" dirty="0">
                <a:cs typeface="Calibri"/>
              </a:rPr>
              <a:t> </a:t>
            </a:r>
            <a:r>
              <a:rPr lang="en-US" dirty="0">
                <a:cs typeface="Calibri"/>
              </a:rPr>
              <a:t>dropping</a:t>
            </a:r>
            <a:r>
              <a:rPr lang="en-US" spc="324" dirty="0">
                <a:cs typeface="Calibri"/>
              </a:rPr>
              <a:t> </a:t>
            </a:r>
            <a:r>
              <a:rPr lang="en-US" dirty="0">
                <a:cs typeface="Calibri"/>
              </a:rPr>
              <a:t>out</a:t>
            </a:r>
            <a:r>
              <a:rPr lang="en-US" spc="324" dirty="0">
                <a:cs typeface="Calibri"/>
              </a:rPr>
              <a:t> </a:t>
            </a:r>
            <a:r>
              <a:rPr lang="en-US" spc="-16" dirty="0">
                <a:cs typeface="Calibri"/>
              </a:rPr>
              <a:t>units</a:t>
            </a:r>
            <a:endParaRPr lang="en-US" dirty="0">
              <a:cs typeface="Calibri"/>
            </a:endParaRPr>
          </a:p>
          <a:p>
            <a:pPr marL="363041" marR="560925" indent="-342900">
              <a:lnSpc>
                <a:spcPct val="102600"/>
              </a:lnSpc>
              <a:spcBef>
                <a:spcPts val="476"/>
              </a:spcBef>
              <a:buFont typeface="Arial" panose="020B0604020202020204" pitchFamily="34" charset="0"/>
              <a:buChar char="•"/>
            </a:pPr>
            <a:r>
              <a:rPr lang="en-US" spc="16" dirty="0">
                <a:cs typeface="Calibri"/>
              </a:rPr>
              <a:t>Temporarily</a:t>
            </a:r>
            <a:r>
              <a:rPr lang="en-US" spc="317" dirty="0">
                <a:cs typeface="Calibri"/>
              </a:rPr>
              <a:t> </a:t>
            </a:r>
            <a:r>
              <a:rPr lang="en-US" dirty="0">
                <a:cs typeface="Calibri"/>
              </a:rPr>
              <a:t>remove</a:t>
            </a:r>
            <a:r>
              <a:rPr lang="en-US" spc="324" dirty="0">
                <a:cs typeface="Calibri"/>
              </a:rPr>
              <a:t> </a:t>
            </a:r>
            <a:r>
              <a:rPr lang="en-US" spc="16" dirty="0">
                <a:cs typeface="Calibri"/>
              </a:rPr>
              <a:t>a</a:t>
            </a:r>
            <a:r>
              <a:rPr lang="en-US" spc="309" dirty="0">
                <a:cs typeface="Calibri"/>
              </a:rPr>
              <a:t> </a:t>
            </a:r>
            <a:r>
              <a:rPr lang="en-US" spc="16" dirty="0">
                <a:cs typeface="Calibri"/>
              </a:rPr>
              <a:t>node</a:t>
            </a:r>
            <a:r>
              <a:rPr lang="en-US" spc="317" dirty="0">
                <a:cs typeface="Calibri"/>
              </a:rPr>
              <a:t> </a:t>
            </a:r>
            <a:r>
              <a:rPr lang="en-US" spc="16" dirty="0">
                <a:cs typeface="Calibri"/>
              </a:rPr>
              <a:t>and</a:t>
            </a:r>
            <a:r>
              <a:rPr lang="en-US" spc="324" dirty="0">
                <a:cs typeface="Calibri"/>
              </a:rPr>
              <a:t> </a:t>
            </a:r>
            <a:r>
              <a:rPr lang="en-US" spc="16" dirty="0">
                <a:cs typeface="Calibri"/>
              </a:rPr>
              <a:t>all</a:t>
            </a:r>
            <a:r>
              <a:rPr lang="en-US" spc="317" dirty="0">
                <a:cs typeface="Calibri"/>
              </a:rPr>
              <a:t> </a:t>
            </a:r>
            <a:r>
              <a:rPr lang="en-US" spc="16" dirty="0">
                <a:cs typeface="Calibri"/>
              </a:rPr>
              <a:t>its</a:t>
            </a:r>
            <a:r>
              <a:rPr lang="en-US" spc="324" dirty="0">
                <a:cs typeface="Calibri"/>
              </a:rPr>
              <a:t> </a:t>
            </a:r>
            <a:r>
              <a:rPr lang="en-US" spc="16" dirty="0">
                <a:cs typeface="Calibri"/>
              </a:rPr>
              <a:t>incoming/outgoing</a:t>
            </a:r>
            <a:r>
              <a:rPr lang="en-US" spc="309" dirty="0">
                <a:cs typeface="Calibri"/>
              </a:rPr>
              <a:t> </a:t>
            </a:r>
            <a:r>
              <a:rPr lang="en-US" spc="-16" dirty="0">
                <a:cs typeface="Calibri"/>
              </a:rPr>
              <a:t>connections </a:t>
            </a:r>
            <a:r>
              <a:rPr lang="en-US" dirty="0">
                <a:cs typeface="Calibri"/>
              </a:rPr>
              <a:t>resulting</a:t>
            </a:r>
            <a:r>
              <a:rPr lang="en-US" spc="357" dirty="0">
                <a:cs typeface="Calibri"/>
              </a:rPr>
              <a:t> </a:t>
            </a:r>
            <a:r>
              <a:rPr lang="en-US" dirty="0">
                <a:cs typeface="Calibri"/>
              </a:rPr>
              <a:t>in</a:t>
            </a:r>
            <a:r>
              <a:rPr lang="en-US" spc="363" dirty="0">
                <a:cs typeface="Calibri"/>
              </a:rPr>
              <a:t> </a:t>
            </a:r>
            <a:r>
              <a:rPr lang="en-US" dirty="0">
                <a:cs typeface="Calibri"/>
              </a:rPr>
              <a:t>a</a:t>
            </a:r>
            <a:r>
              <a:rPr lang="en-US" spc="373" dirty="0">
                <a:cs typeface="Calibri"/>
              </a:rPr>
              <a:t> </a:t>
            </a:r>
            <a:r>
              <a:rPr lang="en-US" dirty="0">
                <a:cs typeface="Calibri"/>
              </a:rPr>
              <a:t>thinned</a:t>
            </a:r>
            <a:r>
              <a:rPr lang="en-US" spc="373" dirty="0">
                <a:cs typeface="Calibri"/>
              </a:rPr>
              <a:t> </a:t>
            </a:r>
            <a:r>
              <a:rPr lang="en-US" spc="-16" dirty="0">
                <a:cs typeface="Calibri"/>
              </a:rPr>
              <a:t>network</a:t>
            </a:r>
            <a:endParaRPr lang="en-US" dirty="0">
              <a:cs typeface="Calibri"/>
            </a:endParaRPr>
          </a:p>
          <a:p>
            <a:pPr marL="363041" marR="8056" indent="-342900">
              <a:lnSpc>
                <a:spcPct val="102600"/>
              </a:lnSpc>
              <a:spcBef>
                <a:spcPts val="476"/>
              </a:spcBef>
              <a:buFont typeface="Arial" panose="020B0604020202020204" pitchFamily="34" charset="0"/>
              <a:buChar char="•"/>
            </a:pPr>
            <a:r>
              <a:rPr lang="en-US" spc="87" dirty="0">
                <a:cs typeface="Calibri"/>
              </a:rPr>
              <a:t>Each</a:t>
            </a:r>
            <a:r>
              <a:rPr lang="en-US" spc="262" dirty="0">
                <a:cs typeface="Calibri"/>
              </a:rPr>
              <a:t> </a:t>
            </a:r>
            <a:r>
              <a:rPr lang="en-US" spc="16" dirty="0">
                <a:cs typeface="Calibri"/>
              </a:rPr>
              <a:t>node</a:t>
            </a:r>
            <a:r>
              <a:rPr lang="en-US" spc="270" dirty="0">
                <a:cs typeface="Calibri"/>
              </a:rPr>
              <a:t> </a:t>
            </a:r>
            <a:r>
              <a:rPr lang="en-US" spc="16" dirty="0">
                <a:cs typeface="Calibri"/>
              </a:rPr>
              <a:t>is</a:t>
            </a:r>
            <a:r>
              <a:rPr lang="en-US" spc="262" dirty="0">
                <a:cs typeface="Calibri"/>
              </a:rPr>
              <a:t> </a:t>
            </a:r>
            <a:r>
              <a:rPr lang="en-US" spc="16" dirty="0">
                <a:cs typeface="Calibri"/>
              </a:rPr>
              <a:t>retained</a:t>
            </a:r>
            <a:r>
              <a:rPr lang="en-US" spc="270" dirty="0">
                <a:cs typeface="Calibri"/>
              </a:rPr>
              <a:t> </a:t>
            </a:r>
            <a:r>
              <a:rPr lang="en-US" spc="16" dirty="0">
                <a:cs typeface="Calibri"/>
              </a:rPr>
              <a:t>with</a:t>
            </a:r>
            <a:r>
              <a:rPr lang="en-US" spc="262" dirty="0">
                <a:cs typeface="Calibri"/>
              </a:rPr>
              <a:t> </a:t>
            </a:r>
            <a:r>
              <a:rPr lang="en-US" spc="16" dirty="0">
                <a:cs typeface="Calibri"/>
              </a:rPr>
              <a:t>a</a:t>
            </a:r>
            <a:r>
              <a:rPr lang="en-US" spc="270" dirty="0">
                <a:cs typeface="Calibri"/>
              </a:rPr>
              <a:t> </a:t>
            </a:r>
            <a:r>
              <a:rPr lang="en-US" spc="16" dirty="0">
                <a:cs typeface="Calibri"/>
              </a:rPr>
              <a:t>fixed</a:t>
            </a:r>
            <a:r>
              <a:rPr lang="en-US" spc="262" dirty="0">
                <a:cs typeface="Calibri"/>
              </a:rPr>
              <a:t> </a:t>
            </a:r>
            <a:r>
              <a:rPr lang="en-US" spc="16" dirty="0">
                <a:cs typeface="Calibri"/>
              </a:rPr>
              <a:t>probability</a:t>
            </a:r>
            <a:r>
              <a:rPr lang="en-US" spc="270" dirty="0">
                <a:cs typeface="Calibri"/>
              </a:rPr>
              <a:t> </a:t>
            </a:r>
            <a:r>
              <a:rPr lang="en-US" spc="16" dirty="0">
                <a:cs typeface="Calibri"/>
              </a:rPr>
              <a:t>(typically</a:t>
            </a:r>
            <a:r>
              <a:rPr lang="en-US" spc="254" dirty="0">
                <a:cs typeface="Calibri"/>
              </a:rPr>
              <a:t> </a:t>
            </a:r>
            <a:r>
              <a:rPr lang="en-US" i="1" spc="16" dirty="0">
                <a:cs typeface="Calibri"/>
              </a:rPr>
              <a:t>p</a:t>
            </a:r>
            <a:r>
              <a:rPr lang="en-US" i="1" spc="151" dirty="0">
                <a:cs typeface="Calibri"/>
              </a:rPr>
              <a:t> </a:t>
            </a:r>
            <a:r>
              <a:rPr lang="en-US" spc="468" dirty="0">
                <a:cs typeface="Calibri"/>
              </a:rPr>
              <a:t>=</a:t>
            </a:r>
            <a:r>
              <a:rPr lang="en-US" spc="159" dirty="0">
                <a:cs typeface="Calibri"/>
              </a:rPr>
              <a:t> </a:t>
            </a:r>
            <a:r>
              <a:rPr lang="en-US" spc="16" dirty="0">
                <a:cs typeface="Calibri"/>
              </a:rPr>
              <a:t>0</a:t>
            </a:r>
            <a:r>
              <a:rPr lang="en-US" i="1" spc="16" dirty="0">
                <a:cs typeface="Calibri"/>
              </a:rPr>
              <a:t>.</a:t>
            </a:r>
            <a:r>
              <a:rPr lang="en-US" spc="16" dirty="0">
                <a:cs typeface="Calibri"/>
              </a:rPr>
              <a:t>5)</a:t>
            </a:r>
            <a:r>
              <a:rPr lang="en-US" spc="262" dirty="0">
                <a:cs typeface="Calibri"/>
              </a:rPr>
              <a:t> </a:t>
            </a:r>
            <a:r>
              <a:rPr lang="en-US" spc="16" dirty="0">
                <a:cs typeface="Calibri"/>
              </a:rPr>
              <a:t>for</a:t>
            </a:r>
            <a:r>
              <a:rPr lang="en-US" spc="270" dirty="0">
                <a:cs typeface="Calibri"/>
              </a:rPr>
              <a:t> </a:t>
            </a:r>
            <a:r>
              <a:rPr lang="en-US" spc="-16" dirty="0">
                <a:cs typeface="Calibri"/>
              </a:rPr>
              <a:t>hidden </a:t>
            </a:r>
            <a:r>
              <a:rPr lang="en-US" dirty="0">
                <a:cs typeface="Calibri"/>
              </a:rPr>
              <a:t>nodes</a:t>
            </a:r>
            <a:r>
              <a:rPr lang="en-US" spc="230" dirty="0">
                <a:cs typeface="Calibri"/>
              </a:rPr>
              <a:t> </a:t>
            </a:r>
            <a:r>
              <a:rPr lang="en-US" dirty="0">
                <a:cs typeface="Calibri"/>
              </a:rPr>
              <a:t>and</a:t>
            </a:r>
            <a:r>
              <a:rPr lang="en-US" spc="238" dirty="0">
                <a:cs typeface="Calibri"/>
              </a:rPr>
              <a:t> </a:t>
            </a:r>
            <a:r>
              <a:rPr lang="en-US" i="1" dirty="0">
                <a:cs typeface="Calibri"/>
              </a:rPr>
              <a:t>p</a:t>
            </a:r>
            <a:r>
              <a:rPr lang="en-US" i="1" spc="119" dirty="0">
                <a:cs typeface="Calibri"/>
              </a:rPr>
              <a:t> </a:t>
            </a:r>
            <a:r>
              <a:rPr lang="en-US" spc="468" dirty="0">
                <a:cs typeface="Calibri"/>
              </a:rPr>
              <a:t>=</a:t>
            </a:r>
            <a:r>
              <a:rPr lang="en-US" spc="135" dirty="0">
                <a:cs typeface="Calibri"/>
              </a:rPr>
              <a:t> </a:t>
            </a:r>
            <a:r>
              <a:rPr lang="en-US" dirty="0">
                <a:cs typeface="Calibri"/>
              </a:rPr>
              <a:t>0</a:t>
            </a:r>
            <a:r>
              <a:rPr lang="en-US" i="1" dirty="0">
                <a:cs typeface="Calibri"/>
              </a:rPr>
              <a:t>.</a:t>
            </a:r>
            <a:r>
              <a:rPr lang="en-US" dirty="0">
                <a:cs typeface="Calibri"/>
              </a:rPr>
              <a:t>8</a:t>
            </a:r>
            <a:r>
              <a:rPr lang="en-US" spc="230" dirty="0">
                <a:cs typeface="Calibri"/>
              </a:rPr>
              <a:t> </a:t>
            </a:r>
            <a:r>
              <a:rPr lang="en-US" dirty="0">
                <a:cs typeface="Calibri"/>
              </a:rPr>
              <a:t>for</a:t>
            </a:r>
            <a:r>
              <a:rPr lang="en-US" spc="230" dirty="0">
                <a:cs typeface="Calibri"/>
              </a:rPr>
              <a:t> </a:t>
            </a:r>
            <a:r>
              <a:rPr lang="en-US" dirty="0">
                <a:cs typeface="Calibri"/>
              </a:rPr>
              <a:t>visible</a:t>
            </a:r>
            <a:r>
              <a:rPr lang="en-US" spc="238" dirty="0">
                <a:cs typeface="Calibri"/>
              </a:rPr>
              <a:t> </a:t>
            </a:r>
            <a:r>
              <a:rPr lang="en-US" spc="-16" dirty="0">
                <a:cs typeface="Calibri"/>
              </a:rPr>
              <a:t>nodes</a:t>
            </a:r>
            <a:endParaRPr lang="en-US" dirty="0">
              <a:cs typeface="Calibri"/>
            </a:endParaRPr>
          </a:p>
          <a:p>
            <a:pPr marL="342900" indent="-342900">
              <a:buFont typeface="Arial" panose="020B0604020202020204" pitchFamily="34" charset="0"/>
              <a:buChar char="•"/>
            </a:pPr>
            <a:endParaRPr lang="en-IN" dirty="0"/>
          </a:p>
        </p:txBody>
      </p:sp>
      <p:sp>
        <p:nvSpPr>
          <p:cNvPr id="64" name="Title 63"/>
          <p:cNvSpPr>
            <a:spLocks noGrp="1"/>
          </p:cNvSpPr>
          <p:nvPr>
            <p:ph type="title"/>
          </p:nvPr>
        </p:nvSpPr>
        <p:spPr/>
        <p:txBody>
          <a:bodyPr/>
          <a:lstStyle/>
          <a:p>
            <a:r>
              <a:rPr lang="en-US" dirty="0"/>
              <a:t>Drop out</a:t>
            </a:r>
            <a:endParaRPr lang="en-IN" dirty="0"/>
          </a:p>
        </p:txBody>
      </p:sp>
      <p:grpSp>
        <p:nvGrpSpPr>
          <p:cNvPr id="55" name="Group 54"/>
          <p:cNvGrpSpPr/>
          <p:nvPr/>
        </p:nvGrpSpPr>
        <p:grpSpPr>
          <a:xfrm>
            <a:off x="696452" y="4157516"/>
            <a:ext cx="6696300" cy="1754743"/>
            <a:chOff x="457200" y="4034204"/>
            <a:chExt cx="6696300" cy="1754743"/>
          </a:xfrm>
        </p:grpSpPr>
        <p:pic>
          <p:nvPicPr>
            <p:cNvPr id="2" name="object 2"/>
            <p:cNvPicPr/>
            <p:nvPr/>
          </p:nvPicPr>
          <p:blipFill>
            <a:blip r:embed="rId2" cstate="print"/>
            <a:stretch>
              <a:fillRect/>
            </a:stretch>
          </p:blipFill>
          <p:spPr>
            <a:xfrm>
              <a:off x="952181" y="4034204"/>
              <a:ext cx="2257833" cy="1743997"/>
            </a:xfrm>
            <a:prstGeom prst="rect">
              <a:avLst/>
            </a:prstGeom>
          </p:spPr>
        </p:pic>
        <p:grpSp>
          <p:nvGrpSpPr>
            <p:cNvPr id="54" name="Group 53"/>
            <p:cNvGrpSpPr/>
            <p:nvPr/>
          </p:nvGrpSpPr>
          <p:grpSpPr>
            <a:xfrm>
              <a:off x="457200" y="4034204"/>
              <a:ext cx="6696300" cy="1754743"/>
              <a:chOff x="457200" y="4034204"/>
              <a:chExt cx="6696300" cy="1754743"/>
            </a:xfrm>
          </p:grpSpPr>
          <p:grpSp>
            <p:nvGrpSpPr>
              <p:cNvPr id="3" name="object 3"/>
              <p:cNvGrpSpPr/>
              <p:nvPr/>
            </p:nvGrpSpPr>
            <p:grpSpPr>
              <a:xfrm>
                <a:off x="4894690" y="4044739"/>
                <a:ext cx="2258810" cy="1744208"/>
                <a:chOff x="3263089" y="394071"/>
                <a:chExt cx="1424305" cy="1099820"/>
              </a:xfrm>
            </p:grpSpPr>
            <p:sp>
              <p:nvSpPr>
                <p:cNvPr id="4" name="object 4"/>
                <p:cNvSpPr/>
                <p:nvPr/>
              </p:nvSpPr>
              <p:spPr>
                <a:xfrm>
                  <a:off x="3268150" y="1371138"/>
                  <a:ext cx="118110" cy="118110"/>
                </a:xfrm>
                <a:custGeom>
                  <a:avLst/>
                  <a:gdLst/>
                  <a:ahLst/>
                  <a:cxnLst/>
                  <a:rect l="l" t="t" r="r" b="b"/>
                  <a:pathLst>
                    <a:path w="118110" h="118109">
                      <a:moveTo>
                        <a:pt x="58779" y="0"/>
                      </a:move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lnTo>
                        <a:pt x="112940" y="35900"/>
                      </a:lnTo>
                      <a:lnTo>
                        <a:pt x="100343" y="17216"/>
                      </a:lnTo>
                      <a:lnTo>
                        <a:pt x="81659" y="4619"/>
                      </a:lnTo>
                      <a:lnTo>
                        <a:pt x="58779" y="0"/>
                      </a:lnTo>
                      <a:close/>
                    </a:path>
                  </a:pathLst>
                </a:custGeom>
                <a:solidFill>
                  <a:srgbClr val="FFF2E5"/>
                </a:solidFill>
              </p:spPr>
              <p:txBody>
                <a:bodyPr wrap="square" lIns="0" tIns="0" rIns="0" bIns="0" rtlCol="0"/>
                <a:lstStyle/>
                <a:p>
                  <a:endParaRPr/>
                </a:p>
              </p:txBody>
            </p:sp>
            <p:sp>
              <p:nvSpPr>
                <p:cNvPr id="5" name="object 5"/>
                <p:cNvSpPr/>
                <p:nvPr/>
              </p:nvSpPr>
              <p:spPr>
                <a:xfrm>
                  <a:off x="3268150" y="1371138"/>
                  <a:ext cx="118110" cy="118110"/>
                </a:xfrm>
                <a:custGeom>
                  <a:avLst/>
                  <a:gdLst/>
                  <a:ahLst/>
                  <a:cxnLst/>
                  <a:rect l="l" t="t" r="r" b="b"/>
                  <a:pathLst>
                    <a:path w="118110" h="118109">
                      <a:moveTo>
                        <a:pt x="117559" y="58779"/>
                      </a:moveTo>
                      <a:lnTo>
                        <a:pt x="112940" y="35900"/>
                      </a:lnTo>
                      <a:lnTo>
                        <a:pt x="100343" y="17216"/>
                      </a:lnTo>
                      <a:lnTo>
                        <a:pt x="81659" y="4619"/>
                      </a:lnTo>
                      <a:lnTo>
                        <a:pt x="58779" y="0"/>
                      </a:ln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close/>
                    </a:path>
                  </a:pathLst>
                </a:custGeom>
                <a:ln w="10122">
                  <a:solidFill>
                    <a:srgbClr val="FF7F7F"/>
                  </a:solidFill>
                </a:ln>
              </p:spPr>
              <p:txBody>
                <a:bodyPr wrap="square" lIns="0" tIns="0" rIns="0" bIns="0" rtlCol="0"/>
                <a:lstStyle/>
                <a:p>
                  <a:endParaRPr/>
                </a:p>
              </p:txBody>
            </p:sp>
            <p:sp>
              <p:nvSpPr>
                <p:cNvPr id="6" name="object 6"/>
                <p:cNvSpPr/>
                <p:nvPr/>
              </p:nvSpPr>
              <p:spPr>
                <a:xfrm>
                  <a:off x="3609367" y="1388354"/>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7" name="object 7"/>
                <p:cNvSpPr/>
                <p:nvPr/>
              </p:nvSpPr>
              <p:spPr>
                <a:xfrm>
                  <a:off x="3592151" y="1371138"/>
                  <a:ext cx="118110" cy="118110"/>
                </a:xfrm>
                <a:custGeom>
                  <a:avLst/>
                  <a:gdLst/>
                  <a:ahLst/>
                  <a:cxnLst/>
                  <a:rect l="l" t="t" r="r" b="b"/>
                  <a:pathLst>
                    <a:path w="118110" h="118109">
                      <a:moveTo>
                        <a:pt x="117560" y="58779"/>
                      </a:moveTo>
                      <a:lnTo>
                        <a:pt x="112940" y="35900"/>
                      </a:lnTo>
                      <a:lnTo>
                        <a:pt x="100343" y="17216"/>
                      </a:lnTo>
                      <a:lnTo>
                        <a:pt x="81659" y="4619"/>
                      </a:lnTo>
                      <a:lnTo>
                        <a:pt x="58779" y="0"/>
                      </a:lnTo>
                      <a:lnTo>
                        <a:pt x="35899" y="4619"/>
                      </a:lnTo>
                      <a:lnTo>
                        <a:pt x="17216" y="17216"/>
                      </a:lnTo>
                      <a:lnTo>
                        <a:pt x="4619" y="35900"/>
                      </a:lnTo>
                      <a:lnTo>
                        <a:pt x="0" y="58779"/>
                      </a:lnTo>
                      <a:lnTo>
                        <a:pt x="4619" y="81659"/>
                      </a:lnTo>
                      <a:lnTo>
                        <a:pt x="17216" y="100343"/>
                      </a:lnTo>
                      <a:lnTo>
                        <a:pt x="35899" y="112940"/>
                      </a:lnTo>
                      <a:lnTo>
                        <a:pt x="58779" y="117559"/>
                      </a:lnTo>
                      <a:lnTo>
                        <a:pt x="81659" y="112940"/>
                      </a:lnTo>
                      <a:lnTo>
                        <a:pt x="100343" y="100343"/>
                      </a:lnTo>
                      <a:lnTo>
                        <a:pt x="112940" y="81659"/>
                      </a:lnTo>
                      <a:lnTo>
                        <a:pt x="117560" y="58779"/>
                      </a:lnTo>
                      <a:close/>
                    </a:path>
                  </a:pathLst>
                </a:custGeom>
                <a:ln w="5060">
                  <a:solidFill>
                    <a:srgbClr val="000000"/>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911092" y="1366077"/>
                  <a:ext cx="127682" cy="127681"/>
                </a:xfrm>
                <a:prstGeom prst="rect">
                  <a:avLst/>
                </a:prstGeom>
              </p:spPr>
            </p:pic>
            <p:pic>
              <p:nvPicPr>
                <p:cNvPr id="9" name="object 9"/>
                <p:cNvPicPr/>
                <p:nvPr/>
              </p:nvPicPr>
              <p:blipFill>
                <a:blip r:embed="rId3" cstate="print"/>
                <a:stretch>
                  <a:fillRect/>
                </a:stretch>
              </p:blipFill>
              <p:spPr>
                <a:xfrm>
                  <a:off x="4235094" y="1366077"/>
                  <a:ext cx="127682" cy="127681"/>
                </a:xfrm>
                <a:prstGeom prst="rect">
                  <a:avLst/>
                </a:prstGeom>
              </p:spPr>
            </p:pic>
            <p:pic>
              <p:nvPicPr>
                <p:cNvPr id="10" name="object 10"/>
                <p:cNvPicPr/>
                <p:nvPr/>
              </p:nvPicPr>
              <p:blipFill>
                <a:blip r:embed="rId3" cstate="print"/>
                <a:stretch>
                  <a:fillRect/>
                </a:stretch>
              </p:blipFill>
              <p:spPr>
                <a:xfrm>
                  <a:off x="4559096" y="1366077"/>
                  <a:ext cx="127682" cy="127681"/>
                </a:xfrm>
                <a:prstGeom prst="rect">
                  <a:avLst/>
                </a:prstGeom>
              </p:spPr>
            </p:pic>
            <p:sp>
              <p:nvSpPr>
                <p:cNvPr id="11" name="object 11"/>
                <p:cNvSpPr/>
                <p:nvPr/>
              </p:nvSpPr>
              <p:spPr>
                <a:xfrm>
                  <a:off x="3285366" y="1064352"/>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12" name="object 12"/>
                <p:cNvSpPr/>
                <p:nvPr/>
              </p:nvSpPr>
              <p:spPr>
                <a:xfrm>
                  <a:off x="3268150" y="1047136"/>
                  <a:ext cx="118110" cy="118110"/>
                </a:xfrm>
                <a:custGeom>
                  <a:avLst/>
                  <a:gdLst/>
                  <a:ahLst/>
                  <a:cxnLst/>
                  <a:rect l="l" t="t" r="r" b="b"/>
                  <a:pathLst>
                    <a:path w="118110" h="118109">
                      <a:moveTo>
                        <a:pt x="117559" y="58780"/>
                      </a:moveTo>
                      <a:lnTo>
                        <a:pt x="112940" y="35900"/>
                      </a:lnTo>
                      <a:lnTo>
                        <a:pt x="100343" y="17216"/>
                      </a:lnTo>
                      <a:lnTo>
                        <a:pt x="81659" y="4619"/>
                      </a:lnTo>
                      <a:lnTo>
                        <a:pt x="58779" y="0"/>
                      </a:lnTo>
                      <a:lnTo>
                        <a:pt x="35900" y="4619"/>
                      </a:lnTo>
                      <a:lnTo>
                        <a:pt x="17216" y="17216"/>
                      </a:lnTo>
                      <a:lnTo>
                        <a:pt x="4619" y="35900"/>
                      </a:lnTo>
                      <a:lnTo>
                        <a:pt x="0" y="58780"/>
                      </a:lnTo>
                      <a:lnTo>
                        <a:pt x="4619" y="81660"/>
                      </a:lnTo>
                      <a:lnTo>
                        <a:pt x="17216" y="100344"/>
                      </a:lnTo>
                      <a:lnTo>
                        <a:pt x="35900" y="112940"/>
                      </a:lnTo>
                      <a:lnTo>
                        <a:pt x="58779" y="117560"/>
                      </a:lnTo>
                      <a:lnTo>
                        <a:pt x="81659" y="112940"/>
                      </a:lnTo>
                      <a:lnTo>
                        <a:pt x="100343" y="100344"/>
                      </a:lnTo>
                      <a:lnTo>
                        <a:pt x="112940" y="81660"/>
                      </a:lnTo>
                      <a:lnTo>
                        <a:pt x="117559" y="58780"/>
                      </a:lnTo>
                      <a:close/>
                    </a:path>
                  </a:pathLst>
                </a:custGeom>
                <a:ln w="5060">
                  <a:solidFill>
                    <a:srgbClr val="000000"/>
                  </a:solidFill>
                </a:ln>
              </p:spPr>
              <p:txBody>
                <a:bodyPr wrap="square" lIns="0" tIns="0" rIns="0" bIns="0" rtlCol="0"/>
                <a:lstStyle/>
                <a:p>
                  <a:endParaRPr/>
                </a:p>
              </p:txBody>
            </p:sp>
            <p:sp>
              <p:nvSpPr>
                <p:cNvPr id="13" name="object 13"/>
                <p:cNvSpPr/>
                <p:nvPr/>
              </p:nvSpPr>
              <p:spPr>
                <a:xfrm>
                  <a:off x="3592151" y="1047136"/>
                  <a:ext cx="118110" cy="118110"/>
                </a:xfrm>
                <a:custGeom>
                  <a:avLst/>
                  <a:gdLst/>
                  <a:ahLst/>
                  <a:cxnLst/>
                  <a:rect l="l" t="t" r="r" b="b"/>
                  <a:pathLst>
                    <a:path w="118110" h="118109">
                      <a:moveTo>
                        <a:pt x="58779" y="0"/>
                      </a:move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lnTo>
                        <a:pt x="112940" y="35900"/>
                      </a:lnTo>
                      <a:lnTo>
                        <a:pt x="100343" y="17216"/>
                      </a:lnTo>
                      <a:lnTo>
                        <a:pt x="81659" y="4619"/>
                      </a:lnTo>
                      <a:lnTo>
                        <a:pt x="58779" y="0"/>
                      </a:lnTo>
                      <a:close/>
                    </a:path>
                  </a:pathLst>
                </a:custGeom>
                <a:solidFill>
                  <a:srgbClr val="E5E5FF"/>
                </a:solidFill>
              </p:spPr>
              <p:txBody>
                <a:bodyPr wrap="square" lIns="0" tIns="0" rIns="0" bIns="0" rtlCol="0"/>
                <a:lstStyle/>
                <a:p>
                  <a:endParaRPr/>
                </a:p>
              </p:txBody>
            </p:sp>
            <p:sp>
              <p:nvSpPr>
                <p:cNvPr id="14" name="object 14"/>
                <p:cNvSpPr/>
                <p:nvPr/>
              </p:nvSpPr>
              <p:spPr>
                <a:xfrm>
                  <a:off x="3592151" y="1047136"/>
                  <a:ext cx="118110" cy="118110"/>
                </a:xfrm>
                <a:custGeom>
                  <a:avLst/>
                  <a:gdLst/>
                  <a:ahLst/>
                  <a:cxnLst/>
                  <a:rect l="l" t="t" r="r" b="b"/>
                  <a:pathLst>
                    <a:path w="118110" h="118109">
                      <a:moveTo>
                        <a:pt x="117560" y="58780"/>
                      </a:moveTo>
                      <a:lnTo>
                        <a:pt x="112940" y="35900"/>
                      </a:lnTo>
                      <a:lnTo>
                        <a:pt x="100343" y="17216"/>
                      </a:lnTo>
                      <a:lnTo>
                        <a:pt x="81659" y="4619"/>
                      </a:lnTo>
                      <a:lnTo>
                        <a:pt x="58779" y="0"/>
                      </a:ln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close/>
                    </a:path>
                  </a:pathLst>
                </a:custGeom>
                <a:ln w="10122">
                  <a:solidFill>
                    <a:srgbClr val="7F7FFF"/>
                  </a:solidFill>
                </a:ln>
              </p:spPr>
              <p:txBody>
                <a:bodyPr wrap="square" lIns="0" tIns="0" rIns="0" bIns="0" rtlCol="0"/>
                <a:lstStyle/>
                <a:p>
                  <a:endParaRPr/>
                </a:p>
              </p:txBody>
            </p:sp>
            <p:pic>
              <p:nvPicPr>
                <p:cNvPr id="15" name="object 15"/>
                <p:cNvPicPr/>
                <p:nvPr/>
              </p:nvPicPr>
              <p:blipFill>
                <a:blip r:embed="rId4" cstate="print"/>
                <a:stretch>
                  <a:fillRect/>
                </a:stretch>
              </p:blipFill>
              <p:spPr>
                <a:xfrm>
                  <a:off x="3913623" y="1044606"/>
                  <a:ext cx="122621" cy="122621"/>
                </a:xfrm>
                <a:prstGeom prst="rect">
                  <a:avLst/>
                </a:prstGeom>
              </p:spPr>
            </p:pic>
            <p:pic>
              <p:nvPicPr>
                <p:cNvPr id="16" name="object 16"/>
                <p:cNvPicPr/>
                <p:nvPr/>
              </p:nvPicPr>
              <p:blipFill>
                <a:blip r:embed="rId5" cstate="print"/>
                <a:stretch>
                  <a:fillRect/>
                </a:stretch>
              </p:blipFill>
              <p:spPr>
                <a:xfrm>
                  <a:off x="4237624" y="1044606"/>
                  <a:ext cx="122621" cy="122621"/>
                </a:xfrm>
                <a:prstGeom prst="rect">
                  <a:avLst/>
                </a:prstGeom>
              </p:spPr>
            </p:pic>
            <p:pic>
              <p:nvPicPr>
                <p:cNvPr id="17" name="object 17"/>
                <p:cNvPicPr/>
                <p:nvPr/>
              </p:nvPicPr>
              <p:blipFill>
                <a:blip r:embed="rId6" cstate="print"/>
                <a:stretch>
                  <a:fillRect/>
                </a:stretch>
              </p:blipFill>
              <p:spPr>
                <a:xfrm>
                  <a:off x="4559096" y="1042075"/>
                  <a:ext cx="127682" cy="127682"/>
                </a:xfrm>
                <a:prstGeom prst="rect">
                  <a:avLst/>
                </a:prstGeom>
              </p:spPr>
            </p:pic>
            <p:pic>
              <p:nvPicPr>
                <p:cNvPr id="18" name="object 18"/>
                <p:cNvPicPr/>
                <p:nvPr/>
              </p:nvPicPr>
              <p:blipFill>
                <a:blip r:embed="rId6" cstate="print"/>
                <a:stretch>
                  <a:fillRect/>
                </a:stretch>
              </p:blipFill>
              <p:spPr>
                <a:xfrm>
                  <a:off x="3263089" y="718073"/>
                  <a:ext cx="127681" cy="127682"/>
                </a:xfrm>
                <a:prstGeom prst="rect">
                  <a:avLst/>
                </a:prstGeom>
              </p:spPr>
            </p:pic>
            <p:pic>
              <p:nvPicPr>
                <p:cNvPr id="19" name="object 19"/>
                <p:cNvPicPr/>
                <p:nvPr/>
              </p:nvPicPr>
              <p:blipFill>
                <a:blip r:embed="rId7" cstate="print"/>
                <a:stretch>
                  <a:fillRect/>
                </a:stretch>
              </p:blipFill>
              <p:spPr>
                <a:xfrm>
                  <a:off x="3589621" y="720604"/>
                  <a:ext cx="122621" cy="122621"/>
                </a:xfrm>
                <a:prstGeom prst="rect">
                  <a:avLst/>
                </a:prstGeom>
              </p:spPr>
            </p:pic>
            <p:pic>
              <p:nvPicPr>
                <p:cNvPr id="20" name="object 20"/>
                <p:cNvPicPr/>
                <p:nvPr/>
              </p:nvPicPr>
              <p:blipFill>
                <a:blip r:embed="rId6" cstate="print"/>
                <a:stretch>
                  <a:fillRect/>
                </a:stretch>
              </p:blipFill>
              <p:spPr>
                <a:xfrm>
                  <a:off x="3911092" y="718073"/>
                  <a:ext cx="127682" cy="127682"/>
                </a:xfrm>
                <a:prstGeom prst="rect">
                  <a:avLst/>
                </a:prstGeom>
              </p:spPr>
            </p:pic>
            <p:pic>
              <p:nvPicPr>
                <p:cNvPr id="21" name="object 21"/>
                <p:cNvPicPr/>
                <p:nvPr/>
              </p:nvPicPr>
              <p:blipFill>
                <a:blip r:embed="rId5" cstate="print"/>
                <a:stretch>
                  <a:fillRect/>
                </a:stretch>
              </p:blipFill>
              <p:spPr>
                <a:xfrm>
                  <a:off x="4237624" y="720604"/>
                  <a:ext cx="122621" cy="122621"/>
                </a:xfrm>
                <a:prstGeom prst="rect">
                  <a:avLst/>
                </a:prstGeom>
              </p:spPr>
            </p:pic>
            <p:pic>
              <p:nvPicPr>
                <p:cNvPr id="22" name="object 22"/>
                <p:cNvPicPr/>
                <p:nvPr/>
              </p:nvPicPr>
              <p:blipFill>
                <a:blip r:embed="rId6" cstate="print"/>
                <a:stretch>
                  <a:fillRect/>
                </a:stretch>
              </p:blipFill>
              <p:spPr>
                <a:xfrm>
                  <a:off x="4559096" y="718073"/>
                  <a:ext cx="127682" cy="127682"/>
                </a:xfrm>
                <a:prstGeom prst="rect">
                  <a:avLst/>
                </a:prstGeom>
              </p:spPr>
            </p:pic>
            <p:pic>
              <p:nvPicPr>
                <p:cNvPr id="23" name="object 23"/>
                <p:cNvPicPr/>
                <p:nvPr/>
              </p:nvPicPr>
              <p:blipFill>
                <a:blip r:embed="rId8" cstate="print"/>
                <a:stretch>
                  <a:fillRect/>
                </a:stretch>
              </p:blipFill>
              <p:spPr>
                <a:xfrm>
                  <a:off x="3911092" y="394071"/>
                  <a:ext cx="127682" cy="127682"/>
                </a:xfrm>
                <a:prstGeom prst="rect">
                  <a:avLst/>
                </a:prstGeom>
              </p:spPr>
            </p:pic>
            <p:sp>
              <p:nvSpPr>
                <p:cNvPr id="24" name="object 24"/>
                <p:cNvSpPr/>
                <p:nvPr/>
              </p:nvSpPr>
              <p:spPr>
                <a:xfrm>
                  <a:off x="3371714" y="1154817"/>
                  <a:ext cx="230504" cy="230504"/>
                </a:xfrm>
                <a:custGeom>
                  <a:avLst/>
                  <a:gdLst/>
                  <a:ahLst/>
                  <a:cxnLst/>
                  <a:rect l="l" t="t" r="r" b="b"/>
                  <a:pathLst>
                    <a:path w="230504" h="230505">
                      <a:moveTo>
                        <a:pt x="0" y="230316"/>
                      </a:moveTo>
                      <a:lnTo>
                        <a:pt x="230315" y="0"/>
                      </a:lnTo>
                    </a:path>
                  </a:pathLst>
                </a:custGeom>
                <a:ln w="5060">
                  <a:solidFill>
                    <a:srgbClr val="000000"/>
                  </a:solidFill>
                </a:ln>
              </p:spPr>
              <p:txBody>
                <a:bodyPr wrap="square" lIns="0" tIns="0" rIns="0" bIns="0" rtlCol="0"/>
                <a:lstStyle/>
                <a:p>
                  <a:endParaRPr/>
                </a:p>
              </p:txBody>
            </p:sp>
            <p:sp>
              <p:nvSpPr>
                <p:cNvPr id="25" name="object 25"/>
                <p:cNvSpPr/>
                <p:nvPr/>
              </p:nvSpPr>
              <p:spPr>
                <a:xfrm>
                  <a:off x="3576979" y="1151239"/>
                  <a:ext cx="29209" cy="29209"/>
                </a:xfrm>
                <a:custGeom>
                  <a:avLst/>
                  <a:gdLst/>
                  <a:ahLst/>
                  <a:cxnLst/>
                  <a:rect l="l" t="t" r="r" b="b"/>
                  <a:pathLst>
                    <a:path w="29210" h="29209">
                      <a:moveTo>
                        <a:pt x="0" y="0"/>
                      </a:moveTo>
                      <a:lnTo>
                        <a:pt x="6472" y="2278"/>
                      </a:lnTo>
                      <a:lnTo>
                        <a:pt x="14873" y="2795"/>
                      </a:lnTo>
                      <a:lnTo>
                        <a:pt x="22771" y="2138"/>
                      </a:lnTo>
                      <a:lnTo>
                        <a:pt x="27734" y="894"/>
                      </a:lnTo>
                      <a:lnTo>
                        <a:pt x="26490" y="5857"/>
                      </a:lnTo>
                      <a:lnTo>
                        <a:pt x="25833" y="13755"/>
                      </a:lnTo>
                      <a:lnTo>
                        <a:pt x="26350" y="22156"/>
                      </a:lnTo>
                      <a:lnTo>
                        <a:pt x="28628" y="28628"/>
                      </a:lnTo>
                    </a:path>
                  </a:pathLst>
                </a:custGeom>
                <a:ln w="4048">
                  <a:solidFill>
                    <a:srgbClr val="000000"/>
                  </a:solidFill>
                </a:ln>
              </p:spPr>
              <p:txBody>
                <a:bodyPr wrap="square" lIns="0" tIns="0" rIns="0" bIns="0" rtlCol="0"/>
                <a:lstStyle/>
                <a:p>
                  <a:endParaRPr/>
                </a:p>
              </p:txBody>
            </p:sp>
            <p:sp>
              <p:nvSpPr>
                <p:cNvPr id="26" name="object 26"/>
                <p:cNvSpPr/>
                <p:nvPr/>
              </p:nvSpPr>
              <p:spPr>
                <a:xfrm>
                  <a:off x="3388515" y="1122728"/>
                  <a:ext cx="1167765" cy="292100"/>
                </a:xfrm>
                <a:custGeom>
                  <a:avLst/>
                  <a:gdLst/>
                  <a:ahLst/>
                  <a:cxnLst/>
                  <a:rect l="l" t="t" r="r" b="b"/>
                  <a:pathLst>
                    <a:path w="1167764" h="292100">
                      <a:moveTo>
                        <a:pt x="0" y="291795"/>
                      </a:moveTo>
                      <a:lnTo>
                        <a:pt x="1167172" y="0"/>
                      </a:lnTo>
                    </a:path>
                  </a:pathLst>
                </a:custGeom>
                <a:ln w="5060">
                  <a:solidFill>
                    <a:srgbClr val="000000"/>
                  </a:solidFill>
                </a:ln>
              </p:spPr>
              <p:txBody>
                <a:bodyPr wrap="square" lIns="0" tIns="0" rIns="0" bIns="0" rtlCol="0"/>
                <a:lstStyle/>
                <a:p>
                  <a:endParaRPr/>
                </a:p>
              </p:txBody>
            </p:sp>
            <p:sp>
              <p:nvSpPr>
                <p:cNvPr id="27" name="object 27"/>
                <p:cNvSpPr/>
                <p:nvPr/>
              </p:nvSpPr>
              <p:spPr>
                <a:xfrm>
                  <a:off x="4536002" y="1106734"/>
                  <a:ext cx="23495" cy="39370"/>
                </a:xfrm>
                <a:custGeom>
                  <a:avLst/>
                  <a:gdLst/>
                  <a:ahLst/>
                  <a:cxnLst/>
                  <a:rect l="l" t="t" r="r" b="b"/>
                  <a:pathLst>
                    <a:path w="23495" h="39369">
                      <a:moveTo>
                        <a:pt x="0" y="0"/>
                      </a:moveTo>
                      <a:lnTo>
                        <a:pt x="4387" y="5296"/>
                      </a:lnTo>
                      <a:lnTo>
                        <a:pt x="11341" y="10073"/>
                      </a:lnTo>
                      <a:lnTo>
                        <a:pt x="18468" y="13581"/>
                      </a:lnTo>
                      <a:lnTo>
                        <a:pt x="23375" y="15071"/>
                      </a:lnTo>
                      <a:lnTo>
                        <a:pt x="19747" y="18694"/>
                      </a:lnTo>
                      <a:lnTo>
                        <a:pt x="15109" y="25144"/>
                      </a:lnTo>
                      <a:lnTo>
                        <a:pt x="11221" y="32631"/>
                      </a:lnTo>
                      <a:lnTo>
                        <a:pt x="9842" y="39369"/>
                      </a:lnTo>
                    </a:path>
                  </a:pathLst>
                </a:custGeom>
                <a:ln w="4057">
                  <a:solidFill>
                    <a:srgbClr val="000000"/>
                  </a:solidFill>
                </a:ln>
              </p:spPr>
              <p:txBody>
                <a:bodyPr wrap="square" lIns="0" tIns="0" rIns="0" bIns="0" rtlCol="0"/>
                <a:lstStyle/>
                <a:p>
                  <a:endParaRPr/>
                </a:p>
              </p:txBody>
            </p:sp>
            <p:pic>
              <p:nvPicPr>
                <p:cNvPr id="28" name="object 28"/>
                <p:cNvPicPr/>
                <p:nvPr/>
              </p:nvPicPr>
              <p:blipFill>
                <a:blip r:embed="rId9" cstate="print"/>
                <a:stretch>
                  <a:fillRect/>
                </a:stretch>
              </p:blipFill>
              <p:spPr>
                <a:xfrm>
                  <a:off x="3694227" y="1149214"/>
                  <a:ext cx="238449" cy="238450"/>
                </a:xfrm>
                <a:prstGeom prst="rect">
                  <a:avLst/>
                </a:prstGeom>
              </p:spPr>
            </p:pic>
            <p:sp>
              <p:nvSpPr>
                <p:cNvPr id="29" name="object 29"/>
                <p:cNvSpPr/>
                <p:nvPr/>
              </p:nvSpPr>
              <p:spPr>
                <a:xfrm>
                  <a:off x="4031805" y="1136854"/>
                  <a:ext cx="529590" cy="264795"/>
                </a:xfrm>
                <a:custGeom>
                  <a:avLst/>
                  <a:gdLst/>
                  <a:ahLst/>
                  <a:cxnLst/>
                  <a:rect l="l" t="t" r="r" b="b"/>
                  <a:pathLst>
                    <a:path w="529589" h="264794">
                      <a:moveTo>
                        <a:pt x="0" y="264627"/>
                      </a:moveTo>
                      <a:lnTo>
                        <a:pt x="529252" y="0"/>
                      </a:lnTo>
                    </a:path>
                  </a:pathLst>
                </a:custGeom>
                <a:ln w="5060">
                  <a:solidFill>
                    <a:srgbClr val="000000"/>
                  </a:solidFill>
                </a:ln>
              </p:spPr>
              <p:txBody>
                <a:bodyPr wrap="square" lIns="0" tIns="0" rIns="0" bIns="0" rtlCol="0"/>
                <a:lstStyle/>
                <a:p>
                  <a:endParaRPr/>
                </a:p>
              </p:txBody>
            </p:sp>
            <p:sp>
              <p:nvSpPr>
                <p:cNvPr id="30" name="object 30"/>
                <p:cNvSpPr/>
                <p:nvPr/>
              </p:nvSpPr>
              <p:spPr>
                <a:xfrm>
                  <a:off x="4538334" y="1125492"/>
                  <a:ext cx="26670" cy="36830"/>
                </a:xfrm>
                <a:custGeom>
                  <a:avLst/>
                  <a:gdLst/>
                  <a:ahLst/>
                  <a:cxnLst/>
                  <a:rect l="l" t="t" r="r" b="b"/>
                  <a:pathLst>
                    <a:path w="26670" h="36830">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31" name="object 31"/>
                <p:cNvSpPr/>
                <p:nvPr/>
              </p:nvSpPr>
              <p:spPr>
                <a:xfrm>
                  <a:off x="3712804" y="1136854"/>
                  <a:ext cx="529590" cy="264795"/>
                </a:xfrm>
                <a:custGeom>
                  <a:avLst/>
                  <a:gdLst/>
                  <a:ahLst/>
                  <a:cxnLst/>
                  <a:rect l="l" t="t" r="r" b="b"/>
                  <a:pathLst>
                    <a:path w="529589" h="264794">
                      <a:moveTo>
                        <a:pt x="529253" y="264627"/>
                      </a:moveTo>
                      <a:lnTo>
                        <a:pt x="0" y="0"/>
                      </a:lnTo>
                    </a:path>
                  </a:pathLst>
                </a:custGeom>
                <a:ln w="5060">
                  <a:solidFill>
                    <a:srgbClr val="000000"/>
                  </a:solidFill>
                </a:ln>
              </p:spPr>
              <p:txBody>
                <a:bodyPr wrap="square" lIns="0" tIns="0" rIns="0" bIns="0" rtlCol="0"/>
                <a:lstStyle/>
                <a:p>
                  <a:endParaRPr/>
                </a:p>
              </p:txBody>
            </p:sp>
            <p:sp>
              <p:nvSpPr>
                <p:cNvPr id="32" name="object 32"/>
                <p:cNvSpPr/>
                <p:nvPr/>
              </p:nvSpPr>
              <p:spPr>
                <a:xfrm>
                  <a:off x="3709396" y="1125492"/>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pic>
              <p:nvPicPr>
                <p:cNvPr id="33" name="object 33"/>
                <p:cNvPicPr/>
                <p:nvPr/>
              </p:nvPicPr>
              <p:blipFill>
                <a:blip r:embed="rId10" cstate="print"/>
                <a:stretch>
                  <a:fillRect/>
                </a:stretch>
              </p:blipFill>
              <p:spPr>
                <a:xfrm>
                  <a:off x="4341185" y="1149215"/>
                  <a:ext cx="238450" cy="238449"/>
                </a:xfrm>
                <a:prstGeom prst="rect">
                  <a:avLst/>
                </a:prstGeom>
              </p:spPr>
            </p:pic>
            <p:sp>
              <p:nvSpPr>
                <p:cNvPr id="34" name="object 34"/>
                <p:cNvSpPr/>
                <p:nvPr/>
              </p:nvSpPr>
              <p:spPr>
                <a:xfrm>
                  <a:off x="3716601" y="1127808"/>
                  <a:ext cx="846455" cy="282575"/>
                </a:xfrm>
                <a:custGeom>
                  <a:avLst/>
                  <a:gdLst/>
                  <a:ahLst/>
                  <a:cxnLst/>
                  <a:rect l="l" t="t" r="r" b="b"/>
                  <a:pathLst>
                    <a:path w="846454" h="282575">
                      <a:moveTo>
                        <a:pt x="846186" y="282061"/>
                      </a:moveTo>
                      <a:lnTo>
                        <a:pt x="0" y="0"/>
                      </a:lnTo>
                    </a:path>
                  </a:pathLst>
                </a:custGeom>
                <a:ln w="5060">
                  <a:solidFill>
                    <a:srgbClr val="000000"/>
                  </a:solidFill>
                </a:ln>
              </p:spPr>
              <p:txBody>
                <a:bodyPr wrap="square" lIns="0" tIns="0" rIns="0" bIns="0" rtlCol="0"/>
                <a:lstStyle/>
                <a:p>
                  <a:endParaRPr/>
                </a:p>
              </p:txBody>
            </p:sp>
            <p:sp>
              <p:nvSpPr>
                <p:cNvPr id="35" name="object 35"/>
                <p:cNvSpPr/>
                <p:nvPr/>
              </p:nvSpPr>
              <p:spPr>
                <a:xfrm>
                  <a:off x="3712997" y="1113389"/>
                  <a:ext cx="24765" cy="38735"/>
                </a:xfrm>
                <a:custGeom>
                  <a:avLst/>
                  <a:gdLst/>
                  <a:ahLst/>
                  <a:cxnLst/>
                  <a:rect l="l" t="t" r="r" b="b"/>
                  <a:pathLst>
                    <a:path w="24764" h="38734">
                      <a:moveTo>
                        <a:pt x="11614" y="38448"/>
                      </a:moveTo>
                      <a:lnTo>
                        <a:pt x="10757" y="31633"/>
                      </a:lnTo>
                      <a:lnTo>
                        <a:pt x="7459" y="23880"/>
                      </a:lnTo>
                      <a:lnTo>
                        <a:pt x="3335" y="17102"/>
                      </a:lnTo>
                      <a:lnTo>
                        <a:pt x="0" y="13216"/>
                      </a:lnTo>
                      <a:lnTo>
                        <a:pt x="4999" y="12109"/>
                      </a:lnTo>
                      <a:lnTo>
                        <a:pt x="12365" y="9161"/>
                      </a:lnTo>
                      <a:lnTo>
                        <a:pt x="19655" y="4937"/>
                      </a:lnTo>
                      <a:lnTo>
                        <a:pt x="24430" y="0"/>
                      </a:lnTo>
                    </a:path>
                  </a:pathLst>
                </a:custGeom>
                <a:ln w="4052">
                  <a:solidFill>
                    <a:srgbClr val="000000"/>
                  </a:solidFill>
                </a:ln>
              </p:spPr>
              <p:txBody>
                <a:bodyPr wrap="square" lIns="0" tIns="0" rIns="0" bIns="0" rtlCol="0"/>
                <a:lstStyle/>
                <a:p>
                  <a:endParaRPr/>
                </a:p>
              </p:txBody>
            </p:sp>
            <p:sp>
              <p:nvSpPr>
                <p:cNvPr id="36" name="object 36"/>
                <p:cNvSpPr/>
                <p:nvPr/>
              </p:nvSpPr>
              <p:spPr>
                <a:xfrm>
                  <a:off x="4622932" y="1175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37" name="object 37"/>
                <p:cNvSpPr/>
                <p:nvPr/>
              </p:nvSpPr>
              <p:spPr>
                <a:xfrm>
                  <a:off x="4602688" y="1171277"/>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pic>
              <p:nvPicPr>
                <p:cNvPr id="38" name="object 38"/>
                <p:cNvPicPr/>
                <p:nvPr/>
              </p:nvPicPr>
              <p:blipFill>
                <a:blip r:embed="rId9" cstate="print"/>
                <a:stretch>
                  <a:fillRect/>
                </a:stretch>
              </p:blipFill>
              <p:spPr>
                <a:xfrm>
                  <a:off x="3370227" y="825214"/>
                  <a:ext cx="238449" cy="238449"/>
                </a:xfrm>
                <a:prstGeom prst="rect">
                  <a:avLst/>
                </a:prstGeom>
              </p:spPr>
            </p:pic>
            <p:pic>
              <p:nvPicPr>
                <p:cNvPr id="39" name="object 39"/>
                <p:cNvPicPr/>
                <p:nvPr/>
              </p:nvPicPr>
              <p:blipFill>
                <a:blip r:embed="rId11" cstate="print"/>
                <a:stretch>
                  <a:fillRect/>
                </a:stretch>
              </p:blipFill>
              <p:spPr>
                <a:xfrm>
                  <a:off x="3693184" y="825214"/>
                  <a:ext cx="238449" cy="238449"/>
                </a:xfrm>
                <a:prstGeom prst="rect">
                  <a:avLst/>
                </a:prstGeom>
              </p:spPr>
            </p:pic>
            <p:sp>
              <p:nvSpPr>
                <p:cNvPr id="40" name="object 40"/>
                <p:cNvSpPr/>
                <p:nvPr/>
              </p:nvSpPr>
              <p:spPr>
                <a:xfrm>
                  <a:off x="3711074" y="803807"/>
                  <a:ext cx="846455" cy="282575"/>
                </a:xfrm>
                <a:custGeom>
                  <a:avLst/>
                  <a:gdLst/>
                  <a:ahLst/>
                  <a:cxnLst/>
                  <a:rect l="l" t="t" r="r" b="b"/>
                  <a:pathLst>
                    <a:path w="846454" h="282575">
                      <a:moveTo>
                        <a:pt x="0" y="282062"/>
                      </a:moveTo>
                      <a:lnTo>
                        <a:pt x="846186" y="0"/>
                      </a:lnTo>
                    </a:path>
                  </a:pathLst>
                </a:custGeom>
                <a:ln w="5060">
                  <a:solidFill>
                    <a:srgbClr val="000000"/>
                  </a:solidFill>
                </a:ln>
              </p:spPr>
              <p:txBody>
                <a:bodyPr wrap="square" lIns="0" tIns="0" rIns="0" bIns="0" rtlCol="0"/>
                <a:lstStyle/>
                <a:p>
                  <a:endParaRPr/>
                </a:p>
              </p:txBody>
            </p:sp>
            <p:sp>
              <p:nvSpPr>
                <p:cNvPr id="41" name="object 41"/>
                <p:cNvSpPr/>
                <p:nvPr/>
              </p:nvSpPr>
              <p:spPr>
                <a:xfrm>
                  <a:off x="4536434" y="789389"/>
                  <a:ext cx="24765" cy="38735"/>
                </a:xfrm>
                <a:custGeom>
                  <a:avLst/>
                  <a:gdLst/>
                  <a:ahLst/>
                  <a:cxnLst/>
                  <a:rect l="l" t="t" r="r" b="b"/>
                  <a:pathLst>
                    <a:path w="24764" h="38734">
                      <a:moveTo>
                        <a:pt x="0" y="0"/>
                      </a:moveTo>
                      <a:lnTo>
                        <a:pt x="4774" y="4937"/>
                      </a:lnTo>
                      <a:lnTo>
                        <a:pt x="12065" y="9161"/>
                      </a:lnTo>
                      <a:lnTo>
                        <a:pt x="19430" y="12109"/>
                      </a:lnTo>
                      <a:lnTo>
                        <a:pt x="24430" y="13216"/>
                      </a:lnTo>
                      <a:lnTo>
                        <a:pt x="21094" y="17102"/>
                      </a:lnTo>
                      <a:lnTo>
                        <a:pt x="16971" y="23880"/>
                      </a:lnTo>
                      <a:lnTo>
                        <a:pt x="13673" y="31633"/>
                      </a:lnTo>
                      <a:lnTo>
                        <a:pt x="12815" y="38448"/>
                      </a:lnTo>
                    </a:path>
                  </a:pathLst>
                </a:custGeom>
                <a:ln w="4052">
                  <a:solidFill>
                    <a:srgbClr val="000000"/>
                  </a:solidFill>
                </a:ln>
              </p:spPr>
              <p:txBody>
                <a:bodyPr wrap="square" lIns="0" tIns="0" rIns="0" bIns="0" rtlCol="0"/>
                <a:lstStyle/>
                <a:p>
                  <a:endParaRPr/>
                </a:p>
              </p:txBody>
            </p:sp>
            <p:sp>
              <p:nvSpPr>
                <p:cNvPr id="42" name="object 42"/>
                <p:cNvSpPr/>
                <p:nvPr/>
              </p:nvSpPr>
              <p:spPr>
                <a:xfrm>
                  <a:off x="3394174" y="798727"/>
                  <a:ext cx="1167765" cy="292100"/>
                </a:xfrm>
                <a:custGeom>
                  <a:avLst/>
                  <a:gdLst/>
                  <a:ahLst/>
                  <a:cxnLst/>
                  <a:rect l="l" t="t" r="r" b="b"/>
                  <a:pathLst>
                    <a:path w="1167764" h="292100">
                      <a:moveTo>
                        <a:pt x="1167172" y="291795"/>
                      </a:moveTo>
                      <a:lnTo>
                        <a:pt x="0" y="0"/>
                      </a:lnTo>
                    </a:path>
                  </a:pathLst>
                </a:custGeom>
                <a:ln w="5060">
                  <a:solidFill>
                    <a:srgbClr val="000000"/>
                  </a:solidFill>
                </a:ln>
              </p:spPr>
              <p:txBody>
                <a:bodyPr wrap="square" lIns="0" tIns="0" rIns="0" bIns="0" rtlCol="0"/>
                <a:lstStyle/>
                <a:p>
                  <a:endParaRPr/>
                </a:p>
              </p:txBody>
            </p:sp>
            <p:sp>
              <p:nvSpPr>
                <p:cNvPr id="43" name="object 43"/>
                <p:cNvSpPr/>
                <p:nvPr/>
              </p:nvSpPr>
              <p:spPr>
                <a:xfrm>
                  <a:off x="3390484" y="782734"/>
                  <a:ext cx="23495" cy="39370"/>
                </a:xfrm>
                <a:custGeom>
                  <a:avLst/>
                  <a:gdLst/>
                  <a:ahLst/>
                  <a:cxnLst/>
                  <a:rect l="l" t="t" r="r" b="b"/>
                  <a:pathLst>
                    <a:path w="23495" h="39369">
                      <a:moveTo>
                        <a:pt x="13533" y="39369"/>
                      </a:moveTo>
                      <a:lnTo>
                        <a:pt x="12153" y="32631"/>
                      </a:lnTo>
                      <a:lnTo>
                        <a:pt x="8265" y="25144"/>
                      </a:lnTo>
                      <a:lnTo>
                        <a:pt x="3628" y="18694"/>
                      </a:lnTo>
                      <a:lnTo>
                        <a:pt x="0" y="15071"/>
                      </a:lnTo>
                      <a:lnTo>
                        <a:pt x="4906" y="13581"/>
                      </a:lnTo>
                      <a:lnTo>
                        <a:pt x="12033" y="10073"/>
                      </a:lnTo>
                      <a:lnTo>
                        <a:pt x="18987" y="5296"/>
                      </a:lnTo>
                      <a:lnTo>
                        <a:pt x="23375" y="0"/>
                      </a:lnTo>
                    </a:path>
                  </a:pathLst>
                </a:custGeom>
                <a:ln w="4057">
                  <a:solidFill>
                    <a:srgbClr val="000000"/>
                  </a:solidFill>
                </a:ln>
              </p:spPr>
              <p:txBody>
                <a:bodyPr wrap="square" lIns="0" tIns="0" rIns="0" bIns="0" rtlCol="0"/>
                <a:lstStyle/>
                <a:p>
                  <a:endParaRPr/>
                </a:p>
              </p:txBody>
            </p:sp>
            <p:sp>
              <p:nvSpPr>
                <p:cNvPr id="44" name="object 44"/>
                <p:cNvSpPr/>
                <p:nvPr/>
              </p:nvSpPr>
              <p:spPr>
                <a:xfrm>
                  <a:off x="4036805" y="812853"/>
                  <a:ext cx="529590" cy="264795"/>
                </a:xfrm>
                <a:custGeom>
                  <a:avLst/>
                  <a:gdLst/>
                  <a:ahLst/>
                  <a:cxnLst/>
                  <a:rect l="l" t="t" r="r" b="b"/>
                  <a:pathLst>
                    <a:path w="529589" h="264794">
                      <a:moveTo>
                        <a:pt x="529252" y="264627"/>
                      </a:moveTo>
                      <a:lnTo>
                        <a:pt x="0" y="0"/>
                      </a:lnTo>
                    </a:path>
                  </a:pathLst>
                </a:custGeom>
                <a:ln w="5060">
                  <a:solidFill>
                    <a:srgbClr val="000000"/>
                  </a:solidFill>
                </a:ln>
              </p:spPr>
              <p:txBody>
                <a:bodyPr wrap="square" lIns="0" tIns="0" rIns="0" bIns="0" rtlCol="0"/>
                <a:lstStyle/>
                <a:p>
                  <a:endParaRPr/>
                </a:p>
              </p:txBody>
            </p:sp>
            <p:sp>
              <p:nvSpPr>
                <p:cNvPr id="45" name="object 45"/>
                <p:cNvSpPr/>
                <p:nvPr/>
              </p:nvSpPr>
              <p:spPr>
                <a:xfrm>
                  <a:off x="4033397" y="801491"/>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sp>
              <p:nvSpPr>
                <p:cNvPr id="46" name="object 46"/>
                <p:cNvSpPr/>
                <p:nvPr/>
              </p:nvSpPr>
              <p:spPr>
                <a:xfrm>
                  <a:off x="4622932" y="851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47" name="object 47"/>
                <p:cNvSpPr/>
                <p:nvPr/>
              </p:nvSpPr>
              <p:spPr>
                <a:xfrm>
                  <a:off x="4602688" y="847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48" name="object 48"/>
                <p:cNvSpPr/>
                <p:nvPr/>
              </p:nvSpPr>
              <p:spPr>
                <a:xfrm>
                  <a:off x="3383804" y="488853"/>
                  <a:ext cx="529590" cy="264795"/>
                </a:xfrm>
                <a:custGeom>
                  <a:avLst/>
                  <a:gdLst/>
                  <a:ahLst/>
                  <a:cxnLst/>
                  <a:rect l="l" t="t" r="r" b="b"/>
                  <a:pathLst>
                    <a:path w="529589" h="264795">
                      <a:moveTo>
                        <a:pt x="0" y="264627"/>
                      </a:moveTo>
                      <a:lnTo>
                        <a:pt x="529252" y="0"/>
                      </a:lnTo>
                    </a:path>
                  </a:pathLst>
                </a:custGeom>
                <a:ln w="5060">
                  <a:solidFill>
                    <a:srgbClr val="000000"/>
                  </a:solidFill>
                </a:ln>
              </p:spPr>
              <p:txBody>
                <a:bodyPr wrap="square" lIns="0" tIns="0" rIns="0" bIns="0" rtlCol="0"/>
                <a:lstStyle/>
                <a:p>
                  <a:endParaRPr/>
                </a:p>
              </p:txBody>
            </p:sp>
            <p:sp>
              <p:nvSpPr>
                <p:cNvPr id="49" name="object 49"/>
                <p:cNvSpPr/>
                <p:nvPr/>
              </p:nvSpPr>
              <p:spPr>
                <a:xfrm>
                  <a:off x="3890332" y="477491"/>
                  <a:ext cx="26670" cy="36830"/>
                </a:xfrm>
                <a:custGeom>
                  <a:avLst/>
                  <a:gdLst/>
                  <a:ahLst/>
                  <a:cxnLst/>
                  <a:rect l="l" t="t" r="r" b="b"/>
                  <a:pathLst>
                    <a:path w="26670" h="36829">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50" name="object 50"/>
                <p:cNvSpPr/>
                <p:nvPr/>
              </p:nvSpPr>
              <p:spPr>
                <a:xfrm>
                  <a:off x="3974930" y="527071"/>
                  <a:ext cx="0" cy="191770"/>
                </a:xfrm>
                <a:custGeom>
                  <a:avLst/>
                  <a:gdLst/>
                  <a:ahLst/>
                  <a:cxnLst/>
                  <a:rect l="l" t="t" r="r" b="b"/>
                  <a:pathLst>
                    <a:path h="191770">
                      <a:moveTo>
                        <a:pt x="0" y="191511"/>
                      </a:moveTo>
                      <a:lnTo>
                        <a:pt x="0" y="0"/>
                      </a:lnTo>
                    </a:path>
                  </a:pathLst>
                </a:custGeom>
                <a:ln w="5060">
                  <a:solidFill>
                    <a:srgbClr val="000000"/>
                  </a:solidFill>
                </a:ln>
              </p:spPr>
              <p:txBody>
                <a:bodyPr wrap="square" lIns="0" tIns="0" rIns="0" bIns="0" rtlCol="0"/>
                <a:lstStyle/>
                <a:p>
                  <a:endParaRPr/>
                </a:p>
              </p:txBody>
            </p:sp>
            <p:sp>
              <p:nvSpPr>
                <p:cNvPr id="51" name="object 51"/>
                <p:cNvSpPr/>
                <p:nvPr/>
              </p:nvSpPr>
              <p:spPr>
                <a:xfrm>
                  <a:off x="3954686" y="523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52" name="object 52"/>
                <p:cNvSpPr/>
                <p:nvPr/>
              </p:nvSpPr>
              <p:spPr>
                <a:xfrm>
                  <a:off x="4036805" y="488853"/>
                  <a:ext cx="529590" cy="264795"/>
                </a:xfrm>
                <a:custGeom>
                  <a:avLst/>
                  <a:gdLst/>
                  <a:ahLst/>
                  <a:cxnLst/>
                  <a:rect l="l" t="t" r="r" b="b"/>
                  <a:pathLst>
                    <a:path w="529589" h="264795">
                      <a:moveTo>
                        <a:pt x="529252" y="264627"/>
                      </a:moveTo>
                      <a:lnTo>
                        <a:pt x="0" y="0"/>
                      </a:lnTo>
                    </a:path>
                  </a:pathLst>
                </a:custGeom>
                <a:ln w="5060">
                  <a:solidFill>
                    <a:srgbClr val="000000"/>
                  </a:solidFill>
                </a:ln>
              </p:spPr>
              <p:txBody>
                <a:bodyPr wrap="square" lIns="0" tIns="0" rIns="0" bIns="0" rtlCol="0"/>
                <a:lstStyle/>
                <a:p>
                  <a:endParaRPr/>
                </a:p>
              </p:txBody>
            </p:sp>
            <p:sp>
              <p:nvSpPr>
                <p:cNvPr id="53" name="object 53"/>
                <p:cNvSpPr/>
                <p:nvPr/>
              </p:nvSpPr>
              <p:spPr>
                <a:xfrm>
                  <a:off x="4033397" y="477491"/>
                  <a:ext cx="26670" cy="36830"/>
                </a:xfrm>
                <a:custGeom>
                  <a:avLst/>
                  <a:gdLst/>
                  <a:ahLst/>
                  <a:cxnLst/>
                  <a:rect l="l" t="t" r="r" b="b"/>
                  <a:pathLst>
                    <a:path w="26670" h="36829">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grpSp>
          <p:pic>
            <p:nvPicPr>
              <p:cNvPr id="57" name="object 2"/>
              <p:cNvPicPr/>
              <p:nvPr/>
            </p:nvPicPr>
            <p:blipFill>
              <a:blip r:embed="rId2" cstate="print"/>
              <a:stretch>
                <a:fillRect/>
              </a:stretch>
            </p:blipFill>
            <p:spPr>
              <a:xfrm>
                <a:off x="457200" y="4034204"/>
                <a:ext cx="2257833" cy="1743997"/>
              </a:xfrm>
              <a:prstGeom prst="rect">
                <a:avLst/>
              </a:prstGeom>
            </p:spPr>
          </p:pic>
          <p:grpSp>
            <p:nvGrpSpPr>
              <p:cNvPr id="58" name="object 3"/>
              <p:cNvGrpSpPr/>
              <p:nvPr/>
            </p:nvGrpSpPr>
            <p:grpSpPr>
              <a:xfrm>
                <a:off x="4399709" y="4044739"/>
                <a:ext cx="2258810" cy="1744208"/>
                <a:chOff x="3263089" y="394071"/>
                <a:chExt cx="1424305" cy="1099820"/>
              </a:xfrm>
            </p:grpSpPr>
            <p:sp>
              <p:nvSpPr>
                <p:cNvPr id="59" name="object 4"/>
                <p:cNvSpPr/>
                <p:nvPr/>
              </p:nvSpPr>
              <p:spPr>
                <a:xfrm>
                  <a:off x="3268150" y="1371138"/>
                  <a:ext cx="118110" cy="118110"/>
                </a:xfrm>
                <a:custGeom>
                  <a:avLst/>
                  <a:gdLst/>
                  <a:ahLst/>
                  <a:cxnLst/>
                  <a:rect l="l" t="t" r="r" b="b"/>
                  <a:pathLst>
                    <a:path w="118110" h="118109">
                      <a:moveTo>
                        <a:pt x="58779" y="0"/>
                      </a:move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lnTo>
                        <a:pt x="112940" y="35900"/>
                      </a:lnTo>
                      <a:lnTo>
                        <a:pt x="100343" y="17216"/>
                      </a:lnTo>
                      <a:lnTo>
                        <a:pt x="81659" y="4619"/>
                      </a:lnTo>
                      <a:lnTo>
                        <a:pt x="58779" y="0"/>
                      </a:lnTo>
                      <a:close/>
                    </a:path>
                  </a:pathLst>
                </a:custGeom>
                <a:solidFill>
                  <a:srgbClr val="FFF2E5"/>
                </a:solidFill>
              </p:spPr>
              <p:txBody>
                <a:bodyPr wrap="square" lIns="0" tIns="0" rIns="0" bIns="0" rtlCol="0"/>
                <a:lstStyle/>
                <a:p>
                  <a:endParaRPr/>
                </a:p>
              </p:txBody>
            </p:sp>
            <p:sp>
              <p:nvSpPr>
                <p:cNvPr id="60" name="object 5"/>
                <p:cNvSpPr/>
                <p:nvPr/>
              </p:nvSpPr>
              <p:spPr>
                <a:xfrm>
                  <a:off x="3268150" y="1371138"/>
                  <a:ext cx="118110" cy="118110"/>
                </a:xfrm>
                <a:custGeom>
                  <a:avLst/>
                  <a:gdLst/>
                  <a:ahLst/>
                  <a:cxnLst/>
                  <a:rect l="l" t="t" r="r" b="b"/>
                  <a:pathLst>
                    <a:path w="118110" h="118109">
                      <a:moveTo>
                        <a:pt x="117559" y="58779"/>
                      </a:moveTo>
                      <a:lnTo>
                        <a:pt x="112940" y="35900"/>
                      </a:lnTo>
                      <a:lnTo>
                        <a:pt x="100343" y="17216"/>
                      </a:lnTo>
                      <a:lnTo>
                        <a:pt x="81659" y="4619"/>
                      </a:lnTo>
                      <a:lnTo>
                        <a:pt x="58779" y="0"/>
                      </a:ln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close/>
                    </a:path>
                  </a:pathLst>
                </a:custGeom>
                <a:ln w="10122">
                  <a:solidFill>
                    <a:srgbClr val="FF7F7F"/>
                  </a:solidFill>
                </a:ln>
              </p:spPr>
              <p:txBody>
                <a:bodyPr wrap="square" lIns="0" tIns="0" rIns="0" bIns="0" rtlCol="0"/>
                <a:lstStyle/>
                <a:p>
                  <a:endParaRPr/>
                </a:p>
              </p:txBody>
            </p:sp>
            <p:sp>
              <p:nvSpPr>
                <p:cNvPr id="61" name="object 6"/>
                <p:cNvSpPr/>
                <p:nvPr/>
              </p:nvSpPr>
              <p:spPr>
                <a:xfrm>
                  <a:off x="3609367" y="1388354"/>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63" name="object 7"/>
                <p:cNvSpPr/>
                <p:nvPr/>
              </p:nvSpPr>
              <p:spPr>
                <a:xfrm>
                  <a:off x="3592151" y="1371138"/>
                  <a:ext cx="118110" cy="118110"/>
                </a:xfrm>
                <a:custGeom>
                  <a:avLst/>
                  <a:gdLst/>
                  <a:ahLst/>
                  <a:cxnLst/>
                  <a:rect l="l" t="t" r="r" b="b"/>
                  <a:pathLst>
                    <a:path w="118110" h="118109">
                      <a:moveTo>
                        <a:pt x="117560" y="58779"/>
                      </a:moveTo>
                      <a:lnTo>
                        <a:pt x="112940" y="35900"/>
                      </a:lnTo>
                      <a:lnTo>
                        <a:pt x="100343" y="17216"/>
                      </a:lnTo>
                      <a:lnTo>
                        <a:pt x="81659" y="4619"/>
                      </a:lnTo>
                      <a:lnTo>
                        <a:pt x="58779" y="0"/>
                      </a:lnTo>
                      <a:lnTo>
                        <a:pt x="35899" y="4619"/>
                      </a:lnTo>
                      <a:lnTo>
                        <a:pt x="17216" y="17216"/>
                      </a:lnTo>
                      <a:lnTo>
                        <a:pt x="4619" y="35900"/>
                      </a:lnTo>
                      <a:lnTo>
                        <a:pt x="0" y="58779"/>
                      </a:lnTo>
                      <a:lnTo>
                        <a:pt x="4619" y="81659"/>
                      </a:lnTo>
                      <a:lnTo>
                        <a:pt x="17216" y="100343"/>
                      </a:lnTo>
                      <a:lnTo>
                        <a:pt x="35899" y="112940"/>
                      </a:lnTo>
                      <a:lnTo>
                        <a:pt x="58779" y="117559"/>
                      </a:lnTo>
                      <a:lnTo>
                        <a:pt x="81659" y="112940"/>
                      </a:lnTo>
                      <a:lnTo>
                        <a:pt x="100343" y="100343"/>
                      </a:lnTo>
                      <a:lnTo>
                        <a:pt x="112940" y="81659"/>
                      </a:lnTo>
                      <a:lnTo>
                        <a:pt x="117560" y="58779"/>
                      </a:lnTo>
                      <a:close/>
                    </a:path>
                  </a:pathLst>
                </a:custGeom>
                <a:ln w="5060">
                  <a:solidFill>
                    <a:srgbClr val="000000"/>
                  </a:solidFill>
                </a:ln>
              </p:spPr>
              <p:txBody>
                <a:bodyPr wrap="square" lIns="0" tIns="0" rIns="0" bIns="0" rtlCol="0"/>
                <a:lstStyle/>
                <a:p>
                  <a:endParaRPr/>
                </a:p>
              </p:txBody>
            </p:sp>
            <p:pic>
              <p:nvPicPr>
                <p:cNvPr id="66" name="object 8"/>
                <p:cNvPicPr/>
                <p:nvPr/>
              </p:nvPicPr>
              <p:blipFill>
                <a:blip r:embed="rId3" cstate="print"/>
                <a:stretch>
                  <a:fillRect/>
                </a:stretch>
              </p:blipFill>
              <p:spPr>
                <a:xfrm>
                  <a:off x="3911092" y="1366077"/>
                  <a:ext cx="127682" cy="127681"/>
                </a:xfrm>
                <a:prstGeom prst="rect">
                  <a:avLst/>
                </a:prstGeom>
              </p:spPr>
            </p:pic>
            <p:pic>
              <p:nvPicPr>
                <p:cNvPr id="67" name="object 9"/>
                <p:cNvPicPr/>
                <p:nvPr/>
              </p:nvPicPr>
              <p:blipFill>
                <a:blip r:embed="rId3" cstate="print"/>
                <a:stretch>
                  <a:fillRect/>
                </a:stretch>
              </p:blipFill>
              <p:spPr>
                <a:xfrm>
                  <a:off x="4235094" y="1366077"/>
                  <a:ext cx="127682" cy="127681"/>
                </a:xfrm>
                <a:prstGeom prst="rect">
                  <a:avLst/>
                </a:prstGeom>
              </p:spPr>
            </p:pic>
            <p:pic>
              <p:nvPicPr>
                <p:cNvPr id="68" name="object 10"/>
                <p:cNvPicPr/>
                <p:nvPr/>
              </p:nvPicPr>
              <p:blipFill>
                <a:blip r:embed="rId3" cstate="print"/>
                <a:stretch>
                  <a:fillRect/>
                </a:stretch>
              </p:blipFill>
              <p:spPr>
                <a:xfrm>
                  <a:off x="4559096" y="1366077"/>
                  <a:ext cx="127682" cy="127681"/>
                </a:xfrm>
                <a:prstGeom prst="rect">
                  <a:avLst/>
                </a:prstGeom>
              </p:spPr>
            </p:pic>
            <p:sp>
              <p:nvSpPr>
                <p:cNvPr id="69" name="object 11"/>
                <p:cNvSpPr/>
                <p:nvPr/>
              </p:nvSpPr>
              <p:spPr>
                <a:xfrm>
                  <a:off x="3285366" y="1064352"/>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70" name="object 12"/>
                <p:cNvSpPr/>
                <p:nvPr/>
              </p:nvSpPr>
              <p:spPr>
                <a:xfrm>
                  <a:off x="3268150" y="1047136"/>
                  <a:ext cx="118110" cy="118110"/>
                </a:xfrm>
                <a:custGeom>
                  <a:avLst/>
                  <a:gdLst/>
                  <a:ahLst/>
                  <a:cxnLst/>
                  <a:rect l="l" t="t" r="r" b="b"/>
                  <a:pathLst>
                    <a:path w="118110" h="118109">
                      <a:moveTo>
                        <a:pt x="117559" y="58780"/>
                      </a:moveTo>
                      <a:lnTo>
                        <a:pt x="112940" y="35900"/>
                      </a:lnTo>
                      <a:lnTo>
                        <a:pt x="100343" y="17216"/>
                      </a:lnTo>
                      <a:lnTo>
                        <a:pt x="81659" y="4619"/>
                      </a:lnTo>
                      <a:lnTo>
                        <a:pt x="58779" y="0"/>
                      </a:lnTo>
                      <a:lnTo>
                        <a:pt x="35900" y="4619"/>
                      </a:lnTo>
                      <a:lnTo>
                        <a:pt x="17216" y="17216"/>
                      </a:lnTo>
                      <a:lnTo>
                        <a:pt x="4619" y="35900"/>
                      </a:lnTo>
                      <a:lnTo>
                        <a:pt x="0" y="58780"/>
                      </a:lnTo>
                      <a:lnTo>
                        <a:pt x="4619" y="81660"/>
                      </a:lnTo>
                      <a:lnTo>
                        <a:pt x="17216" y="100344"/>
                      </a:lnTo>
                      <a:lnTo>
                        <a:pt x="35900" y="112940"/>
                      </a:lnTo>
                      <a:lnTo>
                        <a:pt x="58779" y="117560"/>
                      </a:lnTo>
                      <a:lnTo>
                        <a:pt x="81659" y="112940"/>
                      </a:lnTo>
                      <a:lnTo>
                        <a:pt x="100343" y="100344"/>
                      </a:lnTo>
                      <a:lnTo>
                        <a:pt x="112940" y="81660"/>
                      </a:lnTo>
                      <a:lnTo>
                        <a:pt x="117559" y="58780"/>
                      </a:lnTo>
                      <a:close/>
                    </a:path>
                  </a:pathLst>
                </a:custGeom>
                <a:ln w="5060">
                  <a:solidFill>
                    <a:srgbClr val="000000"/>
                  </a:solidFill>
                </a:ln>
              </p:spPr>
              <p:txBody>
                <a:bodyPr wrap="square" lIns="0" tIns="0" rIns="0" bIns="0" rtlCol="0"/>
                <a:lstStyle/>
                <a:p>
                  <a:endParaRPr/>
                </a:p>
              </p:txBody>
            </p:sp>
            <p:sp>
              <p:nvSpPr>
                <p:cNvPr id="71" name="object 13"/>
                <p:cNvSpPr/>
                <p:nvPr/>
              </p:nvSpPr>
              <p:spPr>
                <a:xfrm>
                  <a:off x="3592151" y="1047136"/>
                  <a:ext cx="118110" cy="118110"/>
                </a:xfrm>
                <a:custGeom>
                  <a:avLst/>
                  <a:gdLst/>
                  <a:ahLst/>
                  <a:cxnLst/>
                  <a:rect l="l" t="t" r="r" b="b"/>
                  <a:pathLst>
                    <a:path w="118110" h="118109">
                      <a:moveTo>
                        <a:pt x="58779" y="0"/>
                      </a:move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lnTo>
                        <a:pt x="112940" y="35900"/>
                      </a:lnTo>
                      <a:lnTo>
                        <a:pt x="100343" y="17216"/>
                      </a:lnTo>
                      <a:lnTo>
                        <a:pt x="81659" y="4619"/>
                      </a:lnTo>
                      <a:lnTo>
                        <a:pt x="58779" y="0"/>
                      </a:lnTo>
                      <a:close/>
                    </a:path>
                  </a:pathLst>
                </a:custGeom>
                <a:solidFill>
                  <a:srgbClr val="E5E5FF"/>
                </a:solidFill>
              </p:spPr>
              <p:txBody>
                <a:bodyPr wrap="square" lIns="0" tIns="0" rIns="0" bIns="0" rtlCol="0"/>
                <a:lstStyle/>
                <a:p>
                  <a:endParaRPr/>
                </a:p>
              </p:txBody>
            </p:sp>
            <p:sp>
              <p:nvSpPr>
                <p:cNvPr id="72" name="object 14"/>
                <p:cNvSpPr/>
                <p:nvPr/>
              </p:nvSpPr>
              <p:spPr>
                <a:xfrm>
                  <a:off x="3592151" y="1047136"/>
                  <a:ext cx="118110" cy="118110"/>
                </a:xfrm>
                <a:custGeom>
                  <a:avLst/>
                  <a:gdLst/>
                  <a:ahLst/>
                  <a:cxnLst/>
                  <a:rect l="l" t="t" r="r" b="b"/>
                  <a:pathLst>
                    <a:path w="118110" h="118109">
                      <a:moveTo>
                        <a:pt x="117560" y="58780"/>
                      </a:moveTo>
                      <a:lnTo>
                        <a:pt x="112940" y="35900"/>
                      </a:lnTo>
                      <a:lnTo>
                        <a:pt x="100343" y="17216"/>
                      </a:lnTo>
                      <a:lnTo>
                        <a:pt x="81659" y="4619"/>
                      </a:lnTo>
                      <a:lnTo>
                        <a:pt x="58779" y="0"/>
                      </a:ln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close/>
                    </a:path>
                  </a:pathLst>
                </a:custGeom>
                <a:ln w="10122">
                  <a:solidFill>
                    <a:srgbClr val="7F7FFF"/>
                  </a:solidFill>
                </a:ln>
              </p:spPr>
              <p:txBody>
                <a:bodyPr wrap="square" lIns="0" tIns="0" rIns="0" bIns="0" rtlCol="0"/>
                <a:lstStyle/>
                <a:p>
                  <a:endParaRPr/>
                </a:p>
              </p:txBody>
            </p:sp>
            <p:pic>
              <p:nvPicPr>
                <p:cNvPr id="73" name="object 15"/>
                <p:cNvPicPr/>
                <p:nvPr/>
              </p:nvPicPr>
              <p:blipFill>
                <a:blip r:embed="rId4" cstate="print"/>
                <a:stretch>
                  <a:fillRect/>
                </a:stretch>
              </p:blipFill>
              <p:spPr>
                <a:xfrm>
                  <a:off x="3913623" y="1044606"/>
                  <a:ext cx="122621" cy="122621"/>
                </a:xfrm>
                <a:prstGeom prst="rect">
                  <a:avLst/>
                </a:prstGeom>
              </p:spPr>
            </p:pic>
            <p:pic>
              <p:nvPicPr>
                <p:cNvPr id="74" name="object 16"/>
                <p:cNvPicPr/>
                <p:nvPr/>
              </p:nvPicPr>
              <p:blipFill>
                <a:blip r:embed="rId5" cstate="print"/>
                <a:stretch>
                  <a:fillRect/>
                </a:stretch>
              </p:blipFill>
              <p:spPr>
                <a:xfrm>
                  <a:off x="4237624" y="1044606"/>
                  <a:ext cx="122621" cy="122621"/>
                </a:xfrm>
                <a:prstGeom prst="rect">
                  <a:avLst/>
                </a:prstGeom>
              </p:spPr>
            </p:pic>
            <p:pic>
              <p:nvPicPr>
                <p:cNvPr id="75" name="object 17"/>
                <p:cNvPicPr/>
                <p:nvPr/>
              </p:nvPicPr>
              <p:blipFill>
                <a:blip r:embed="rId6" cstate="print"/>
                <a:stretch>
                  <a:fillRect/>
                </a:stretch>
              </p:blipFill>
              <p:spPr>
                <a:xfrm>
                  <a:off x="4559096" y="1042075"/>
                  <a:ext cx="127682" cy="127682"/>
                </a:xfrm>
                <a:prstGeom prst="rect">
                  <a:avLst/>
                </a:prstGeom>
              </p:spPr>
            </p:pic>
            <p:pic>
              <p:nvPicPr>
                <p:cNvPr id="76" name="object 18"/>
                <p:cNvPicPr/>
                <p:nvPr/>
              </p:nvPicPr>
              <p:blipFill>
                <a:blip r:embed="rId6" cstate="print"/>
                <a:stretch>
                  <a:fillRect/>
                </a:stretch>
              </p:blipFill>
              <p:spPr>
                <a:xfrm>
                  <a:off x="3263089" y="718073"/>
                  <a:ext cx="127681" cy="127682"/>
                </a:xfrm>
                <a:prstGeom prst="rect">
                  <a:avLst/>
                </a:prstGeom>
              </p:spPr>
            </p:pic>
            <p:pic>
              <p:nvPicPr>
                <p:cNvPr id="77" name="object 19"/>
                <p:cNvPicPr/>
                <p:nvPr/>
              </p:nvPicPr>
              <p:blipFill>
                <a:blip r:embed="rId7" cstate="print"/>
                <a:stretch>
                  <a:fillRect/>
                </a:stretch>
              </p:blipFill>
              <p:spPr>
                <a:xfrm>
                  <a:off x="3589621" y="720604"/>
                  <a:ext cx="122621" cy="122621"/>
                </a:xfrm>
                <a:prstGeom prst="rect">
                  <a:avLst/>
                </a:prstGeom>
              </p:spPr>
            </p:pic>
            <p:pic>
              <p:nvPicPr>
                <p:cNvPr id="78" name="object 20"/>
                <p:cNvPicPr/>
                <p:nvPr/>
              </p:nvPicPr>
              <p:blipFill>
                <a:blip r:embed="rId6" cstate="print"/>
                <a:stretch>
                  <a:fillRect/>
                </a:stretch>
              </p:blipFill>
              <p:spPr>
                <a:xfrm>
                  <a:off x="3911092" y="718073"/>
                  <a:ext cx="127682" cy="127682"/>
                </a:xfrm>
                <a:prstGeom prst="rect">
                  <a:avLst/>
                </a:prstGeom>
              </p:spPr>
            </p:pic>
            <p:pic>
              <p:nvPicPr>
                <p:cNvPr id="79" name="object 21"/>
                <p:cNvPicPr/>
                <p:nvPr/>
              </p:nvPicPr>
              <p:blipFill>
                <a:blip r:embed="rId5" cstate="print"/>
                <a:stretch>
                  <a:fillRect/>
                </a:stretch>
              </p:blipFill>
              <p:spPr>
                <a:xfrm>
                  <a:off x="4237624" y="720604"/>
                  <a:ext cx="122621" cy="122621"/>
                </a:xfrm>
                <a:prstGeom prst="rect">
                  <a:avLst/>
                </a:prstGeom>
              </p:spPr>
            </p:pic>
            <p:pic>
              <p:nvPicPr>
                <p:cNvPr id="80" name="object 22"/>
                <p:cNvPicPr/>
                <p:nvPr/>
              </p:nvPicPr>
              <p:blipFill>
                <a:blip r:embed="rId6" cstate="print"/>
                <a:stretch>
                  <a:fillRect/>
                </a:stretch>
              </p:blipFill>
              <p:spPr>
                <a:xfrm>
                  <a:off x="4559096" y="718073"/>
                  <a:ext cx="127682" cy="127682"/>
                </a:xfrm>
                <a:prstGeom prst="rect">
                  <a:avLst/>
                </a:prstGeom>
              </p:spPr>
            </p:pic>
            <p:pic>
              <p:nvPicPr>
                <p:cNvPr id="81" name="object 23"/>
                <p:cNvPicPr/>
                <p:nvPr/>
              </p:nvPicPr>
              <p:blipFill>
                <a:blip r:embed="rId8" cstate="print"/>
                <a:stretch>
                  <a:fillRect/>
                </a:stretch>
              </p:blipFill>
              <p:spPr>
                <a:xfrm>
                  <a:off x="3911092" y="394071"/>
                  <a:ext cx="127682" cy="127682"/>
                </a:xfrm>
                <a:prstGeom prst="rect">
                  <a:avLst/>
                </a:prstGeom>
              </p:spPr>
            </p:pic>
            <p:sp>
              <p:nvSpPr>
                <p:cNvPr id="82" name="object 24"/>
                <p:cNvSpPr/>
                <p:nvPr/>
              </p:nvSpPr>
              <p:spPr>
                <a:xfrm>
                  <a:off x="3371714" y="1154817"/>
                  <a:ext cx="230504" cy="230504"/>
                </a:xfrm>
                <a:custGeom>
                  <a:avLst/>
                  <a:gdLst/>
                  <a:ahLst/>
                  <a:cxnLst/>
                  <a:rect l="l" t="t" r="r" b="b"/>
                  <a:pathLst>
                    <a:path w="230504" h="230505">
                      <a:moveTo>
                        <a:pt x="0" y="230316"/>
                      </a:moveTo>
                      <a:lnTo>
                        <a:pt x="230315" y="0"/>
                      </a:lnTo>
                    </a:path>
                  </a:pathLst>
                </a:custGeom>
                <a:ln w="5060">
                  <a:solidFill>
                    <a:srgbClr val="000000"/>
                  </a:solidFill>
                </a:ln>
              </p:spPr>
              <p:txBody>
                <a:bodyPr wrap="square" lIns="0" tIns="0" rIns="0" bIns="0" rtlCol="0"/>
                <a:lstStyle/>
                <a:p>
                  <a:endParaRPr/>
                </a:p>
              </p:txBody>
            </p:sp>
            <p:sp>
              <p:nvSpPr>
                <p:cNvPr id="83" name="object 25"/>
                <p:cNvSpPr/>
                <p:nvPr/>
              </p:nvSpPr>
              <p:spPr>
                <a:xfrm>
                  <a:off x="3576979" y="1151239"/>
                  <a:ext cx="29209" cy="29209"/>
                </a:xfrm>
                <a:custGeom>
                  <a:avLst/>
                  <a:gdLst/>
                  <a:ahLst/>
                  <a:cxnLst/>
                  <a:rect l="l" t="t" r="r" b="b"/>
                  <a:pathLst>
                    <a:path w="29210" h="29209">
                      <a:moveTo>
                        <a:pt x="0" y="0"/>
                      </a:moveTo>
                      <a:lnTo>
                        <a:pt x="6472" y="2278"/>
                      </a:lnTo>
                      <a:lnTo>
                        <a:pt x="14873" y="2795"/>
                      </a:lnTo>
                      <a:lnTo>
                        <a:pt x="22771" y="2138"/>
                      </a:lnTo>
                      <a:lnTo>
                        <a:pt x="27734" y="894"/>
                      </a:lnTo>
                      <a:lnTo>
                        <a:pt x="26490" y="5857"/>
                      </a:lnTo>
                      <a:lnTo>
                        <a:pt x="25833" y="13755"/>
                      </a:lnTo>
                      <a:lnTo>
                        <a:pt x="26350" y="22156"/>
                      </a:lnTo>
                      <a:lnTo>
                        <a:pt x="28628" y="28628"/>
                      </a:lnTo>
                    </a:path>
                  </a:pathLst>
                </a:custGeom>
                <a:ln w="4048">
                  <a:solidFill>
                    <a:srgbClr val="000000"/>
                  </a:solidFill>
                </a:ln>
              </p:spPr>
              <p:txBody>
                <a:bodyPr wrap="square" lIns="0" tIns="0" rIns="0" bIns="0" rtlCol="0"/>
                <a:lstStyle/>
                <a:p>
                  <a:endParaRPr/>
                </a:p>
              </p:txBody>
            </p:sp>
            <p:sp>
              <p:nvSpPr>
                <p:cNvPr id="84" name="object 26"/>
                <p:cNvSpPr/>
                <p:nvPr/>
              </p:nvSpPr>
              <p:spPr>
                <a:xfrm>
                  <a:off x="3388515" y="1122728"/>
                  <a:ext cx="1167765" cy="292100"/>
                </a:xfrm>
                <a:custGeom>
                  <a:avLst/>
                  <a:gdLst/>
                  <a:ahLst/>
                  <a:cxnLst/>
                  <a:rect l="l" t="t" r="r" b="b"/>
                  <a:pathLst>
                    <a:path w="1167764" h="292100">
                      <a:moveTo>
                        <a:pt x="0" y="291795"/>
                      </a:moveTo>
                      <a:lnTo>
                        <a:pt x="1167172" y="0"/>
                      </a:lnTo>
                    </a:path>
                  </a:pathLst>
                </a:custGeom>
                <a:ln w="5060">
                  <a:solidFill>
                    <a:srgbClr val="000000"/>
                  </a:solidFill>
                </a:ln>
              </p:spPr>
              <p:txBody>
                <a:bodyPr wrap="square" lIns="0" tIns="0" rIns="0" bIns="0" rtlCol="0"/>
                <a:lstStyle/>
                <a:p>
                  <a:endParaRPr/>
                </a:p>
              </p:txBody>
            </p:sp>
            <p:sp>
              <p:nvSpPr>
                <p:cNvPr id="85" name="object 27"/>
                <p:cNvSpPr/>
                <p:nvPr/>
              </p:nvSpPr>
              <p:spPr>
                <a:xfrm>
                  <a:off x="4536002" y="1106734"/>
                  <a:ext cx="23495" cy="39370"/>
                </a:xfrm>
                <a:custGeom>
                  <a:avLst/>
                  <a:gdLst/>
                  <a:ahLst/>
                  <a:cxnLst/>
                  <a:rect l="l" t="t" r="r" b="b"/>
                  <a:pathLst>
                    <a:path w="23495" h="39369">
                      <a:moveTo>
                        <a:pt x="0" y="0"/>
                      </a:moveTo>
                      <a:lnTo>
                        <a:pt x="4387" y="5296"/>
                      </a:lnTo>
                      <a:lnTo>
                        <a:pt x="11341" y="10073"/>
                      </a:lnTo>
                      <a:lnTo>
                        <a:pt x="18468" y="13581"/>
                      </a:lnTo>
                      <a:lnTo>
                        <a:pt x="23375" y="15071"/>
                      </a:lnTo>
                      <a:lnTo>
                        <a:pt x="19747" y="18694"/>
                      </a:lnTo>
                      <a:lnTo>
                        <a:pt x="15109" y="25144"/>
                      </a:lnTo>
                      <a:lnTo>
                        <a:pt x="11221" y="32631"/>
                      </a:lnTo>
                      <a:lnTo>
                        <a:pt x="9842" y="39369"/>
                      </a:lnTo>
                    </a:path>
                  </a:pathLst>
                </a:custGeom>
                <a:ln w="4057">
                  <a:solidFill>
                    <a:srgbClr val="000000"/>
                  </a:solidFill>
                </a:ln>
              </p:spPr>
              <p:txBody>
                <a:bodyPr wrap="square" lIns="0" tIns="0" rIns="0" bIns="0" rtlCol="0"/>
                <a:lstStyle/>
                <a:p>
                  <a:endParaRPr/>
                </a:p>
              </p:txBody>
            </p:sp>
            <p:pic>
              <p:nvPicPr>
                <p:cNvPr id="86" name="object 28"/>
                <p:cNvPicPr/>
                <p:nvPr/>
              </p:nvPicPr>
              <p:blipFill>
                <a:blip r:embed="rId9" cstate="print"/>
                <a:stretch>
                  <a:fillRect/>
                </a:stretch>
              </p:blipFill>
              <p:spPr>
                <a:xfrm>
                  <a:off x="3694227" y="1149214"/>
                  <a:ext cx="238449" cy="238450"/>
                </a:xfrm>
                <a:prstGeom prst="rect">
                  <a:avLst/>
                </a:prstGeom>
              </p:spPr>
            </p:pic>
            <p:sp>
              <p:nvSpPr>
                <p:cNvPr id="87" name="object 29"/>
                <p:cNvSpPr/>
                <p:nvPr/>
              </p:nvSpPr>
              <p:spPr>
                <a:xfrm>
                  <a:off x="4031805" y="1136854"/>
                  <a:ext cx="529590" cy="264795"/>
                </a:xfrm>
                <a:custGeom>
                  <a:avLst/>
                  <a:gdLst/>
                  <a:ahLst/>
                  <a:cxnLst/>
                  <a:rect l="l" t="t" r="r" b="b"/>
                  <a:pathLst>
                    <a:path w="529589" h="264794">
                      <a:moveTo>
                        <a:pt x="0" y="264627"/>
                      </a:moveTo>
                      <a:lnTo>
                        <a:pt x="529252" y="0"/>
                      </a:lnTo>
                    </a:path>
                  </a:pathLst>
                </a:custGeom>
                <a:ln w="5060">
                  <a:solidFill>
                    <a:srgbClr val="000000"/>
                  </a:solidFill>
                </a:ln>
              </p:spPr>
              <p:txBody>
                <a:bodyPr wrap="square" lIns="0" tIns="0" rIns="0" bIns="0" rtlCol="0"/>
                <a:lstStyle/>
                <a:p>
                  <a:endParaRPr/>
                </a:p>
              </p:txBody>
            </p:sp>
            <p:sp>
              <p:nvSpPr>
                <p:cNvPr id="88" name="object 30"/>
                <p:cNvSpPr/>
                <p:nvPr/>
              </p:nvSpPr>
              <p:spPr>
                <a:xfrm>
                  <a:off x="4538334" y="1125492"/>
                  <a:ext cx="26670" cy="36830"/>
                </a:xfrm>
                <a:custGeom>
                  <a:avLst/>
                  <a:gdLst/>
                  <a:ahLst/>
                  <a:cxnLst/>
                  <a:rect l="l" t="t" r="r" b="b"/>
                  <a:pathLst>
                    <a:path w="26670" h="36830">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89" name="object 31"/>
                <p:cNvSpPr/>
                <p:nvPr/>
              </p:nvSpPr>
              <p:spPr>
                <a:xfrm>
                  <a:off x="3712804" y="1136854"/>
                  <a:ext cx="529590" cy="264795"/>
                </a:xfrm>
                <a:custGeom>
                  <a:avLst/>
                  <a:gdLst/>
                  <a:ahLst/>
                  <a:cxnLst/>
                  <a:rect l="l" t="t" r="r" b="b"/>
                  <a:pathLst>
                    <a:path w="529589" h="264794">
                      <a:moveTo>
                        <a:pt x="529253" y="264627"/>
                      </a:moveTo>
                      <a:lnTo>
                        <a:pt x="0" y="0"/>
                      </a:lnTo>
                    </a:path>
                  </a:pathLst>
                </a:custGeom>
                <a:ln w="5060">
                  <a:solidFill>
                    <a:srgbClr val="000000"/>
                  </a:solidFill>
                </a:ln>
              </p:spPr>
              <p:txBody>
                <a:bodyPr wrap="square" lIns="0" tIns="0" rIns="0" bIns="0" rtlCol="0"/>
                <a:lstStyle/>
                <a:p>
                  <a:endParaRPr/>
                </a:p>
              </p:txBody>
            </p:sp>
            <p:sp>
              <p:nvSpPr>
                <p:cNvPr id="90" name="object 32"/>
                <p:cNvSpPr/>
                <p:nvPr/>
              </p:nvSpPr>
              <p:spPr>
                <a:xfrm>
                  <a:off x="3709396" y="1125492"/>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pic>
              <p:nvPicPr>
                <p:cNvPr id="91" name="object 33"/>
                <p:cNvPicPr/>
                <p:nvPr/>
              </p:nvPicPr>
              <p:blipFill>
                <a:blip r:embed="rId10" cstate="print"/>
                <a:stretch>
                  <a:fillRect/>
                </a:stretch>
              </p:blipFill>
              <p:spPr>
                <a:xfrm>
                  <a:off x="4341185" y="1149215"/>
                  <a:ext cx="238450" cy="238449"/>
                </a:xfrm>
                <a:prstGeom prst="rect">
                  <a:avLst/>
                </a:prstGeom>
              </p:spPr>
            </p:pic>
            <p:sp>
              <p:nvSpPr>
                <p:cNvPr id="92" name="object 34"/>
                <p:cNvSpPr/>
                <p:nvPr/>
              </p:nvSpPr>
              <p:spPr>
                <a:xfrm>
                  <a:off x="3716601" y="1127808"/>
                  <a:ext cx="846455" cy="282575"/>
                </a:xfrm>
                <a:custGeom>
                  <a:avLst/>
                  <a:gdLst/>
                  <a:ahLst/>
                  <a:cxnLst/>
                  <a:rect l="l" t="t" r="r" b="b"/>
                  <a:pathLst>
                    <a:path w="846454" h="282575">
                      <a:moveTo>
                        <a:pt x="846186" y="282061"/>
                      </a:moveTo>
                      <a:lnTo>
                        <a:pt x="0" y="0"/>
                      </a:lnTo>
                    </a:path>
                  </a:pathLst>
                </a:custGeom>
                <a:ln w="5060">
                  <a:solidFill>
                    <a:srgbClr val="000000"/>
                  </a:solidFill>
                </a:ln>
              </p:spPr>
              <p:txBody>
                <a:bodyPr wrap="square" lIns="0" tIns="0" rIns="0" bIns="0" rtlCol="0"/>
                <a:lstStyle/>
                <a:p>
                  <a:endParaRPr/>
                </a:p>
              </p:txBody>
            </p:sp>
            <p:sp>
              <p:nvSpPr>
                <p:cNvPr id="93" name="object 35"/>
                <p:cNvSpPr/>
                <p:nvPr/>
              </p:nvSpPr>
              <p:spPr>
                <a:xfrm>
                  <a:off x="3712997" y="1113389"/>
                  <a:ext cx="24765" cy="38735"/>
                </a:xfrm>
                <a:custGeom>
                  <a:avLst/>
                  <a:gdLst/>
                  <a:ahLst/>
                  <a:cxnLst/>
                  <a:rect l="l" t="t" r="r" b="b"/>
                  <a:pathLst>
                    <a:path w="24764" h="38734">
                      <a:moveTo>
                        <a:pt x="11614" y="38448"/>
                      </a:moveTo>
                      <a:lnTo>
                        <a:pt x="10757" y="31633"/>
                      </a:lnTo>
                      <a:lnTo>
                        <a:pt x="7459" y="23880"/>
                      </a:lnTo>
                      <a:lnTo>
                        <a:pt x="3335" y="17102"/>
                      </a:lnTo>
                      <a:lnTo>
                        <a:pt x="0" y="13216"/>
                      </a:lnTo>
                      <a:lnTo>
                        <a:pt x="4999" y="12109"/>
                      </a:lnTo>
                      <a:lnTo>
                        <a:pt x="12365" y="9161"/>
                      </a:lnTo>
                      <a:lnTo>
                        <a:pt x="19655" y="4937"/>
                      </a:lnTo>
                      <a:lnTo>
                        <a:pt x="24430" y="0"/>
                      </a:lnTo>
                    </a:path>
                  </a:pathLst>
                </a:custGeom>
                <a:ln w="4052">
                  <a:solidFill>
                    <a:srgbClr val="000000"/>
                  </a:solidFill>
                </a:ln>
              </p:spPr>
              <p:txBody>
                <a:bodyPr wrap="square" lIns="0" tIns="0" rIns="0" bIns="0" rtlCol="0"/>
                <a:lstStyle/>
                <a:p>
                  <a:endParaRPr/>
                </a:p>
              </p:txBody>
            </p:sp>
            <p:sp>
              <p:nvSpPr>
                <p:cNvPr id="94" name="object 36"/>
                <p:cNvSpPr/>
                <p:nvPr/>
              </p:nvSpPr>
              <p:spPr>
                <a:xfrm>
                  <a:off x="4622932" y="1175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95" name="object 37"/>
                <p:cNvSpPr/>
                <p:nvPr/>
              </p:nvSpPr>
              <p:spPr>
                <a:xfrm>
                  <a:off x="4602688" y="1171277"/>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pic>
              <p:nvPicPr>
                <p:cNvPr id="96" name="object 38"/>
                <p:cNvPicPr/>
                <p:nvPr/>
              </p:nvPicPr>
              <p:blipFill>
                <a:blip r:embed="rId9" cstate="print"/>
                <a:stretch>
                  <a:fillRect/>
                </a:stretch>
              </p:blipFill>
              <p:spPr>
                <a:xfrm>
                  <a:off x="3370227" y="825214"/>
                  <a:ext cx="238449" cy="238449"/>
                </a:xfrm>
                <a:prstGeom prst="rect">
                  <a:avLst/>
                </a:prstGeom>
              </p:spPr>
            </p:pic>
            <p:pic>
              <p:nvPicPr>
                <p:cNvPr id="97" name="object 39"/>
                <p:cNvPicPr/>
                <p:nvPr/>
              </p:nvPicPr>
              <p:blipFill>
                <a:blip r:embed="rId11" cstate="print"/>
                <a:stretch>
                  <a:fillRect/>
                </a:stretch>
              </p:blipFill>
              <p:spPr>
                <a:xfrm>
                  <a:off x="3693184" y="825214"/>
                  <a:ext cx="238449" cy="238449"/>
                </a:xfrm>
                <a:prstGeom prst="rect">
                  <a:avLst/>
                </a:prstGeom>
              </p:spPr>
            </p:pic>
            <p:sp>
              <p:nvSpPr>
                <p:cNvPr id="98" name="object 40"/>
                <p:cNvSpPr/>
                <p:nvPr/>
              </p:nvSpPr>
              <p:spPr>
                <a:xfrm>
                  <a:off x="3711074" y="803807"/>
                  <a:ext cx="846455" cy="282575"/>
                </a:xfrm>
                <a:custGeom>
                  <a:avLst/>
                  <a:gdLst/>
                  <a:ahLst/>
                  <a:cxnLst/>
                  <a:rect l="l" t="t" r="r" b="b"/>
                  <a:pathLst>
                    <a:path w="846454" h="282575">
                      <a:moveTo>
                        <a:pt x="0" y="282062"/>
                      </a:moveTo>
                      <a:lnTo>
                        <a:pt x="846186" y="0"/>
                      </a:lnTo>
                    </a:path>
                  </a:pathLst>
                </a:custGeom>
                <a:ln w="5060">
                  <a:solidFill>
                    <a:srgbClr val="000000"/>
                  </a:solidFill>
                </a:ln>
              </p:spPr>
              <p:txBody>
                <a:bodyPr wrap="square" lIns="0" tIns="0" rIns="0" bIns="0" rtlCol="0"/>
                <a:lstStyle/>
                <a:p>
                  <a:endParaRPr/>
                </a:p>
              </p:txBody>
            </p:sp>
            <p:sp>
              <p:nvSpPr>
                <p:cNvPr id="99" name="object 41"/>
                <p:cNvSpPr/>
                <p:nvPr/>
              </p:nvSpPr>
              <p:spPr>
                <a:xfrm>
                  <a:off x="4536434" y="789389"/>
                  <a:ext cx="24765" cy="38735"/>
                </a:xfrm>
                <a:custGeom>
                  <a:avLst/>
                  <a:gdLst/>
                  <a:ahLst/>
                  <a:cxnLst/>
                  <a:rect l="l" t="t" r="r" b="b"/>
                  <a:pathLst>
                    <a:path w="24764" h="38734">
                      <a:moveTo>
                        <a:pt x="0" y="0"/>
                      </a:moveTo>
                      <a:lnTo>
                        <a:pt x="4774" y="4937"/>
                      </a:lnTo>
                      <a:lnTo>
                        <a:pt x="12065" y="9161"/>
                      </a:lnTo>
                      <a:lnTo>
                        <a:pt x="19430" y="12109"/>
                      </a:lnTo>
                      <a:lnTo>
                        <a:pt x="24430" y="13216"/>
                      </a:lnTo>
                      <a:lnTo>
                        <a:pt x="21094" y="17102"/>
                      </a:lnTo>
                      <a:lnTo>
                        <a:pt x="16971" y="23880"/>
                      </a:lnTo>
                      <a:lnTo>
                        <a:pt x="13673" y="31633"/>
                      </a:lnTo>
                      <a:lnTo>
                        <a:pt x="12815" y="38448"/>
                      </a:lnTo>
                    </a:path>
                  </a:pathLst>
                </a:custGeom>
                <a:ln w="4052">
                  <a:solidFill>
                    <a:srgbClr val="000000"/>
                  </a:solidFill>
                </a:ln>
              </p:spPr>
              <p:txBody>
                <a:bodyPr wrap="square" lIns="0" tIns="0" rIns="0" bIns="0" rtlCol="0"/>
                <a:lstStyle/>
                <a:p>
                  <a:endParaRPr/>
                </a:p>
              </p:txBody>
            </p:sp>
            <p:sp>
              <p:nvSpPr>
                <p:cNvPr id="100" name="object 42"/>
                <p:cNvSpPr/>
                <p:nvPr/>
              </p:nvSpPr>
              <p:spPr>
                <a:xfrm>
                  <a:off x="3394174" y="798727"/>
                  <a:ext cx="1167765" cy="292100"/>
                </a:xfrm>
                <a:custGeom>
                  <a:avLst/>
                  <a:gdLst/>
                  <a:ahLst/>
                  <a:cxnLst/>
                  <a:rect l="l" t="t" r="r" b="b"/>
                  <a:pathLst>
                    <a:path w="1167764" h="292100">
                      <a:moveTo>
                        <a:pt x="1167172" y="291795"/>
                      </a:moveTo>
                      <a:lnTo>
                        <a:pt x="0" y="0"/>
                      </a:lnTo>
                    </a:path>
                  </a:pathLst>
                </a:custGeom>
                <a:ln w="5060">
                  <a:solidFill>
                    <a:srgbClr val="000000"/>
                  </a:solidFill>
                </a:ln>
              </p:spPr>
              <p:txBody>
                <a:bodyPr wrap="square" lIns="0" tIns="0" rIns="0" bIns="0" rtlCol="0"/>
                <a:lstStyle/>
                <a:p>
                  <a:endParaRPr/>
                </a:p>
              </p:txBody>
            </p:sp>
            <p:sp>
              <p:nvSpPr>
                <p:cNvPr id="101" name="object 43"/>
                <p:cNvSpPr/>
                <p:nvPr/>
              </p:nvSpPr>
              <p:spPr>
                <a:xfrm>
                  <a:off x="3390484" y="782734"/>
                  <a:ext cx="23495" cy="39370"/>
                </a:xfrm>
                <a:custGeom>
                  <a:avLst/>
                  <a:gdLst/>
                  <a:ahLst/>
                  <a:cxnLst/>
                  <a:rect l="l" t="t" r="r" b="b"/>
                  <a:pathLst>
                    <a:path w="23495" h="39369">
                      <a:moveTo>
                        <a:pt x="13533" y="39369"/>
                      </a:moveTo>
                      <a:lnTo>
                        <a:pt x="12153" y="32631"/>
                      </a:lnTo>
                      <a:lnTo>
                        <a:pt x="8265" y="25144"/>
                      </a:lnTo>
                      <a:lnTo>
                        <a:pt x="3628" y="18694"/>
                      </a:lnTo>
                      <a:lnTo>
                        <a:pt x="0" y="15071"/>
                      </a:lnTo>
                      <a:lnTo>
                        <a:pt x="4906" y="13581"/>
                      </a:lnTo>
                      <a:lnTo>
                        <a:pt x="12033" y="10073"/>
                      </a:lnTo>
                      <a:lnTo>
                        <a:pt x="18987" y="5296"/>
                      </a:lnTo>
                      <a:lnTo>
                        <a:pt x="23375" y="0"/>
                      </a:lnTo>
                    </a:path>
                  </a:pathLst>
                </a:custGeom>
                <a:ln w="4057">
                  <a:solidFill>
                    <a:srgbClr val="000000"/>
                  </a:solidFill>
                </a:ln>
              </p:spPr>
              <p:txBody>
                <a:bodyPr wrap="square" lIns="0" tIns="0" rIns="0" bIns="0" rtlCol="0"/>
                <a:lstStyle/>
                <a:p>
                  <a:endParaRPr/>
                </a:p>
              </p:txBody>
            </p:sp>
            <p:sp>
              <p:nvSpPr>
                <p:cNvPr id="102" name="object 44"/>
                <p:cNvSpPr/>
                <p:nvPr/>
              </p:nvSpPr>
              <p:spPr>
                <a:xfrm>
                  <a:off x="4036805" y="812853"/>
                  <a:ext cx="529590" cy="264795"/>
                </a:xfrm>
                <a:custGeom>
                  <a:avLst/>
                  <a:gdLst/>
                  <a:ahLst/>
                  <a:cxnLst/>
                  <a:rect l="l" t="t" r="r" b="b"/>
                  <a:pathLst>
                    <a:path w="529589" h="264794">
                      <a:moveTo>
                        <a:pt x="529252" y="264627"/>
                      </a:moveTo>
                      <a:lnTo>
                        <a:pt x="0" y="0"/>
                      </a:lnTo>
                    </a:path>
                  </a:pathLst>
                </a:custGeom>
                <a:ln w="5060">
                  <a:solidFill>
                    <a:srgbClr val="000000"/>
                  </a:solidFill>
                </a:ln>
              </p:spPr>
              <p:txBody>
                <a:bodyPr wrap="square" lIns="0" tIns="0" rIns="0" bIns="0" rtlCol="0"/>
                <a:lstStyle/>
                <a:p>
                  <a:endParaRPr/>
                </a:p>
              </p:txBody>
            </p:sp>
            <p:sp>
              <p:nvSpPr>
                <p:cNvPr id="103" name="object 45"/>
                <p:cNvSpPr/>
                <p:nvPr/>
              </p:nvSpPr>
              <p:spPr>
                <a:xfrm>
                  <a:off x="4033397" y="801491"/>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sp>
              <p:nvSpPr>
                <p:cNvPr id="104" name="object 46"/>
                <p:cNvSpPr/>
                <p:nvPr/>
              </p:nvSpPr>
              <p:spPr>
                <a:xfrm>
                  <a:off x="4622932" y="851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105" name="object 47"/>
                <p:cNvSpPr/>
                <p:nvPr/>
              </p:nvSpPr>
              <p:spPr>
                <a:xfrm>
                  <a:off x="4602688" y="847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106" name="object 48"/>
                <p:cNvSpPr/>
                <p:nvPr/>
              </p:nvSpPr>
              <p:spPr>
                <a:xfrm>
                  <a:off x="3383804" y="488853"/>
                  <a:ext cx="529590" cy="264795"/>
                </a:xfrm>
                <a:custGeom>
                  <a:avLst/>
                  <a:gdLst/>
                  <a:ahLst/>
                  <a:cxnLst/>
                  <a:rect l="l" t="t" r="r" b="b"/>
                  <a:pathLst>
                    <a:path w="529589" h="264795">
                      <a:moveTo>
                        <a:pt x="0" y="264627"/>
                      </a:moveTo>
                      <a:lnTo>
                        <a:pt x="529252" y="0"/>
                      </a:lnTo>
                    </a:path>
                  </a:pathLst>
                </a:custGeom>
                <a:ln w="5060">
                  <a:solidFill>
                    <a:srgbClr val="000000"/>
                  </a:solidFill>
                </a:ln>
              </p:spPr>
              <p:txBody>
                <a:bodyPr wrap="square" lIns="0" tIns="0" rIns="0" bIns="0" rtlCol="0"/>
                <a:lstStyle/>
                <a:p>
                  <a:endParaRPr/>
                </a:p>
              </p:txBody>
            </p:sp>
            <p:sp>
              <p:nvSpPr>
                <p:cNvPr id="107" name="object 49"/>
                <p:cNvSpPr/>
                <p:nvPr/>
              </p:nvSpPr>
              <p:spPr>
                <a:xfrm>
                  <a:off x="3890332" y="477491"/>
                  <a:ext cx="26670" cy="36830"/>
                </a:xfrm>
                <a:custGeom>
                  <a:avLst/>
                  <a:gdLst/>
                  <a:ahLst/>
                  <a:cxnLst/>
                  <a:rect l="l" t="t" r="r" b="b"/>
                  <a:pathLst>
                    <a:path w="26670" h="36829">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108" name="object 50"/>
                <p:cNvSpPr/>
                <p:nvPr/>
              </p:nvSpPr>
              <p:spPr>
                <a:xfrm>
                  <a:off x="3974930" y="527071"/>
                  <a:ext cx="0" cy="191770"/>
                </a:xfrm>
                <a:custGeom>
                  <a:avLst/>
                  <a:gdLst/>
                  <a:ahLst/>
                  <a:cxnLst/>
                  <a:rect l="l" t="t" r="r" b="b"/>
                  <a:pathLst>
                    <a:path h="191770">
                      <a:moveTo>
                        <a:pt x="0" y="191511"/>
                      </a:moveTo>
                      <a:lnTo>
                        <a:pt x="0" y="0"/>
                      </a:lnTo>
                    </a:path>
                  </a:pathLst>
                </a:custGeom>
                <a:ln w="5060">
                  <a:solidFill>
                    <a:srgbClr val="000000"/>
                  </a:solidFill>
                </a:ln>
              </p:spPr>
              <p:txBody>
                <a:bodyPr wrap="square" lIns="0" tIns="0" rIns="0" bIns="0" rtlCol="0"/>
                <a:lstStyle/>
                <a:p>
                  <a:endParaRPr/>
                </a:p>
              </p:txBody>
            </p:sp>
            <p:sp>
              <p:nvSpPr>
                <p:cNvPr id="109" name="object 51"/>
                <p:cNvSpPr/>
                <p:nvPr/>
              </p:nvSpPr>
              <p:spPr>
                <a:xfrm>
                  <a:off x="3954686" y="523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110" name="object 52"/>
                <p:cNvSpPr/>
                <p:nvPr/>
              </p:nvSpPr>
              <p:spPr>
                <a:xfrm>
                  <a:off x="4036805" y="488853"/>
                  <a:ext cx="529590" cy="264795"/>
                </a:xfrm>
                <a:custGeom>
                  <a:avLst/>
                  <a:gdLst/>
                  <a:ahLst/>
                  <a:cxnLst/>
                  <a:rect l="l" t="t" r="r" b="b"/>
                  <a:pathLst>
                    <a:path w="529589" h="264795">
                      <a:moveTo>
                        <a:pt x="529252" y="264627"/>
                      </a:moveTo>
                      <a:lnTo>
                        <a:pt x="0" y="0"/>
                      </a:lnTo>
                    </a:path>
                  </a:pathLst>
                </a:custGeom>
                <a:ln w="5060">
                  <a:solidFill>
                    <a:srgbClr val="000000"/>
                  </a:solidFill>
                </a:ln>
              </p:spPr>
              <p:txBody>
                <a:bodyPr wrap="square" lIns="0" tIns="0" rIns="0" bIns="0" rtlCol="0"/>
                <a:lstStyle/>
                <a:p>
                  <a:endParaRPr/>
                </a:p>
              </p:txBody>
            </p:sp>
            <p:sp>
              <p:nvSpPr>
                <p:cNvPr id="111" name="object 53"/>
                <p:cNvSpPr/>
                <p:nvPr/>
              </p:nvSpPr>
              <p:spPr>
                <a:xfrm>
                  <a:off x="4033397" y="477491"/>
                  <a:ext cx="26670" cy="36830"/>
                </a:xfrm>
                <a:custGeom>
                  <a:avLst/>
                  <a:gdLst/>
                  <a:ahLst/>
                  <a:cxnLst/>
                  <a:rect l="l" t="t" r="r" b="b"/>
                  <a:pathLst>
                    <a:path w="26670" h="36829">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grpSp>
        </p:grpSp>
      </p:grpSp>
    </p:spTree>
    <p:extLst>
      <p:ext uri="{BB962C8B-B14F-4D97-AF65-F5344CB8AC3E}">
        <p14:creationId xmlns:p14="http://schemas.microsoft.com/office/powerpoint/2010/main" val="1634203447"/>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47800"/>
            <a:ext cx="8915400" cy="4525963"/>
          </a:xfrm>
        </p:spPr>
        <p:txBody>
          <a:bodyPr>
            <a:normAutofit/>
          </a:bodyPr>
          <a:lstStyle/>
          <a:p>
            <a:pPr marL="403323" indent="-342900">
              <a:spcBef>
                <a:spcPts val="547"/>
              </a:spcBef>
              <a:buFont typeface="Arial" panose="020B0604020202020204" pitchFamily="34" charset="0"/>
              <a:buChar char="•"/>
            </a:pPr>
            <a:r>
              <a:rPr lang="en-US" sz="2000" dirty="0">
                <a:cs typeface="Calibri"/>
              </a:rPr>
              <a:t>Suppose</a:t>
            </a:r>
            <a:r>
              <a:rPr lang="en-US" sz="2000" spc="254" dirty="0">
                <a:cs typeface="Calibri"/>
              </a:rPr>
              <a:t> </a:t>
            </a:r>
            <a:r>
              <a:rPr lang="en-US" sz="2000" dirty="0">
                <a:cs typeface="Calibri"/>
              </a:rPr>
              <a:t>a</a:t>
            </a:r>
            <a:r>
              <a:rPr lang="en-US" sz="2000" spc="246" dirty="0">
                <a:cs typeface="Calibri"/>
              </a:rPr>
              <a:t> </a:t>
            </a:r>
            <a:r>
              <a:rPr lang="en-US" sz="2000" dirty="0">
                <a:cs typeface="Calibri"/>
              </a:rPr>
              <a:t>neural</a:t>
            </a:r>
            <a:r>
              <a:rPr lang="en-US" sz="2000" spc="262" dirty="0">
                <a:cs typeface="Calibri"/>
              </a:rPr>
              <a:t> </a:t>
            </a:r>
            <a:r>
              <a:rPr lang="en-US" sz="2000" dirty="0">
                <a:cs typeface="Calibri"/>
              </a:rPr>
              <a:t>network</a:t>
            </a:r>
            <a:r>
              <a:rPr lang="en-US" sz="2000" spc="262" dirty="0">
                <a:cs typeface="Calibri"/>
              </a:rPr>
              <a:t> </a:t>
            </a:r>
            <a:r>
              <a:rPr lang="en-US" sz="2000" dirty="0">
                <a:cs typeface="Calibri"/>
              </a:rPr>
              <a:t>has</a:t>
            </a:r>
            <a:r>
              <a:rPr lang="en-US" sz="2000" spc="246" dirty="0">
                <a:cs typeface="Calibri"/>
              </a:rPr>
              <a:t> </a:t>
            </a:r>
            <a:r>
              <a:rPr lang="en-US" sz="2000" i="1" spc="143" dirty="0">
                <a:cs typeface="Calibri"/>
              </a:rPr>
              <a:t>n</a:t>
            </a:r>
            <a:r>
              <a:rPr lang="en-US" sz="2000" i="1" spc="262" dirty="0">
                <a:cs typeface="Calibri"/>
              </a:rPr>
              <a:t> </a:t>
            </a:r>
            <a:r>
              <a:rPr lang="en-US" sz="2000" spc="-16" dirty="0">
                <a:cs typeface="Calibri"/>
              </a:rPr>
              <a:t>nodes</a:t>
            </a:r>
            <a:endParaRPr lang="en-US" sz="2000" dirty="0">
              <a:cs typeface="Calibri"/>
            </a:endParaRPr>
          </a:p>
          <a:p>
            <a:pPr marL="403323" indent="-342900">
              <a:spcBef>
                <a:spcPts val="381"/>
              </a:spcBef>
              <a:buFont typeface="Arial" panose="020B0604020202020204" pitchFamily="34" charset="0"/>
              <a:buChar char="•"/>
            </a:pPr>
            <a:r>
              <a:rPr lang="en-US" sz="2000" dirty="0">
                <a:cs typeface="Calibri"/>
              </a:rPr>
              <a:t>Using</a:t>
            </a:r>
            <a:r>
              <a:rPr lang="en-US" sz="2000" spc="254" dirty="0">
                <a:cs typeface="Calibri"/>
              </a:rPr>
              <a:t> </a:t>
            </a:r>
            <a:r>
              <a:rPr lang="en-US" sz="2000" dirty="0">
                <a:cs typeface="Calibri"/>
              </a:rPr>
              <a:t>the</a:t>
            </a:r>
            <a:r>
              <a:rPr lang="en-US" sz="2000" spc="262" dirty="0">
                <a:cs typeface="Calibri"/>
              </a:rPr>
              <a:t> </a:t>
            </a:r>
            <a:r>
              <a:rPr lang="en-US" sz="2000" dirty="0">
                <a:cs typeface="Calibri"/>
              </a:rPr>
              <a:t>dropout</a:t>
            </a:r>
            <a:r>
              <a:rPr lang="en-US" sz="2000" spc="270" dirty="0">
                <a:cs typeface="Calibri"/>
              </a:rPr>
              <a:t> </a:t>
            </a:r>
            <a:r>
              <a:rPr lang="en-US" sz="2000" dirty="0">
                <a:cs typeface="Calibri"/>
              </a:rPr>
              <a:t>idea,</a:t>
            </a:r>
            <a:r>
              <a:rPr lang="en-US" sz="2000" spc="262" dirty="0">
                <a:cs typeface="Calibri"/>
              </a:rPr>
              <a:t> </a:t>
            </a:r>
            <a:r>
              <a:rPr lang="en-US" sz="2000" dirty="0">
                <a:cs typeface="Calibri"/>
              </a:rPr>
              <a:t>each</a:t>
            </a:r>
            <a:r>
              <a:rPr lang="en-US" sz="2000" spc="270" dirty="0">
                <a:cs typeface="Calibri"/>
              </a:rPr>
              <a:t> </a:t>
            </a:r>
            <a:r>
              <a:rPr lang="en-US" sz="2000" dirty="0">
                <a:cs typeface="Calibri"/>
              </a:rPr>
              <a:t>node</a:t>
            </a:r>
            <a:r>
              <a:rPr lang="en-US" sz="2000" spc="262" dirty="0">
                <a:cs typeface="Calibri"/>
              </a:rPr>
              <a:t> </a:t>
            </a:r>
            <a:r>
              <a:rPr lang="en-US" sz="2000" dirty="0">
                <a:cs typeface="Calibri"/>
              </a:rPr>
              <a:t>can</a:t>
            </a:r>
            <a:r>
              <a:rPr lang="en-US" sz="2000" spc="262" dirty="0">
                <a:cs typeface="Calibri"/>
              </a:rPr>
              <a:t> </a:t>
            </a:r>
            <a:r>
              <a:rPr lang="en-US" sz="2000" dirty="0">
                <a:cs typeface="Calibri"/>
              </a:rPr>
              <a:t>be</a:t>
            </a:r>
            <a:r>
              <a:rPr lang="en-US" sz="2000" spc="270" dirty="0">
                <a:cs typeface="Calibri"/>
              </a:rPr>
              <a:t> </a:t>
            </a:r>
            <a:r>
              <a:rPr lang="en-US" sz="2000" dirty="0">
                <a:cs typeface="Calibri"/>
              </a:rPr>
              <a:t>retained</a:t>
            </a:r>
            <a:r>
              <a:rPr lang="en-US" sz="2000" spc="262" dirty="0">
                <a:cs typeface="Calibri"/>
              </a:rPr>
              <a:t> </a:t>
            </a:r>
            <a:r>
              <a:rPr lang="en-US" sz="2000" dirty="0">
                <a:cs typeface="Calibri"/>
              </a:rPr>
              <a:t>or</a:t>
            </a:r>
            <a:r>
              <a:rPr lang="en-US" sz="2000" spc="270" dirty="0">
                <a:cs typeface="Calibri"/>
              </a:rPr>
              <a:t> </a:t>
            </a:r>
            <a:r>
              <a:rPr lang="en-US" sz="2000" spc="-16" dirty="0">
                <a:cs typeface="Calibri"/>
              </a:rPr>
              <a:t>dropped</a:t>
            </a:r>
            <a:endParaRPr lang="en-US" sz="2000" dirty="0">
              <a:cs typeface="Calibri"/>
            </a:endParaRPr>
          </a:p>
          <a:p>
            <a:pPr marL="403323" marR="48338" indent="-342900">
              <a:lnSpc>
                <a:spcPct val="110500"/>
              </a:lnSpc>
              <a:spcBef>
                <a:spcPts val="167"/>
              </a:spcBef>
              <a:buFont typeface="Arial" panose="020B0604020202020204" pitchFamily="34" charset="0"/>
              <a:buChar char="•"/>
            </a:pPr>
            <a:r>
              <a:rPr lang="en-US" sz="2000" dirty="0">
                <a:cs typeface="Calibri"/>
              </a:rPr>
              <a:t>For</a:t>
            </a:r>
            <a:r>
              <a:rPr lang="en-US" sz="2000" spc="230" dirty="0">
                <a:cs typeface="Calibri"/>
              </a:rPr>
              <a:t> </a:t>
            </a:r>
            <a:r>
              <a:rPr lang="en-US" sz="2000" dirty="0">
                <a:cs typeface="Calibri"/>
              </a:rPr>
              <a:t>example,</a:t>
            </a:r>
            <a:r>
              <a:rPr lang="en-US" sz="2000" spc="230" dirty="0">
                <a:cs typeface="Calibri"/>
              </a:rPr>
              <a:t> </a:t>
            </a:r>
            <a:r>
              <a:rPr lang="en-US" sz="2000" dirty="0">
                <a:cs typeface="Calibri"/>
              </a:rPr>
              <a:t>in</a:t>
            </a:r>
            <a:r>
              <a:rPr lang="en-US" sz="2000" spc="230" dirty="0">
                <a:cs typeface="Calibri"/>
              </a:rPr>
              <a:t> </a:t>
            </a:r>
            <a:r>
              <a:rPr lang="en-US" sz="2000" dirty="0">
                <a:cs typeface="Calibri"/>
              </a:rPr>
              <a:t>the</a:t>
            </a:r>
            <a:r>
              <a:rPr lang="en-US" sz="2000" spc="230" dirty="0">
                <a:cs typeface="Calibri"/>
              </a:rPr>
              <a:t> </a:t>
            </a:r>
            <a:r>
              <a:rPr lang="en-US" sz="2000" dirty="0">
                <a:cs typeface="Calibri"/>
              </a:rPr>
              <a:t>above</a:t>
            </a:r>
            <a:r>
              <a:rPr lang="en-US" sz="2000" spc="238" dirty="0">
                <a:cs typeface="Calibri"/>
              </a:rPr>
              <a:t> </a:t>
            </a:r>
            <a:r>
              <a:rPr lang="en-US" sz="2000" dirty="0">
                <a:cs typeface="Calibri"/>
              </a:rPr>
              <a:t>case</a:t>
            </a:r>
            <a:r>
              <a:rPr lang="en-US" sz="2000" spc="230" dirty="0">
                <a:cs typeface="Calibri"/>
              </a:rPr>
              <a:t> </a:t>
            </a:r>
            <a:r>
              <a:rPr lang="en-US" sz="2000" dirty="0">
                <a:cs typeface="Calibri"/>
              </a:rPr>
              <a:t>we</a:t>
            </a:r>
            <a:r>
              <a:rPr lang="en-US" sz="2000" spc="230" dirty="0">
                <a:cs typeface="Calibri"/>
              </a:rPr>
              <a:t> </a:t>
            </a:r>
            <a:r>
              <a:rPr lang="en-US" sz="2000" dirty="0">
                <a:cs typeface="Calibri"/>
              </a:rPr>
              <a:t>drop</a:t>
            </a:r>
            <a:r>
              <a:rPr lang="en-US" sz="2000" spc="230" dirty="0">
                <a:cs typeface="Calibri"/>
              </a:rPr>
              <a:t> </a:t>
            </a:r>
            <a:r>
              <a:rPr lang="en-US" sz="2000" dirty="0">
                <a:cs typeface="Calibri"/>
              </a:rPr>
              <a:t>5</a:t>
            </a:r>
            <a:r>
              <a:rPr lang="en-US" sz="2000" spc="222" dirty="0">
                <a:cs typeface="Calibri"/>
              </a:rPr>
              <a:t> </a:t>
            </a:r>
            <a:r>
              <a:rPr lang="en-US" sz="2000" dirty="0">
                <a:cs typeface="Calibri"/>
              </a:rPr>
              <a:t>nodes</a:t>
            </a:r>
            <a:r>
              <a:rPr lang="en-US" sz="2000" spc="238" dirty="0">
                <a:cs typeface="Calibri"/>
              </a:rPr>
              <a:t> </a:t>
            </a:r>
            <a:r>
              <a:rPr lang="en-US" sz="2000" dirty="0">
                <a:cs typeface="Calibri"/>
              </a:rPr>
              <a:t>to</a:t>
            </a:r>
            <a:r>
              <a:rPr lang="en-US" sz="2000" spc="222" dirty="0">
                <a:cs typeface="Calibri"/>
              </a:rPr>
              <a:t> </a:t>
            </a:r>
            <a:r>
              <a:rPr lang="en-US" sz="2000" dirty="0">
                <a:cs typeface="Calibri"/>
              </a:rPr>
              <a:t>get</a:t>
            </a:r>
            <a:r>
              <a:rPr lang="en-US" sz="2000" spc="230" dirty="0">
                <a:cs typeface="Calibri"/>
              </a:rPr>
              <a:t> </a:t>
            </a:r>
            <a:r>
              <a:rPr lang="en-US" sz="2000" dirty="0">
                <a:cs typeface="Calibri"/>
              </a:rPr>
              <a:t>a</a:t>
            </a:r>
            <a:r>
              <a:rPr lang="en-US" sz="2000" spc="222" dirty="0">
                <a:cs typeface="Calibri"/>
              </a:rPr>
              <a:t> </a:t>
            </a:r>
            <a:r>
              <a:rPr lang="en-US" sz="2000" dirty="0">
                <a:cs typeface="Calibri"/>
              </a:rPr>
              <a:t>thinned</a:t>
            </a:r>
            <a:r>
              <a:rPr lang="en-US" sz="2000" spc="230" dirty="0">
                <a:cs typeface="Calibri"/>
              </a:rPr>
              <a:t> </a:t>
            </a:r>
            <a:r>
              <a:rPr lang="en-US" sz="2000" spc="-16" dirty="0">
                <a:cs typeface="Calibri"/>
              </a:rPr>
              <a:t>network</a:t>
            </a:r>
            <a:r>
              <a:rPr lang="en-US" sz="2000" spc="793" dirty="0">
                <a:cs typeface="Calibri"/>
              </a:rPr>
              <a:t> </a:t>
            </a:r>
            <a:r>
              <a:rPr lang="en-US" sz="2000" dirty="0">
                <a:cs typeface="Calibri"/>
              </a:rPr>
              <a:t>Given</a:t>
            </a:r>
            <a:r>
              <a:rPr lang="en-US" sz="2000" spc="301" dirty="0">
                <a:cs typeface="Calibri"/>
              </a:rPr>
              <a:t> </a:t>
            </a:r>
            <a:r>
              <a:rPr lang="en-US" sz="2000" dirty="0">
                <a:cs typeface="Calibri"/>
              </a:rPr>
              <a:t>a</a:t>
            </a:r>
            <a:r>
              <a:rPr lang="en-US" sz="2000" spc="309" dirty="0">
                <a:cs typeface="Calibri"/>
              </a:rPr>
              <a:t> </a:t>
            </a:r>
            <a:r>
              <a:rPr lang="en-US" sz="2000" dirty="0">
                <a:cs typeface="Calibri"/>
              </a:rPr>
              <a:t>total</a:t>
            </a:r>
            <a:r>
              <a:rPr lang="en-US" sz="2000" spc="309" dirty="0">
                <a:cs typeface="Calibri"/>
              </a:rPr>
              <a:t> </a:t>
            </a:r>
            <a:r>
              <a:rPr lang="en-US" sz="2000" dirty="0">
                <a:cs typeface="Calibri"/>
              </a:rPr>
              <a:t>of</a:t>
            </a:r>
            <a:r>
              <a:rPr lang="en-US" sz="2000" spc="293" dirty="0">
                <a:cs typeface="Calibri"/>
              </a:rPr>
              <a:t> </a:t>
            </a:r>
            <a:r>
              <a:rPr lang="en-US" sz="2000" i="1" spc="143" dirty="0">
                <a:cs typeface="Calibri"/>
              </a:rPr>
              <a:t>n</a:t>
            </a:r>
            <a:r>
              <a:rPr lang="en-US" sz="2000" i="1" spc="309" dirty="0">
                <a:cs typeface="Calibri"/>
              </a:rPr>
              <a:t> </a:t>
            </a:r>
            <a:r>
              <a:rPr lang="en-US" sz="2000" dirty="0">
                <a:cs typeface="Calibri"/>
              </a:rPr>
              <a:t>nodes,</a:t>
            </a:r>
            <a:r>
              <a:rPr lang="en-US" sz="2000" spc="317" dirty="0">
                <a:cs typeface="Calibri"/>
              </a:rPr>
              <a:t> </a:t>
            </a:r>
            <a:r>
              <a:rPr lang="en-US" sz="2000" dirty="0">
                <a:cs typeface="Calibri"/>
              </a:rPr>
              <a:t>what</a:t>
            </a:r>
            <a:r>
              <a:rPr lang="en-US" sz="2000" spc="309" dirty="0">
                <a:cs typeface="Calibri"/>
              </a:rPr>
              <a:t> </a:t>
            </a:r>
            <a:r>
              <a:rPr lang="en-US" sz="2000" dirty="0">
                <a:cs typeface="Calibri"/>
              </a:rPr>
              <a:t>are</a:t>
            </a:r>
            <a:r>
              <a:rPr lang="en-US" sz="2000" spc="301" dirty="0">
                <a:cs typeface="Calibri"/>
              </a:rPr>
              <a:t> </a:t>
            </a:r>
            <a:r>
              <a:rPr lang="en-US" sz="2000" dirty="0">
                <a:cs typeface="Calibri"/>
              </a:rPr>
              <a:t>the</a:t>
            </a:r>
            <a:r>
              <a:rPr lang="en-US" sz="2000" spc="309" dirty="0">
                <a:cs typeface="Calibri"/>
              </a:rPr>
              <a:t> </a:t>
            </a:r>
            <a:r>
              <a:rPr lang="en-US" sz="2000" dirty="0">
                <a:cs typeface="Calibri"/>
              </a:rPr>
              <a:t>total</a:t>
            </a:r>
            <a:r>
              <a:rPr lang="en-US" sz="2000" spc="309" dirty="0">
                <a:cs typeface="Calibri"/>
              </a:rPr>
              <a:t> </a:t>
            </a:r>
            <a:r>
              <a:rPr lang="en-US" sz="2000" dirty="0">
                <a:cs typeface="Calibri"/>
              </a:rPr>
              <a:t>number</a:t>
            </a:r>
            <a:r>
              <a:rPr lang="en-US" sz="2000" spc="309" dirty="0">
                <a:cs typeface="Calibri"/>
              </a:rPr>
              <a:t> </a:t>
            </a:r>
            <a:r>
              <a:rPr lang="en-US" sz="2000" dirty="0">
                <a:cs typeface="Calibri"/>
              </a:rPr>
              <a:t>of</a:t>
            </a:r>
            <a:r>
              <a:rPr lang="en-US" sz="2000" spc="301" dirty="0">
                <a:cs typeface="Calibri"/>
              </a:rPr>
              <a:t> </a:t>
            </a:r>
            <a:r>
              <a:rPr lang="en-US" sz="2000" dirty="0">
                <a:cs typeface="Calibri"/>
              </a:rPr>
              <a:t>thinned</a:t>
            </a:r>
            <a:r>
              <a:rPr lang="en-US" sz="2000" spc="309" dirty="0">
                <a:cs typeface="Calibri"/>
              </a:rPr>
              <a:t> </a:t>
            </a:r>
            <a:r>
              <a:rPr lang="en-US" sz="2000" dirty="0">
                <a:cs typeface="Calibri"/>
              </a:rPr>
              <a:t>networks</a:t>
            </a:r>
            <a:r>
              <a:rPr lang="en-US" sz="2000" spc="309" dirty="0">
                <a:cs typeface="Calibri"/>
              </a:rPr>
              <a:t> </a:t>
            </a:r>
            <a:r>
              <a:rPr lang="en-US" sz="2000" spc="-32" dirty="0">
                <a:cs typeface="Calibri"/>
              </a:rPr>
              <a:t>that </a:t>
            </a:r>
            <a:r>
              <a:rPr lang="en-US" sz="2000" dirty="0">
                <a:cs typeface="Calibri"/>
              </a:rPr>
              <a:t>can</a:t>
            </a:r>
            <a:r>
              <a:rPr lang="en-US" sz="2000" spc="206" dirty="0">
                <a:cs typeface="Calibri"/>
              </a:rPr>
              <a:t> </a:t>
            </a:r>
            <a:r>
              <a:rPr lang="en-US" sz="2000" dirty="0">
                <a:cs typeface="Calibri"/>
              </a:rPr>
              <a:t>be</a:t>
            </a:r>
            <a:r>
              <a:rPr lang="en-US" sz="2000" spc="206" dirty="0">
                <a:cs typeface="Calibri"/>
              </a:rPr>
              <a:t> </a:t>
            </a:r>
            <a:r>
              <a:rPr lang="en-US" sz="2000" dirty="0">
                <a:cs typeface="Calibri"/>
              </a:rPr>
              <a:t>formed?</a:t>
            </a:r>
            <a:r>
              <a:rPr lang="en-US" sz="2000" spc="412" dirty="0">
                <a:cs typeface="Calibri"/>
              </a:rPr>
              <a:t> </a:t>
            </a:r>
            <a:r>
              <a:rPr lang="en-US" sz="2000" b="1" spc="-40" dirty="0">
                <a:solidFill>
                  <a:srgbClr val="FF0000"/>
                </a:solidFill>
                <a:cs typeface="Calibri"/>
              </a:rPr>
              <a:t>2</a:t>
            </a:r>
            <a:r>
              <a:rPr lang="en-US" sz="2000" b="1" i="1" spc="-59" baseline="27777" dirty="0">
                <a:solidFill>
                  <a:srgbClr val="FF0000"/>
                </a:solidFill>
                <a:cs typeface="Calibri"/>
              </a:rPr>
              <a:t>n</a:t>
            </a:r>
            <a:endParaRPr lang="en-US" sz="2000" b="1" baseline="27777" dirty="0">
              <a:solidFill>
                <a:srgbClr val="FF0000"/>
              </a:solidFill>
              <a:cs typeface="Calibri"/>
            </a:endParaRPr>
          </a:p>
          <a:p>
            <a:pPr marL="403323" marR="48338" indent="-342900">
              <a:lnSpc>
                <a:spcPct val="102600"/>
              </a:lnSpc>
              <a:spcBef>
                <a:spcPts val="333"/>
              </a:spcBef>
              <a:buFont typeface="Arial" panose="020B0604020202020204" pitchFamily="34" charset="0"/>
              <a:buChar char="•"/>
            </a:pPr>
            <a:r>
              <a:rPr lang="en-US" sz="2000" dirty="0">
                <a:cs typeface="Calibri"/>
              </a:rPr>
              <a:t>we</a:t>
            </a:r>
            <a:r>
              <a:rPr lang="en-US" sz="2000" spc="587" dirty="0">
                <a:cs typeface="Calibri"/>
              </a:rPr>
              <a:t> </a:t>
            </a:r>
            <a:r>
              <a:rPr lang="en-US" sz="2000" dirty="0">
                <a:cs typeface="Calibri"/>
              </a:rPr>
              <a:t>cannot</a:t>
            </a:r>
            <a:r>
              <a:rPr lang="en-US" sz="2000" spc="579" dirty="0">
                <a:cs typeface="Calibri"/>
              </a:rPr>
              <a:t> </a:t>
            </a:r>
            <a:r>
              <a:rPr lang="en-US" sz="2000" dirty="0">
                <a:cs typeface="Calibri"/>
              </a:rPr>
              <a:t>possibly</a:t>
            </a:r>
            <a:r>
              <a:rPr lang="en-US" sz="2000" spc="587" dirty="0">
                <a:cs typeface="Calibri"/>
              </a:rPr>
              <a:t> </a:t>
            </a:r>
            <a:r>
              <a:rPr lang="en-US" sz="2000" dirty="0">
                <a:cs typeface="Calibri"/>
              </a:rPr>
              <a:t>train</a:t>
            </a:r>
            <a:r>
              <a:rPr lang="en-US" sz="2000" spc="579" dirty="0">
                <a:cs typeface="Calibri"/>
              </a:rPr>
              <a:t> </a:t>
            </a:r>
            <a:r>
              <a:rPr lang="en-US" sz="2000" dirty="0">
                <a:cs typeface="Calibri"/>
              </a:rPr>
              <a:t>so</a:t>
            </a:r>
            <a:r>
              <a:rPr lang="en-US" sz="2000" spc="579" dirty="0">
                <a:cs typeface="Calibri"/>
              </a:rPr>
              <a:t> </a:t>
            </a:r>
            <a:r>
              <a:rPr lang="en-US" sz="2000" spc="-32" dirty="0">
                <a:cs typeface="Calibri"/>
              </a:rPr>
              <a:t>many </a:t>
            </a:r>
            <a:r>
              <a:rPr lang="en-US" sz="2000" spc="-16" dirty="0">
                <a:cs typeface="Calibri"/>
              </a:rPr>
              <a:t>networks</a:t>
            </a:r>
            <a:endParaRPr lang="en-US" sz="2000" dirty="0">
              <a:cs typeface="Calibri"/>
            </a:endParaRPr>
          </a:p>
          <a:p>
            <a:pPr marL="403323" indent="-342900">
              <a:spcBef>
                <a:spcPts val="381"/>
              </a:spcBef>
              <a:buFont typeface="Arial" panose="020B0604020202020204" pitchFamily="34" charset="0"/>
              <a:buChar char="•"/>
            </a:pPr>
            <a:r>
              <a:rPr lang="en-US" sz="2000" b="1" spc="167" dirty="0">
                <a:cs typeface="Calibri"/>
              </a:rPr>
              <a:t>Trick:</a:t>
            </a:r>
            <a:r>
              <a:rPr lang="en-US" sz="2000" b="1" spc="507" dirty="0">
                <a:cs typeface="Calibri"/>
              </a:rPr>
              <a:t> </a:t>
            </a:r>
            <a:r>
              <a:rPr lang="en-US" sz="2000" dirty="0">
                <a:cs typeface="Calibri"/>
              </a:rPr>
              <a:t>(1)</a:t>
            </a:r>
            <a:r>
              <a:rPr lang="en-US" sz="2000" spc="285" dirty="0">
                <a:cs typeface="Calibri"/>
              </a:rPr>
              <a:t> </a:t>
            </a:r>
            <a:r>
              <a:rPr lang="en-US" sz="2000" dirty="0">
                <a:cs typeface="Calibri"/>
              </a:rPr>
              <a:t>Share</a:t>
            </a:r>
            <a:r>
              <a:rPr lang="en-US" sz="2000" spc="285" dirty="0">
                <a:cs typeface="Calibri"/>
              </a:rPr>
              <a:t> </a:t>
            </a:r>
            <a:r>
              <a:rPr lang="en-US" sz="2000" dirty="0">
                <a:cs typeface="Calibri"/>
              </a:rPr>
              <a:t>the</a:t>
            </a:r>
            <a:r>
              <a:rPr lang="en-US" sz="2000" spc="285" dirty="0">
                <a:cs typeface="Calibri"/>
              </a:rPr>
              <a:t> </a:t>
            </a:r>
            <a:r>
              <a:rPr lang="en-US" sz="2000" dirty="0">
                <a:cs typeface="Calibri"/>
              </a:rPr>
              <a:t>weights</a:t>
            </a:r>
            <a:r>
              <a:rPr lang="en-US" sz="2000" spc="285" dirty="0">
                <a:cs typeface="Calibri"/>
              </a:rPr>
              <a:t> </a:t>
            </a:r>
            <a:r>
              <a:rPr lang="en-US" sz="2000" dirty="0">
                <a:cs typeface="Calibri"/>
              </a:rPr>
              <a:t>across</a:t>
            </a:r>
            <a:r>
              <a:rPr lang="en-US" sz="2000" spc="285" dirty="0">
                <a:cs typeface="Calibri"/>
              </a:rPr>
              <a:t> </a:t>
            </a:r>
            <a:r>
              <a:rPr lang="en-US" sz="2000" dirty="0">
                <a:cs typeface="Calibri"/>
              </a:rPr>
              <a:t>all</a:t>
            </a:r>
            <a:r>
              <a:rPr lang="en-US" sz="2000" spc="285" dirty="0">
                <a:cs typeface="Calibri"/>
              </a:rPr>
              <a:t> </a:t>
            </a:r>
            <a:r>
              <a:rPr lang="en-US" sz="2000" dirty="0">
                <a:cs typeface="Calibri"/>
              </a:rPr>
              <a:t>the</a:t>
            </a:r>
            <a:r>
              <a:rPr lang="en-US" sz="2000" spc="285" dirty="0">
                <a:cs typeface="Calibri"/>
              </a:rPr>
              <a:t> </a:t>
            </a:r>
            <a:r>
              <a:rPr lang="en-US" sz="2000" spc="-16" dirty="0">
                <a:cs typeface="Calibri"/>
              </a:rPr>
              <a:t>networks</a:t>
            </a:r>
            <a:endParaRPr lang="en-US" sz="2000" dirty="0">
              <a:cs typeface="Calibri"/>
            </a:endParaRPr>
          </a:p>
          <a:p>
            <a:pPr marL="60423">
              <a:spcBef>
                <a:spcPts val="56"/>
              </a:spcBef>
            </a:pPr>
            <a:r>
              <a:rPr lang="en-US" sz="2000" dirty="0">
                <a:cs typeface="Calibri"/>
              </a:rPr>
              <a:t>                      (2)</a:t>
            </a:r>
            <a:r>
              <a:rPr lang="en-US" sz="2000" spc="301" dirty="0">
                <a:cs typeface="Calibri"/>
              </a:rPr>
              <a:t> </a:t>
            </a:r>
            <a:r>
              <a:rPr lang="en-US" sz="2000" dirty="0">
                <a:cs typeface="Calibri"/>
              </a:rPr>
              <a:t>Sample</a:t>
            </a:r>
            <a:r>
              <a:rPr lang="en-US" sz="2000" spc="309" dirty="0">
                <a:cs typeface="Calibri"/>
              </a:rPr>
              <a:t> </a:t>
            </a:r>
            <a:r>
              <a:rPr lang="en-US" sz="2000" dirty="0">
                <a:cs typeface="Calibri"/>
              </a:rPr>
              <a:t>a</a:t>
            </a:r>
            <a:r>
              <a:rPr lang="en-US" sz="2000" spc="293" dirty="0">
                <a:cs typeface="Calibri"/>
              </a:rPr>
              <a:t> </a:t>
            </a:r>
            <a:r>
              <a:rPr lang="en-US" sz="2000" dirty="0">
                <a:cs typeface="Calibri"/>
              </a:rPr>
              <a:t>different</a:t>
            </a:r>
            <a:r>
              <a:rPr lang="en-US" sz="2000" spc="309" dirty="0">
                <a:cs typeface="Calibri"/>
              </a:rPr>
              <a:t> </a:t>
            </a:r>
            <a:r>
              <a:rPr lang="en-US" sz="2000" dirty="0">
                <a:cs typeface="Calibri"/>
              </a:rPr>
              <a:t>network</a:t>
            </a:r>
            <a:r>
              <a:rPr lang="en-US" sz="2000" spc="301" dirty="0">
                <a:cs typeface="Calibri"/>
              </a:rPr>
              <a:t> </a:t>
            </a:r>
            <a:r>
              <a:rPr lang="en-US" sz="2000" dirty="0">
                <a:cs typeface="Calibri"/>
              </a:rPr>
              <a:t>for</a:t>
            </a:r>
            <a:r>
              <a:rPr lang="en-US" sz="2000" spc="309" dirty="0">
                <a:cs typeface="Calibri"/>
              </a:rPr>
              <a:t> </a:t>
            </a:r>
            <a:r>
              <a:rPr lang="en-US" sz="2000" dirty="0">
                <a:cs typeface="Calibri"/>
              </a:rPr>
              <a:t>each</a:t>
            </a:r>
            <a:r>
              <a:rPr lang="en-US" sz="2000" spc="301" dirty="0">
                <a:cs typeface="Calibri"/>
              </a:rPr>
              <a:t> </a:t>
            </a:r>
            <a:r>
              <a:rPr lang="en-US" sz="2000" dirty="0">
                <a:cs typeface="Calibri"/>
              </a:rPr>
              <a:t>training</a:t>
            </a:r>
            <a:r>
              <a:rPr lang="en-US" sz="2000" spc="301" dirty="0">
                <a:cs typeface="Calibri"/>
              </a:rPr>
              <a:t>  </a:t>
            </a:r>
          </a:p>
          <a:p>
            <a:pPr marL="60423">
              <a:spcBef>
                <a:spcPts val="56"/>
              </a:spcBef>
            </a:pPr>
            <a:r>
              <a:rPr lang="en-US" sz="2000" spc="301" dirty="0">
                <a:cs typeface="Calibri"/>
              </a:rPr>
              <a:t>                   </a:t>
            </a:r>
            <a:r>
              <a:rPr lang="en-US" sz="2000" spc="-16" dirty="0">
                <a:cs typeface="Calibri"/>
              </a:rPr>
              <a:t>instance</a:t>
            </a:r>
            <a:endParaRPr lang="en-IN" sz="2000" dirty="0"/>
          </a:p>
        </p:txBody>
      </p:sp>
      <p:sp>
        <p:nvSpPr>
          <p:cNvPr id="3" name="Title 2"/>
          <p:cNvSpPr>
            <a:spLocks noGrp="1"/>
          </p:cNvSpPr>
          <p:nvPr>
            <p:ph type="title"/>
          </p:nvPr>
        </p:nvSpPr>
        <p:spPr/>
        <p:txBody>
          <a:bodyPr/>
          <a:lstStyle/>
          <a:p>
            <a:r>
              <a:rPr lang="en-US" dirty="0"/>
              <a:t>Drop out</a:t>
            </a:r>
            <a:endParaRPr lang="en-IN" dirty="0"/>
          </a:p>
        </p:txBody>
      </p:sp>
      <p:grpSp>
        <p:nvGrpSpPr>
          <p:cNvPr id="4" name="Group 3"/>
          <p:cNvGrpSpPr/>
          <p:nvPr/>
        </p:nvGrpSpPr>
        <p:grpSpPr>
          <a:xfrm>
            <a:off x="960903" y="4505463"/>
            <a:ext cx="6696300" cy="1754743"/>
            <a:chOff x="457200" y="4034204"/>
            <a:chExt cx="6696300" cy="1754743"/>
          </a:xfrm>
        </p:grpSpPr>
        <p:pic>
          <p:nvPicPr>
            <p:cNvPr id="5" name="object 2"/>
            <p:cNvPicPr/>
            <p:nvPr/>
          </p:nvPicPr>
          <p:blipFill>
            <a:blip r:embed="rId2" cstate="print"/>
            <a:stretch>
              <a:fillRect/>
            </a:stretch>
          </p:blipFill>
          <p:spPr>
            <a:xfrm>
              <a:off x="952181" y="4034204"/>
              <a:ext cx="2257833" cy="1743997"/>
            </a:xfrm>
            <a:prstGeom prst="rect">
              <a:avLst/>
            </a:prstGeom>
          </p:spPr>
        </p:pic>
        <p:grpSp>
          <p:nvGrpSpPr>
            <p:cNvPr id="6" name="Group 5"/>
            <p:cNvGrpSpPr/>
            <p:nvPr/>
          </p:nvGrpSpPr>
          <p:grpSpPr>
            <a:xfrm>
              <a:off x="457200" y="4034204"/>
              <a:ext cx="6696300" cy="1754743"/>
              <a:chOff x="457200" y="4034204"/>
              <a:chExt cx="6696300" cy="1754743"/>
            </a:xfrm>
          </p:grpSpPr>
          <p:grpSp>
            <p:nvGrpSpPr>
              <p:cNvPr id="7" name="object 3"/>
              <p:cNvGrpSpPr/>
              <p:nvPr/>
            </p:nvGrpSpPr>
            <p:grpSpPr>
              <a:xfrm>
                <a:off x="4894690" y="4044739"/>
                <a:ext cx="2258810" cy="1744208"/>
                <a:chOff x="3263089" y="394071"/>
                <a:chExt cx="1424305" cy="1099820"/>
              </a:xfrm>
            </p:grpSpPr>
            <p:sp>
              <p:nvSpPr>
                <p:cNvPr id="60" name="object 4"/>
                <p:cNvSpPr/>
                <p:nvPr/>
              </p:nvSpPr>
              <p:spPr>
                <a:xfrm>
                  <a:off x="3268150" y="1371138"/>
                  <a:ext cx="118110" cy="118110"/>
                </a:xfrm>
                <a:custGeom>
                  <a:avLst/>
                  <a:gdLst/>
                  <a:ahLst/>
                  <a:cxnLst/>
                  <a:rect l="l" t="t" r="r" b="b"/>
                  <a:pathLst>
                    <a:path w="118110" h="118109">
                      <a:moveTo>
                        <a:pt x="58779" y="0"/>
                      </a:move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lnTo>
                        <a:pt x="112940" y="35900"/>
                      </a:lnTo>
                      <a:lnTo>
                        <a:pt x="100343" y="17216"/>
                      </a:lnTo>
                      <a:lnTo>
                        <a:pt x="81659" y="4619"/>
                      </a:lnTo>
                      <a:lnTo>
                        <a:pt x="58779" y="0"/>
                      </a:lnTo>
                      <a:close/>
                    </a:path>
                  </a:pathLst>
                </a:custGeom>
                <a:solidFill>
                  <a:srgbClr val="FFF2E5"/>
                </a:solidFill>
              </p:spPr>
              <p:txBody>
                <a:bodyPr wrap="square" lIns="0" tIns="0" rIns="0" bIns="0" rtlCol="0"/>
                <a:lstStyle/>
                <a:p>
                  <a:endParaRPr/>
                </a:p>
              </p:txBody>
            </p:sp>
            <p:sp>
              <p:nvSpPr>
                <p:cNvPr id="61" name="object 5"/>
                <p:cNvSpPr/>
                <p:nvPr/>
              </p:nvSpPr>
              <p:spPr>
                <a:xfrm>
                  <a:off x="3268150" y="1371138"/>
                  <a:ext cx="118110" cy="118110"/>
                </a:xfrm>
                <a:custGeom>
                  <a:avLst/>
                  <a:gdLst/>
                  <a:ahLst/>
                  <a:cxnLst/>
                  <a:rect l="l" t="t" r="r" b="b"/>
                  <a:pathLst>
                    <a:path w="118110" h="118109">
                      <a:moveTo>
                        <a:pt x="117559" y="58779"/>
                      </a:moveTo>
                      <a:lnTo>
                        <a:pt x="112940" y="35900"/>
                      </a:lnTo>
                      <a:lnTo>
                        <a:pt x="100343" y="17216"/>
                      </a:lnTo>
                      <a:lnTo>
                        <a:pt x="81659" y="4619"/>
                      </a:lnTo>
                      <a:lnTo>
                        <a:pt x="58779" y="0"/>
                      </a:ln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close/>
                    </a:path>
                  </a:pathLst>
                </a:custGeom>
                <a:ln w="10122">
                  <a:solidFill>
                    <a:srgbClr val="FF7F7F"/>
                  </a:solidFill>
                </a:ln>
              </p:spPr>
              <p:txBody>
                <a:bodyPr wrap="square" lIns="0" tIns="0" rIns="0" bIns="0" rtlCol="0"/>
                <a:lstStyle/>
                <a:p>
                  <a:endParaRPr/>
                </a:p>
              </p:txBody>
            </p:sp>
            <p:sp>
              <p:nvSpPr>
                <p:cNvPr id="62" name="object 6"/>
                <p:cNvSpPr/>
                <p:nvPr/>
              </p:nvSpPr>
              <p:spPr>
                <a:xfrm>
                  <a:off x="3609367" y="1388354"/>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63" name="object 7"/>
                <p:cNvSpPr/>
                <p:nvPr/>
              </p:nvSpPr>
              <p:spPr>
                <a:xfrm>
                  <a:off x="3592151" y="1371138"/>
                  <a:ext cx="118110" cy="118110"/>
                </a:xfrm>
                <a:custGeom>
                  <a:avLst/>
                  <a:gdLst/>
                  <a:ahLst/>
                  <a:cxnLst/>
                  <a:rect l="l" t="t" r="r" b="b"/>
                  <a:pathLst>
                    <a:path w="118110" h="118109">
                      <a:moveTo>
                        <a:pt x="117560" y="58779"/>
                      </a:moveTo>
                      <a:lnTo>
                        <a:pt x="112940" y="35900"/>
                      </a:lnTo>
                      <a:lnTo>
                        <a:pt x="100343" y="17216"/>
                      </a:lnTo>
                      <a:lnTo>
                        <a:pt x="81659" y="4619"/>
                      </a:lnTo>
                      <a:lnTo>
                        <a:pt x="58779" y="0"/>
                      </a:lnTo>
                      <a:lnTo>
                        <a:pt x="35899" y="4619"/>
                      </a:lnTo>
                      <a:lnTo>
                        <a:pt x="17216" y="17216"/>
                      </a:lnTo>
                      <a:lnTo>
                        <a:pt x="4619" y="35900"/>
                      </a:lnTo>
                      <a:lnTo>
                        <a:pt x="0" y="58779"/>
                      </a:lnTo>
                      <a:lnTo>
                        <a:pt x="4619" y="81659"/>
                      </a:lnTo>
                      <a:lnTo>
                        <a:pt x="17216" y="100343"/>
                      </a:lnTo>
                      <a:lnTo>
                        <a:pt x="35899" y="112940"/>
                      </a:lnTo>
                      <a:lnTo>
                        <a:pt x="58779" y="117559"/>
                      </a:lnTo>
                      <a:lnTo>
                        <a:pt x="81659" y="112940"/>
                      </a:lnTo>
                      <a:lnTo>
                        <a:pt x="100343" y="100343"/>
                      </a:lnTo>
                      <a:lnTo>
                        <a:pt x="112940" y="81659"/>
                      </a:lnTo>
                      <a:lnTo>
                        <a:pt x="117560" y="58779"/>
                      </a:lnTo>
                      <a:close/>
                    </a:path>
                  </a:pathLst>
                </a:custGeom>
                <a:ln w="5060">
                  <a:solidFill>
                    <a:srgbClr val="000000"/>
                  </a:solidFill>
                </a:ln>
              </p:spPr>
              <p:txBody>
                <a:bodyPr wrap="square" lIns="0" tIns="0" rIns="0" bIns="0" rtlCol="0"/>
                <a:lstStyle/>
                <a:p>
                  <a:endParaRPr/>
                </a:p>
              </p:txBody>
            </p:sp>
            <p:pic>
              <p:nvPicPr>
                <p:cNvPr id="64" name="object 8"/>
                <p:cNvPicPr/>
                <p:nvPr/>
              </p:nvPicPr>
              <p:blipFill>
                <a:blip r:embed="rId3" cstate="print"/>
                <a:stretch>
                  <a:fillRect/>
                </a:stretch>
              </p:blipFill>
              <p:spPr>
                <a:xfrm>
                  <a:off x="3911092" y="1366077"/>
                  <a:ext cx="127682" cy="127681"/>
                </a:xfrm>
                <a:prstGeom prst="rect">
                  <a:avLst/>
                </a:prstGeom>
              </p:spPr>
            </p:pic>
            <p:pic>
              <p:nvPicPr>
                <p:cNvPr id="65" name="object 9"/>
                <p:cNvPicPr/>
                <p:nvPr/>
              </p:nvPicPr>
              <p:blipFill>
                <a:blip r:embed="rId3" cstate="print"/>
                <a:stretch>
                  <a:fillRect/>
                </a:stretch>
              </p:blipFill>
              <p:spPr>
                <a:xfrm>
                  <a:off x="4235094" y="1366077"/>
                  <a:ext cx="127682" cy="127681"/>
                </a:xfrm>
                <a:prstGeom prst="rect">
                  <a:avLst/>
                </a:prstGeom>
              </p:spPr>
            </p:pic>
            <p:pic>
              <p:nvPicPr>
                <p:cNvPr id="66" name="object 10"/>
                <p:cNvPicPr/>
                <p:nvPr/>
              </p:nvPicPr>
              <p:blipFill>
                <a:blip r:embed="rId3" cstate="print"/>
                <a:stretch>
                  <a:fillRect/>
                </a:stretch>
              </p:blipFill>
              <p:spPr>
                <a:xfrm>
                  <a:off x="4559096" y="1366077"/>
                  <a:ext cx="127682" cy="127681"/>
                </a:xfrm>
                <a:prstGeom prst="rect">
                  <a:avLst/>
                </a:prstGeom>
              </p:spPr>
            </p:pic>
            <p:sp>
              <p:nvSpPr>
                <p:cNvPr id="67" name="object 11"/>
                <p:cNvSpPr/>
                <p:nvPr/>
              </p:nvSpPr>
              <p:spPr>
                <a:xfrm>
                  <a:off x="3285366" y="1064352"/>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68" name="object 12"/>
                <p:cNvSpPr/>
                <p:nvPr/>
              </p:nvSpPr>
              <p:spPr>
                <a:xfrm>
                  <a:off x="3268150" y="1047136"/>
                  <a:ext cx="118110" cy="118110"/>
                </a:xfrm>
                <a:custGeom>
                  <a:avLst/>
                  <a:gdLst/>
                  <a:ahLst/>
                  <a:cxnLst/>
                  <a:rect l="l" t="t" r="r" b="b"/>
                  <a:pathLst>
                    <a:path w="118110" h="118109">
                      <a:moveTo>
                        <a:pt x="117559" y="58780"/>
                      </a:moveTo>
                      <a:lnTo>
                        <a:pt x="112940" y="35900"/>
                      </a:lnTo>
                      <a:lnTo>
                        <a:pt x="100343" y="17216"/>
                      </a:lnTo>
                      <a:lnTo>
                        <a:pt x="81659" y="4619"/>
                      </a:lnTo>
                      <a:lnTo>
                        <a:pt x="58779" y="0"/>
                      </a:lnTo>
                      <a:lnTo>
                        <a:pt x="35900" y="4619"/>
                      </a:lnTo>
                      <a:lnTo>
                        <a:pt x="17216" y="17216"/>
                      </a:lnTo>
                      <a:lnTo>
                        <a:pt x="4619" y="35900"/>
                      </a:lnTo>
                      <a:lnTo>
                        <a:pt x="0" y="58780"/>
                      </a:lnTo>
                      <a:lnTo>
                        <a:pt x="4619" y="81660"/>
                      </a:lnTo>
                      <a:lnTo>
                        <a:pt x="17216" y="100344"/>
                      </a:lnTo>
                      <a:lnTo>
                        <a:pt x="35900" y="112940"/>
                      </a:lnTo>
                      <a:lnTo>
                        <a:pt x="58779" y="117560"/>
                      </a:lnTo>
                      <a:lnTo>
                        <a:pt x="81659" y="112940"/>
                      </a:lnTo>
                      <a:lnTo>
                        <a:pt x="100343" y="100344"/>
                      </a:lnTo>
                      <a:lnTo>
                        <a:pt x="112940" y="81660"/>
                      </a:lnTo>
                      <a:lnTo>
                        <a:pt x="117559" y="58780"/>
                      </a:lnTo>
                      <a:close/>
                    </a:path>
                  </a:pathLst>
                </a:custGeom>
                <a:ln w="5060">
                  <a:solidFill>
                    <a:srgbClr val="000000"/>
                  </a:solidFill>
                </a:ln>
              </p:spPr>
              <p:txBody>
                <a:bodyPr wrap="square" lIns="0" tIns="0" rIns="0" bIns="0" rtlCol="0"/>
                <a:lstStyle/>
                <a:p>
                  <a:endParaRPr/>
                </a:p>
              </p:txBody>
            </p:sp>
            <p:sp>
              <p:nvSpPr>
                <p:cNvPr id="69" name="object 13"/>
                <p:cNvSpPr/>
                <p:nvPr/>
              </p:nvSpPr>
              <p:spPr>
                <a:xfrm>
                  <a:off x="3592151" y="1047136"/>
                  <a:ext cx="118110" cy="118110"/>
                </a:xfrm>
                <a:custGeom>
                  <a:avLst/>
                  <a:gdLst/>
                  <a:ahLst/>
                  <a:cxnLst/>
                  <a:rect l="l" t="t" r="r" b="b"/>
                  <a:pathLst>
                    <a:path w="118110" h="118109">
                      <a:moveTo>
                        <a:pt x="58779" y="0"/>
                      </a:move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lnTo>
                        <a:pt x="112940" y="35900"/>
                      </a:lnTo>
                      <a:lnTo>
                        <a:pt x="100343" y="17216"/>
                      </a:lnTo>
                      <a:lnTo>
                        <a:pt x="81659" y="4619"/>
                      </a:lnTo>
                      <a:lnTo>
                        <a:pt x="58779" y="0"/>
                      </a:lnTo>
                      <a:close/>
                    </a:path>
                  </a:pathLst>
                </a:custGeom>
                <a:solidFill>
                  <a:srgbClr val="E5E5FF"/>
                </a:solidFill>
              </p:spPr>
              <p:txBody>
                <a:bodyPr wrap="square" lIns="0" tIns="0" rIns="0" bIns="0" rtlCol="0"/>
                <a:lstStyle/>
                <a:p>
                  <a:endParaRPr/>
                </a:p>
              </p:txBody>
            </p:sp>
            <p:sp>
              <p:nvSpPr>
                <p:cNvPr id="70" name="object 14"/>
                <p:cNvSpPr/>
                <p:nvPr/>
              </p:nvSpPr>
              <p:spPr>
                <a:xfrm>
                  <a:off x="3592151" y="1047136"/>
                  <a:ext cx="118110" cy="118110"/>
                </a:xfrm>
                <a:custGeom>
                  <a:avLst/>
                  <a:gdLst/>
                  <a:ahLst/>
                  <a:cxnLst/>
                  <a:rect l="l" t="t" r="r" b="b"/>
                  <a:pathLst>
                    <a:path w="118110" h="118109">
                      <a:moveTo>
                        <a:pt x="117560" y="58780"/>
                      </a:moveTo>
                      <a:lnTo>
                        <a:pt x="112940" y="35900"/>
                      </a:lnTo>
                      <a:lnTo>
                        <a:pt x="100343" y="17216"/>
                      </a:lnTo>
                      <a:lnTo>
                        <a:pt x="81659" y="4619"/>
                      </a:lnTo>
                      <a:lnTo>
                        <a:pt x="58779" y="0"/>
                      </a:ln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close/>
                    </a:path>
                  </a:pathLst>
                </a:custGeom>
                <a:ln w="10122">
                  <a:solidFill>
                    <a:srgbClr val="7F7FFF"/>
                  </a:solidFill>
                </a:ln>
              </p:spPr>
              <p:txBody>
                <a:bodyPr wrap="square" lIns="0" tIns="0" rIns="0" bIns="0" rtlCol="0"/>
                <a:lstStyle/>
                <a:p>
                  <a:endParaRPr/>
                </a:p>
              </p:txBody>
            </p:sp>
            <p:pic>
              <p:nvPicPr>
                <p:cNvPr id="71" name="object 15"/>
                <p:cNvPicPr/>
                <p:nvPr/>
              </p:nvPicPr>
              <p:blipFill>
                <a:blip r:embed="rId4" cstate="print"/>
                <a:stretch>
                  <a:fillRect/>
                </a:stretch>
              </p:blipFill>
              <p:spPr>
                <a:xfrm>
                  <a:off x="3913623" y="1044606"/>
                  <a:ext cx="122621" cy="122621"/>
                </a:xfrm>
                <a:prstGeom prst="rect">
                  <a:avLst/>
                </a:prstGeom>
              </p:spPr>
            </p:pic>
            <p:pic>
              <p:nvPicPr>
                <p:cNvPr id="72" name="object 16"/>
                <p:cNvPicPr/>
                <p:nvPr/>
              </p:nvPicPr>
              <p:blipFill>
                <a:blip r:embed="rId5" cstate="print"/>
                <a:stretch>
                  <a:fillRect/>
                </a:stretch>
              </p:blipFill>
              <p:spPr>
                <a:xfrm>
                  <a:off x="4237624" y="1044606"/>
                  <a:ext cx="122621" cy="122621"/>
                </a:xfrm>
                <a:prstGeom prst="rect">
                  <a:avLst/>
                </a:prstGeom>
              </p:spPr>
            </p:pic>
            <p:pic>
              <p:nvPicPr>
                <p:cNvPr id="73" name="object 17"/>
                <p:cNvPicPr/>
                <p:nvPr/>
              </p:nvPicPr>
              <p:blipFill>
                <a:blip r:embed="rId6" cstate="print"/>
                <a:stretch>
                  <a:fillRect/>
                </a:stretch>
              </p:blipFill>
              <p:spPr>
                <a:xfrm>
                  <a:off x="4559096" y="1042075"/>
                  <a:ext cx="127682" cy="127682"/>
                </a:xfrm>
                <a:prstGeom prst="rect">
                  <a:avLst/>
                </a:prstGeom>
              </p:spPr>
            </p:pic>
            <p:pic>
              <p:nvPicPr>
                <p:cNvPr id="74" name="object 18"/>
                <p:cNvPicPr/>
                <p:nvPr/>
              </p:nvPicPr>
              <p:blipFill>
                <a:blip r:embed="rId6" cstate="print"/>
                <a:stretch>
                  <a:fillRect/>
                </a:stretch>
              </p:blipFill>
              <p:spPr>
                <a:xfrm>
                  <a:off x="3263089" y="718073"/>
                  <a:ext cx="127681" cy="127682"/>
                </a:xfrm>
                <a:prstGeom prst="rect">
                  <a:avLst/>
                </a:prstGeom>
              </p:spPr>
            </p:pic>
            <p:pic>
              <p:nvPicPr>
                <p:cNvPr id="75" name="object 19"/>
                <p:cNvPicPr/>
                <p:nvPr/>
              </p:nvPicPr>
              <p:blipFill>
                <a:blip r:embed="rId7" cstate="print"/>
                <a:stretch>
                  <a:fillRect/>
                </a:stretch>
              </p:blipFill>
              <p:spPr>
                <a:xfrm>
                  <a:off x="3589621" y="720604"/>
                  <a:ext cx="122621" cy="122621"/>
                </a:xfrm>
                <a:prstGeom prst="rect">
                  <a:avLst/>
                </a:prstGeom>
              </p:spPr>
            </p:pic>
            <p:pic>
              <p:nvPicPr>
                <p:cNvPr id="76" name="object 20"/>
                <p:cNvPicPr/>
                <p:nvPr/>
              </p:nvPicPr>
              <p:blipFill>
                <a:blip r:embed="rId6" cstate="print"/>
                <a:stretch>
                  <a:fillRect/>
                </a:stretch>
              </p:blipFill>
              <p:spPr>
                <a:xfrm>
                  <a:off x="3911092" y="718073"/>
                  <a:ext cx="127682" cy="127682"/>
                </a:xfrm>
                <a:prstGeom prst="rect">
                  <a:avLst/>
                </a:prstGeom>
              </p:spPr>
            </p:pic>
            <p:pic>
              <p:nvPicPr>
                <p:cNvPr id="77" name="object 21"/>
                <p:cNvPicPr/>
                <p:nvPr/>
              </p:nvPicPr>
              <p:blipFill>
                <a:blip r:embed="rId5" cstate="print"/>
                <a:stretch>
                  <a:fillRect/>
                </a:stretch>
              </p:blipFill>
              <p:spPr>
                <a:xfrm>
                  <a:off x="4237624" y="720604"/>
                  <a:ext cx="122621" cy="122621"/>
                </a:xfrm>
                <a:prstGeom prst="rect">
                  <a:avLst/>
                </a:prstGeom>
              </p:spPr>
            </p:pic>
            <p:pic>
              <p:nvPicPr>
                <p:cNvPr id="78" name="object 22"/>
                <p:cNvPicPr/>
                <p:nvPr/>
              </p:nvPicPr>
              <p:blipFill>
                <a:blip r:embed="rId6" cstate="print"/>
                <a:stretch>
                  <a:fillRect/>
                </a:stretch>
              </p:blipFill>
              <p:spPr>
                <a:xfrm>
                  <a:off x="4559096" y="718073"/>
                  <a:ext cx="127682" cy="127682"/>
                </a:xfrm>
                <a:prstGeom prst="rect">
                  <a:avLst/>
                </a:prstGeom>
              </p:spPr>
            </p:pic>
            <p:pic>
              <p:nvPicPr>
                <p:cNvPr id="79" name="object 23"/>
                <p:cNvPicPr/>
                <p:nvPr/>
              </p:nvPicPr>
              <p:blipFill>
                <a:blip r:embed="rId8" cstate="print"/>
                <a:stretch>
                  <a:fillRect/>
                </a:stretch>
              </p:blipFill>
              <p:spPr>
                <a:xfrm>
                  <a:off x="3911092" y="394071"/>
                  <a:ext cx="127682" cy="127682"/>
                </a:xfrm>
                <a:prstGeom prst="rect">
                  <a:avLst/>
                </a:prstGeom>
              </p:spPr>
            </p:pic>
            <p:sp>
              <p:nvSpPr>
                <p:cNvPr id="80" name="object 24"/>
                <p:cNvSpPr/>
                <p:nvPr/>
              </p:nvSpPr>
              <p:spPr>
                <a:xfrm>
                  <a:off x="3371714" y="1154817"/>
                  <a:ext cx="230504" cy="230504"/>
                </a:xfrm>
                <a:custGeom>
                  <a:avLst/>
                  <a:gdLst/>
                  <a:ahLst/>
                  <a:cxnLst/>
                  <a:rect l="l" t="t" r="r" b="b"/>
                  <a:pathLst>
                    <a:path w="230504" h="230505">
                      <a:moveTo>
                        <a:pt x="0" y="230316"/>
                      </a:moveTo>
                      <a:lnTo>
                        <a:pt x="230315" y="0"/>
                      </a:lnTo>
                    </a:path>
                  </a:pathLst>
                </a:custGeom>
                <a:ln w="5060">
                  <a:solidFill>
                    <a:srgbClr val="000000"/>
                  </a:solidFill>
                </a:ln>
              </p:spPr>
              <p:txBody>
                <a:bodyPr wrap="square" lIns="0" tIns="0" rIns="0" bIns="0" rtlCol="0"/>
                <a:lstStyle/>
                <a:p>
                  <a:endParaRPr/>
                </a:p>
              </p:txBody>
            </p:sp>
            <p:sp>
              <p:nvSpPr>
                <p:cNvPr id="81" name="object 25"/>
                <p:cNvSpPr/>
                <p:nvPr/>
              </p:nvSpPr>
              <p:spPr>
                <a:xfrm>
                  <a:off x="3576979" y="1151239"/>
                  <a:ext cx="29209" cy="29209"/>
                </a:xfrm>
                <a:custGeom>
                  <a:avLst/>
                  <a:gdLst/>
                  <a:ahLst/>
                  <a:cxnLst/>
                  <a:rect l="l" t="t" r="r" b="b"/>
                  <a:pathLst>
                    <a:path w="29210" h="29209">
                      <a:moveTo>
                        <a:pt x="0" y="0"/>
                      </a:moveTo>
                      <a:lnTo>
                        <a:pt x="6472" y="2278"/>
                      </a:lnTo>
                      <a:lnTo>
                        <a:pt x="14873" y="2795"/>
                      </a:lnTo>
                      <a:lnTo>
                        <a:pt x="22771" y="2138"/>
                      </a:lnTo>
                      <a:lnTo>
                        <a:pt x="27734" y="894"/>
                      </a:lnTo>
                      <a:lnTo>
                        <a:pt x="26490" y="5857"/>
                      </a:lnTo>
                      <a:lnTo>
                        <a:pt x="25833" y="13755"/>
                      </a:lnTo>
                      <a:lnTo>
                        <a:pt x="26350" y="22156"/>
                      </a:lnTo>
                      <a:lnTo>
                        <a:pt x="28628" y="28628"/>
                      </a:lnTo>
                    </a:path>
                  </a:pathLst>
                </a:custGeom>
                <a:ln w="4048">
                  <a:solidFill>
                    <a:srgbClr val="000000"/>
                  </a:solidFill>
                </a:ln>
              </p:spPr>
              <p:txBody>
                <a:bodyPr wrap="square" lIns="0" tIns="0" rIns="0" bIns="0" rtlCol="0"/>
                <a:lstStyle/>
                <a:p>
                  <a:endParaRPr/>
                </a:p>
              </p:txBody>
            </p:sp>
            <p:sp>
              <p:nvSpPr>
                <p:cNvPr id="82" name="object 26"/>
                <p:cNvSpPr/>
                <p:nvPr/>
              </p:nvSpPr>
              <p:spPr>
                <a:xfrm>
                  <a:off x="3388515" y="1122728"/>
                  <a:ext cx="1167765" cy="292100"/>
                </a:xfrm>
                <a:custGeom>
                  <a:avLst/>
                  <a:gdLst/>
                  <a:ahLst/>
                  <a:cxnLst/>
                  <a:rect l="l" t="t" r="r" b="b"/>
                  <a:pathLst>
                    <a:path w="1167764" h="292100">
                      <a:moveTo>
                        <a:pt x="0" y="291795"/>
                      </a:moveTo>
                      <a:lnTo>
                        <a:pt x="1167172" y="0"/>
                      </a:lnTo>
                    </a:path>
                  </a:pathLst>
                </a:custGeom>
                <a:ln w="5060">
                  <a:solidFill>
                    <a:srgbClr val="000000"/>
                  </a:solidFill>
                </a:ln>
              </p:spPr>
              <p:txBody>
                <a:bodyPr wrap="square" lIns="0" tIns="0" rIns="0" bIns="0" rtlCol="0"/>
                <a:lstStyle/>
                <a:p>
                  <a:endParaRPr/>
                </a:p>
              </p:txBody>
            </p:sp>
            <p:sp>
              <p:nvSpPr>
                <p:cNvPr id="83" name="object 27"/>
                <p:cNvSpPr/>
                <p:nvPr/>
              </p:nvSpPr>
              <p:spPr>
                <a:xfrm>
                  <a:off x="4536002" y="1106734"/>
                  <a:ext cx="23495" cy="39370"/>
                </a:xfrm>
                <a:custGeom>
                  <a:avLst/>
                  <a:gdLst/>
                  <a:ahLst/>
                  <a:cxnLst/>
                  <a:rect l="l" t="t" r="r" b="b"/>
                  <a:pathLst>
                    <a:path w="23495" h="39369">
                      <a:moveTo>
                        <a:pt x="0" y="0"/>
                      </a:moveTo>
                      <a:lnTo>
                        <a:pt x="4387" y="5296"/>
                      </a:lnTo>
                      <a:lnTo>
                        <a:pt x="11341" y="10073"/>
                      </a:lnTo>
                      <a:lnTo>
                        <a:pt x="18468" y="13581"/>
                      </a:lnTo>
                      <a:lnTo>
                        <a:pt x="23375" y="15071"/>
                      </a:lnTo>
                      <a:lnTo>
                        <a:pt x="19747" y="18694"/>
                      </a:lnTo>
                      <a:lnTo>
                        <a:pt x="15109" y="25144"/>
                      </a:lnTo>
                      <a:lnTo>
                        <a:pt x="11221" y="32631"/>
                      </a:lnTo>
                      <a:lnTo>
                        <a:pt x="9842" y="39369"/>
                      </a:lnTo>
                    </a:path>
                  </a:pathLst>
                </a:custGeom>
                <a:ln w="4057">
                  <a:solidFill>
                    <a:srgbClr val="000000"/>
                  </a:solidFill>
                </a:ln>
              </p:spPr>
              <p:txBody>
                <a:bodyPr wrap="square" lIns="0" tIns="0" rIns="0" bIns="0" rtlCol="0"/>
                <a:lstStyle/>
                <a:p>
                  <a:endParaRPr/>
                </a:p>
              </p:txBody>
            </p:sp>
            <p:pic>
              <p:nvPicPr>
                <p:cNvPr id="84" name="object 28"/>
                <p:cNvPicPr/>
                <p:nvPr/>
              </p:nvPicPr>
              <p:blipFill>
                <a:blip r:embed="rId9" cstate="print"/>
                <a:stretch>
                  <a:fillRect/>
                </a:stretch>
              </p:blipFill>
              <p:spPr>
                <a:xfrm>
                  <a:off x="3694227" y="1149214"/>
                  <a:ext cx="238449" cy="238450"/>
                </a:xfrm>
                <a:prstGeom prst="rect">
                  <a:avLst/>
                </a:prstGeom>
              </p:spPr>
            </p:pic>
            <p:sp>
              <p:nvSpPr>
                <p:cNvPr id="85" name="object 29"/>
                <p:cNvSpPr/>
                <p:nvPr/>
              </p:nvSpPr>
              <p:spPr>
                <a:xfrm>
                  <a:off x="4031805" y="1136854"/>
                  <a:ext cx="529590" cy="264795"/>
                </a:xfrm>
                <a:custGeom>
                  <a:avLst/>
                  <a:gdLst/>
                  <a:ahLst/>
                  <a:cxnLst/>
                  <a:rect l="l" t="t" r="r" b="b"/>
                  <a:pathLst>
                    <a:path w="529589" h="264794">
                      <a:moveTo>
                        <a:pt x="0" y="264627"/>
                      </a:moveTo>
                      <a:lnTo>
                        <a:pt x="529252" y="0"/>
                      </a:lnTo>
                    </a:path>
                  </a:pathLst>
                </a:custGeom>
                <a:ln w="5060">
                  <a:solidFill>
                    <a:srgbClr val="000000"/>
                  </a:solidFill>
                </a:ln>
              </p:spPr>
              <p:txBody>
                <a:bodyPr wrap="square" lIns="0" tIns="0" rIns="0" bIns="0" rtlCol="0"/>
                <a:lstStyle/>
                <a:p>
                  <a:endParaRPr/>
                </a:p>
              </p:txBody>
            </p:sp>
            <p:sp>
              <p:nvSpPr>
                <p:cNvPr id="86" name="object 30"/>
                <p:cNvSpPr/>
                <p:nvPr/>
              </p:nvSpPr>
              <p:spPr>
                <a:xfrm>
                  <a:off x="4538334" y="1125492"/>
                  <a:ext cx="26670" cy="36830"/>
                </a:xfrm>
                <a:custGeom>
                  <a:avLst/>
                  <a:gdLst/>
                  <a:ahLst/>
                  <a:cxnLst/>
                  <a:rect l="l" t="t" r="r" b="b"/>
                  <a:pathLst>
                    <a:path w="26670" h="36830">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87" name="object 31"/>
                <p:cNvSpPr/>
                <p:nvPr/>
              </p:nvSpPr>
              <p:spPr>
                <a:xfrm>
                  <a:off x="3712804" y="1136854"/>
                  <a:ext cx="529590" cy="264795"/>
                </a:xfrm>
                <a:custGeom>
                  <a:avLst/>
                  <a:gdLst/>
                  <a:ahLst/>
                  <a:cxnLst/>
                  <a:rect l="l" t="t" r="r" b="b"/>
                  <a:pathLst>
                    <a:path w="529589" h="264794">
                      <a:moveTo>
                        <a:pt x="529253" y="264627"/>
                      </a:moveTo>
                      <a:lnTo>
                        <a:pt x="0" y="0"/>
                      </a:lnTo>
                    </a:path>
                  </a:pathLst>
                </a:custGeom>
                <a:ln w="5060">
                  <a:solidFill>
                    <a:srgbClr val="000000"/>
                  </a:solidFill>
                </a:ln>
              </p:spPr>
              <p:txBody>
                <a:bodyPr wrap="square" lIns="0" tIns="0" rIns="0" bIns="0" rtlCol="0"/>
                <a:lstStyle/>
                <a:p>
                  <a:endParaRPr/>
                </a:p>
              </p:txBody>
            </p:sp>
            <p:sp>
              <p:nvSpPr>
                <p:cNvPr id="88" name="object 32"/>
                <p:cNvSpPr/>
                <p:nvPr/>
              </p:nvSpPr>
              <p:spPr>
                <a:xfrm>
                  <a:off x="3709396" y="1125492"/>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pic>
              <p:nvPicPr>
                <p:cNvPr id="89" name="object 33"/>
                <p:cNvPicPr/>
                <p:nvPr/>
              </p:nvPicPr>
              <p:blipFill>
                <a:blip r:embed="rId10" cstate="print"/>
                <a:stretch>
                  <a:fillRect/>
                </a:stretch>
              </p:blipFill>
              <p:spPr>
                <a:xfrm>
                  <a:off x="4341185" y="1149215"/>
                  <a:ext cx="238450" cy="238449"/>
                </a:xfrm>
                <a:prstGeom prst="rect">
                  <a:avLst/>
                </a:prstGeom>
              </p:spPr>
            </p:pic>
            <p:sp>
              <p:nvSpPr>
                <p:cNvPr id="90" name="object 34"/>
                <p:cNvSpPr/>
                <p:nvPr/>
              </p:nvSpPr>
              <p:spPr>
                <a:xfrm>
                  <a:off x="3716601" y="1127808"/>
                  <a:ext cx="846455" cy="282575"/>
                </a:xfrm>
                <a:custGeom>
                  <a:avLst/>
                  <a:gdLst/>
                  <a:ahLst/>
                  <a:cxnLst/>
                  <a:rect l="l" t="t" r="r" b="b"/>
                  <a:pathLst>
                    <a:path w="846454" h="282575">
                      <a:moveTo>
                        <a:pt x="846186" y="282061"/>
                      </a:moveTo>
                      <a:lnTo>
                        <a:pt x="0" y="0"/>
                      </a:lnTo>
                    </a:path>
                  </a:pathLst>
                </a:custGeom>
                <a:ln w="5060">
                  <a:solidFill>
                    <a:srgbClr val="000000"/>
                  </a:solidFill>
                </a:ln>
              </p:spPr>
              <p:txBody>
                <a:bodyPr wrap="square" lIns="0" tIns="0" rIns="0" bIns="0" rtlCol="0"/>
                <a:lstStyle/>
                <a:p>
                  <a:endParaRPr/>
                </a:p>
              </p:txBody>
            </p:sp>
            <p:sp>
              <p:nvSpPr>
                <p:cNvPr id="91" name="object 35"/>
                <p:cNvSpPr/>
                <p:nvPr/>
              </p:nvSpPr>
              <p:spPr>
                <a:xfrm>
                  <a:off x="3712997" y="1113389"/>
                  <a:ext cx="24765" cy="38735"/>
                </a:xfrm>
                <a:custGeom>
                  <a:avLst/>
                  <a:gdLst/>
                  <a:ahLst/>
                  <a:cxnLst/>
                  <a:rect l="l" t="t" r="r" b="b"/>
                  <a:pathLst>
                    <a:path w="24764" h="38734">
                      <a:moveTo>
                        <a:pt x="11614" y="38448"/>
                      </a:moveTo>
                      <a:lnTo>
                        <a:pt x="10757" y="31633"/>
                      </a:lnTo>
                      <a:lnTo>
                        <a:pt x="7459" y="23880"/>
                      </a:lnTo>
                      <a:lnTo>
                        <a:pt x="3335" y="17102"/>
                      </a:lnTo>
                      <a:lnTo>
                        <a:pt x="0" y="13216"/>
                      </a:lnTo>
                      <a:lnTo>
                        <a:pt x="4999" y="12109"/>
                      </a:lnTo>
                      <a:lnTo>
                        <a:pt x="12365" y="9161"/>
                      </a:lnTo>
                      <a:lnTo>
                        <a:pt x="19655" y="4937"/>
                      </a:lnTo>
                      <a:lnTo>
                        <a:pt x="24430" y="0"/>
                      </a:lnTo>
                    </a:path>
                  </a:pathLst>
                </a:custGeom>
                <a:ln w="4052">
                  <a:solidFill>
                    <a:srgbClr val="000000"/>
                  </a:solidFill>
                </a:ln>
              </p:spPr>
              <p:txBody>
                <a:bodyPr wrap="square" lIns="0" tIns="0" rIns="0" bIns="0" rtlCol="0"/>
                <a:lstStyle/>
                <a:p>
                  <a:endParaRPr/>
                </a:p>
              </p:txBody>
            </p:sp>
            <p:sp>
              <p:nvSpPr>
                <p:cNvPr id="92" name="object 36"/>
                <p:cNvSpPr/>
                <p:nvPr/>
              </p:nvSpPr>
              <p:spPr>
                <a:xfrm>
                  <a:off x="4622932" y="1175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93" name="object 37"/>
                <p:cNvSpPr/>
                <p:nvPr/>
              </p:nvSpPr>
              <p:spPr>
                <a:xfrm>
                  <a:off x="4602688" y="1171277"/>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pic>
              <p:nvPicPr>
                <p:cNvPr id="94" name="object 38"/>
                <p:cNvPicPr/>
                <p:nvPr/>
              </p:nvPicPr>
              <p:blipFill>
                <a:blip r:embed="rId9" cstate="print"/>
                <a:stretch>
                  <a:fillRect/>
                </a:stretch>
              </p:blipFill>
              <p:spPr>
                <a:xfrm>
                  <a:off x="3370227" y="825214"/>
                  <a:ext cx="238449" cy="238449"/>
                </a:xfrm>
                <a:prstGeom prst="rect">
                  <a:avLst/>
                </a:prstGeom>
              </p:spPr>
            </p:pic>
            <p:pic>
              <p:nvPicPr>
                <p:cNvPr id="95" name="object 39"/>
                <p:cNvPicPr/>
                <p:nvPr/>
              </p:nvPicPr>
              <p:blipFill>
                <a:blip r:embed="rId11" cstate="print"/>
                <a:stretch>
                  <a:fillRect/>
                </a:stretch>
              </p:blipFill>
              <p:spPr>
                <a:xfrm>
                  <a:off x="3693184" y="825214"/>
                  <a:ext cx="238449" cy="238449"/>
                </a:xfrm>
                <a:prstGeom prst="rect">
                  <a:avLst/>
                </a:prstGeom>
              </p:spPr>
            </p:pic>
            <p:sp>
              <p:nvSpPr>
                <p:cNvPr id="96" name="object 40"/>
                <p:cNvSpPr/>
                <p:nvPr/>
              </p:nvSpPr>
              <p:spPr>
                <a:xfrm>
                  <a:off x="3711074" y="803807"/>
                  <a:ext cx="846455" cy="282575"/>
                </a:xfrm>
                <a:custGeom>
                  <a:avLst/>
                  <a:gdLst/>
                  <a:ahLst/>
                  <a:cxnLst/>
                  <a:rect l="l" t="t" r="r" b="b"/>
                  <a:pathLst>
                    <a:path w="846454" h="282575">
                      <a:moveTo>
                        <a:pt x="0" y="282062"/>
                      </a:moveTo>
                      <a:lnTo>
                        <a:pt x="846186" y="0"/>
                      </a:lnTo>
                    </a:path>
                  </a:pathLst>
                </a:custGeom>
                <a:ln w="5060">
                  <a:solidFill>
                    <a:srgbClr val="000000"/>
                  </a:solidFill>
                </a:ln>
              </p:spPr>
              <p:txBody>
                <a:bodyPr wrap="square" lIns="0" tIns="0" rIns="0" bIns="0" rtlCol="0"/>
                <a:lstStyle/>
                <a:p>
                  <a:endParaRPr/>
                </a:p>
              </p:txBody>
            </p:sp>
            <p:sp>
              <p:nvSpPr>
                <p:cNvPr id="97" name="object 41"/>
                <p:cNvSpPr/>
                <p:nvPr/>
              </p:nvSpPr>
              <p:spPr>
                <a:xfrm>
                  <a:off x="4536434" y="789389"/>
                  <a:ext cx="24765" cy="38735"/>
                </a:xfrm>
                <a:custGeom>
                  <a:avLst/>
                  <a:gdLst/>
                  <a:ahLst/>
                  <a:cxnLst/>
                  <a:rect l="l" t="t" r="r" b="b"/>
                  <a:pathLst>
                    <a:path w="24764" h="38734">
                      <a:moveTo>
                        <a:pt x="0" y="0"/>
                      </a:moveTo>
                      <a:lnTo>
                        <a:pt x="4774" y="4937"/>
                      </a:lnTo>
                      <a:lnTo>
                        <a:pt x="12065" y="9161"/>
                      </a:lnTo>
                      <a:lnTo>
                        <a:pt x="19430" y="12109"/>
                      </a:lnTo>
                      <a:lnTo>
                        <a:pt x="24430" y="13216"/>
                      </a:lnTo>
                      <a:lnTo>
                        <a:pt x="21094" y="17102"/>
                      </a:lnTo>
                      <a:lnTo>
                        <a:pt x="16971" y="23880"/>
                      </a:lnTo>
                      <a:lnTo>
                        <a:pt x="13673" y="31633"/>
                      </a:lnTo>
                      <a:lnTo>
                        <a:pt x="12815" y="38448"/>
                      </a:lnTo>
                    </a:path>
                  </a:pathLst>
                </a:custGeom>
                <a:ln w="4052">
                  <a:solidFill>
                    <a:srgbClr val="000000"/>
                  </a:solidFill>
                </a:ln>
              </p:spPr>
              <p:txBody>
                <a:bodyPr wrap="square" lIns="0" tIns="0" rIns="0" bIns="0" rtlCol="0"/>
                <a:lstStyle/>
                <a:p>
                  <a:endParaRPr/>
                </a:p>
              </p:txBody>
            </p:sp>
            <p:sp>
              <p:nvSpPr>
                <p:cNvPr id="98" name="object 42"/>
                <p:cNvSpPr/>
                <p:nvPr/>
              </p:nvSpPr>
              <p:spPr>
                <a:xfrm>
                  <a:off x="3394174" y="798727"/>
                  <a:ext cx="1167765" cy="292100"/>
                </a:xfrm>
                <a:custGeom>
                  <a:avLst/>
                  <a:gdLst/>
                  <a:ahLst/>
                  <a:cxnLst/>
                  <a:rect l="l" t="t" r="r" b="b"/>
                  <a:pathLst>
                    <a:path w="1167764" h="292100">
                      <a:moveTo>
                        <a:pt x="1167172" y="291795"/>
                      </a:moveTo>
                      <a:lnTo>
                        <a:pt x="0" y="0"/>
                      </a:lnTo>
                    </a:path>
                  </a:pathLst>
                </a:custGeom>
                <a:ln w="5060">
                  <a:solidFill>
                    <a:srgbClr val="000000"/>
                  </a:solidFill>
                </a:ln>
              </p:spPr>
              <p:txBody>
                <a:bodyPr wrap="square" lIns="0" tIns="0" rIns="0" bIns="0" rtlCol="0"/>
                <a:lstStyle/>
                <a:p>
                  <a:endParaRPr/>
                </a:p>
              </p:txBody>
            </p:sp>
            <p:sp>
              <p:nvSpPr>
                <p:cNvPr id="99" name="object 43"/>
                <p:cNvSpPr/>
                <p:nvPr/>
              </p:nvSpPr>
              <p:spPr>
                <a:xfrm>
                  <a:off x="3390484" y="782734"/>
                  <a:ext cx="23495" cy="39370"/>
                </a:xfrm>
                <a:custGeom>
                  <a:avLst/>
                  <a:gdLst/>
                  <a:ahLst/>
                  <a:cxnLst/>
                  <a:rect l="l" t="t" r="r" b="b"/>
                  <a:pathLst>
                    <a:path w="23495" h="39369">
                      <a:moveTo>
                        <a:pt x="13533" y="39369"/>
                      </a:moveTo>
                      <a:lnTo>
                        <a:pt x="12153" y="32631"/>
                      </a:lnTo>
                      <a:lnTo>
                        <a:pt x="8265" y="25144"/>
                      </a:lnTo>
                      <a:lnTo>
                        <a:pt x="3628" y="18694"/>
                      </a:lnTo>
                      <a:lnTo>
                        <a:pt x="0" y="15071"/>
                      </a:lnTo>
                      <a:lnTo>
                        <a:pt x="4906" y="13581"/>
                      </a:lnTo>
                      <a:lnTo>
                        <a:pt x="12033" y="10073"/>
                      </a:lnTo>
                      <a:lnTo>
                        <a:pt x="18987" y="5296"/>
                      </a:lnTo>
                      <a:lnTo>
                        <a:pt x="23375" y="0"/>
                      </a:lnTo>
                    </a:path>
                  </a:pathLst>
                </a:custGeom>
                <a:ln w="4057">
                  <a:solidFill>
                    <a:srgbClr val="000000"/>
                  </a:solidFill>
                </a:ln>
              </p:spPr>
              <p:txBody>
                <a:bodyPr wrap="square" lIns="0" tIns="0" rIns="0" bIns="0" rtlCol="0"/>
                <a:lstStyle/>
                <a:p>
                  <a:endParaRPr/>
                </a:p>
              </p:txBody>
            </p:sp>
            <p:sp>
              <p:nvSpPr>
                <p:cNvPr id="100" name="object 44"/>
                <p:cNvSpPr/>
                <p:nvPr/>
              </p:nvSpPr>
              <p:spPr>
                <a:xfrm>
                  <a:off x="4036805" y="812853"/>
                  <a:ext cx="529590" cy="264795"/>
                </a:xfrm>
                <a:custGeom>
                  <a:avLst/>
                  <a:gdLst/>
                  <a:ahLst/>
                  <a:cxnLst/>
                  <a:rect l="l" t="t" r="r" b="b"/>
                  <a:pathLst>
                    <a:path w="529589" h="264794">
                      <a:moveTo>
                        <a:pt x="529252" y="264627"/>
                      </a:moveTo>
                      <a:lnTo>
                        <a:pt x="0" y="0"/>
                      </a:lnTo>
                    </a:path>
                  </a:pathLst>
                </a:custGeom>
                <a:ln w="5060">
                  <a:solidFill>
                    <a:srgbClr val="000000"/>
                  </a:solidFill>
                </a:ln>
              </p:spPr>
              <p:txBody>
                <a:bodyPr wrap="square" lIns="0" tIns="0" rIns="0" bIns="0" rtlCol="0"/>
                <a:lstStyle/>
                <a:p>
                  <a:endParaRPr/>
                </a:p>
              </p:txBody>
            </p:sp>
            <p:sp>
              <p:nvSpPr>
                <p:cNvPr id="101" name="object 45"/>
                <p:cNvSpPr/>
                <p:nvPr/>
              </p:nvSpPr>
              <p:spPr>
                <a:xfrm>
                  <a:off x="4033397" y="801491"/>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sp>
              <p:nvSpPr>
                <p:cNvPr id="102" name="object 46"/>
                <p:cNvSpPr/>
                <p:nvPr/>
              </p:nvSpPr>
              <p:spPr>
                <a:xfrm>
                  <a:off x="4622932" y="851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103" name="object 47"/>
                <p:cNvSpPr/>
                <p:nvPr/>
              </p:nvSpPr>
              <p:spPr>
                <a:xfrm>
                  <a:off x="4602688" y="847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104" name="object 48"/>
                <p:cNvSpPr/>
                <p:nvPr/>
              </p:nvSpPr>
              <p:spPr>
                <a:xfrm>
                  <a:off x="3383804" y="488853"/>
                  <a:ext cx="529590" cy="264795"/>
                </a:xfrm>
                <a:custGeom>
                  <a:avLst/>
                  <a:gdLst/>
                  <a:ahLst/>
                  <a:cxnLst/>
                  <a:rect l="l" t="t" r="r" b="b"/>
                  <a:pathLst>
                    <a:path w="529589" h="264795">
                      <a:moveTo>
                        <a:pt x="0" y="264627"/>
                      </a:moveTo>
                      <a:lnTo>
                        <a:pt x="529252" y="0"/>
                      </a:lnTo>
                    </a:path>
                  </a:pathLst>
                </a:custGeom>
                <a:ln w="5060">
                  <a:solidFill>
                    <a:srgbClr val="000000"/>
                  </a:solidFill>
                </a:ln>
              </p:spPr>
              <p:txBody>
                <a:bodyPr wrap="square" lIns="0" tIns="0" rIns="0" bIns="0" rtlCol="0"/>
                <a:lstStyle/>
                <a:p>
                  <a:endParaRPr/>
                </a:p>
              </p:txBody>
            </p:sp>
            <p:sp>
              <p:nvSpPr>
                <p:cNvPr id="105" name="object 49"/>
                <p:cNvSpPr/>
                <p:nvPr/>
              </p:nvSpPr>
              <p:spPr>
                <a:xfrm>
                  <a:off x="3890332" y="477491"/>
                  <a:ext cx="26670" cy="36830"/>
                </a:xfrm>
                <a:custGeom>
                  <a:avLst/>
                  <a:gdLst/>
                  <a:ahLst/>
                  <a:cxnLst/>
                  <a:rect l="l" t="t" r="r" b="b"/>
                  <a:pathLst>
                    <a:path w="26670" h="36829">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106" name="object 50"/>
                <p:cNvSpPr/>
                <p:nvPr/>
              </p:nvSpPr>
              <p:spPr>
                <a:xfrm>
                  <a:off x="3974930" y="527071"/>
                  <a:ext cx="0" cy="191770"/>
                </a:xfrm>
                <a:custGeom>
                  <a:avLst/>
                  <a:gdLst/>
                  <a:ahLst/>
                  <a:cxnLst/>
                  <a:rect l="l" t="t" r="r" b="b"/>
                  <a:pathLst>
                    <a:path h="191770">
                      <a:moveTo>
                        <a:pt x="0" y="191511"/>
                      </a:moveTo>
                      <a:lnTo>
                        <a:pt x="0" y="0"/>
                      </a:lnTo>
                    </a:path>
                  </a:pathLst>
                </a:custGeom>
                <a:ln w="5060">
                  <a:solidFill>
                    <a:srgbClr val="000000"/>
                  </a:solidFill>
                </a:ln>
              </p:spPr>
              <p:txBody>
                <a:bodyPr wrap="square" lIns="0" tIns="0" rIns="0" bIns="0" rtlCol="0"/>
                <a:lstStyle/>
                <a:p>
                  <a:endParaRPr/>
                </a:p>
              </p:txBody>
            </p:sp>
            <p:sp>
              <p:nvSpPr>
                <p:cNvPr id="107" name="object 51"/>
                <p:cNvSpPr/>
                <p:nvPr/>
              </p:nvSpPr>
              <p:spPr>
                <a:xfrm>
                  <a:off x="3954686" y="523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108" name="object 52"/>
                <p:cNvSpPr/>
                <p:nvPr/>
              </p:nvSpPr>
              <p:spPr>
                <a:xfrm>
                  <a:off x="4036805" y="488853"/>
                  <a:ext cx="529590" cy="264795"/>
                </a:xfrm>
                <a:custGeom>
                  <a:avLst/>
                  <a:gdLst/>
                  <a:ahLst/>
                  <a:cxnLst/>
                  <a:rect l="l" t="t" r="r" b="b"/>
                  <a:pathLst>
                    <a:path w="529589" h="264795">
                      <a:moveTo>
                        <a:pt x="529252" y="264627"/>
                      </a:moveTo>
                      <a:lnTo>
                        <a:pt x="0" y="0"/>
                      </a:lnTo>
                    </a:path>
                  </a:pathLst>
                </a:custGeom>
                <a:ln w="5060">
                  <a:solidFill>
                    <a:srgbClr val="000000"/>
                  </a:solidFill>
                </a:ln>
              </p:spPr>
              <p:txBody>
                <a:bodyPr wrap="square" lIns="0" tIns="0" rIns="0" bIns="0" rtlCol="0"/>
                <a:lstStyle/>
                <a:p>
                  <a:endParaRPr/>
                </a:p>
              </p:txBody>
            </p:sp>
            <p:sp>
              <p:nvSpPr>
                <p:cNvPr id="109" name="object 53"/>
                <p:cNvSpPr/>
                <p:nvPr/>
              </p:nvSpPr>
              <p:spPr>
                <a:xfrm>
                  <a:off x="4033397" y="477491"/>
                  <a:ext cx="26670" cy="36830"/>
                </a:xfrm>
                <a:custGeom>
                  <a:avLst/>
                  <a:gdLst/>
                  <a:ahLst/>
                  <a:cxnLst/>
                  <a:rect l="l" t="t" r="r" b="b"/>
                  <a:pathLst>
                    <a:path w="26670" h="36829">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grpSp>
          <p:pic>
            <p:nvPicPr>
              <p:cNvPr id="8" name="object 2"/>
              <p:cNvPicPr/>
              <p:nvPr/>
            </p:nvPicPr>
            <p:blipFill>
              <a:blip r:embed="rId2" cstate="print"/>
              <a:stretch>
                <a:fillRect/>
              </a:stretch>
            </p:blipFill>
            <p:spPr>
              <a:xfrm>
                <a:off x="457200" y="4034204"/>
                <a:ext cx="2257833" cy="1743997"/>
              </a:xfrm>
              <a:prstGeom prst="rect">
                <a:avLst/>
              </a:prstGeom>
            </p:spPr>
          </p:pic>
          <p:grpSp>
            <p:nvGrpSpPr>
              <p:cNvPr id="9" name="object 3"/>
              <p:cNvGrpSpPr/>
              <p:nvPr/>
            </p:nvGrpSpPr>
            <p:grpSpPr>
              <a:xfrm>
                <a:off x="4399709" y="4044739"/>
                <a:ext cx="2258810" cy="1744208"/>
                <a:chOff x="3263089" y="394071"/>
                <a:chExt cx="1424305" cy="1099820"/>
              </a:xfrm>
            </p:grpSpPr>
            <p:sp>
              <p:nvSpPr>
                <p:cNvPr id="10" name="object 4"/>
                <p:cNvSpPr/>
                <p:nvPr/>
              </p:nvSpPr>
              <p:spPr>
                <a:xfrm>
                  <a:off x="3268150" y="1371138"/>
                  <a:ext cx="118110" cy="118110"/>
                </a:xfrm>
                <a:custGeom>
                  <a:avLst/>
                  <a:gdLst/>
                  <a:ahLst/>
                  <a:cxnLst/>
                  <a:rect l="l" t="t" r="r" b="b"/>
                  <a:pathLst>
                    <a:path w="118110" h="118109">
                      <a:moveTo>
                        <a:pt x="58779" y="0"/>
                      </a:move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lnTo>
                        <a:pt x="112940" y="35900"/>
                      </a:lnTo>
                      <a:lnTo>
                        <a:pt x="100343" y="17216"/>
                      </a:lnTo>
                      <a:lnTo>
                        <a:pt x="81659" y="4619"/>
                      </a:lnTo>
                      <a:lnTo>
                        <a:pt x="58779" y="0"/>
                      </a:lnTo>
                      <a:close/>
                    </a:path>
                  </a:pathLst>
                </a:custGeom>
                <a:solidFill>
                  <a:srgbClr val="FFF2E5"/>
                </a:solidFill>
              </p:spPr>
              <p:txBody>
                <a:bodyPr wrap="square" lIns="0" tIns="0" rIns="0" bIns="0" rtlCol="0"/>
                <a:lstStyle/>
                <a:p>
                  <a:endParaRPr/>
                </a:p>
              </p:txBody>
            </p:sp>
            <p:sp>
              <p:nvSpPr>
                <p:cNvPr id="11" name="object 5"/>
                <p:cNvSpPr/>
                <p:nvPr/>
              </p:nvSpPr>
              <p:spPr>
                <a:xfrm>
                  <a:off x="3268150" y="1371138"/>
                  <a:ext cx="118110" cy="118110"/>
                </a:xfrm>
                <a:custGeom>
                  <a:avLst/>
                  <a:gdLst/>
                  <a:ahLst/>
                  <a:cxnLst/>
                  <a:rect l="l" t="t" r="r" b="b"/>
                  <a:pathLst>
                    <a:path w="118110" h="118109">
                      <a:moveTo>
                        <a:pt x="117559" y="58779"/>
                      </a:moveTo>
                      <a:lnTo>
                        <a:pt x="112940" y="35900"/>
                      </a:lnTo>
                      <a:lnTo>
                        <a:pt x="100343" y="17216"/>
                      </a:lnTo>
                      <a:lnTo>
                        <a:pt x="81659" y="4619"/>
                      </a:lnTo>
                      <a:lnTo>
                        <a:pt x="58779" y="0"/>
                      </a:lnTo>
                      <a:lnTo>
                        <a:pt x="35900" y="4619"/>
                      </a:lnTo>
                      <a:lnTo>
                        <a:pt x="17216" y="17216"/>
                      </a:lnTo>
                      <a:lnTo>
                        <a:pt x="4619" y="35900"/>
                      </a:lnTo>
                      <a:lnTo>
                        <a:pt x="0" y="58779"/>
                      </a:lnTo>
                      <a:lnTo>
                        <a:pt x="4619" y="81659"/>
                      </a:lnTo>
                      <a:lnTo>
                        <a:pt x="17216" y="100343"/>
                      </a:lnTo>
                      <a:lnTo>
                        <a:pt x="35900" y="112940"/>
                      </a:lnTo>
                      <a:lnTo>
                        <a:pt x="58779" y="117559"/>
                      </a:lnTo>
                      <a:lnTo>
                        <a:pt x="81659" y="112940"/>
                      </a:lnTo>
                      <a:lnTo>
                        <a:pt x="100343" y="100343"/>
                      </a:lnTo>
                      <a:lnTo>
                        <a:pt x="112940" y="81659"/>
                      </a:lnTo>
                      <a:lnTo>
                        <a:pt x="117559" y="58779"/>
                      </a:lnTo>
                      <a:close/>
                    </a:path>
                  </a:pathLst>
                </a:custGeom>
                <a:ln w="10122">
                  <a:solidFill>
                    <a:srgbClr val="FF7F7F"/>
                  </a:solidFill>
                </a:ln>
              </p:spPr>
              <p:txBody>
                <a:bodyPr wrap="square" lIns="0" tIns="0" rIns="0" bIns="0" rtlCol="0"/>
                <a:lstStyle/>
                <a:p>
                  <a:endParaRPr/>
                </a:p>
              </p:txBody>
            </p:sp>
            <p:sp>
              <p:nvSpPr>
                <p:cNvPr id="12" name="object 6"/>
                <p:cNvSpPr/>
                <p:nvPr/>
              </p:nvSpPr>
              <p:spPr>
                <a:xfrm>
                  <a:off x="3609367" y="1388354"/>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13" name="object 7"/>
                <p:cNvSpPr/>
                <p:nvPr/>
              </p:nvSpPr>
              <p:spPr>
                <a:xfrm>
                  <a:off x="3592151" y="1371138"/>
                  <a:ext cx="118110" cy="118110"/>
                </a:xfrm>
                <a:custGeom>
                  <a:avLst/>
                  <a:gdLst/>
                  <a:ahLst/>
                  <a:cxnLst/>
                  <a:rect l="l" t="t" r="r" b="b"/>
                  <a:pathLst>
                    <a:path w="118110" h="118109">
                      <a:moveTo>
                        <a:pt x="117560" y="58779"/>
                      </a:moveTo>
                      <a:lnTo>
                        <a:pt x="112940" y="35900"/>
                      </a:lnTo>
                      <a:lnTo>
                        <a:pt x="100343" y="17216"/>
                      </a:lnTo>
                      <a:lnTo>
                        <a:pt x="81659" y="4619"/>
                      </a:lnTo>
                      <a:lnTo>
                        <a:pt x="58779" y="0"/>
                      </a:lnTo>
                      <a:lnTo>
                        <a:pt x="35899" y="4619"/>
                      </a:lnTo>
                      <a:lnTo>
                        <a:pt x="17216" y="17216"/>
                      </a:lnTo>
                      <a:lnTo>
                        <a:pt x="4619" y="35900"/>
                      </a:lnTo>
                      <a:lnTo>
                        <a:pt x="0" y="58779"/>
                      </a:lnTo>
                      <a:lnTo>
                        <a:pt x="4619" y="81659"/>
                      </a:lnTo>
                      <a:lnTo>
                        <a:pt x="17216" y="100343"/>
                      </a:lnTo>
                      <a:lnTo>
                        <a:pt x="35899" y="112940"/>
                      </a:lnTo>
                      <a:lnTo>
                        <a:pt x="58779" y="117559"/>
                      </a:lnTo>
                      <a:lnTo>
                        <a:pt x="81659" y="112940"/>
                      </a:lnTo>
                      <a:lnTo>
                        <a:pt x="100343" y="100343"/>
                      </a:lnTo>
                      <a:lnTo>
                        <a:pt x="112940" y="81659"/>
                      </a:lnTo>
                      <a:lnTo>
                        <a:pt x="117560" y="58779"/>
                      </a:lnTo>
                      <a:close/>
                    </a:path>
                  </a:pathLst>
                </a:custGeom>
                <a:ln w="5060">
                  <a:solidFill>
                    <a:srgbClr val="000000"/>
                  </a:solidFill>
                </a:ln>
              </p:spPr>
              <p:txBody>
                <a:bodyPr wrap="square" lIns="0" tIns="0" rIns="0" bIns="0" rtlCol="0"/>
                <a:lstStyle/>
                <a:p>
                  <a:endParaRPr/>
                </a:p>
              </p:txBody>
            </p:sp>
            <p:pic>
              <p:nvPicPr>
                <p:cNvPr id="14" name="object 8"/>
                <p:cNvPicPr/>
                <p:nvPr/>
              </p:nvPicPr>
              <p:blipFill>
                <a:blip r:embed="rId3" cstate="print"/>
                <a:stretch>
                  <a:fillRect/>
                </a:stretch>
              </p:blipFill>
              <p:spPr>
                <a:xfrm>
                  <a:off x="3911092" y="1366077"/>
                  <a:ext cx="127682" cy="127681"/>
                </a:xfrm>
                <a:prstGeom prst="rect">
                  <a:avLst/>
                </a:prstGeom>
              </p:spPr>
            </p:pic>
            <p:pic>
              <p:nvPicPr>
                <p:cNvPr id="15" name="object 9"/>
                <p:cNvPicPr/>
                <p:nvPr/>
              </p:nvPicPr>
              <p:blipFill>
                <a:blip r:embed="rId3" cstate="print"/>
                <a:stretch>
                  <a:fillRect/>
                </a:stretch>
              </p:blipFill>
              <p:spPr>
                <a:xfrm>
                  <a:off x="4235094" y="1366077"/>
                  <a:ext cx="127682" cy="127681"/>
                </a:xfrm>
                <a:prstGeom prst="rect">
                  <a:avLst/>
                </a:prstGeom>
              </p:spPr>
            </p:pic>
            <p:pic>
              <p:nvPicPr>
                <p:cNvPr id="16" name="object 10"/>
                <p:cNvPicPr/>
                <p:nvPr/>
              </p:nvPicPr>
              <p:blipFill>
                <a:blip r:embed="rId3" cstate="print"/>
                <a:stretch>
                  <a:fillRect/>
                </a:stretch>
              </p:blipFill>
              <p:spPr>
                <a:xfrm>
                  <a:off x="4559096" y="1366077"/>
                  <a:ext cx="127682" cy="127681"/>
                </a:xfrm>
                <a:prstGeom prst="rect">
                  <a:avLst/>
                </a:prstGeom>
              </p:spPr>
            </p:pic>
            <p:sp>
              <p:nvSpPr>
                <p:cNvPr id="17" name="object 11"/>
                <p:cNvSpPr/>
                <p:nvPr/>
              </p:nvSpPr>
              <p:spPr>
                <a:xfrm>
                  <a:off x="3285366" y="1064352"/>
                  <a:ext cx="83185" cy="83185"/>
                </a:xfrm>
                <a:custGeom>
                  <a:avLst/>
                  <a:gdLst/>
                  <a:ahLst/>
                  <a:cxnLst/>
                  <a:rect l="l" t="t" r="r" b="b"/>
                  <a:pathLst>
                    <a:path w="83185" h="83184">
                      <a:moveTo>
                        <a:pt x="83127" y="83127"/>
                      </a:moveTo>
                      <a:lnTo>
                        <a:pt x="0" y="0"/>
                      </a:lnTo>
                    </a:path>
                    <a:path w="83185" h="83184">
                      <a:moveTo>
                        <a:pt x="0" y="83127"/>
                      </a:moveTo>
                      <a:lnTo>
                        <a:pt x="83127" y="0"/>
                      </a:lnTo>
                    </a:path>
                  </a:pathLst>
                </a:custGeom>
                <a:ln w="5060">
                  <a:solidFill>
                    <a:srgbClr val="000000"/>
                  </a:solidFill>
                </a:ln>
              </p:spPr>
              <p:txBody>
                <a:bodyPr wrap="square" lIns="0" tIns="0" rIns="0" bIns="0" rtlCol="0"/>
                <a:lstStyle/>
                <a:p>
                  <a:endParaRPr/>
                </a:p>
              </p:txBody>
            </p:sp>
            <p:sp>
              <p:nvSpPr>
                <p:cNvPr id="18" name="object 12"/>
                <p:cNvSpPr/>
                <p:nvPr/>
              </p:nvSpPr>
              <p:spPr>
                <a:xfrm>
                  <a:off x="3268150" y="1047136"/>
                  <a:ext cx="118110" cy="118110"/>
                </a:xfrm>
                <a:custGeom>
                  <a:avLst/>
                  <a:gdLst/>
                  <a:ahLst/>
                  <a:cxnLst/>
                  <a:rect l="l" t="t" r="r" b="b"/>
                  <a:pathLst>
                    <a:path w="118110" h="118109">
                      <a:moveTo>
                        <a:pt x="117559" y="58780"/>
                      </a:moveTo>
                      <a:lnTo>
                        <a:pt x="112940" y="35900"/>
                      </a:lnTo>
                      <a:lnTo>
                        <a:pt x="100343" y="17216"/>
                      </a:lnTo>
                      <a:lnTo>
                        <a:pt x="81659" y="4619"/>
                      </a:lnTo>
                      <a:lnTo>
                        <a:pt x="58779" y="0"/>
                      </a:lnTo>
                      <a:lnTo>
                        <a:pt x="35900" y="4619"/>
                      </a:lnTo>
                      <a:lnTo>
                        <a:pt x="17216" y="17216"/>
                      </a:lnTo>
                      <a:lnTo>
                        <a:pt x="4619" y="35900"/>
                      </a:lnTo>
                      <a:lnTo>
                        <a:pt x="0" y="58780"/>
                      </a:lnTo>
                      <a:lnTo>
                        <a:pt x="4619" y="81660"/>
                      </a:lnTo>
                      <a:lnTo>
                        <a:pt x="17216" y="100344"/>
                      </a:lnTo>
                      <a:lnTo>
                        <a:pt x="35900" y="112940"/>
                      </a:lnTo>
                      <a:lnTo>
                        <a:pt x="58779" y="117560"/>
                      </a:lnTo>
                      <a:lnTo>
                        <a:pt x="81659" y="112940"/>
                      </a:lnTo>
                      <a:lnTo>
                        <a:pt x="100343" y="100344"/>
                      </a:lnTo>
                      <a:lnTo>
                        <a:pt x="112940" y="81660"/>
                      </a:lnTo>
                      <a:lnTo>
                        <a:pt x="117559" y="58780"/>
                      </a:lnTo>
                      <a:close/>
                    </a:path>
                  </a:pathLst>
                </a:custGeom>
                <a:ln w="5060">
                  <a:solidFill>
                    <a:srgbClr val="000000"/>
                  </a:solidFill>
                </a:ln>
              </p:spPr>
              <p:txBody>
                <a:bodyPr wrap="square" lIns="0" tIns="0" rIns="0" bIns="0" rtlCol="0"/>
                <a:lstStyle/>
                <a:p>
                  <a:endParaRPr/>
                </a:p>
              </p:txBody>
            </p:sp>
            <p:sp>
              <p:nvSpPr>
                <p:cNvPr id="19" name="object 13"/>
                <p:cNvSpPr/>
                <p:nvPr/>
              </p:nvSpPr>
              <p:spPr>
                <a:xfrm>
                  <a:off x="3592151" y="1047136"/>
                  <a:ext cx="118110" cy="118110"/>
                </a:xfrm>
                <a:custGeom>
                  <a:avLst/>
                  <a:gdLst/>
                  <a:ahLst/>
                  <a:cxnLst/>
                  <a:rect l="l" t="t" r="r" b="b"/>
                  <a:pathLst>
                    <a:path w="118110" h="118109">
                      <a:moveTo>
                        <a:pt x="58779" y="0"/>
                      </a:move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lnTo>
                        <a:pt x="112940" y="35900"/>
                      </a:lnTo>
                      <a:lnTo>
                        <a:pt x="100343" y="17216"/>
                      </a:lnTo>
                      <a:lnTo>
                        <a:pt x="81659" y="4619"/>
                      </a:lnTo>
                      <a:lnTo>
                        <a:pt x="58779" y="0"/>
                      </a:lnTo>
                      <a:close/>
                    </a:path>
                  </a:pathLst>
                </a:custGeom>
                <a:solidFill>
                  <a:srgbClr val="E5E5FF"/>
                </a:solidFill>
              </p:spPr>
              <p:txBody>
                <a:bodyPr wrap="square" lIns="0" tIns="0" rIns="0" bIns="0" rtlCol="0"/>
                <a:lstStyle/>
                <a:p>
                  <a:endParaRPr/>
                </a:p>
              </p:txBody>
            </p:sp>
            <p:sp>
              <p:nvSpPr>
                <p:cNvPr id="20" name="object 14"/>
                <p:cNvSpPr/>
                <p:nvPr/>
              </p:nvSpPr>
              <p:spPr>
                <a:xfrm>
                  <a:off x="3592151" y="1047136"/>
                  <a:ext cx="118110" cy="118110"/>
                </a:xfrm>
                <a:custGeom>
                  <a:avLst/>
                  <a:gdLst/>
                  <a:ahLst/>
                  <a:cxnLst/>
                  <a:rect l="l" t="t" r="r" b="b"/>
                  <a:pathLst>
                    <a:path w="118110" h="118109">
                      <a:moveTo>
                        <a:pt x="117560" y="58780"/>
                      </a:moveTo>
                      <a:lnTo>
                        <a:pt x="112940" y="35900"/>
                      </a:lnTo>
                      <a:lnTo>
                        <a:pt x="100343" y="17216"/>
                      </a:lnTo>
                      <a:lnTo>
                        <a:pt x="81659" y="4619"/>
                      </a:lnTo>
                      <a:lnTo>
                        <a:pt x="58779" y="0"/>
                      </a:lnTo>
                      <a:lnTo>
                        <a:pt x="35899" y="4619"/>
                      </a:lnTo>
                      <a:lnTo>
                        <a:pt x="17216" y="17216"/>
                      </a:lnTo>
                      <a:lnTo>
                        <a:pt x="4619" y="35900"/>
                      </a:lnTo>
                      <a:lnTo>
                        <a:pt x="0" y="58780"/>
                      </a:lnTo>
                      <a:lnTo>
                        <a:pt x="4619" y="81660"/>
                      </a:lnTo>
                      <a:lnTo>
                        <a:pt x="17216" y="100344"/>
                      </a:lnTo>
                      <a:lnTo>
                        <a:pt x="35899" y="112940"/>
                      </a:lnTo>
                      <a:lnTo>
                        <a:pt x="58779" y="117560"/>
                      </a:lnTo>
                      <a:lnTo>
                        <a:pt x="81659" y="112940"/>
                      </a:lnTo>
                      <a:lnTo>
                        <a:pt x="100343" y="100344"/>
                      </a:lnTo>
                      <a:lnTo>
                        <a:pt x="112940" y="81660"/>
                      </a:lnTo>
                      <a:lnTo>
                        <a:pt x="117560" y="58780"/>
                      </a:lnTo>
                      <a:close/>
                    </a:path>
                  </a:pathLst>
                </a:custGeom>
                <a:ln w="10122">
                  <a:solidFill>
                    <a:srgbClr val="7F7FFF"/>
                  </a:solidFill>
                </a:ln>
              </p:spPr>
              <p:txBody>
                <a:bodyPr wrap="square" lIns="0" tIns="0" rIns="0" bIns="0" rtlCol="0"/>
                <a:lstStyle/>
                <a:p>
                  <a:endParaRPr/>
                </a:p>
              </p:txBody>
            </p:sp>
            <p:pic>
              <p:nvPicPr>
                <p:cNvPr id="21" name="object 15"/>
                <p:cNvPicPr/>
                <p:nvPr/>
              </p:nvPicPr>
              <p:blipFill>
                <a:blip r:embed="rId4" cstate="print"/>
                <a:stretch>
                  <a:fillRect/>
                </a:stretch>
              </p:blipFill>
              <p:spPr>
                <a:xfrm>
                  <a:off x="3913623" y="1044606"/>
                  <a:ext cx="122621" cy="122621"/>
                </a:xfrm>
                <a:prstGeom prst="rect">
                  <a:avLst/>
                </a:prstGeom>
              </p:spPr>
            </p:pic>
            <p:pic>
              <p:nvPicPr>
                <p:cNvPr id="22" name="object 16"/>
                <p:cNvPicPr/>
                <p:nvPr/>
              </p:nvPicPr>
              <p:blipFill>
                <a:blip r:embed="rId5" cstate="print"/>
                <a:stretch>
                  <a:fillRect/>
                </a:stretch>
              </p:blipFill>
              <p:spPr>
                <a:xfrm>
                  <a:off x="4237624" y="1044606"/>
                  <a:ext cx="122621" cy="122621"/>
                </a:xfrm>
                <a:prstGeom prst="rect">
                  <a:avLst/>
                </a:prstGeom>
              </p:spPr>
            </p:pic>
            <p:pic>
              <p:nvPicPr>
                <p:cNvPr id="23" name="object 17"/>
                <p:cNvPicPr/>
                <p:nvPr/>
              </p:nvPicPr>
              <p:blipFill>
                <a:blip r:embed="rId6" cstate="print"/>
                <a:stretch>
                  <a:fillRect/>
                </a:stretch>
              </p:blipFill>
              <p:spPr>
                <a:xfrm>
                  <a:off x="4559096" y="1042075"/>
                  <a:ext cx="127682" cy="127682"/>
                </a:xfrm>
                <a:prstGeom prst="rect">
                  <a:avLst/>
                </a:prstGeom>
              </p:spPr>
            </p:pic>
            <p:pic>
              <p:nvPicPr>
                <p:cNvPr id="24" name="object 18"/>
                <p:cNvPicPr/>
                <p:nvPr/>
              </p:nvPicPr>
              <p:blipFill>
                <a:blip r:embed="rId6" cstate="print"/>
                <a:stretch>
                  <a:fillRect/>
                </a:stretch>
              </p:blipFill>
              <p:spPr>
                <a:xfrm>
                  <a:off x="3263089" y="718073"/>
                  <a:ext cx="127681" cy="127682"/>
                </a:xfrm>
                <a:prstGeom prst="rect">
                  <a:avLst/>
                </a:prstGeom>
              </p:spPr>
            </p:pic>
            <p:pic>
              <p:nvPicPr>
                <p:cNvPr id="25" name="object 19"/>
                <p:cNvPicPr/>
                <p:nvPr/>
              </p:nvPicPr>
              <p:blipFill>
                <a:blip r:embed="rId7" cstate="print"/>
                <a:stretch>
                  <a:fillRect/>
                </a:stretch>
              </p:blipFill>
              <p:spPr>
                <a:xfrm>
                  <a:off x="3589621" y="720604"/>
                  <a:ext cx="122621" cy="122621"/>
                </a:xfrm>
                <a:prstGeom prst="rect">
                  <a:avLst/>
                </a:prstGeom>
              </p:spPr>
            </p:pic>
            <p:pic>
              <p:nvPicPr>
                <p:cNvPr id="26" name="object 20"/>
                <p:cNvPicPr/>
                <p:nvPr/>
              </p:nvPicPr>
              <p:blipFill>
                <a:blip r:embed="rId6" cstate="print"/>
                <a:stretch>
                  <a:fillRect/>
                </a:stretch>
              </p:blipFill>
              <p:spPr>
                <a:xfrm>
                  <a:off x="3911092" y="718073"/>
                  <a:ext cx="127682" cy="127682"/>
                </a:xfrm>
                <a:prstGeom prst="rect">
                  <a:avLst/>
                </a:prstGeom>
              </p:spPr>
            </p:pic>
            <p:pic>
              <p:nvPicPr>
                <p:cNvPr id="27" name="object 21"/>
                <p:cNvPicPr/>
                <p:nvPr/>
              </p:nvPicPr>
              <p:blipFill>
                <a:blip r:embed="rId5" cstate="print"/>
                <a:stretch>
                  <a:fillRect/>
                </a:stretch>
              </p:blipFill>
              <p:spPr>
                <a:xfrm>
                  <a:off x="4237624" y="720604"/>
                  <a:ext cx="122621" cy="122621"/>
                </a:xfrm>
                <a:prstGeom prst="rect">
                  <a:avLst/>
                </a:prstGeom>
              </p:spPr>
            </p:pic>
            <p:pic>
              <p:nvPicPr>
                <p:cNvPr id="28" name="object 22"/>
                <p:cNvPicPr/>
                <p:nvPr/>
              </p:nvPicPr>
              <p:blipFill>
                <a:blip r:embed="rId6" cstate="print"/>
                <a:stretch>
                  <a:fillRect/>
                </a:stretch>
              </p:blipFill>
              <p:spPr>
                <a:xfrm>
                  <a:off x="4559096" y="718073"/>
                  <a:ext cx="127682" cy="127682"/>
                </a:xfrm>
                <a:prstGeom prst="rect">
                  <a:avLst/>
                </a:prstGeom>
              </p:spPr>
            </p:pic>
            <p:pic>
              <p:nvPicPr>
                <p:cNvPr id="29" name="object 23"/>
                <p:cNvPicPr/>
                <p:nvPr/>
              </p:nvPicPr>
              <p:blipFill>
                <a:blip r:embed="rId8" cstate="print"/>
                <a:stretch>
                  <a:fillRect/>
                </a:stretch>
              </p:blipFill>
              <p:spPr>
                <a:xfrm>
                  <a:off x="3911092" y="394071"/>
                  <a:ext cx="127682" cy="127682"/>
                </a:xfrm>
                <a:prstGeom prst="rect">
                  <a:avLst/>
                </a:prstGeom>
              </p:spPr>
            </p:pic>
            <p:sp>
              <p:nvSpPr>
                <p:cNvPr id="30" name="object 24"/>
                <p:cNvSpPr/>
                <p:nvPr/>
              </p:nvSpPr>
              <p:spPr>
                <a:xfrm>
                  <a:off x="3371714" y="1154817"/>
                  <a:ext cx="230504" cy="230504"/>
                </a:xfrm>
                <a:custGeom>
                  <a:avLst/>
                  <a:gdLst/>
                  <a:ahLst/>
                  <a:cxnLst/>
                  <a:rect l="l" t="t" r="r" b="b"/>
                  <a:pathLst>
                    <a:path w="230504" h="230505">
                      <a:moveTo>
                        <a:pt x="0" y="230316"/>
                      </a:moveTo>
                      <a:lnTo>
                        <a:pt x="230315" y="0"/>
                      </a:lnTo>
                    </a:path>
                  </a:pathLst>
                </a:custGeom>
                <a:ln w="5060">
                  <a:solidFill>
                    <a:srgbClr val="000000"/>
                  </a:solidFill>
                </a:ln>
              </p:spPr>
              <p:txBody>
                <a:bodyPr wrap="square" lIns="0" tIns="0" rIns="0" bIns="0" rtlCol="0"/>
                <a:lstStyle/>
                <a:p>
                  <a:endParaRPr/>
                </a:p>
              </p:txBody>
            </p:sp>
            <p:sp>
              <p:nvSpPr>
                <p:cNvPr id="31" name="object 25"/>
                <p:cNvSpPr/>
                <p:nvPr/>
              </p:nvSpPr>
              <p:spPr>
                <a:xfrm>
                  <a:off x="3576979" y="1151239"/>
                  <a:ext cx="29209" cy="29209"/>
                </a:xfrm>
                <a:custGeom>
                  <a:avLst/>
                  <a:gdLst/>
                  <a:ahLst/>
                  <a:cxnLst/>
                  <a:rect l="l" t="t" r="r" b="b"/>
                  <a:pathLst>
                    <a:path w="29210" h="29209">
                      <a:moveTo>
                        <a:pt x="0" y="0"/>
                      </a:moveTo>
                      <a:lnTo>
                        <a:pt x="6472" y="2278"/>
                      </a:lnTo>
                      <a:lnTo>
                        <a:pt x="14873" y="2795"/>
                      </a:lnTo>
                      <a:lnTo>
                        <a:pt x="22771" y="2138"/>
                      </a:lnTo>
                      <a:lnTo>
                        <a:pt x="27734" y="894"/>
                      </a:lnTo>
                      <a:lnTo>
                        <a:pt x="26490" y="5857"/>
                      </a:lnTo>
                      <a:lnTo>
                        <a:pt x="25833" y="13755"/>
                      </a:lnTo>
                      <a:lnTo>
                        <a:pt x="26350" y="22156"/>
                      </a:lnTo>
                      <a:lnTo>
                        <a:pt x="28628" y="28628"/>
                      </a:lnTo>
                    </a:path>
                  </a:pathLst>
                </a:custGeom>
                <a:ln w="4048">
                  <a:solidFill>
                    <a:srgbClr val="000000"/>
                  </a:solidFill>
                </a:ln>
              </p:spPr>
              <p:txBody>
                <a:bodyPr wrap="square" lIns="0" tIns="0" rIns="0" bIns="0" rtlCol="0"/>
                <a:lstStyle/>
                <a:p>
                  <a:endParaRPr/>
                </a:p>
              </p:txBody>
            </p:sp>
            <p:sp>
              <p:nvSpPr>
                <p:cNvPr id="32" name="object 26"/>
                <p:cNvSpPr/>
                <p:nvPr/>
              </p:nvSpPr>
              <p:spPr>
                <a:xfrm>
                  <a:off x="3388515" y="1122728"/>
                  <a:ext cx="1167765" cy="292100"/>
                </a:xfrm>
                <a:custGeom>
                  <a:avLst/>
                  <a:gdLst/>
                  <a:ahLst/>
                  <a:cxnLst/>
                  <a:rect l="l" t="t" r="r" b="b"/>
                  <a:pathLst>
                    <a:path w="1167764" h="292100">
                      <a:moveTo>
                        <a:pt x="0" y="291795"/>
                      </a:moveTo>
                      <a:lnTo>
                        <a:pt x="1167172" y="0"/>
                      </a:lnTo>
                    </a:path>
                  </a:pathLst>
                </a:custGeom>
                <a:ln w="5060">
                  <a:solidFill>
                    <a:srgbClr val="000000"/>
                  </a:solidFill>
                </a:ln>
              </p:spPr>
              <p:txBody>
                <a:bodyPr wrap="square" lIns="0" tIns="0" rIns="0" bIns="0" rtlCol="0"/>
                <a:lstStyle/>
                <a:p>
                  <a:endParaRPr/>
                </a:p>
              </p:txBody>
            </p:sp>
            <p:sp>
              <p:nvSpPr>
                <p:cNvPr id="33" name="object 27"/>
                <p:cNvSpPr/>
                <p:nvPr/>
              </p:nvSpPr>
              <p:spPr>
                <a:xfrm>
                  <a:off x="4536002" y="1106734"/>
                  <a:ext cx="23495" cy="39370"/>
                </a:xfrm>
                <a:custGeom>
                  <a:avLst/>
                  <a:gdLst/>
                  <a:ahLst/>
                  <a:cxnLst/>
                  <a:rect l="l" t="t" r="r" b="b"/>
                  <a:pathLst>
                    <a:path w="23495" h="39369">
                      <a:moveTo>
                        <a:pt x="0" y="0"/>
                      </a:moveTo>
                      <a:lnTo>
                        <a:pt x="4387" y="5296"/>
                      </a:lnTo>
                      <a:lnTo>
                        <a:pt x="11341" y="10073"/>
                      </a:lnTo>
                      <a:lnTo>
                        <a:pt x="18468" y="13581"/>
                      </a:lnTo>
                      <a:lnTo>
                        <a:pt x="23375" y="15071"/>
                      </a:lnTo>
                      <a:lnTo>
                        <a:pt x="19747" y="18694"/>
                      </a:lnTo>
                      <a:lnTo>
                        <a:pt x="15109" y="25144"/>
                      </a:lnTo>
                      <a:lnTo>
                        <a:pt x="11221" y="32631"/>
                      </a:lnTo>
                      <a:lnTo>
                        <a:pt x="9842" y="39369"/>
                      </a:lnTo>
                    </a:path>
                  </a:pathLst>
                </a:custGeom>
                <a:ln w="4057">
                  <a:solidFill>
                    <a:srgbClr val="000000"/>
                  </a:solidFill>
                </a:ln>
              </p:spPr>
              <p:txBody>
                <a:bodyPr wrap="square" lIns="0" tIns="0" rIns="0" bIns="0" rtlCol="0"/>
                <a:lstStyle/>
                <a:p>
                  <a:endParaRPr/>
                </a:p>
              </p:txBody>
            </p:sp>
            <p:pic>
              <p:nvPicPr>
                <p:cNvPr id="34" name="object 28"/>
                <p:cNvPicPr/>
                <p:nvPr/>
              </p:nvPicPr>
              <p:blipFill>
                <a:blip r:embed="rId9" cstate="print"/>
                <a:stretch>
                  <a:fillRect/>
                </a:stretch>
              </p:blipFill>
              <p:spPr>
                <a:xfrm>
                  <a:off x="3694227" y="1149214"/>
                  <a:ext cx="238449" cy="238450"/>
                </a:xfrm>
                <a:prstGeom prst="rect">
                  <a:avLst/>
                </a:prstGeom>
              </p:spPr>
            </p:pic>
            <p:sp>
              <p:nvSpPr>
                <p:cNvPr id="35" name="object 29"/>
                <p:cNvSpPr/>
                <p:nvPr/>
              </p:nvSpPr>
              <p:spPr>
                <a:xfrm>
                  <a:off x="4031805" y="1136854"/>
                  <a:ext cx="529590" cy="264795"/>
                </a:xfrm>
                <a:custGeom>
                  <a:avLst/>
                  <a:gdLst/>
                  <a:ahLst/>
                  <a:cxnLst/>
                  <a:rect l="l" t="t" r="r" b="b"/>
                  <a:pathLst>
                    <a:path w="529589" h="264794">
                      <a:moveTo>
                        <a:pt x="0" y="264627"/>
                      </a:moveTo>
                      <a:lnTo>
                        <a:pt x="529252" y="0"/>
                      </a:lnTo>
                    </a:path>
                  </a:pathLst>
                </a:custGeom>
                <a:ln w="5060">
                  <a:solidFill>
                    <a:srgbClr val="000000"/>
                  </a:solidFill>
                </a:ln>
              </p:spPr>
              <p:txBody>
                <a:bodyPr wrap="square" lIns="0" tIns="0" rIns="0" bIns="0" rtlCol="0"/>
                <a:lstStyle/>
                <a:p>
                  <a:endParaRPr/>
                </a:p>
              </p:txBody>
            </p:sp>
            <p:sp>
              <p:nvSpPr>
                <p:cNvPr id="36" name="object 30"/>
                <p:cNvSpPr/>
                <p:nvPr/>
              </p:nvSpPr>
              <p:spPr>
                <a:xfrm>
                  <a:off x="4538334" y="1125492"/>
                  <a:ext cx="26670" cy="36830"/>
                </a:xfrm>
                <a:custGeom>
                  <a:avLst/>
                  <a:gdLst/>
                  <a:ahLst/>
                  <a:cxnLst/>
                  <a:rect l="l" t="t" r="r" b="b"/>
                  <a:pathLst>
                    <a:path w="26670" h="36830">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37" name="object 31"/>
                <p:cNvSpPr/>
                <p:nvPr/>
              </p:nvSpPr>
              <p:spPr>
                <a:xfrm>
                  <a:off x="3712804" y="1136854"/>
                  <a:ext cx="529590" cy="264795"/>
                </a:xfrm>
                <a:custGeom>
                  <a:avLst/>
                  <a:gdLst/>
                  <a:ahLst/>
                  <a:cxnLst/>
                  <a:rect l="l" t="t" r="r" b="b"/>
                  <a:pathLst>
                    <a:path w="529589" h="264794">
                      <a:moveTo>
                        <a:pt x="529253" y="264627"/>
                      </a:moveTo>
                      <a:lnTo>
                        <a:pt x="0" y="0"/>
                      </a:lnTo>
                    </a:path>
                  </a:pathLst>
                </a:custGeom>
                <a:ln w="5060">
                  <a:solidFill>
                    <a:srgbClr val="000000"/>
                  </a:solidFill>
                </a:ln>
              </p:spPr>
              <p:txBody>
                <a:bodyPr wrap="square" lIns="0" tIns="0" rIns="0" bIns="0" rtlCol="0"/>
                <a:lstStyle/>
                <a:p>
                  <a:endParaRPr/>
                </a:p>
              </p:txBody>
            </p:sp>
            <p:sp>
              <p:nvSpPr>
                <p:cNvPr id="38" name="object 32"/>
                <p:cNvSpPr/>
                <p:nvPr/>
              </p:nvSpPr>
              <p:spPr>
                <a:xfrm>
                  <a:off x="3709396" y="1125492"/>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pic>
              <p:nvPicPr>
                <p:cNvPr id="39" name="object 33"/>
                <p:cNvPicPr/>
                <p:nvPr/>
              </p:nvPicPr>
              <p:blipFill>
                <a:blip r:embed="rId10" cstate="print"/>
                <a:stretch>
                  <a:fillRect/>
                </a:stretch>
              </p:blipFill>
              <p:spPr>
                <a:xfrm>
                  <a:off x="4341185" y="1149215"/>
                  <a:ext cx="238450" cy="238449"/>
                </a:xfrm>
                <a:prstGeom prst="rect">
                  <a:avLst/>
                </a:prstGeom>
              </p:spPr>
            </p:pic>
            <p:sp>
              <p:nvSpPr>
                <p:cNvPr id="40" name="object 34"/>
                <p:cNvSpPr/>
                <p:nvPr/>
              </p:nvSpPr>
              <p:spPr>
                <a:xfrm>
                  <a:off x="3716601" y="1127808"/>
                  <a:ext cx="846455" cy="282575"/>
                </a:xfrm>
                <a:custGeom>
                  <a:avLst/>
                  <a:gdLst/>
                  <a:ahLst/>
                  <a:cxnLst/>
                  <a:rect l="l" t="t" r="r" b="b"/>
                  <a:pathLst>
                    <a:path w="846454" h="282575">
                      <a:moveTo>
                        <a:pt x="846186" y="282061"/>
                      </a:moveTo>
                      <a:lnTo>
                        <a:pt x="0" y="0"/>
                      </a:lnTo>
                    </a:path>
                  </a:pathLst>
                </a:custGeom>
                <a:ln w="5060">
                  <a:solidFill>
                    <a:srgbClr val="000000"/>
                  </a:solidFill>
                </a:ln>
              </p:spPr>
              <p:txBody>
                <a:bodyPr wrap="square" lIns="0" tIns="0" rIns="0" bIns="0" rtlCol="0"/>
                <a:lstStyle/>
                <a:p>
                  <a:endParaRPr/>
                </a:p>
              </p:txBody>
            </p:sp>
            <p:sp>
              <p:nvSpPr>
                <p:cNvPr id="41" name="object 35"/>
                <p:cNvSpPr/>
                <p:nvPr/>
              </p:nvSpPr>
              <p:spPr>
                <a:xfrm>
                  <a:off x="3712997" y="1113389"/>
                  <a:ext cx="24765" cy="38735"/>
                </a:xfrm>
                <a:custGeom>
                  <a:avLst/>
                  <a:gdLst/>
                  <a:ahLst/>
                  <a:cxnLst/>
                  <a:rect l="l" t="t" r="r" b="b"/>
                  <a:pathLst>
                    <a:path w="24764" h="38734">
                      <a:moveTo>
                        <a:pt x="11614" y="38448"/>
                      </a:moveTo>
                      <a:lnTo>
                        <a:pt x="10757" y="31633"/>
                      </a:lnTo>
                      <a:lnTo>
                        <a:pt x="7459" y="23880"/>
                      </a:lnTo>
                      <a:lnTo>
                        <a:pt x="3335" y="17102"/>
                      </a:lnTo>
                      <a:lnTo>
                        <a:pt x="0" y="13216"/>
                      </a:lnTo>
                      <a:lnTo>
                        <a:pt x="4999" y="12109"/>
                      </a:lnTo>
                      <a:lnTo>
                        <a:pt x="12365" y="9161"/>
                      </a:lnTo>
                      <a:lnTo>
                        <a:pt x="19655" y="4937"/>
                      </a:lnTo>
                      <a:lnTo>
                        <a:pt x="24430" y="0"/>
                      </a:lnTo>
                    </a:path>
                  </a:pathLst>
                </a:custGeom>
                <a:ln w="4052">
                  <a:solidFill>
                    <a:srgbClr val="000000"/>
                  </a:solidFill>
                </a:ln>
              </p:spPr>
              <p:txBody>
                <a:bodyPr wrap="square" lIns="0" tIns="0" rIns="0" bIns="0" rtlCol="0"/>
                <a:lstStyle/>
                <a:p>
                  <a:endParaRPr/>
                </a:p>
              </p:txBody>
            </p:sp>
            <p:sp>
              <p:nvSpPr>
                <p:cNvPr id="42" name="object 36"/>
                <p:cNvSpPr/>
                <p:nvPr/>
              </p:nvSpPr>
              <p:spPr>
                <a:xfrm>
                  <a:off x="4622932" y="1175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43" name="object 37"/>
                <p:cNvSpPr/>
                <p:nvPr/>
              </p:nvSpPr>
              <p:spPr>
                <a:xfrm>
                  <a:off x="4602688" y="1171277"/>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pic>
              <p:nvPicPr>
                <p:cNvPr id="44" name="object 38"/>
                <p:cNvPicPr/>
                <p:nvPr/>
              </p:nvPicPr>
              <p:blipFill>
                <a:blip r:embed="rId9" cstate="print"/>
                <a:stretch>
                  <a:fillRect/>
                </a:stretch>
              </p:blipFill>
              <p:spPr>
                <a:xfrm>
                  <a:off x="3370227" y="825214"/>
                  <a:ext cx="238449" cy="238449"/>
                </a:xfrm>
                <a:prstGeom prst="rect">
                  <a:avLst/>
                </a:prstGeom>
              </p:spPr>
            </p:pic>
            <p:pic>
              <p:nvPicPr>
                <p:cNvPr id="45" name="object 39"/>
                <p:cNvPicPr/>
                <p:nvPr/>
              </p:nvPicPr>
              <p:blipFill>
                <a:blip r:embed="rId11" cstate="print"/>
                <a:stretch>
                  <a:fillRect/>
                </a:stretch>
              </p:blipFill>
              <p:spPr>
                <a:xfrm>
                  <a:off x="3693184" y="825214"/>
                  <a:ext cx="238449" cy="238449"/>
                </a:xfrm>
                <a:prstGeom prst="rect">
                  <a:avLst/>
                </a:prstGeom>
              </p:spPr>
            </p:pic>
            <p:sp>
              <p:nvSpPr>
                <p:cNvPr id="46" name="object 40"/>
                <p:cNvSpPr/>
                <p:nvPr/>
              </p:nvSpPr>
              <p:spPr>
                <a:xfrm>
                  <a:off x="3711074" y="803807"/>
                  <a:ext cx="846455" cy="282575"/>
                </a:xfrm>
                <a:custGeom>
                  <a:avLst/>
                  <a:gdLst/>
                  <a:ahLst/>
                  <a:cxnLst/>
                  <a:rect l="l" t="t" r="r" b="b"/>
                  <a:pathLst>
                    <a:path w="846454" h="282575">
                      <a:moveTo>
                        <a:pt x="0" y="282062"/>
                      </a:moveTo>
                      <a:lnTo>
                        <a:pt x="846186" y="0"/>
                      </a:lnTo>
                    </a:path>
                  </a:pathLst>
                </a:custGeom>
                <a:ln w="5060">
                  <a:solidFill>
                    <a:srgbClr val="000000"/>
                  </a:solidFill>
                </a:ln>
              </p:spPr>
              <p:txBody>
                <a:bodyPr wrap="square" lIns="0" tIns="0" rIns="0" bIns="0" rtlCol="0"/>
                <a:lstStyle/>
                <a:p>
                  <a:endParaRPr/>
                </a:p>
              </p:txBody>
            </p:sp>
            <p:sp>
              <p:nvSpPr>
                <p:cNvPr id="47" name="object 41"/>
                <p:cNvSpPr/>
                <p:nvPr/>
              </p:nvSpPr>
              <p:spPr>
                <a:xfrm>
                  <a:off x="4536434" y="789389"/>
                  <a:ext cx="24765" cy="38735"/>
                </a:xfrm>
                <a:custGeom>
                  <a:avLst/>
                  <a:gdLst/>
                  <a:ahLst/>
                  <a:cxnLst/>
                  <a:rect l="l" t="t" r="r" b="b"/>
                  <a:pathLst>
                    <a:path w="24764" h="38734">
                      <a:moveTo>
                        <a:pt x="0" y="0"/>
                      </a:moveTo>
                      <a:lnTo>
                        <a:pt x="4774" y="4937"/>
                      </a:lnTo>
                      <a:lnTo>
                        <a:pt x="12065" y="9161"/>
                      </a:lnTo>
                      <a:lnTo>
                        <a:pt x="19430" y="12109"/>
                      </a:lnTo>
                      <a:lnTo>
                        <a:pt x="24430" y="13216"/>
                      </a:lnTo>
                      <a:lnTo>
                        <a:pt x="21094" y="17102"/>
                      </a:lnTo>
                      <a:lnTo>
                        <a:pt x="16971" y="23880"/>
                      </a:lnTo>
                      <a:lnTo>
                        <a:pt x="13673" y="31633"/>
                      </a:lnTo>
                      <a:lnTo>
                        <a:pt x="12815" y="38448"/>
                      </a:lnTo>
                    </a:path>
                  </a:pathLst>
                </a:custGeom>
                <a:ln w="4052">
                  <a:solidFill>
                    <a:srgbClr val="000000"/>
                  </a:solidFill>
                </a:ln>
              </p:spPr>
              <p:txBody>
                <a:bodyPr wrap="square" lIns="0" tIns="0" rIns="0" bIns="0" rtlCol="0"/>
                <a:lstStyle/>
                <a:p>
                  <a:endParaRPr/>
                </a:p>
              </p:txBody>
            </p:sp>
            <p:sp>
              <p:nvSpPr>
                <p:cNvPr id="48" name="object 42"/>
                <p:cNvSpPr/>
                <p:nvPr/>
              </p:nvSpPr>
              <p:spPr>
                <a:xfrm>
                  <a:off x="3394174" y="798727"/>
                  <a:ext cx="1167765" cy="292100"/>
                </a:xfrm>
                <a:custGeom>
                  <a:avLst/>
                  <a:gdLst/>
                  <a:ahLst/>
                  <a:cxnLst/>
                  <a:rect l="l" t="t" r="r" b="b"/>
                  <a:pathLst>
                    <a:path w="1167764" h="292100">
                      <a:moveTo>
                        <a:pt x="1167172" y="291795"/>
                      </a:moveTo>
                      <a:lnTo>
                        <a:pt x="0" y="0"/>
                      </a:lnTo>
                    </a:path>
                  </a:pathLst>
                </a:custGeom>
                <a:ln w="5060">
                  <a:solidFill>
                    <a:srgbClr val="000000"/>
                  </a:solidFill>
                </a:ln>
              </p:spPr>
              <p:txBody>
                <a:bodyPr wrap="square" lIns="0" tIns="0" rIns="0" bIns="0" rtlCol="0"/>
                <a:lstStyle/>
                <a:p>
                  <a:endParaRPr/>
                </a:p>
              </p:txBody>
            </p:sp>
            <p:sp>
              <p:nvSpPr>
                <p:cNvPr id="49" name="object 43"/>
                <p:cNvSpPr/>
                <p:nvPr/>
              </p:nvSpPr>
              <p:spPr>
                <a:xfrm>
                  <a:off x="3390484" y="782734"/>
                  <a:ext cx="23495" cy="39370"/>
                </a:xfrm>
                <a:custGeom>
                  <a:avLst/>
                  <a:gdLst/>
                  <a:ahLst/>
                  <a:cxnLst/>
                  <a:rect l="l" t="t" r="r" b="b"/>
                  <a:pathLst>
                    <a:path w="23495" h="39369">
                      <a:moveTo>
                        <a:pt x="13533" y="39369"/>
                      </a:moveTo>
                      <a:lnTo>
                        <a:pt x="12153" y="32631"/>
                      </a:lnTo>
                      <a:lnTo>
                        <a:pt x="8265" y="25144"/>
                      </a:lnTo>
                      <a:lnTo>
                        <a:pt x="3628" y="18694"/>
                      </a:lnTo>
                      <a:lnTo>
                        <a:pt x="0" y="15071"/>
                      </a:lnTo>
                      <a:lnTo>
                        <a:pt x="4906" y="13581"/>
                      </a:lnTo>
                      <a:lnTo>
                        <a:pt x="12033" y="10073"/>
                      </a:lnTo>
                      <a:lnTo>
                        <a:pt x="18987" y="5296"/>
                      </a:lnTo>
                      <a:lnTo>
                        <a:pt x="23375" y="0"/>
                      </a:lnTo>
                    </a:path>
                  </a:pathLst>
                </a:custGeom>
                <a:ln w="4057">
                  <a:solidFill>
                    <a:srgbClr val="000000"/>
                  </a:solidFill>
                </a:ln>
              </p:spPr>
              <p:txBody>
                <a:bodyPr wrap="square" lIns="0" tIns="0" rIns="0" bIns="0" rtlCol="0"/>
                <a:lstStyle/>
                <a:p>
                  <a:endParaRPr/>
                </a:p>
              </p:txBody>
            </p:sp>
            <p:sp>
              <p:nvSpPr>
                <p:cNvPr id="50" name="object 44"/>
                <p:cNvSpPr/>
                <p:nvPr/>
              </p:nvSpPr>
              <p:spPr>
                <a:xfrm>
                  <a:off x="4036805" y="812853"/>
                  <a:ext cx="529590" cy="264795"/>
                </a:xfrm>
                <a:custGeom>
                  <a:avLst/>
                  <a:gdLst/>
                  <a:ahLst/>
                  <a:cxnLst/>
                  <a:rect l="l" t="t" r="r" b="b"/>
                  <a:pathLst>
                    <a:path w="529589" h="264794">
                      <a:moveTo>
                        <a:pt x="529252" y="264627"/>
                      </a:moveTo>
                      <a:lnTo>
                        <a:pt x="0" y="0"/>
                      </a:lnTo>
                    </a:path>
                  </a:pathLst>
                </a:custGeom>
                <a:ln w="5060">
                  <a:solidFill>
                    <a:srgbClr val="000000"/>
                  </a:solidFill>
                </a:ln>
              </p:spPr>
              <p:txBody>
                <a:bodyPr wrap="square" lIns="0" tIns="0" rIns="0" bIns="0" rtlCol="0"/>
                <a:lstStyle/>
                <a:p>
                  <a:endParaRPr/>
                </a:p>
              </p:txBody>
            </p:sp>
            <p:sp>
              <p:nvSpPr>
                <p:cNvPr id="51" name="object 45"/>
                <p:cNvSpPr/>
                <p:nvPr/>
              </p:nvSpPr>
              <p:spPr>
                <a:xfrm>
                  <a:off x="4033397" y="801491"/>
                  <a:ext cx="26670" cy="36830"/>
                </a:xfrm>
                <a:custGeom>
                  <a:avLst/>
                  <a:gdLst/>
                  <a:ahLst/>
                  <a:cxnLst/>
                  <a:rect l="l" t="t" r="r" b="b"/>
                  <a:pathLst>
                    <a:path w="26670" h="36830">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sp>
              <p:nvSpPr>
                <p:cNvPr id="52" name="object 46"/>
                <p:cNvSpPr/>
                <p:nvPr/>
              </p:nvSpPr>
              <p:spPr>
                <a:xfrm>
                  <a:off x="4622932" y="851072"/>
                  <a:ext cx="0" cy="191770"/>
                </a:xfrm>
                <a:custGeom>
                  <a:avLst/>
                  <a:gdLst/>
                  <a:ahLst/>
                  <a:cxnLst/>
                  <a:rect l="l" t="t" r="r" b="b"/>
                  <a:pathLst>
                    <a:path h="191769">
                      <a:moveTo>
                        <a:pt x="0" y="191511"/>
                      </a:moveTo>
                      <a:lnTo>
                        <a:pt x="0" y="0"/>
                      </a:lnTo>
                    </a:path>
                  </a:pathLst>
                </a:custGeom>
                <a:ln w="5060">
                  <a:solidFill>
                    <a:srgbClr val="000000"/>
                  </a:solidFill>
                </a:ln>
              </p:spPr>
              <p:txBody>
                <a:bodyPr wrap="square" lIns="0" tIns="0" rIns="0" bIns="0" rtlCol="0"/>
                <a:lstStyle/>
                <a:p>
                  <a:endParaRPr/>
                </a:p>
              </p:txBody>
            </p:sp>
            <p:sp>
              <p:nvSpPr>
                <p:cNvPr id="53" name="object 47"/>
                <p:cNvSpPr/>
                <p:nvPr/>
              </p:nvSpPr>
              <p:spPr>
                <a:xfrm>
                  <a:off x="4602688" y="847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54" name="object 48"/>
                <p:cNvSpPr/>
                <p:nvPr/>
              </p:nvSpPr>
              <p:spPr>
                <a:xfrm>
                  <a:off x="3383804" y="488853"/>
                  <a:ext cx="529590" cy="264795"/>
                </a:xfrm>
                <a:custGeom>
                  <a:avLst/>
                  <a:gdLst/>
                  <a:ahLst/>
                  <a:cxnLst/>
                  <a:rect l="l" t="t" r="r" b="b"/>
                  <a:pathLst>
                    <a:path w="529589" h="264795">
                      <a:moveTo>
                        <a:pt x="0" y="264627"/>
                      </a:moveTo>
                      <a:lnTo>
                        <a:pt x="529252" y="0"/>
                      </a:lnTo>
                    </a:path>
                  </a:pathLst>
                </a:custGeom>
                <a:ln w="5060">
                  <a:solidFill>
                    <a:srgbClr val="000000"/>
                  </a:solidFill>
                </a:ln>
              </p:spPr>
              <p:txBody>
                <a:bodyPr wrap="square" lIns="0" tIns="0" rIns="0" bIns="0" rtlCol="0"/>
                <a:lstStyle/>
                <a:p>
                  <a:endParaRPr/>
                </a:p>
              </p:txBody>
            </p:sp>
            <p:sp>
              <p:nvSpPr>
                <p:cNvPr id="55" name="object 49"/>
                <p:cNvSpPr/>
                <p:nvPr/>
              </p:nvSpPr>
              <p:spPr>
                <a:xfrm>
                  <a:off x="3890332" y="477491"/>
                  <a:ext cx="26670" cy="36830"/>
                </a:xfrm>
                <a:custGeom>
                  <a:avLst/>
                  <a:gdLst/>
                  <a:ahLst/>
                  <a:cxnLst/>
                  <a:rect l="l" t="t" r="r" b="b"/>
                  <a:pathLst>
                    <a:path w="26670" h="36829">
                      <a:moveTo>
                        <a:pt x="0" y="0"/>
                      </a:moveTo>
                      <a:lnTo>
                        <a:pt x="5441" y="4225"/>
                      </a:lnTo>
                      <a:lnTo>
                        <a:pt x="13279" y="7385"/>
                      </a:lnTo>
                      <a:lnTo>
                        <a:pt x="21010" y="9267"/>
                      </a:lnTo>
                      <a:lnTo>
                        <a:pt x="26132" y="9657"/>
                      </a:lnTo>
                      <a:lnTo>
                        <a:pt x="23371" y="13989"/>
                      </a:lnTo>
                      <a:lnTo>
                        <a:pt x="20238" y="21303"/>
                      </a:lnTo>
                      <a:lnTo>
                        <a:pt x="18063" y="29469"/>
                      </a:lnTo>
                      <a:lnTo>
                        <a:pt x="18178" y="36358"/>
                      </a:lnTo>
                    </a:path>
                  </a:pathLst>
                </a:custGeom>
                <a:ln w="4064">
                  <a:solidFill>
                    <a:srgbClr val="000000"/>
                  </a:solidFill>
                </a:ln>
              </p:spPr>
              <p:txBody>
                <a:bodyPr wrap="square" lIns="0" tIns="0" rIns="0" bIns="0" rtlCol="0"/>
                <a:lstStyle/>
                <a:p>
                  <a:endParaRPr/>
                </a:p>
              </p:txBody>
            </p:sp>
            <p:sp>
              <p:nvSpPr>
                <p:cNvPr id="56" name="object 50"/>
                <p:cNvSpPr/>
                <p:nvPr/>
              </p:nvSpPr>
              <p:spPr>
                <a:xfrm>
                  <a:off x="3974930" y="527071"/>
                  <a:ext cx="0" cy="191770"/>
                </a:xfrm>
                <a:custGeom>
                  <a:avLst/>
                  <a:gdLst/>
                  <a:ahLst/>
                  <a:cxnLst/>
                  <a:rect l="l" t="t" r="r" b="b"/>
                  <a:pathLst>
                    <a:path h="191770">
                      <a:moveTo>
                        <a:pt x="0" y="191511"/>
                      </a:moveTo>
                      <a:lnTo>
                        <a:pt x="0" y="0"/>
                      </a:lnTo>
                    </a:path>
                  </a:pathLst>
                </a:custGeom>
                <a:ln w="5060">
                  <a:solidFill>
                    <a:srgbClr val="000000"/>
                  </a:solidFill>
                </a:ln>
              </p:spPr>
              <p:txBody>
                <a:bodyPr wrap="square" lIns="0" tIns="0" rIns="0" bIns="0" rtlCol="0"/>
                <a:lstStyle/>
                <a:p>
                  <a:endParaRPr/>
                </a:p>
              </p:txBody>
            </p:sp>
            <p:sp>
              <p:nvSpPr>
                <p:cNvPr id="57" name="object 51"/>
                <p:cNvSpPr/>
                <p:nvPr/>
              </p:nvSpPr>
              <p:spPr>
                <a:xfrm>
                  <a:off x="3954686" y="523276"/>
                  <a:ext cx="40640" cy="19050"/>
                </a:xfrm>
                <a:custGeom>
                  <a:avLst/>
                  <a:gdLst/>
                  <a:ahLst/>
                  <a:cxnLst/>
                  <a:rect l="l" t="t" r="r" b="b"/>
                  <a:pathLst>
                    <a:path w="40639" h="19050">
                      <a:moveTo>
                        <a:pt x="0" y="18978"/>
                      </a:moveTo>
                      <a:lnTo>
                        <a:pt x="6187" y="16013"/>
                      </a:lnTo>
                      <a:lnTo>
                        <a:pt x="12494" y="10438"/>
                      </a:lnTo>
                      <a:lnTo>
                        <a:pt x="17614" y="4388"/>
                      </a:lnTo>
                      <a:lnTo>
                        <a:pt x="20243" y="0"/>
                      </a:lnTo>
                      <a:lnTo>
                        <a:pt x="22873" y="4388"/>
                      </a:lnTo>
                      <a:lnTo>
                        <a:pt x="27993" y="10438"/>
                      </a:lnTo>
                      <a:lnTo>
                        <a:pt x="34300" y="16013"/>
                      </a:lnTo>
                      <a:lnTo>
                        <a:pt x="40487" y="18978"/>
                      </a:lnTo>
                    </a:path>
                  </a:pathLst>
                </a:custGeom>
                <a:ln w="4048">
                  <a:solidFill>
                    <a:srgbClr val="000000"/>
                  </a:solidFill>
                </a:ln>
              </p:spPr>
              <p:txBody>
                <a:bodyPr wrap="square" lIns="0" tIns="0" rIns="0" bIns="0" rtlCol="0"/>
                <a:lstStyle/>
                <a:p>
                  <a:endParaRPr/>
                </a:p>
              </p:txBody>
            </p:sp>
            <p:sp>
              <p:nvSpPr>
                <p:cNvPr id="58" name="object 52"/>
                <p:cNvSpPr/>
                <p:nvPr/>
              </p:nvSpPr>
              <p:spPr>
                <a:xfrm>
                  <a:off x="4036805" y="488853"/>
                  <a:ext cx="529590" cy="264795"/>
                </a:xfrm>
                <a:custGeom>
                  <a:avLst/>
                  <a:gdLst/>
                  <a:ahLst/>
                  <a:cxnLst/>
                  <a:rect l="l" t="t" r="r" b="b"/>
                  <a:pathLst>
                    <a:path w="529589" h="264795">
                      <a:moveTo>
                        <a:pt x="529252" y="264627"/>
                      </a:moveTo>
                      <a:lnTo>
                        <a:pt x="0" y="0"/>
                      </a:lnTo>
                    </a:path>
                  </a:pathLst>
                </a:custGeom>
                <a:ln w="5060">
                  <a:solidFill>
                    <a:srgbClr val="000000"/>
                  </a:solidFill>
                </a:ln>
              </p:spPr>
              <p:txBody>
                <a:bodyPr wrap="square" lIns="0" tIns="0" rIns="0" bIns="0" rtlCol="0"/>
                <a:lstStyle/>
                <a:p>
                  <a:endParaRPr/>
                </a:p>
              </p:txBody>
            </p:sp>
            <p:sp>
              <p:nvSpPr>
                <p:cNvPr id="59" name="object 53"/>
                <p:cNvSpPr/>
                <p:nvPr/>
              </p:nvSpPr>
              <p:spPr>
                <a:xfrm>
                  <a:off x="4033397" y="477491"/>
                  <a:ext cx="26670" cy="36830"/>
                </a:xfrm>
                <a:custGeom>
                  <a:avLst/>
                  <a:gdLst/>
                  <a:ahLst/>
                  <a:cxnLst/>
                  <a:rect l="l" t="t" r="r" b="b"/>
                  <a:pathLst>
                    <a:path w="26670" h="36829">
                      <a:moveTo>
                        <a:pt x="7953" y="36358"/>
                      </a:moveTo>
                      <a:lnTo>
                        <a:pt x="8068" y="29469"/>
                      </a:lnTo>
                      <a:lnTo>
                        <a:pt x="5893" y="21303"/>
                      </a:lnTo>
                      <a:lnTo>
                        <a:pt x="2760" y="13989"/>
                      </a:lnTo>
                      <a:lnTo>
                        <a:pt x="0" y="9657"/>
                      </a:lnTo>
                      <a:lnTo>
                        <a:pt x="5121" y="9267"/>
                      </a:lnTo>
                      <a:lnTo>
                        <a:pt x="12852" y="7385"/>
                      </a:lnTo>
                      <a:lnTo>
                        <a:pt x="20690" y="4225"/>
                      </a:lnTo>
                      <a:lnTo>
                        <a:pt x="26132" y="0"/>
                      </a:lnTo>
                    </a:path>
                  </a:pathLst>
                </a:custGeom>
                <a:ln w="4064">
                  <a:solidFill>
                    <a:srgbClr val="000000"/>
                  </a:solidFill>
                </a:ln>
              </p:spPr>
              <p:txBody>
                <a:bodyPr wrap="square" lIns="0" tIns="0" rIns="0" bIns="0" rtlCol="0"/>
                <a:lstStyle/>
                <a:p>
                  <a:endParaRPr/>
                </a:p>
              </p:txBody>
            </p:sp>
          </p:grpSp>
        </p:grpSp>
      </p:grpSp>
    </p:spTree>
    <p:extLst>
      <p:ext uri="{BB962C8B-B14F-4D97-AF65-F5344CB8AC3E}">
        <p14:creationId xmlns:p14="http://schemas.microsoft.com/office/powerpoint/2010/main" val="543594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76200" y="4267200"/>
            <a:ext cx="8610600" cy="1858963"/>
          </a:xfrm>
        </p:spPr>
        <p:txBody>
          <a:bodyPr vert="horz" lIns="91440" tIns="45720" rIns="91440" bIns="45720" rtlCol="0">
            <a:normAutofit fontScale="92500"/>
          </a:bodyPr>
          <a:lstStyle/>
          <a:p>
            <a:pPr marL="403323" indent="-342900">
              <a:spcBef>
                <a:spcPts val="547"/>
              </a:spcBef>
              <a:buFont typeface="Arial" panose="020B0604020202020204" pitchFamily="34" charset="0"/>
              <a:buChar char="•"/>
            </a:pPr>
            <a:r>
              <a:rPr lang="en-US" sz="2000" dirty="0">
                <a:cs typeface="Calibri"/>
              </a:rPr>
              <a:t>We initialize all the parameters (weights) of the network and start training</a:t>
            </a:r>
          </a:p>
          <a:p>
            <a:pPr marL="403323" indent="-342900">
              <a:spcBef>
                <a:spcPts val="547"/>
              </a:spcBef>
              <a:buFont typeface="Arial" panose="020B0604020202020204" pitchFamily="34" charset="0"/>
              <a:buChar char="•"/>
            </a:pPr>
            <a:r>
              <a:rPr lang="en-US" sz="2000" dirty="0">
                <a:cs typeface="Calibri"/>
              </a:rPr>
              <a:t>For the first training instance (or mini-batch), we apply dropout resulting in the thinned network</a:t>
            </a:r>
          </a:p>
          <a:p>
            <a:pPr marL="403323" indent="-342900">
              <a:spcBef>
                <a:spcPts val="547"/>
              </a:spcBef>
              <a:buFont typeface="Arial" panose="020B0604020202020204" pitchFamily="34" charset="0"/>
              <a:buChar char="•"/>
            </a:pPr>
            <a:r>
              <a:rPr lang="en-US" sz="2000" dirty="0">
                <a:cs typeface="Calibri"/>
              </a:rPr>
              <a:t>We compute the loss and back propagate</a:t>
            </a:r>
          </a:p>
          <a:p>
            <a:pPr marL="403323" indent="-342900">
              <a:spcBef>
                <a:spcPts val="547"/>
              </a:spcBef>
              <a:buFont typeface="Arial" panose="020B0604020202020204" pitchFamily="34" charset="0"/>
              <a:buChar char="•"/>
            </a:pPr>
            <a:r>
              <a:rPr lang="en-US" sz="2000" b="1" dirty="0">
                <a:cs typeface="Calibri"/>
              </a:rPr>
              <a:t>Which parameters will we update?  Only those which are active</a:t>
            </a:r>
            <a:endParaRPr lang="en-IN" sz="2000" b="1" dirty="0">
              <a:cs typeface="Calibri"/>
            </a:endParaRPr>
          </a:p>
        </p:txBody>
      </p:sp>
      <p:sp>
        <p:nvSpPr>
          <p:cNvPr id="3" name="Title 2"/>
          <p:cNvSpPr>
            <a:spLocks noGrp="1"/>
          </p:cNvSpPr>
          <p:nvPr>
            <p:ph type="title"/>
          </p:nvPr>
        </p:nvSpPr>
        <p:spPr/>
        <p:txBody>
          <a:bodyPr/>
          <a:lstStyle/>
          <a:p>
            <a:r>
              <a:rPr lang="en-US" dirty="0"/>
              <a:t>Drop out</a:t>
            </a:r>
            <a:endParaRPr lang="en-IN" dirty="0"/>
          </a:p>
        </p:txBody>
      </p:sp>
      <p:pic>
        <p:nvPicPr>
          <p:cNvPr id="4" name="object 2"/>
          <p:cNvPicPr/>
          <p:nvPr/>
        </p:nvPicPr>
        <p:blipFill>
          <a:blip r:embed="rId2" cstate="print"/>
          <a:stretch>
            <a:fillRect/>
          </a:stretch>
        </p:blipFill>
        <p:spPr>
          <a:xfrm>
            <a:off x="1143000" y="1752600"/>
            <a:ext cx="2257833" cy="1743997"/>
          </a:xfrm>
          <a:prstGeom prst="rect">
            <a:avLst/>
          </a:prstGeom>
        </p:spPr>
      </p:pic>
      <p:pic>
        <p:nvPicPr>
          <p:cNvPr id="5" name="object 3"/>
          <p:cNvPicPr/>
          <p:nvPr/>
        </p:nvPicPr>
        <p:blipFill>
          <a:blip r:embed="rId3" cstate="print"/>
          <a:stretch>
            <a:fillRect/>
          </a:stretch>
        </p:blipFill>
        <p:spPr>
          <a:xfrm>
            <a:off x="4762374" y="1752600"/>
            <a:ext cx="2257833" cy="1743997"/>
          </a:xfrm>
          <a:prstGeom prst="rect">
            <a:avLst/>
          </a:prstGeom>
        </p:spPr>
      </p:pic>
    </p:spTree>
    <p:extLst>
      <p:ext uri="{BB962C8B-B14F-4D97-AF65-F5344CB8AC3E}">
        <p14:creationId xmlns:p14="http://schemas.microsoft.com/office/powerpoint/2010/main" val="610499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57437" y="3177964"/>
            <a:ext cx="8851710" cy="3680036"/>
          </a:xfrm>
        </p:spPr>
        <p:txBody>
          <a:bodyPr>
            <a:noAutofit/>
          </a:bodyPr>
          <a:lstStyle/>
          <a:p>
            <a:pPr marL="363041" marR="10070" indent="-342900">
              <a:lnSpc>
                <a:spcPct val="102600"/>
              </a:lnSpc>
              <a:spcBef>
                <a:spcPts val="87"/>
              </a:spcBef>
              <a:buFont typeface="Arial" panose="020B0604020202020204" pitchFamily="34" charset="0"/>
              <a:buChar char="•"/>
            </a:pPr>
            <a:r>
              <a:rPr lang="en-US" sz="2000" dirty="0">
                <a:cs typeface="Calibri"/>
              </a:rPr>
              <a:t>For</a:t>
            </a:r>
            <a:r>
              <a:rPr lang="en-US" sz="2000" spc="444" dirty="0">
                <a:cs typeface="Calibri"/>
              </a:rPr>
              <a:t> </a:t>
            </a:r>
            <a:r>
              <a:rPr lang="en-US" sz="2000" dirty="0">
                <a:cs typeface="Calibri"/>
              </a:rPr>
              <a:t>the</a:t>
            </a:r>
            <a:r>
              <a:rPr lang="en-US" sz="2000" spc="444" dirty="0">
                <a:cs typeface="Calibri"/>
              </a:rPr>
              <a:t> </a:t>
            </a:r>
            <a:r>
              <a:rPr lang="en-US" sz="2000" dirty="0">
                <a:cs typeface="Calibri"/>
              </a:rPr>
              <a:t>second</a:t>
            </a:r>
            <a:r>
              <a:rPr lang="en-US" sz="2000" spc="452" dirty="0">
                <a:cs typeface="Calibri"/>
              </a:rPr>
              <a:t> </a:t>
            </a:r>
            <a:r>
              <a:rPr lang="en-US" sz="2000" dirty="0">
                <a:cs typeface="Calibri"/>
              </a:rPr>
              <a:t>training</a:t>
            </a:r>
            <a:r>
              <a:rPr lang="en-US" sz="2000" spc="444" dirty="0">
                <a:cs typeface="Calibri"/>
              </a:rPr>
              <a:t> </a:t>
            </a:r>
            <a:r>
              <a:rPr lang="en-US" sz="2000" dirty="0">
                <a:cs typeface="Calibri"/>
              </a:rPr>
              <a:t>instance</a:t>
            </a:r>
            <a:r>
              <a:rPr lang="en-US" sz="2000" spc="444" dirty="0">
                <a:cs typeface="Calibri"/>
              </a:rPr>
              <a:t> </a:t>
            </a:r>
            <a:r>
              <a:rPr lang="en-US" sz="2000" dirty="0">
                <a:cs typeface="Calibri"/>
              </a:rPr>
              <a:t>(or</a:t>
            </a:r>
            <a:r>
              <a:rPr lang="en-US" sz="2000" spc="452" dirty="0">
                <a:cs typeface="Calibri"/>
              </a:rPr>
              <a:t> </a:t>
            </a:r>
            <a:r>
              <a:rPr lang="en-US" sz="2000" dirty="0">
                <a:cs typeface="Calibri"/>
              </a:rPr>
              <a:t>mini-batch),</a:t>
            </a:r>
            <a:r>
              <a:rPr lang="en-US" sz="2000" spc="468" dirty="0">
                <a:cs typeface="Calibri"/>
              </a:rPr>
              <a:t> </a:t>
            </a:r>
            <a:r>
              <a:rPr lang="en-US" sz="2000" dirty="0">
                <a:cs typeface="Calibri"/>
              </a:rPr>
              <a:t>we</a:t>
            </a:r>
            <a:r>
              <a:rPr lang="en-US" sz="2000" spc="444" dirty="0">
                <a:cs typeface="Calibri"/>
              </a:rPr>
              <a:t> </a:t>
            </a:r>
            <a:r>
              <a:rPr lang="en-US" sz="2000" dirty="0">
                <a:cs typeface="Calibri"/>
              </a:rPr>
              <a:t>again</a:t>
            </a:r>
            <a:r>
              <a:rPr lang="en-US" sz="2000" spc="444" dirty="0">
                <a:cs typeface="Calibri"/>
              </a:rPr>
              <a:t> </a:t>
            </a:r>
            <a:r>
              <a:rPr lang="en-US" sz="2000" dirty="0">
                <a:cs typeface="Calibri"/>
              </a:rPr>
              <a:t>apply</a:t>
            </a:r>
            <a:r>
              <a:rPr lang="en-US" sz="2000" spc="452" dirty="0">
                <a:cs typeface="Calibri"/>
              </a:rPr>
              <a:t> </a:t>
            </a:r>
            <a:r>
              <a:rPr lang="en-US" sz="2000" dirty="0">
                <a:cs typeface="Calibri"/>
              </a:rPr>
              <a:t>dropout</a:t>
            </a:r>
            <a:r>
              <a:rPr lang="en-US" sz="2000" spc="452" dirty="0">
                <a:cs typeface="Calibri"/>
              </a:rPr>
              <a:t> </a:t>
            </a:r>
            <a:r>
              <a:rPr lang="en-US" sz="2000" spc="-32" dirty="0">
                <a:cs typeface="Calibri"/>
              </a:rPr>
              <a:t>res</a:t>
            </a:r>
            <a:r>
              <a:rPr lang="en-US" sz="2000" dirty="0">
                <a:cs typeface="Calibri"/>
              </a:rPr>
              <a:t>ulting</a:t>
            </a:r>
            <a:r>
              <a:rPr lang="en-US" sz="2000" spc="324" dirty="0">
                <a:cs typeface="Calibri"/>
              </a:rPr>
              <a:t> </a:t>
            </a:r>
            <a:r>
              <a:rPr lang="en-US" sz="2000" dirty="0">
                <a:cs typeface="Calibri"/>
              </a:rPr>
              <a:t>in</a:t>
            </a:r>
            <a:r>
              <a:rPr lang="en-US" sz="2000" spc="333" dirty="0">
                <a:cs typeface="Calibri"/>
              </a:rPr>
              <a:t> </a:t>
            </a:r>
            <a:r>
              <a:rPr lang="en-US" sz="2000" dirty="0">
                <a:cs typeface="Calibri"/>
              </a:rPr>
              <a:t>a</a:t>
            </a:r>
            <a:r>
              <a:rPr lang="en-US" sz="2000" spc="324" dirty="0">
                <a:cs typeface="Calibri"/>
              </a:rPr>
              <a:t> </a:t>
            </a:r>
            <a:r>
              <a:rPr lang="en-US" sz="2000" dirty="0">
                <a:cs typeface="Calibri"/>
              </a:rPr>
              <a:t>different</a:t>
            </a:r>
            <a:r>
              <a:rPr lang="en-US" sz="2000" spc="333" dirty="0">
                <a:cs typeface="Calibri"/>
              </a:rPr>
              <a:t> </a:t>
            </a:r>
            <a:r>
              <a:rPr lang="en-US" sz="2000" dirty="0">
                <a:cs typeface="Calibri"/>
              </a:rPr>
              <a:t>thinned</a:t>
            </a:r>
            <a:r>
              <a:rPr lang="en-US" sz="2000" spc="341" dirty="0">
                <a:cs typeface="Calibri"/>
              </a:rPr>
              <a:t> </a:t>
            </a:r>
            <a:r>
              <a:rPr lang="en-US" sz="2000" spc="-16" dirty="0">
                <a:cs typeface="Calibri"/>
              </a:rPr>
              <a:t>network</a:t>
            </a:r>
            <a:endParaRPr lang="en-US" sz="2000" dirty="0">
              <a:cs typeface="Calibri"/>
            </a:endParaRPr>
          </a:p>
          <a:p>
            <a:pPr marL="363041" indent="-342900">
              <a:spcBef>
                <a:spcPts val="531"/>
              </a:spcBef>
              <a:buFont typeface="Arial" panose="020B0604020202020204" pitchFamily="34" charset="0"/>
              <a:buChar char="•"/>
            </a:pPr>
            <a:r>
              <a:rPr lang="en-US" sz="2000" dirty="0">
                <a:cs typeface="Calibri"/>
              </a:rPr>
              <a:t>We</a:t>
            </a:r>
            <a:r>
              <a:rPr lang="en-US" sz="2000" spc="285" dirty="0">
                <a:cs typeface="Calibri"/>
              </a:rPr>
              <a:t> </a:t>
            </a:r>
            <a:r>
              <a:rPr lang="en-US" sz="2000" dirty="0">
                <a:cs typeface="Calibri"/>
              </a:rPr>
              <a:t>again</a:t>
            </a:r>
            <a:r>
              <a:rPr lang="en-US" sz="2000" spc="293" dirty="0">
                <a:cs typeface="Calibri"/>
              </a:rPr>
              <a:t> </a:t>
            </a:r>
            <a:r>
              <a:rPr lang="en-US" sz="2000" dirty="0">
                <a:cs typeface="Calibri"/>
              </a:rPr>
              <a:t>compute</a:t>
            </a:r>
            <a:r>
              <a:rPr lang="en-US" sz="2000" spc="293" dirty="0">
                <a:cs typeface="Calibri"/>
              </a:rPr>
              <a:t> </a:t>
            </a:r>
            <a:r>
              <a:rPr lang="en-US" sz="2000" dirty="0">
                <a:cs typeface="Calibri"/>
              </a:rPr>
              <a:t>the</a:t>
            </a:r>
            <a:r>
              <a:rPr lang="en-US" sz="2000" spc="293" dirty="0">
                <a:cs typeface="Calibri"/>
              </a:rPr>
              <a:t> </a:t>
            </a:r>
            <a:r>
              <a:rPr lang="en-US" sz="2000" dirty="0">
                <a:cs typeface="Calibri"/>
              </a:rPr>
              <a:t>loss</a:t>
            </a:r>
            <a:r>
              <a:rPr lang="en-US" sz="2000" spc="293" dirty="0">
                <a:cs typeface="Calibri"/>
              </a:rPr>
              <a:t> </a:t>
            </a:r>
            <a:r>
              <a:rPr lang="en-US" sz="2000" dirty="0">
                <a:cs typeface="Calibri"/>
              </a:rPr>
              <a:t>and</a:t>
            </a:r>
            <a:r>
              <a:rPr lang="en-US" sz="2000" spc="285" dirty="0">
                <a:cs typeface="Calibri"/>
              </a:rPr>
              <a:t> </a:t>
            </a:r>
            <a:r>
              <a:rPr lang="en-US" sz="2000" dirty="0" err="1">
                <a:cs typeface="Calibri"/>
              </a:rPr>
              <a:t>backpropagate</a:t>
            </a:r>
            <a:r>
              <a:rPr lang="en-US" sz="2000" spc="293" dirty="0">
                <a:cs typeface="Calibri"/>
              </a:rPr>
              <a:t> </a:t>
            </a:r>
            <a:r>
              <a:rPr lang="en-US" sz="2000" dirty="0">
                <a:cs typeface="Calibri"/>
              </a:rPr>
              <a:t>to</a:t>
            </a:r>
            <a:r>
              <a:rPr lang="en-US" sz="2000" spc="285" dirty="0">
                <a:cs typeface="Calibri"/>
              </a:rPr>
              <a:t> </a:t>
            </a:r>
            <a:r>
              <a:rPr lang="en-US" sz="2000" dirty="0">
                <a:cs typeface="Calibri"/>
              </a:rPr>
              <a:t>the</a:t>
            </a:r>
            <a:r>
              <a:rPr lang="en-US" sz="2000" spc="293" dirty="0">
                <a:cs typeface="Calibri"/>
              </a:rPr>
              <a:t> </a:t>
            </a:r>
            <a:r>
              <a:rPr lang="en-US" sz="2000" dirty="0">
                <a:cs typeface="Calibri"/>
              </a:rPr>
              <a:t>active</a:t>
            </a:r>
            <a:r>
              <a:rPr lang="en-US" sz="2000" spc="285" dirty="0">
                <a:cs typeface="Calibri"/>
              </a:rPr>
              <a:t> </a:t>
            </a:r>
            <a:r>
              <a:rPr lang="en-US" sz="2000" spc="-16" dirty="0">
                <a:cs typeface="Calibri"/>
              </a:rPr>
              <a:t>weights</a:t>
            </a:r>
            <a:endParaRPr lang="en-US" sz="2000" dirty="0">
              <a:cs typeface="Calibri"/>
            </a:endParaRPr>
          </a:p>
          <a:p>
            <a:pPr marL="363041" marR="10070" indent="-342900">
              <a:lnSpc>
                <a:spcPct val="102699"/>
              </a:lnSpc>
              <a:spcBef>
                <a:spcPts val="468"/>
              </a:spcBef>
              <a:buFont typeface="Arial" panose="020B0604020202020204" pitchFamily="34" charset="0"/>
              <a:buChar char="•"/>
            </a:pPr>
            <a:r>
              <a:rPr lang="en-US" sz="2000" spc="87" dirty="0">
                <a:cs typeface="Calibri"/>
              </a:rPr>
              <a:t>If</a:t>
            </a:r>
            <a:r>
              <a:rPr lang="en-US" sz="2000" spc="523" dirty="0">
                <a:cs typeface="Calibri"/>
              </a:rPr>
              <a:t> </a:t>
            </a:r>
            <a:r>
              <a:rPr lang="en-US" sz="2000" dirty="0">
                <a:cs typeface="Calibri"/>
              </a:rPr>
              <a:t>the</a:t>
            </a:r>
            <a:r>
              <a:rPr lang="en-US" sz="2000" spc="523" dirty="0">
                <a:cs typeface="Calibri"/>
              </a:rPr>
              <a:t> </a:t>
            </a:r>
            <a:r>
              <a:rPr lang="en-US" sz="2000" dirty="0">
                <a:cs typeface="Calibri"/>
              </a:rPr>
              <a:t>weight</a:t>
            </a:r>
            <a:r>
              <a:rPr lang="en-US" sz="2000" spc="531" dirty="0">
                <a:cs typeface="Calibri"/>
              </a:rPr>
              <a:t> </a:t>
            </a:r>
            <a:r>
              <a:rPr lang="en-US" sz="2000" dirty="0">
                <a:cs typeface="Calibri"/>
              </a:rPr>
              <a:t>was</a:t>
            </a:r>
            <a:r>
              <a:rPr lang="en-US" sz="2000" spc="515" dirty="0">
                <a:cs typeface="Calibri"/>
              </a:rPr>
              <a:t> </a:t>
            </a:r>
            <a:r>
              <a:rPr lang="en-US" sz="2000" dirty="0">
                <a:cs typeface="Calibri"/>
              </a:rPr>
              <a:t>active</a:t>
            </a:r>
            <a:r>
              <a:rPr lang="en-US" sz="2000" spc="531" dirty="0">
                <a:cs typeface="Calibri"/>
              </a:rPr>
              <a:t> </a:t>
            </a:r>
            <a:r>
              <a:rPr lang="en-US" sz="2000" dirty="0">
                <a:cs typeface="Calibri"/>
              </a:rPr>
              <a:t>for</a:t>
            </a:r>
            <a:r>
              <a:rPr lang="en-US" sz="2000" spc="523" dirty="0">
                <a:cs typeface="Calibri"/>
              </a:rPr>
              <a:t> </a:t>
            </a:r>
            <a:r>
              <a:rPr lang="en-US" sz="2000" dirty="0">
                <a:cs typeface="Calibri"/>
              </a:rPr>
              <a:t>both</a:t>
            </a:r>
            <a:r>
              <a:rPr lang="en-US" sz="2000" spc="531" dirty="0">
                <a:cs typeface="Calibri"/>
              </a:rPr>
              <a:t> </a:t>
            </a:r>
            <a:r>
              <a:rPr lang="en-US" sz="2000" dirty="0">
                <a:cs typeface="Calibri"/>
              </a:rPr>
              <a:t>the</a:t>
            </a:r>
            <a:r>
              <a:rPr lang="en-US" sz="2000" spc="523" dirty="0">
                <a:cs typeface="Calibri"/>
              </a:rPr>
              <a:t> </a:t>
            </a:r>
            <a:r>
              <a:rPr lang="en-US" sz="2000" dirty="0">
                <a:cs typeface="Calibri"/>
              </a:rPr>
              <a:t>training</a:t>
            </a:r>
            <a:r>
              <a:rPr lang="en-US" sz="2000" spc="523" dirty="0">
                <a:cs typeface="Calibri"/>
              </a:rPr>
              <a:t> </a:t>
            </a:r>
            <a:r>
              <a:rPr lang="en-US" sz="2000" dirty="0">
                <a:cs typeface="Calibri"/>
              </a:rPr>
              <a:t>instances</a:t>
            </a:r>
            <a:r>
              <a:rPr lang="en-US" sz="2000" spc="523" dirty="0">
                <a:cs typeface="Calibri"/>
              </a:rPr>
              <a:t> </a:t>
            </a:r>
            <a:r>
              <a:rPr lang="en-US" sz="2000" dirty="0">
                <a:cs typeface="Calibri"/>
              </a:rPr>
              <a:t>then</a:t>
            </a:r>
            <a:r>
              <a:rPr lang="en-US" sz="2000" spc="531" dirty="0">
                <a:cs typeface="Calibri"/>
              </a:rPr>
              <a:t> </a:t>
            </a:r>
            <a:r>
              <a:rPr lang="en-US" sz="2000" spc="87" dirty="0">
                <a:cs typeface="Calibri"/>
              </a:rPr>
              <a:t>it</a:t>
            </a:r>
            <a:r>
              <a:rPr lang="en-US" sz="2000" spc="523" dirty="0">
                <a:cs typeface="Calibri"/>
              </a:rPr>
              <a:t> </a:t>
            </a:r>
            <a:r>
              <a:rPr lang="en-US" sz="2000" dirty="0">
                <a:cs typeface="Calibri"/>
              </a:rPr>
              <a:t>would</a:t>
            </a:r>
            <a:r>
              <a:rPr lang="en-US" sz="2000" spc="523" dirty="0">
                <a:cs typeface="Calibri"/>
              </a:rPr>
              <a:t> </a:t>
            </a:r>
            <a:r>
              <a:rPr lang="en-US" sz="2000" spc="-32" dirty="0">
                <a:cs typeface="Calibri"/>
              </a:rPr>
              <a:t>have </a:t>
            </a:r>
            <a:r>
              <a:rPr lang="en-US" sz="2000" dirty="0">
                <a:cs typeface="Calibri"/>
              </a:rPr>
              <a:t>received</a:t>
            </a:r>
            <a:r>
              <a:rPr lang="en-US" sz="2000" spc="238" dirty="0">
                <a:cs typeface="Calibri"/>
              </a:rPr>
              <a:t> </a:t>
            </a:r>
            <a:r>
              <a:rPr lang="en-US" sz="2000" dirty="0">
                <a:cs typeface="Calibri"/>
              </a:rPr>
              <a:t>two</a:t>
            </a:r>
            <a:r>
              <a:rPr lang="en-US" sz="2000" spc="230" dirty="0">
                <a:cs typeface="Calibri"/>
              </a:rPr>
              <a:t> </a:t>
            </a:r>
            <a:r>
              <a:rPr lang="en-US" sz="2000" dirty="0">
                <a:cs typeface="Calibri"/>
              </a:rPr>
              <a:t>updates</a:t>
            </a:r>
            <a:r>
              <a:rPr lang="en-US" sz="2000" spc="238" dirty="0">
                <a:cs typeface="Calibri"/>
              </a:rPr>
              <a:t> </a:t>
            </a:r>
            <a:r>
              <a:rPr lang="en-US" sz="2000" dirty="0">
                <a:cs typeface="Calibri"/>
              </a:rPr>
              <a:t>by</a:t>
            </a:r>
            <a:r>
              <a:rPr lang="en-US" sz="2000" spc="238" dirty="0">
                <a:cs typeface="Calibri"/>
              </a:rPr>
              <a:t> </a:t>
            </a:r>
            <a:r>
              <a:rPr lang="en-US" sz="2000" spc="-40" dirty="0">
                <a:cs typeface="Calibri"/>
              </a:rPr>
              <a:t>now</a:t>
            </a:r>
            <a:endParaRPr lang="en-US" sz="2000" dirty="0">
              <a:cs typeface="Calibri"/>
            </a:endParaRPr>
          </a:p>
          <a:p>
            <a:pPr marL="363041" marR="9063" indent="-342900">
              <a:lnSpc>
                <a:spcPct val="102600"/>
              </a:lnSpc>
              <a:spcBef>
                <a:spcPts val="476"/>
              </a:spcBef>
              <a:buFont typeface="Arial" panose="020B0604020202020204" pitchFamily="34" charset="0"/>
              <a:buChar char="•"/>
            </a:pPr>
            <a:r>
              <a:rPr lang="en-US" sz="2000" spc="87" dirty="0">
                <a:cs typeface="Calibri"/>
              </a:rPr>
              <a:t>If</a:t>
            </a:r>
            <a:r>
              <a:rPr lang="en-US" sz="2000" spc="412" dirty="0">
                <a:cs typeface="Calibri"/>
              </a:rPr>
              <a:t> </a:t>
            </a:r>
            <a:r>
              <a:rPr lang="en-US" sz="2000" dirty="0">
                <a:cs typeface="Calibri"/>
              </a:rPr>
              <a:t>the</a:t>
            </a:r>
            <a:r>
              <a:rPr lang="en-US" sz="2000" spc="420" dirty="0">
                <a:cs typeface="Calibri"/>
              </a:rPr>
              <a:t> </a:t>
            </a:r>
            <a:r>
              <a:rPr lang="en-US" sz="2000" dirty="0">
                <a:cs typeface="Calibri"/>
              </a:rPr>
              <a:t>weight</a:t>
            </a:r>
            <a:r>
              <a:rPr lang="en-US" sz="2000" spc="420" dirty="0">
                <a:cs typeface="Calibri"/>
              </a:rPr>
              <a:t> </a:t>
            </a:r>
            <a:r>
              <a:rPr lang="en-US" sz="2000" dirty="0">
                <a:cs typeface="Calibri"/>
              </a:rPr>
              <a:t>was</a:t>
            </a:r>
            <a:r>
              <a:rPr lang="en-US" sz="2000" spc="420" dirty="0">
                <a:cs typeface="Calibri"/>
              </a:rPr>
              <a:t> </a:t>
            </a:r>
            <a:r>
              <a:rPr lang="en-US" sz="2000" dirty="0">
                <a:cs typeface="Calibri"/>
              </a:rPr>
              <a:t>active</a:t>
            </a:r>
            <a:r>
              <a:rPr lang="en-US" sz="2000" spc="420" dirty="0">
                <a:cs typeface="Calibri"/>
              </a:rPr>
              <a:t> </a:t>
            </a:r>
            <a:r>
              <a:rPr lang="en-US" sz="2000" dirty="0">
                <a:cs typeface="Calibri"/>
              </a:rPr>
              <a:t>for</a:t>
            </a:r>
            <a:r>
              <a:rPr lang="en-US" sz="2000" spc="420" dirty="0">
                <a:cs typeface="Calibri"/>
              </a:rPr>
              <a:t> </a:t>
            </a:r>
            <a:r>
              <a:rPr lang="en-US" sz="2000" dirty="0">
                <a:cs typeface="Calibri"/>
              </a:rPr>
              <a:t>only</a:t>
            </a:r>
            <a:r>
              <a:rPr lang="en-US" sz="2000" spc="420" dirty="0">
                <a:cs typeface="Calibri"/>
              </a:rPr>
              <a:t> </a:t>
            </a:r>
            <a:r>
              <a:rPr lang="en-US" sz="2000" dirty="0">
                <a:cs typeface="Calibri"/>
              </a:rPr>
              <a:t>one</a:t>
            </a:r>
            <a:r>
              <a:rPr lang="en-US" sz="2000" spc="420" dirty="0">
                <a:cs typeface="Calibri"/>
              </a:rPr>
              <a:t> </a:t>
            </a:r>
            <a:r>
              <a:rPr lang="en-US" sz="2000" dirty="0">
                <a:cs typeface="Calibri"/>
              </a:rPr>
              <a:t>of</a:t>
            </a:r>
            <a:r>
              <a:rPr lang="en-US" sz="2000" spc="420" dirty="0">
                <a:cs typeface="Calibri"/>
              </a:rPr>
              <a:t> </a:t>
            </a:r>
            <a:r>
              <a:rPr lang="en-US" sz="2000" dirty="0">
                <a:cs typeface="Calibri"/>
              </a:rPr>
              <a:t>the</a:t>
            </a:r>
            <a:r>
              <a:rPr lang="en-US" sz="2000" spc="420" dirty="0">
                <a:cs typeface="Calibri"/>
              </a:rPr>
              <a:t> </a:t>
            </a:r>
            <a:r>
              <a:rPr lang="en-US" sz="2000" dirty="0">
                <a:cs typeface="Calibri"/>
              </a:rPr>
              <a:t>training</a:t>
            </a:r>
            <a:r>
              <a:rPr lang="en-US" sz="2000" spc="420" dirty="0">
                <a:cs typeface="Calibri"/>
              </a:rPr>
              <a:t> </a:t>
            </a:r>
            <a:r>
              <a:rPr lang="en-US" sz="2000" dirty="0">
                <a:cs typeface="Calibri"/>
              </a:rPr>
              <a:t>instances</a:t>
            </a:r>
            <a:r>
              <a:rPr lang="en-US" sz="2000" spc="420" dirty="0">
                <a:cs typeface="Calibri"/>
              </a:rPr>
              <a:t> </a:t>
            </a:r>
            <a:r>
              <a:rPr lang="en-US" sz="2000" dirty="0">
                <a:cs typeface="Calibri"/>
              </a:rPr>
              <a:t>then</a:t>
            </a:r>
            <a:r>
              <a:rPr lang="en-US" sz="2000" spc="420" dirty="0">
                <a:cs typeface="Calibri"/>
              </a:rPr>
              <a:t> </a:t>
            </a:r>
            <a:r>
              <a:rPr lang="en-US" sz="2000" spc="87" dirty="0">
                <a:cs typeface="Calibri"/>
              </a:rPr>
              <a:t>it</a:t>
            </a:r>
            <a:r>
              <a:rPr lang="en-US" sz="2000" spc="420" dirty="0">
                <a:cs typeface="Calibri"/>
              </a:rPr>
              <a:t> </a:t>
            </a:r>
            <a:r>
              <a:rPr lang="en-US" sz="2000" spc="-16" dirty="0">
                <a:cs typeface="Calibri"/>
              </a:rPr>
              <a:t>would </a:t>
            </a:r>
            <a:r>
              <a:rPr lang="en-US" sz="2000" dirty="0">
                <a:cs typeface="Calibri"/>
              </a:rPr>
              <a:t>have</a:t>
            </a:r>
            <a:r>
              <a:rPr lang="en-US" sz="2000" spc="238" dirty="0">
                <a:cs typeface="Calibri"/>
              </a:rPr>
              <a:t> </a:t>
            </a:r>
            <a:r>
              <a:rPr lang="en-US" sz="2000" dirty="0">
                <a:cs typeface="Calibri"/>
              </a:rPr>
              <a:t>received</a:t>
            </a:r>
            <a:r>
              <a:rPr lang="en-US" sz="2000" spc="238" dirty="0">
                <a:cs typeface="Calibri"/>
              </a:rPr>
              <a:t> </a:t>
            </a:r>
            <a:r>
              <a:rPr lang="en-US" sz="2000" dirty="0">
                <a:cs typeface="Calibri"/>
              </a:rPr>
              <a:t>only</a:t>
            </a:r>
            <a:r>
              <a:rPr lang="en-US" sz="2000" spc="238" dirty="0">
                <a:cs typeface="Calibri"/>
              </a:rPr>
              <a:t> </a:t>
            </a:r>
            <a:r>
              <a:rPr lang="en-US" sz="2000" dirty="0">
                <a:cs typeface="Calibri"/>
              </a:rPr>
              <a:t>one</a:t>
            </a:r>
            <a:r>
              <a:rPr lang="en-US" sz="2000" spc="238" dirty="0">
                <a:cs typeface="Calibri"/>
              </a:rPr>
              <a:t> </a:t>
            </a:r>
            <a:r>
              <a:rPr lang="en-US" sz="2000" dirty="0">
                <a:cs typeface="Calibri"/>
              </a:rPr>
              <a:t>updates</a:t>
            </a:r>
            <a:r>
              <a:rPr lang="en-US" sz="2000" spc="238" dirty="0">
                <a:cs typeface="Calibri"/>
              </a:rPr>
              <a:t> </a:t>
            </a:r>
            <a:r>
              <a:rPr lang="en-US" sz="2000" dirty="0">
                <a:cs typeface="Calibri"/>
              </a:rPr>
              <a:t>by</a:t>
            </a:r>
            <a:r>
              <a:rPr lang="en-US" sz="2000" spc="238" dirty="0">
                <a:cs typeface="Calibri"/>
              </a:rPr>
              <a:t> </a:t>
            </a:r>
            <a:r>
              <a:rPr lang="en-US" sz="2000" spc="-40" dirty="0">
                <a:cs typeface="Calibri"/>
              </a:rPr>
              <a:t>now</a:t>
            </a:r>
            <a:endParaRPr lang="en-US" sz="2000" dirty="0">
              <a:cs typeface="Calibri"/>
            </a:endParaRPr>
          </a:p>
          <a:p>
            <a:pPr marL="363041" marR="8056" indent="-342900">
              <a:lnSpc>
                <a:spcPct val="102600"/>
              </a:lnSpc>
              <a:spcBef>
                <a:spcPts val="476"/>
              </a:spcBef>
              <a:buFont typeface="Arial" panose="020B0604020202020204" pitchFamily="34" charset="0"/>
              <a:buChar char="•"/>
            </a:pPr>
            <a:r>
              <a:rPr lang="en-US" sz="2000" spc="-16" dirty="0">
                <a:cs typeface="Calibri"/>
              </a:rPr>
              <a:t>Parameter </a:t>
            </a:r>
            <a:r>
              <a:rPr lang="en-US" sz="2000" dirty="0">
                <a:cs typeface="Calibri"/>
              </a:rPr>
              <a:t>sharing</a:t>
            </a:r>
            <a:r>
              <a:rPr lang="en-US" sz="2000" spc="317" dirty="0">
                <a:cs typeface="Calibri"/>
              </a:rPr>
              <a:t> </a:t>
            </a:r>
            <a:r>
              <a:rPr lang="en-US" sz="2000" dirty="0">
                <a:cs typeface="Calibri"/>
              </a:rPr>
              <a:t>ensures</a:t>
            </a:r>
            <a:r>
              <a:rPr lang="en-US" sz="2000" spc="333" dirty="0">
                <a:cs typeface="Calibri"/>
              </a:rPr>
              <a:t> </a:t>
            </a:r>
            <a:r>
              <a:rPr lang="en-US" sz="2000" dirty="0">
                <a:cs typeface="Calibri"/>
              </a:rPr>
              <a:t>that</a:t>
            </a:r>
            <a:r>
              <a:rPr lang="en-US" sz="2000" spc="333" dirty="0">
                <a:cs typeface="Calibri"/>
              </a:rPr>
              <a:t> </a:t>
            </a:r>
            <a:r>
              <a:rPr lang="en-US" sz="2000" dirty="0">
                <a:cs typeface="Calibri"/>
              </a:rPr>
              <a:t>no</a:t>
            </a:r>
            <a:r>
              <a:rPr lang="en-US" sz="2000" spc="317" dirty="0">
                <a:cs typeface="Calibri"/>
              </a:rPr>
              <a:t> </a:t>
            </a:r>
            <a:r>
              <a:rPr lang="en-US" sz="2000" dirty="0">
                <a:cs typeface="Calibri"/>
              </a:rPr>
              <a:t>model</a:t>
            </a:r>
            <a:r>
              <a:rPr lang="en-US" sz="2000" spc="333" dirty="0">
                <a:cs typeface="Calibri"/>
              </a:rPr>
              <a:t> </a:t>
            </a:r>
            <a:r>
              <a:rPr lang="en-US" sz="2000" dirty="0">
                <a:cs typeface="Calibri"/>
              </a:rPr>
              <a:t>has</a:t>
            </a:r>
            <a:r>
              <a:rPr lang="en-US" sz="2000" spc="333" dirty="0">
                <a:cs typeface="Calibri"/>
              </a:rPr>
              <a:t> </a:t>
            </a:r>
            <a:r>
              <a:rPr lang="en-US" sz="2000" dirty="0">
                <a:cs typeface="Calibri"/>
              </a:rPr>
              <a:t>untrained</a:t>
            </a:r>
            <a:r>
              <a:rPr lang="en-US" sz="2000" spc="333" dirty="0">
                <a:cs typeface="Calibri"/>
              </a:rPr>
              <a:t> </a:t>
            </a:r>
            <a:r>
              <a:rPr lang="en-US" sz="2000" dirty="0">
                <a:cs typeface="Calibri"/>
              </a:rPr>
              <a:t>or</a:t>
            </a:r>
            <a:r>
              <a:rPr lang="en-US" sz="2000" spc="324" dirty="0">
                <a:cs typeface="Calibri"/>
              </a:rPr>
              <a:t> </a:t>
            </a:r>
            <a:r>
              <a:rPr lang="en-US" sz="2000" dirty="0">
                <a:cs typeface="Calibri"/>
              </a:rPr>
              <a:t>poorly</a:t>
            </a:r>
            <a:r>
              <a:rPr lang="en-US" sz="2000" spc="333" dirty="0">
                <a:cs typeface="Calibri"/>
              </a:rPr>
              <a:t> </a:t>
            </a:r>
            <a:r>
              <a:rPr lang="en-US" sz="2000" dirty="0">
                <a:cs typeface="Calibri"/>
              </a:rPr>
              <a:t>trained</a:t>
            </a:r>
            <a:r>
              <a:rPr lang="en-US" sz="2000" spc="333" dirty="0">
                <a:cs typeface="Calibri"/>
              </a:rPr>
              <a:t> </a:t>
            </a:r>
            <a:r>
              <a:rPr lang="en-US" sz="2000" spc="-16" dirty="0">
                <a:cs typeface="Calibri"/>
              </a:rPr>
              <a:t>parameters</a:t>
            </a:r>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Drop out</a:t>
            </a:r>
            <a:endParaRPr lang="en-IN" dirty="0"/>
          </a:p>
        </p:txBody>
      </p:sp>
      <p:grpSp>
        <p:nvGrpSpPr>
          <p:cNvPr id="4" name="object 2"/>
          <p:cNvGrpSpPr/>
          <p:nvPr/>
        </p:nvGrpSpPr>
        <p:grpSpPr>
          <a:xfrm>
            <a:off x="15887" y="1219200"/>
            <a:ext cx="9134937" cy="1836856"/>
            <a:chOff x="0" y="0"/>
            <a:chExt cx="5760085" cy="1158240"/>
          </a:xfrm>
        </p:grpSpPr>
        <p:pic>
          <p:nvPicPr>
            <p:cNvPr id="5" name="object 3"/>
            <p:cNvPicPr/>
            <p:nvPr/>
          </p:nvPicPr>
          <p:blipFill>
            <a:blip r:embed="rId2" cstate="print"/>
            <a:stretch>
              <a:fillRect/>
            </a:stretch>
          </p:blipFill>
          <p:spPr>
            <a:xfrm>
              <a:off x="467400" y="58030"/>
              <a:ext cx="1423689" cy="1099687"/>
            </a:xfrm>
            <a:prstGeom prst="rect">
              <a:avLst/>
            </a:prstGeom>
          </p:spPr>
        </p:pic>
        <p:pic>
          <p:nvPicPr>
            <p:cNvPr id="6" name="object 4"/>
            <p:cNvPicPr/>
            <p:nvPr/>
          </p:nvPicPr>
          <p:blipFill>
            <a:blip r:embed="rId3" cstate="print"/>
            <a:stretch>
              <a:fillRect/>
            </a:stretch>
          </p:blipFill>
          <p:spPr>
            <a:xfrm>
              <a:off x="2168158" y="58030"/>
              <a:ext cx="1423689" cy="1099687"/>
            </a:xfrm>
            <a:prstGeom prst="rect">
              <a:avLst/>
            </a:prstGeom>
          </p:spPr>
        </p:pic>
        <p:pic>
          <p:nvPicPr>
            <p:cNvPr id="7" name="object 5"/>
            <p:cNvPicPr/>
            <p:nvPr/>
          </p:nvPicPr>
          <p:blipFill>
            <a:blip r:embed="rId4" cstate="print"/>
            <a:stretch>
              <a:fillRect/>
            </a:stretch>
          </p:blipFill>
          <p:spPr>
            <a:xfrm>
              <a:off x="3868917" y="58030"/>
              <a:ext cx="1423689" cy="1099687"/>
            </a:xfrm>
            <a:prstGeom prst="rect">
              <a:avLst/>
            </a:prstGeom>
          </p:spPr>
        </p:pic>
      </p:grpSp>
    </p:spTree>
    <p:extLst>
      <p:ext uri="{BB962C8B-B14F-4D97-AF65-F5344CB8AC3E}">
        <p14:creationId xmlns:p14="http://schemas.microsoft.com/office/powerpoint/2010/main" val="964750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marL="342900" indent="-342900">
              <a:buFont typeface="Arial" panose="020B0604020202020204" pitchFamily="34" charset="0"/>
              <a:buChar char="•"/>
            </a:pPr>
            <a:r>
              <a:rPr lang="en-US" dirty="0"/>
              <a:t>Prevents hidden units from coadoption</a:t>
            </a:r>
            <a:endParaRPr lang="en-US" dirty="0">
              <a:cs typeface="Calibri"/>
            </a:endParaRPr>
          </a:p>
          <a:p>
            <a:pPr marL="342900" indent="-342900">
              <a:buFont typeface="Arial" panose="020B0604020202020204" pitchFamily="34" charset="0"/>
              <a:buChar char="•"/>
            </a:pPr>
            <a:r>
              <a:rPr lang="en-US" dirty="0"/>
              <a:t>Dropout gives a smaller neural network, giving the effect of</a:t>
            </a:r>
          </a:p>
          <a:p>
            <a:pPr marL="342900" indent="-342900">
              <a:buFont typeface="Arial" panose="020B0604020202020204" pitchFamily="34" charset="0"/>
              <a:buChar char="•"/>
            </a:pPr>
            <a:r>
              <a:rPr lang="en-IN" dirty="0"/>
              <a:t>regularization.</a:t>
            </a:r>
          </a:p>
          <a:p>
            <a:pPr marL="342900" indent="-342900">
              <a:buFont typeface="Arial" panose="020B0604020202020204" pitchFamily="34" charset="0"/>
              <a:buChar char="•"/>
            </a:pPr>
            <a:r>
              <a:rPr lang="en-IN" dirty="0"/>
              <a:t>In general,</a:t>
            </a:r>
          </a:p>
          <a:p>
            <a:pPr marL="800100" lvl="1" indent="-342900">
              <a:buFont typeface="Arial" panose="020B0604020202020204" pitchFamily="34" charset="0"/>
              <a:buChar char="•"/>
            </a:pPr>
            <a:r>
              <a:rPr lang="en-US" dirty="0"/>
              <a:t>Vary keep probability (0.5 to 0.8) for each hidden layer.</a:t>
            </a:r>
          </a:p>
          <a:p>
            <a:pPr marL="800100" lvl="1" indent="-342900">
              <a:buFont typeface="Arial" panose="020B0604020202020204" pitchFamily="34" charset="0"/>
              <a:buChar char="•"/>
            </a:pPr>
            <a:r>
              <a:rPr lang="en-US" dirty="0"/>
              <a:t>The input layer has a keep probability of 1.0 or 0.9.</a:t>
            </a:r>
          </a:p>
          <a:p>
            <a:pPr marL="800100" lvl="1" indent="-342900">
              <a:buFont typeface="Arial" panose="020B0604020202020204" pitchFamily="34" charset="0"/>
              <a:buChar char="•"/>
            </a:pPr>
            <a:r>
              <a:rPr lang="en-US" dirty="0"/>
              <a:t>The output layer has a keep probability of 1.0.</a:t>
            </a:r>
            <a:endParaRPr lang="en-IN" dirty="0"/>
          </a:p>
        </p:txBody>
      </p:sp>
      <p:sp>
        <p:nvSpPr>
          <p:cNvPr id="3" name="Title 2"/>
          <p:cNvSpPr>
            <a:spLocks noGrp="1"/>
          </p:cNvSpPr>
          <p:nvPr>
            <p:ph type="title"/>
          </p:nvPr>
        </p:nvSpPr>
        <p:spPr/>
        <p:txBody>
          <a:bodyPr/>
          <a:lstStyle/>
          <a:p>
            <a:r>
              <a:rPr lang="en-US" dirty="0"/>
              <a:t>Drop out</a:t>
            </a:r>
            <a:endParaRPr lang="en-IN" dirty="0"/>
          </a:p>
        </p:txBody>
      </p:sp>
    </p:spTree>
    <p:extLst>
      <p:ext uri="{BB962C8B-B14F-4D97-AF65-F5344CB8AC3E}">
        <p14:creationId xmlns:p14="http://schemas.microsoft.com/office/powerpoint/2010/main" val="2290607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8600" y="1524000"/>
            <a:ext cx="8839200" cy="4525963"/>
          </a:xfrm>
        </p:spPr>
        <p:txBody>
          <a:bodyPr/>
          <a:lstStyle/>
          <a:p>
            <a:pPr marL="342900" indent="-342900">
              <a:buFont typeface="Arial" panose="020B0604020202020204" pitchFamily="34" charset="0"/>
              <a:buChar char="•"/>
            </a:pPr>
            <a:r>
              <a:rPr lang="en-US" dirty="0"/>
              <a:t>https://www.cs.toronto.edu/~hinton/absps/JMLRdropout.pdf</a:t>
            </a:r>
          </a:p>
          <a:p>
            <a:pPr marL="342900" indent="-342900">
              <a:buFont typeface="Arial" panose="020B0604020202020204" pitchFamily="34" charset="0"/>
              <a:buChar char="•"/>
            </a:pPr>
            <a:r>
              <a:rPr lang="en-US" dirty="0"/>
              <a:t>Ref TB Dive into Deep Learning Sections 5.4, 5.5, 5.6 online </a:t>
            </a:r>
            <a:r>
              <a:rPr lang="en-IN" dirty="0"/>
              <a:t>version</a:t>
            </a:r>
            <a:endParaRPr lang="en-US" dirty="0"/>
          </a:p>
          <a:p>
            <a:pPr marL="342900" indent="-342900">
              <a:buFont typeface="Arial" panose="020B0604020202020204" pitchFamily="34" charset="0"/>
              <a:buChar char="•"/>
            </a:pPr>
            <a:r>
              <a:rPr lang="en-US" dirty="0"/>
              <a:t>IIT M CS7015 (Deep Learning) : Lecture 8</a:t>
            </a:r>
            <a:endParaRPr lang="en-IN" dirty="0"/>
          </a:p>
        </p:txBody>
      </p:sp>
      <p:sp>
        <p:nvSpPr>
          <p:cNvPr id="3" name="Title 2"/>
          <p:cNvSpPr>
            <a:spLocks noGrp="1"/>
          </p:cNvSpPr>
          <p:nvPr>
            <p:ph type="title"/>
          </p:nvPr>
        </p:nvSpPr>
        <p:spPr/>
        <p:txBody>
          <a:bodyPr/>
          <a:lstStyle/>
          <a:p>
            <a:r>
              <a:rPr lang="en-US" dirty="0"/>
              <a:t>References</a:t>
            </a:r>
            <a:endParaRPr lang="en-IN" dirty="0"/>
          </a:p>
        </p:txBody>
      </p:sp>
    </p:spTree>
    <p:extLst>
      <p:ext uri="{BB962C8B-B14F-4D97-AF65-F5344CB8AC3E}">
        <p14:creationId xmlns:p14="http://schemas.microsoft.com/office/powerpoint/2010/main" val="1209320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3796" y="3197733"/>
            <a:ext cx="337185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Thank</a:t>
            </a:r>
            <a:r>
              <a:rPr sz="4400" b="0" spc="-100" dirty="0">
                <a:latin typeface="Calibri"/>
                <a:cs typeface="Calibri"/>
              </a:rPr>
              <a:t> </a:t>
            </a:r>
            <a:r>
              <a:rPr sz="4400" b="0" spc="-85" dirty="0">
                <a:latin typeface="Calibri"/>
                <a:cs typeface="Calibri"/>
              </a:rPr>
              <a:t>You</a:t>
            </a:r>
            <a:r>
              <a:rPr sz="4400" b="0" spc="-100" dirty="0">
                <a:latin typeface="Calibri"/>
                <a:cs typeface="Calibri"/>
              </a:rPr>
              <a:t> </a:t>
            </a:r>
            <a:r>
              <a:rPr sz="4400" b="0" dirty="0">
                <a:latin typeface="Calibri"/>
                <a:cs typeface="Calibri"/>
              </a:rPr>
              <a:t>All</a:t>
            </a:r>
            <a:r>
              <a:rPr sz="4400" b="0" spc="-90" dirty="0">
                <a:latin typeface="Calibri"/>
                <a:cs typeface="Calibri"/>
              </a:rPr>
              <a:t> </a:t>
            </a:r>
            <a:r>
              <a:rPr sz="4400" b="0" spc="-50" dirty="0">
                <a:latin typeface="Calibri"/>
                <a:cs typeface="Calibri"/>
              </a:rPr>
              <a:t>!</a:t>
            </a:r>
            <a:endParaRPr sz="4400">
              <a:latin typeface="Calibri"/>
              <a:cs typeface="Calibri"/>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8759</TotalTime>
  <Words>1848</Words>
  <Application>Microsoft Office PowerPoint</Application>
  <PresentationFormat>On-screen Show (4:3)</PresentationFormat>
  <Paragraphs>202</Paragraphs>
  <Slides>28</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Arial</vt:lpstr>
      <vt:lpstr>Arial MT</vt:lpstr>
      <vt:lpstr>Arial Unicode MS</vt:lpstr>
      <vt:lpstr>Calibri</vt:lpstr>
      <vt:lpstr>Cambria</vt:lpstr>
      <vt:lpstr>Lucida Sans Unicode</vt:lpstr>
      <vt:lpstr>Tahoma</vt:lpstr>
      <vt:lpstr>Times New Roman</vt:lpstr>
      <vt:lpstr>Office Theme</vt:lpstr>
      <vt:lpstr>1_Office Theme</vt:lpstr>
      <vt:lpstr> Deep Neural Network</vt:lpstr>
      <vt:lpstr>Deep Neural Network</vt:lpstr>
      <vt:lpstr>PowerPoint Presentation</vt:lpstr>
      <vt:lpstr>Training Error and Generalization Error</vt:lpstr>
      <vt:lpstr>Factors that influence the generalizability of a model</vt:lpstr>
      <vt:lpstr>Fit of the model</vt:lpstr>
      <vt:lpstr>PowerPoint Presentation</vt:lpstr>
      <vt:lpstr>Model complexity </vt:lpstr>
      <vt:lpstr>PowerPoint Presentation</vt:lpstr>
      <vt:lpstr>Model complexity</vt:lpstr>
      <vt:lpstr>Model selection</vt:lpstr>
      <vt:lpstr>Model selection</vt:lpstr>
      <vt:lpstr>Model complexity</vt:lpstr>
      <vt:lpstr>Different forms of regularization </vt:lpstr>
      <vt:lpstr>l2 regularization- weight decay </vt:lpstr>
      <vt:lpstr>Dataset augmentation </vt:lpstr>
      <vt:lpstr>Early stopping </vt:lpstr>
      <vt:lpstr>Early stopping </vt:lpstr>
      <vt:lpstr>Ensemble - Bagging</vt:lpstr>
      <vt:lpstr>Ensemble - Bagging</vt:lpstr>
      <vt:lpstr>Drop out</vt:lpstr>
      <vt:lpstr>Drop out</vt:lpstr>
      <vt:lpstr>Drop out</vt:lpstr>
      <vt:lpstr>Drop out</vt:lpstr>
      <vt:lpstr>Drop out</vt:lpstr>
      <vt:lpstr>Drop out</vt:lpstr>
      <vt:lpstr>References</vt:lpstr>
      <vt:lpstr>Thank You All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Bharatesh Chakravarthi</cp:lastModifiedBy>
  <cp:revision>277</cp:revision>
  <dcterms:created xsi:type="dcterms:W3CDTF">2024-03-11T07:09:02Z</dcterms:created>
  <dcterms:modified xsi:type="dcterms:W3CDTF">2024-12-26T15:31:35Z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2023-09-23T00:00:00Z</vt:filetime>
  </property>
  <property fmtid="{D5CDD505-2E9C-101B-9397-08002B2CF9AE}" pid="3" name="Creator">
    <vt:lpwstr>Microsoft® PowerPoint® for Microsoft 365</vt:lpwstr>
  </property>
  <property fmtid="{D5CDD505-2E9C-101B-9397-08002B2CF9AE}" pid="4" name="LastSaved">
    <vt:filetime>2024-03-11T00:00:00Z</vt:filetime>
  </property>
  <property fmtid="{D5CDD505-2E9C-101B-9397-08002B2CF9AE}" pid="5" name="Producer">
    <vt:lpwstr>Microsoft® PowerPoint® for Microsoft 365</vt:lpwstr>
  </property>
</Properties>
</file>